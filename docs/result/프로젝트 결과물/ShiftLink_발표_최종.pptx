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svg" ContentType="image/svg+xml"/>
  <Override PartName="/ppt/media/image14.svg" ContentType="image/svg+xml"/>
  <Override PartName="/ppt/media/image16.svg" ContentType="image/svg+xml"/>
  <Override PartName="/ppt/media/image19.svg" ContentType="image/svg+xml"/>
  <Override PartName="/ppt/media/image3.svg" ContentType="image/svg+xml"/>
  <Override PartName="/ppt/media/image35.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2.svg" ContentType="image/svg+xml"/>
  <Override PartName="/ppt/media/image54.svg" ContentType="image/svg+xml"/>
  <Override PartName="/ppt/media/image56.svg" ContentType="image/svg+xml"/>
  <Override PartName="/ppt/media/image58.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9.svg" ContentType="image/svg+xml"/>
  <Override PartName="/ppt/media/image75.svg" ContentType="image/svg+xml"/>
  <Override PartName="/ppt/media/image80.svg" ContentType="image/svg+xml"/>
  <Override PartName="/ppt/media/image82.svg" ContentType="image/svg+xml"/>
  <Override PartName="/ppt/media/image87.svg" ContentType="image/svg+xml"/>
  <Override PartName="/ppt/media/image90.svg" ContentType="image/svg+xml"/>
  <Override PartName="/ppt/media/image92.svg" ContentType="image/svg+xml"/>
  <Override PartName="/ppt/media/image9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x="18288000" cy="10287000"/>
  <p:notesSz cx="6858000" cy="9144000"/>
  <p:embeddedFontLst>
    <p:embeddedFont>
      <p:font typeface="Noto Sans" charset="1" panose="020B0502040504020204"/>
      <p:regular r:id="rId48"/>
    </p:embeddedFont>
    <p:embeddedFont>
      <p:font typeface="Noto Sans Italics" charset="1" panose="020B0502040504090204"/>
      <p:regular r:id="rId49"/>
    </p:embeddedFont>
    <p:embeddedFont>
      <p:font typeface="Noto Sans Bold" charset="1" panose="020B0802040504020204"/>
      <p:regular r:id="rId51"/>
    </p:embeddedFont>
    <p:embeddedFont>
      <p:font typeface="Arimo Bold" charset="1" panose="020B0704020202020204"/>
      <p:regular r:id="rId60"/>
    </p:embeddedFont>
    <p:embeddedFont>
      <p:font typeface="Arimo" charset="1" panose="020B0604020202020204"/>
      <p:regular r:id="rId6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notesMaster" Target="notesMasters/notesMaster1.xml"/><Relationship Id="rId46" Type="http://schemas.openxmlformats.org/officeDocument/2006/relationships/theme" Target="theme/theme2.xml"/><Relationship Id="rId47" Type="http://schemas.openxmlformats.org/officeDocument/2006/relationships/notesSlide" Target="notesSlides/notesSlide1.xml"/><Relationship Id="rId48" Type="http://schemas.openxmlformats.org/officeDocument/2006/relationships/font" Target="fonts/font48.fntdata"/><Relationship Id="rId49" Type="http://schemas.openxmlformats.org/officeDocument/2006/relationships/font" Target="fonts/font49.fntdata"/><Relationship Id="rId50" Type="http://schemas.openxmlformats.org/officeDocument/2006/relationships/notesSlide" Target="notesSlides/notesSlide2.xml"/><Relationship Id="rId51" Type="http://schemas.openxmlformats.org/officeDocument/2006/relationships/font" Target="fonts/font51.fntdata"/><Relationship Id="rId52" Type="http://schemas.openxmlformats.org/officeDocument/2006/relationships/notesSlide" Target="notesSlides/notesSlide3.xml"/><Relationship Id="rId53" Type="http://schemas.openxmlformats.org/officeDocument/2006/relationships/notesSlide" Target="notesSlides/notesSlide4.xml"/><Relationship Id="rId54" Type="http://schemas.openxmlformats.org/officeDocument/2006/relationships/notesSlide" Target="notesSlides/notesSlide5.xml"/><Relationship Id="rId55" Type="http://schemas.openxmlformats.org/officeDocument/2006/relationships/notesSlide" Target="notesSlides/notesSlide6.xml"/><Relationship Id="rId56" Type="http://schemas.openxmlformats.org/officeDocument/2006/relationships/notesSlide" Target="notesSlides/notesSlide7.xml"/><Relationship Id="rId57" Type="http://schemas.openxmlformats.org/officeDocument/2006/relationships/notesSlide" Target="notesSlides/notesSlide8.xml"/><Relationship Id="rId58" Type="http://schemas.openxmlformats.org/officeDocument/2006/relationships/notesSlide" Target="notesSlides/notesSlide9.xml"/><Relationship Id="rId59" Type="http://schemas.openxmlformats.org/officeDocument/2006/relationships/notesSlide" Target="notesSlides/notesSlide10.xml"/><Relationship Id="rId60" Type="http://schemas.openxmlformats.org/officeDocument/2006/relationships/font" Target="fonts/font60.fntdata"/><Relationship Id="rId61" Type="http://schemas.openxmlformats.org/officeDocument/2006/relationships/font" Target="fonts/font61.fntdata"/><Relationship Id="rId62" Type="http://schemas.openxmlformats.org/officeDocument/2006/relationships/notesSlide" Target="notesSlides/notesSlide11.xml"/><Relationship Id="rId63" Type="http://schemas.openxmlformats.org/officeDocument/2006/relationships/notesSlide" Target="notesSlides/notesSlide12.xml"/><Relationship Id="rId64" Type="http://schemas.openxmlformats.org/officeDocument/2006/relationships/notesSlide" Target="notesSlides/notesSlide13.xml"/><Relationship Id="rId65" Type="http://schemas.openxmlformats.org/officeDocument/2006/relationships/notesSlide" Target="notesSlides/notesSlide14.xml"/><Relationship Id="rId66" Type="http://schemas.openxmlformats.org/officeDocument/2006/relationships/notesSlide" Target="notesSlides/notesSlide15.xml"/><Relationship Id="rId67" Type="http://schemas.openxmlformats.org/officeDocument/2006/relationships/notesSlide" Target="notesSlides/notesSlide16.xml"/><Relationship Id="rId68" Type="http://schemas.openxmlformats.org/officeDocument/2006/relationships/notesSlide" Target="notesSlides/notesSlide17.xml"/><Relationship Id="rId69" Type="http://schemas.openxmlformats.org/officeDocument/2006/relationships/notesSlide" Target="notesSlides/notesSlide18.xml"/><Relationship Id="rId70" Type="http://schemas.openxmlformats.org/officeDocument/2006/relationships/notesSlide" Target="notesSlides/notesSlide19.xml"/><Relationship Id="rId71" Type="http://schemas.openxmlformats.org/officeDocument/2006/relationships/notesSlide" Target="notesSlides/notesSlide20.xml"/><Relationship Id="rId72" Type="http://schemas.openxmlformats.org/officeDocument/2006/relationships/notesSlide" Target="notesSlides/notesSlide21.xml"/><Relationship Id="rId73" Type="http://schemas.openxmlformats.org/officeDocument/2006/relationships/notesSlide" Target="notesSlides/notesSlide22.xml"/><Relationship Id="rId74" Type="http://schemas.openxmlformats.org/officeDocument/2006/relationships/notesSlide" Target="notesSlides/notesSlide23.xml"/><Relationship Id="rId75" Type="http://schemas.openxmlformats.org/officeDocument/2006/relationships/notesSlide" Target="notesSlides/notesSlide24.xml"/><Relationship Id="rId76" Type="http://schemas.openxmlformats.org/officeDocument/2006/relationships/notesSlide" Target="notesSlides/notesSlide25.xml"/><Relationship Id="rId77" Type="http://schemas.openxmlformats.org/officeDocument/2006/relationships/notesSlide" Target="notesSlides/notesSlide26.xml"/><Relationship Id="rId78" Type="http://schemas.openxmlformats.org/officeDocument/2006/relationships/notesSlide" Target="notesSlides/notesSlide27.xml"/><Relationship Id="rId79" Type="http://schemas.openxmlformats.org/officeDocument/2006/relationships/notesSlide" Target="notesSlides/notesSlide28.xml"/><Relationship Id="rId80" Type="http://schemas.openxmlformats.org/officeDocument/2006/relationships/notesSlide" Target="notesSlides/notesSlide29.xml"/><Relationship Id="rId81" Type="http://schemas.openxmlformats.org/officeDocument/2006/relationships/notesSlide" Target="notesSlides/notesSlide30.xml"/><Relationship Id="rId82" Type="http://schemas.openxmlformats.org/officeDocument/2006/relationships/notesSlide" Target="notesSlides/notesSlide31.xml"/><Relationship Id="rId83" Type="http://schemas.openxmlformats.org/officeDocument/2006/relationships/notesSlide" Target="notesSlides/notesSlide32.xml"/><Relationship Id="rId84" Type="http://schemas.openxmlformats.org/officeDocument/2006/relationships/notesSlide" Target="notesSlides/notesSlide33.xml"/><Relationship Id="rId85" Type="http://schemas.openxmlformats.org/officeDocument/2006/relationships/notesSlide" Target="notesSlides/not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
            </a:r>
          </a:p>
          <a:p>
            <a:r>
              <a:rPr lang="en-US"/>
              <a:t>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9</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10</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11</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13</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12</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11</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1.7.2013</a:t>
            </a:r>
          </a:p>
          <a:p>
            <a:r>
              <a:rPr lang="en-US"/>
              <a:t/>
            </a:r>
          </a:p>
          <a:p>
            <a:r>
              <a:rPr lang="en-US"/>
              <a:t>13</a:t>
            </a:r>
          </a:p>
          <a:p>
            <a:r>
              <a:rPr lang="en-US"/>
              <a:t/>
            </a:r>
          </a:p>
          <a:p>
            <a:r>
              <a:rPr lang="en-US"/>
              <a:t>‹#›</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발표 대본</a:t>
            </a:r>
          </a:p>
          <a:p>
            <a:r>
              <a:rPr lang="en-US"/>
              <a:t/>
            </a:r>
          </a:p>
          <a:p>
            <a:r>
              <a:rPr lang="en-US"/>
              <a:t>이 슬라이드는 MES의 현재 상태를 해석하도록 개선한 실험 과정과 결과입니다.</a:t>
            </a:r>
          </a:p>
          <a:p>
            <a:r>
              <a:rPr lang="en-US"/>
              <a:t/>
            </a:r>
          </a:p>
          <a:p>
            <a:r>
              <a:rPr lang="en-US"/>
              <a:t>처음에는 해석 블록 추가, 답변 앞부분 미리 채우기, 질문에 MES 값 삽입, 지시문 강화의 네 가지 프롬프트 개선을 시도했습니다. 그러나 네 방식 모두 통과 기준에 미달했고, 과거 인계 기록을 현재 상태로 오인하는 문제가 남았습니다. 그래서 MES 입력 블록을 기반으로 SFT를 진행해 현재값 해석을 학습시켰습니다.</a:t>
            </a:r>
          </a:p>
          <a:p>
            <a:r>
              <a:rPr lang="en-US"/>
              <a:t/>
            </a:r>
          </a:p>
          <a:p>
            <a:r>
              <a:rPr lang="en-US"/>
              <a:t>개선 실험에서 현재값 표시는 42문항 중 0개에서 42개로, 경보 구분은 8문항 중 2개에서 8개로 개선됐습니다. 현재 상태와 모순되는 답변은 12건에서 0건으로 줄었습니다. 화면의 세 수치는 이 개선 실험의 결과이며, 뒤에서 설명하는 최종 배포 구성의 종합 평가와 구분해 봐야 합니다.</a:t>
            </a:r>
          </a:p>
          <a:p>
            <a:r>
              <a:rPr lang="en-US"/>
              <a:t/>
            </a:r>
          </a:p>
          <a:p>
            <a:r>
              <a:rPr lang="en-US"/>
              <a:t>다만 부작용도 있었습니다. MES 전용 답변 경로가 지식 질문까지 처리하면서 정확도가 63%에서 44%로 하락했습니다. 이에 전용 경로를 비활성화하고, 현재값과 기준 범위는 코드가 답변 첫 줄에 직접 표시하도록 변경했습니다. 이 대응 후 정확도는 60%로 회복됐습니다.</a:t>
            </a:r>
          </a:p>
          <a:p>
            <a:r>
              <a:rPr lang="en-US"/>
              <a:t/>
            </a:r>
          </a:p>
          <a:p>
            <a:r>
              <a:rPr lang="en-US"/>
              <a:t>따라서 핵심은 학습 실험에서 확인한 개선 효과와 최종 적용 방식을 구분하는 것입니다. 실제 적용에서는 현재값 표시를 코드로 고정하고, 지식 질문이 부적절한 전용 경로로 처리되지 않도록 구성했습니다.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19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20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21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발표 대본</a:t>
            </a:r>
          </a:p>
          <a:p>
            <a:r>
              <a:rPr lang="en-US"/>
              <a:t/>
            </a:r>
          </a:p>
          <a:p>
            <a:r>
              <a:rPr lang="en-US"/>
              <a:t>공정 관계를 반영한 합성 센서 데이터를 구성하고, 여러 탐지 방법을 동일한 조건에서 비교했습니다. 현재는 강건 EWMA·센서 고착 검사·동시 온도 상승·운전 조건별 정상 기준을 결합해 이상이 의심되는 설비를 찾습니다. 미탐·오통지·중복의 원인을 분석해 개선하고 Raspberry Pi에서 실행을 검증했습니다. 현재 센서 탐지에는 Timestral을 사용하지 않습니다. 고장 원인을 확정하는 기능이 아니라 점검이 필요한 설비와 센서 근거를 제공하는 기능입니다.</a:t>
            </a:r>
          </a:p>
          <a:p>
            <a:r>
              <a:rPr lang="en-US"/>
              <a:t/>
            </a:r>
          </a:p>
          <a:p>
            <a:r>
              <a:rPr lang="en-US"/>
              <a:t>단순히 센서값을 무작위로 튀게 하지 않고, 공정 이상과 센서 자체의 이상을 구분했습니다. 정상 데이터에는 코일의 빈 상태·이동·대기에 따른 정상 센서 변동을 구성했습니다. 공정 고장은 누설·냉각 저하·마찰에 따라 압력·유량·온도 등이 함께 변하도록 구성했고, 센서 고장은 개별 센서의 고착·편향 등 측정 이상을 별도로 구성했습니다.</a:t>
            </a:r>
          </a:p>
          <a:p>
            <a:r>
              <a:rPr lang="en-US"/>
              <a:t/>
            </a:r>
          </a:p>
          <a:p>
            <a:r>
              <a:rPr lang="en-US"/>
              <a:t>전처리에서는 채널 순서·단위·품질·시각·순번을 확인하고, 불량·결측을 정상값으로 채우지 않았습니다. 전달되는 69채널 중 분석 입력 63채널을 선정했습니다. 정상 자료에서 운전 조건별 중심값·변동 폭·센서 관계를 적합했습니다.</a:t>
            </a:r>
          </a:p>
          <a:p>
            <a:r>
              <a:rPr lang="en-US"/>
              <a:t/>
            </a:r>
          </a:p>
          <a:p>
            <a:r>
              <a:rPr lang="en-US"/>
              <a:t>정상 기준을 만든 뒤 개발 자료에서 수정하고, 후보를 고정한 후 새로운 평가 자료로 확인했습니다. 평가 순서는 정상 기준 적합, 개발·보정, 후보 고정, 새 평가, 사후 채점입니다. 학습·개발·평가 역할 사이의 실행·seed·nonce 중복을 검사했고, 고장 장부는 탐지 입력과 분리했습니다. 오류 분석에 사용한 평가 자료는 이후 개발 자료로 취급했습니다. 기존 결과와 실패 후보는 보존했습니다.</a:t>
            </a:r>
          </a:p>
          <a:p>
            <a:r>
              <a:rPr lang="en-US"/>
              <a:t/>
            </a:r>
          </a:p>
          <a:p>
            <a:r>
              <a:rPr lang="en-US"/>
              <a:t>한계와 질의응답</a:t>
            </a:r>
          </a:p>
          <a:p>
            <a:r>
              <a:rPr lang="en-US"/>
              <a:t/>
            </a:r>
          </a:p>
          <a:p>
            <a:r>
              <a:rPr lang="en-US"/>
              <a:t>이 데이터는 합성 데이터이며 정상 생성 가정·설비 구성·작성자를 공유합니다. 실행과 seed를 분리했다는 사실이 외부 독립 평가를 뜻하지 않습니다. 실제 공장 일반화의 증거로 설명하지 않습니다. 실제 센서에 대한 일반화는 별도 검증 과제입니다.</a:t>
            </a:r>
          </a:p>
          <a:p>
            <a:r>
              <a:rPr lang="en-US"/>
              <a:t/>
            </a:r>
          </a:p>
          <a:p>
            <a:r>
              <a:rPr lang="en-US"/>
              <a:t>질문: 실제 생산 설비의 고장 데이터를 확보했습니까?</a:t>
            </a:r>
          </a:p>
          <a:p>
            <a:r>
              <a:rPr lang="en-US"/>
              <a:t>답변: 이번 탐지 평가는 공정 관계를 반영해 만든 합성 데이터로 진행했습니다. 실제 Pi에서 실행을 확인한 것과 실제 생산 설비의 고장 성능을 검증한 것은 구분합니다.</a:t>
            </a:r>
          </a:p>
          <a:p>
            <a:r>
              <a:rPr lang="en-US"/>
              <a:t/>
            </a:r>
          </a:p>
          <a:p>
            <a:r>
              <a:rPr lang="en-US"/>
              <a:t>질문: 고장 장부를 탐지기가 봤습니까?</a:t>
            </a:r>
          </a:p>
          <a:p>
            <a:r>
              <a:rPr lang="en-US"/>
              <a:t>답변: 고장 장부는 탐지 입력과 분리해 사후 채점에 사용했습니다. 오류 분석에 사용한 평가 자료는 이후 개발 자료로 취급했습니다.</a:t>
            </a:r>
          </a:p>
          <a:p>
            <a:r>
              <a:rPr lang="en-US"/>
              <a:t/>
            </a:r>
          </a:p>
          <a:p>
            <a:r>
              <a:rPr lang="en-US"/>
              <a:t>반론 검토 보강 — 69개 중 왜 63개인가</a:t>
            </a:r>
          </a:p>
          <a:p>
            <a:r>
              <a:rPr lang="en-US"/>
              <a:t/>
            </a:r>
          </a:p>
          <a:p>
            <a:r>
              <a:rPr lang="en-US"/>
              <a:t>성능이 낮은 센서를 결과를 보고 임의 제외한 것이 아닙니다. 정상 fit의 운전 프레임에서 최신 시각·good 품질·유한한 수치 관측이 95% 이상인 채널을 선정한 결과입니다. fit_statistics는 고장 탐지 결과나 사건 장부를 이용해 채널을 고르지 않습니다. 30초 간격으로 갱신되는 수동 관측 5개는 대부분의 1초 프레임에서 새 측정값이 아니며, 이벤트성 승강 지연 1개는 해당 데이터에서 unavailable이라 이 조건에 맞지 않습니다. 이들을 매초 새 센서값처럼 복제하거나 정상값으로 채우면 가짜 고착·변화 근거가 생길 수 있습니다.</a:t>
            </a:r>
          </a:p>
          <a:p>
            <a:r>
              <a:rPr lang="en-US"/>
              <a:t/>
            </a:r>
          </a:p>
          <a:p>
            <a:r>
              <a:rPr lang="en-US"/>
              <a:t>제외 항목의 정확한 목록</a:t>
            </a:r>
          </a:p>
          <a:p>
            <a:r>
              <a:rPr lang="en-US"/>
              <a:t>EQ-0001 fluid_viscosity: 유압유 점도 시료.</a:t>
            </a:r>
          </a:p>
          <a:p>
            <a:r>
              <a:rPr lang="en-US"/>
              <a:t>EQ-0001 hpu_return_submergence: 리턴 관 출구 잠김 깊이 시료.</a:t>
            </a:r>
          </a:p>
          <a:p>
            <a:r>
              <a:rPr lang="en-US"/>
              <a:t>EQ-0001 hpu_suction_head: 탱크 유면과 흡입 위치의 높이차 시료.</a:t>
            </a:r>
          </a:p>
          <a:p>
            <a:r>
              <a:rPr lang="en-US"/>
              <a:t>EQ-0004 gr_oil_water_content: 감속기 윤활유 수분 시료.</a:t>
            </a:r>
          </a:p>
          <a:p>
            <a:r>
              <a:rPr lang="en-US"/>
              <a:t>EQ-0005 gr_oil_water_content: 다른 감속기의 윤활유 수분 시료.</a:t>
            </a:r>
          </a:p>
          <a:p>
            <a:r>
              <a:rPr lang="en-US"/>
              <a:t>EQ-0007 rt_lift_delay: 리프트 명령·완료 이벤트로 구하는 승강 지연, 해당 구성에서는 unavailable.</a:t>
            </a:r>
          </a:p>
          <a:p>
            <a:r>
              <a:rPr lang="en-US"/>
              <a:t/>
            </a:r>
          </a:p>
          <a:p>
            <a:r>
              <a:rPr lang="en-US"/>
              <a:t>수동은 4종 신호가 5개 설비별 측정 항목에 해당합니다. 선택 입력 63개 중 정상 fit에서 비변동인 breaker_trip 1개와 gr_oil_leak 2개는 변동 통계 점수 채널에서 제외되어 60개입니다. 63개가 모두 연속 변동 통계로 판정된다는 표현을 피합니다. 이 제외는 PDA의 69개 전달·표시에서 삭제했다는 뜻이 아닙니다. 수동·이벤트 관측은 별도 주기에 맞춘 판정 경로가 필요하며 이번 연속 탐지의 검증 범위에 포함됐다고 주장하지 않습니다.</a:t>
            </a:r>
          </a:p>
          <a:p>
            <a:r>
              <a:rPr lang="en-US"/>
              <a:t/>
            </a:r>
          </a:p>
          <a:p>
            <a:r>
              <a:rPr lang="en-US"/>
              <a:t>근거: scripts/mes_causal_train.py:fit_statistics, scripts/mes_causal_data.py:valid_values, scripts/mes_causal_schema.py:MANUAL. 최신 origin/main a7acafd2의 docs/testing/mes-rms16-deployment-20261025.md와 mes-rms-confirmation-20261024-summary.json channel_mapping을 대조했습니다. 현재 작업 트리 HEAD 2c53f3a와 origin/main은 다르며 이 검토에서 장비를 새로 실행한 것은 아닙니다.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발표 대본</a:t>
            </a:r>
          </a:p>
          <a:p>
            <a:r>
              <a:rPr lang="en-US"/>
              <a:t/>
            </a:r>
          </a:p>
          <a:p>
            <a:r>
              <a:rPr lang="en-US"/>
              <a:t>복잡한 모델을 사용했다는 사실보다 실제 추가 효과가 있는지를 비교했습니다. 모델 선정 당시 동일한 새로운 36건을 사용했습니다. 강건 EWMA 단독은 24/36 탐지, 중복 통지 0건, 탐지 지연 p95 18초였습니다. Timestral + 강건 EWMA + 고착 검사는 36/36 탐지, 중복 1건, p95 18초였고, 강건 EWMA + 고착 검사도 36/36 탐지, 중복 1건, p95 18초였습니다. Timestral 결합·제거 후보는 통지 시각까지 동일했습니다. 따라서 해당 조건에서 추가 효과가 확인되지 않은 Timestral은 제거했습니다. 남은 중복은 이후 경보 상태기에서 수정했습니다. 현재 센서 탐지에는 Timestral을 사용하지 않습니다.</a:t>
            </a:r>
          </a:p>
          <a:p>
            <a:r>
              <a:rPr lang="en-US"/>
              <a:t/>
            </a:r>
          </a:p>
          <a:p>
            <a:r>
              <a:rPr lang="en-US"/>
              <a:t>현재 방법의 의미</a:t>
            </a:r>
          </a:p>
          <a:p>
            <a:r>
              <a:rPr lang="en-US"/>
              <a:t>강건 EWMA는 순간적으로 튄 값의 영향을 줄이면서 평소보다 높거나 낮은 상태가 계속되는지 확인합니다. 고착 검사는 변해야 할 센서값이 한 값에 붙어 계속 같은지 확인합니다. 동시 온도 상승은 같은 설비의 여러 온도 센서가 함께 상승하는지 확인합니다. 운전 조건별 정상 기준은 정상적인 부하·센서 관계 변화를 이상으로 오인하지 않도록 보정합니다. 경보 상태기는 첫 통지·지속·판단 불가·회복·다음 사건을 구분합니다.</a:t>
            </a:r>
          </a:p>
          <a:p>
            <a:r>
              <a:rPr lang="en-US"/>
              <a:t/>
            </a:r>
          </a:p>
          <a:p>
            <a:r>
              <a:rPr lang="en-US"/>
              <a:t>EWMA와 고착 검사가 모두 이상이어야 통지하는 것은 아닙니다. 지속적인 값의 편차 또는 고착이 각각 이상 근거가 될 수 있습니다.</a:t>
            </a:r>
          </a:p>
          <a:p>
            <a:r>
              <a:rPr lang="en-US"/>
              <a:t/>
            </a:r>
          </a:p>
          <a:p>
            <a:r>
              <a:rPr lang="en-US"/>
              <a:t>주요 문제와 해결 과정</a:t>
            </a:r>
          </a:p>
          <a:p>
            <a:r>
              <a:rPr lang="en-US"/>
              <a:t>1. 누설 6건 미탐: 다른 센서가 높인 설비 공통 문턱이 압력·유량 하락을 가렸습니다. 반복 수집 품질 처리와 채널별 정상 기준을 적용했습니다.</a:t>
            </a:r>
          </a:p>
          <a:p>
            <a:r>
              <a:rPr lang="en-US"/>
              <a:t>2. 같은 고장 재통지: 불량 측정 뒤 판단 불가 구간을 정상 회복으로 계산했습니다. 판단 불가와 실제 회복을 구분했습니다.</a:t>
            </a:r>
          </a:p>
          <a:p>
            <a:r>
              <a:rPr lang="en-US"/>
              <a:t>3. 정상 운전 오통지: 연구 자료와 운영 합성 MES의 정상 분포·부하 조건이 달랐습니다. 운전 조건별 정상 기준과 센서 관계를 보완했습니다.</a:t>
            </a:r>
          </a:p>
          <a:p>
            <a:r>
              <a:rPr lang="en-US"/>
              <a:t>4. 비매칭 통지 13건: 12건은 하류 압력 파급, 1건은 잔류 열 재통지였습니다. 유효한 파급 관측은 보존하고 온도 회복 기준을 강화했습니다.</a:t>
            </a:r>
          </a:p>
          <a:p>
            <a:r>
              <a:rPr lang="en-US"/>
              <a:t>5. 약한 냉각 이상 탐지 지연: 절대 온도 문턱에 도달하기까지 오래 걸렸습니다. 최근·과거 온도 차이와 동시 상승 검사를 추가했습니다.</a:t>
            </a:r>
          </a:p>
          <a:p>
            <a:r>
              <a:rPr lang="en-US"/>
              <a:t>6. 정상 진동을 고착으로 오인: 반올림된 정상값도 일정 기간 같아질 수 있었습니다. RMS 7채널의 확인 기간을 8프레임에서 16프레임으로 조정했습니다.</a:t>
            </a:r>
          </a:p>
          <a:p>
            <a:r>
              <a:rPr lang="en-US"/>
              <a:t>7. Pi 처리 지연: 누적 이력을 매번 재계산·해석했습니다. 분석 상태를 재사용하고 필요한 프레임만 조회하도록 수정했습니다.</a:t>
            </a:r>
          </a:p>
          <a:p>
            <a:r>
              <a:rPr lang="en-US"/>
              <a:t/>
            </a:r>
          </a:p>
          <a:p>
            <a:r>
              <a:rPr lang="en-US"/>
              <a:t>통지를 무조건 줄이지 않고, 미탐과 오통지가 발생한 센서·임계값·품질·회복 상태를 추적해 원인별로 수정했습니다.</a:t>
            </a:r>
          </a:p>
          <a:p>
            <a:r>
              <a:rPr lang="en-US"/>
              <a:t/>
            </a:r>
          </a:p>
          <a:p>
            <a:r>
              <a:rPr lang="en-US"/>
              <a:t>질의응답과 표현 주의</a:t>
            </a:r>
          </a:p>
          <a:p>
            <a:r>
              <a:rPr lang="en-US"/>
              <a:t>질문: 현재도 Timestral이 탐지합니까?</a:t>
            </a:r>
          </a:p>
          <a:p>
            <a:r>
              <a:rPr lang="en-US"/>
              <a:t>답변: 아닙니다. 비교 조건에서 추가 효과가 확인되지 않아 제거했습니다. 이 실험을 근거로 Timestral이 모든 환경에서 불필요하다고 일반화하지 않습니다.</a:t>
            </a:r>
          </a:p>
          <a:p>
            <a:r>
              <a:rPr lang="en-US"/>
              <a:t>질문: 계속 신경망을 재학습해 성능을 높였습니까?</a:t>
            </a:r>
          </a:p>
          <a:p>
            <a:r>
              <a:rPr lang="en-US"/>
              <a:t>답변: 현재의 학습은 주로 정상 기준과 임계값을 적합하는 통계적 학습입니다. 신경망을 계속 재학습한 것으로 설명하지 않습니다.</a:t>
            </a:r>
          </a:p>
          <a:p>
            <a:r>
              <a:rPr lang="en-US"/>
              <a:t>질문: 36건에서 38건으로 성능이 좋아진 것입니까?</a:t>
            </a:r>
          </a:p>
          <a:p>
            <a:r>
              <a:rPr lang="en-US"/>
              <a:t>답변: 서로 다른 자료와 평가 기준이므로 하나의 향상 그래프로 연결하지 않습니다.</a:t>
            </a:r>
          </a:p>
          <a:p>
            <a:r>
              <a:rPr lang="en-US"/>
              <a:t/>
            </a:r>
          </a:p>
          <a:p>
            <a:r>
              <a:rPr lang="en-US"/>
              <a:t>반론 검토 보강 — 방법 비교의 해석 한계</a:t>
            </a:r>
          </a:p>
          <a:p>
            <a:r>
              <a:rPr lang="en-US"/>
              <a:t/>
            </a:r>
          </a:p>
          <a:p>
            <a:r>
              <a:rPr lang="en-US"/>
              <a:t>Timestral을 일반적으로 무효라고 결론 내리지 않습니다. v10b의 고정 checkpoint·전처리·후보 탐색 범위·합성 36건에서 full/noTS의 통지 행과 시각이 같았다는 결론입니다. 그 조건에서 추가 탐지·시각 이득을 확인하지 못해 제거했습니다.</a:t>
            </a:r>
          </a:p>
          <a:p>
            <a:r>
              <a:rPr lang="en-US"/>
              <a:t/>
            </a:r>
          </a:p>
          <a:p>
            <a:r>
              <a:rPr lang="en-US"/>
              <a:t>표의 36/36은 같은 설비의 합성 고장 구간에 통지가 매칭됐다는 수치이며, 고장 종류 분류·부품·물리 원인 진단 정확도가 아닙니다. 지연 p95는 탐지 성공 사건 기준이어서 EWMA 단독은 24건, 결합 후보는 36건으로 지연 집계 분모가 다릅니다. 같은 p95 18초를 모든 조건에서 같은 속도라고 해석하지 않습니다.</a:t>
            </a:r>
          </a:p>
          <a:p>
            <a:r>
              <a:rPr lang="en-US"/>
              <a:t/>
            </a:r>
          </a:p>
          <a:p>
            <a:r>
              <a:rPr lang="en-US"/>
              <a:t>모델 선정 당시 중복 1건은 그대로 보고하고, 후속 경보 상태기 수정 결과와 섞지 않습니다. 정상 통지 0도 관측한 합성 시간의 결과이며 실제 오통지율 0의 증거가 아닙니다. 현재의 통계적 정상 기준 적합과 과거 Timestral 연구 학습, 다른 슬라이드의 LLM SFT를 같은 학습 과정으로 설명하지 않습니다.</a:t>
            </a:r>
          </a:p>
          <a:p>
            <a:r>
              <a:rPr lang="en-US"/>
              <a:t/>
            </a:r>
          </a:p>
          <a:p>
            <a:r>
              <a:rPr lang="en-US"/>
              <a:t>근거: docs/research/mes-causal-v10b-result-20261023.md의 동일 입력 대조표·Timestral 추가 효과·불확실성 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발표 대본</a:t>
            </a:r>
          </a:p>
          <a:p>
            <a:r>
              <a:rPr lang="en-US"/>
              <a:t/>
            </a:r>
          </a:p>
          <a:p>
            <a:r>
              <a:rPr lang="en-US"/>
              <a:t>최근 미사용 합성 평가에서는 공정 고장 24건과 지속 고착 14건을 모두 탐지했습니다. 최근 운영 프로파일 평가는 54실행·38,935프레임으로 구성했습니다. 공정 고장 탐지 24/24, 지속 센서 고착 탐지 14/14, 전체 38/38입니다. 정상 4시간 상당 합성 재생의 오통지, 비매칭 오통지, 중복 통지는 각각 0건입니다.</a:t>
            </a:r>
          </a:p>
          <a:p>
            <a:r>
              <a:rPr lang="en-US"/>
              <a:t/>
            </a:r>
          </a:p>
          <a:p>
            <a:r>
              <a:rPr lang="en-US"/>
              <a:t>고장 시작 기준 탐지 지연 p95는 25초이고, Pi 프레임 계산 시간 p95는 27.03ms입니다. 27.03밀리초는 한 프레임의 계산 시간이며, 25초는 이상 증거를 모아 통지하기까지의 시간입니다. 27ms 안에 고장을 탐지했다고 말하면 안 됩니다.</a:t>
            </a:r>
          </a:p>
          <a:p>
            <a:r>
              <a:rPr lang="en-US"/>
              <a:t/>
            </a:r>
          </a:p>
          <a:p>
            <a:r>
              <a:rPr lang="en-US"/>
              <a:t>정상 진동 오인을 줄이기 위해 RMS 7채널의 확인 기간을 8프레임에서 16프레임으로 늘렸습니다. 그 대신 정상 범위 안 고착의 탐지 p95는 7초에서 15초로 늦어졌습니다. 오인을 줄인 대신 확인이 늦어지는 절충을 함께 공개합니다.</a:t>
            </a:r>
          </a:p>
          <a:p>
            <a:r>
              <a:rPr lang="en-US"/>
              <a:t/>
            </a:r>
          </a:p>
          <a:p>
            <a:r>
              <a:rPr lang="en-US"/>
              <a:t>표현 원칙과 질의응답</a:t>
            </a:r>
          </a:p>
          <a:p>
            <a:r>
              <a:rPr lang="en-US"/>
              <a:t/>
            </a:r>
          </a:p>
          <a:p>
            <a:r>
              <a:rPr lang="en-US"/>
              <a:t>사용: 이번 미사용 합성 평가 38건 중 38건 탐지.</a:t>
            </a:r>
          </a:p>
          <a:p>
            <a:r>
              <a:rPr lang="en-US"/>
              <a:t>금지: 모든 고장 탐지율 100%.</a:t>
            </a:r>
          </a:p>
          <a:p>
            <a:r>
              <a:rPr lang="en-US"/>
              <a:t>사용: 이상 의심 설비와 센서 근거 제공.</a:t>
            </a:r>
          </a:p>
          <a:p>
            <a:r>
              <a:rPr lang="en-US"/>
              <a:t>금지: 고장 부품·원인 확정.</a:t>
            </a:r>
          </a:p>
          <a:p>
            <a:r>
              <a:rPr lang="en-US"/>
              <a:t>사용: Pi 프레임 계산 p95 27.03ms.</a:t>
            </a:r>
          </a:p>
          <a:p>
            <a:r>
              <a:rPr lang="en-US"/>
              <a:t>금지: 27ms 안에 고장 탐지.</a:t>
            </a:r>
          </a:p>
          <a:p>
            <a:r>
              <a:rPr lang="en-US"/>
              <a:t>사용: 합성 정상 재생에서 오통지 0건.</a:t>
            </a:r>
          </a:p>
          <a:p>
            <a:r>
              <a:rPr lang="en-US"/>
              <a:t>금지: 실제 공장에서 오경보 없음.</a:t>
            </a:r>
          </a:p>
          <a:p>
            <a:r>
              <a:rPr lang="en-US"/>
              <a:t>사용: 실제 Pi에서 실행 기능 검증.</a:t>
            </a:r>
          </a:p>
          <a:p>
            <a:r>
              <a:rPr lang="en-US"/>
              <a:t>금지: 실제 생산 설비 고장 검증 완료.</a:t>
            </a:r>
          </a:p>
          <a:p>
            <a:r>
              <a:rPr lang="en-US"/>
              <a:t/>
            </a:r>
          </a:p>
          <a:p>
            <a:r>
              <a:rPr lang="en-US"/>
              <a:t>초기 54/55·p95 6초, 모델 선정 당시 36건, 최근 38건은 자료와 평가 기준이 다릅니다. 하나의 성능 향상 그래프로 연결하면 안 됩니다. 이전 42건 평가의 막힘 미탐 1건도 최근 결과로 해결됐다고 주장하지 않습니다.</a:t>
            </a:r>
          </a:p>
          <a:p>
            <a:r>
              <a:rPr lang="en-US"/>
              <a:t/>
            </a:r>
          </a:p>
          <a:p>
            <a:r>
              <a:rPr lang="en-US"/>
              <a:t>질문: 38/38이면 모든 고장을 찾아냅니까?</a:t>
            </a:r>
          </a:p>
          <a:p>
            <a:r>
              <a:rPr lang="en-US"/>
              <a:t>답변: 이번 미사용 합성 평가 38건에서의 결과입니다. 실제 센서에 대한 일반화는 별도 검증 과제이며, 외부 독립 평가나 실제 공장 검증의 증거로 설명하지 않습니다.</a:t>
            </a:r>
          </a:p>
          <a:p>
            <a:r>
              <a:rPr lang="en-US"/>
              <a:t>질문: Raspberry Pi에서 27ms 안에 경보를 냅니까?</a:t>
            </a:r>
          </a:p>
          <a:p>
            <a:r>
              <a:rPr lang="en-US"/>
              <a:t>답변: 27.03ms는 프레임 계산 p95입니다. 고장 시작부터 통지까지의 탐지 지연 p95는 25초이며, 물리 PDA까지 포함한 전체 지연은 별도 검증 과제입니다.</a:t>
            </a:r>
          </a:p>
          <a:p>
            <a:r>
              <a:rPr lang="en-US"/>
              <a:t>질문: 고장 원인도 확정합니까?</a:t>
            </a:r>
          </a:p>
          <a:p>
            <a:r>
              <a:rPr lang="en-US"/>
              <a:t>답변: 아닙니다. 점검이 필요한 설비와 센서 근거를 제공하는 참고 기능입니다.</a:t>
            </a:r>
          </a:p>
          <a:p>
            <a:r>
              <a:rPr lang="en-US"/>
              <a:t/>
            </a:r>
          </a:p>
          <a:p>
            <a:r>
              <a:rPr lang="en-US"/>
              <a:t>강조할 성과는 데이터 구성, 공정한 방법 비교, 실패 원인 분석, 개선, 기기 실행 검증의 연결입니다. 현재 센서 탐지에는 Timestral을 사용하지 않습니다. 실제 센서 일반화와 물리 PDA까지의 전체 지연은 검증이 남아 있습니다.</a:t>
            </a:r>
          </a:p>
          <a:p>
            <a:r>
              <a:rPr lang="en-US"/>
              <a:t/>
            </a:r>
          </a:p>
          <a:p>
            <a:r>
              <a:rPr lang="en-US"/>
              <a:t>반론 검토 보강 — 이번에 확인한 최신 근거와 결과 해석</a:t>
            </a:r>
          </a:p>
          <a:p>
            <a:r>
              <a:rPr lang="en-US"/>
              <a:t/>
            </a:r>
          </a:p>
          <a:p>
            <a:r>
              <a:rPr lang="en-US"/>
              <a:t>현재 작업 트리 HEAD 2c53f3a에는 최신 RMS16 문서가 없었습니다. 별도 체크아웃이나 장비 실행 없이 로컬 origin/main a7acafd2의 docs/testing/mes-rms-confirmation-20261024.md, mes-rms-confirmation-20261024-summary.json, mes-rms16-deployment-20261025.md를 읽어 수치를 대조했습니다. 38/38, 54실행, 38,935프레임, 27.031465ms가 일치합니다. 이는 시점이 명시된 기록 확인이며 현재 장비 상태를 새로 확인한 것은 아닙니다.</a:t>
            </a:r>
          </a:p>
          <a:p>
            <a:r>
              <a:rPr lang="en-US"/>
              <a:t/>
            </a:r>
          </a:p>
          <a:p>
            <a:r>
              <a:rPr lang="en-US"/>
              <a:t>새 평가에서는 원본 r6도 38/38, 정상·비매칭 오통지 0, 중복 0, 탐지 p95 25초였습니다. 따라서 새 자료에서 후보의 오통지율 우위가 입증됐다고 설명하지 않습니다. 확인한 개선은 이미 소비한 정상 오통지 두 사례를 회귀에서 제거한 것이며, 새 평가에서는 탐지·오통지·중복·공정 고장 지연이 유지됐습니다. 정상 범위 안 고착 확인은 p95 7초에서 15초로 느려졌습니다. 16프레임 이상 건강한 정체나 실제 현장 분포에서 완벽히 구분된다는 보장은 없습니다.</a:t>
            </a:r>
          </a:p>
          <a:p>
            <a:r>
              <a:rPr lang="en-US"/>
              <a:t/>
            </a:r>
          </a:p>
          <a:p>
            <a:r>
              <a:rPr lang="en-US"/>
              <a:t>38건은 공정 고장 네 종류별 6건과 RMS 일곱 채널의 범위 안·밖 지속 고착 14건입니다. 모든 고장 종류·강도·간헐 고착·센서 교체·실제 공장 분포를 대표하지 않습니다. 통지는 공개 reader의 고유 event_id를 같은 설비의 고장 창과 매칭한 수치이며 반복 표시 자체를 중복 통지로 세지 않습니다.</a:t>
            </a:r>
          </a:p>
          <a:p>
            <a:r>
              <a:rPr lang="en-US"/>
              <a:t/>
            </a:r>
          </a:p>
          <a:p>
            <a:r>
              <a:rPr lang="en-US"/>
              <a:t>25초는 합성 고장 시작 기준 재생 시간축의 탐지 지연입니다. 27.03ms는 Pi 오프라인 재생의 프레임 처리 p95이며 운영 물리 화면까지의 전체 지연이 아닙니다. 별도 Pi 1Hz·Jetson 왕복 격리 경로 5사례에서는 표시 p95/최대 26.64초, 269/269프레임을 확인한 기록이 있습니다. 이 5건 수치를 운영 DB·키오스크·물리 화면의 일반적인 p95로 확대하지 않습니다. 물리 진동도 계측하지 않았습니다.</a:t>
            </a:r>
          </a:p>
          <a:p>
            <a:r>
              <a:rPr lang="en-US"/>
              <a:t/>
            </a:r>
          </a:p>
          <a:p>
            <a:r>
              <a:rPr lang="en-US"/>
              <a:t>질문: 느려졌는데 무엇이 개선입니까?</a:t>
            </a:r>
          </a:p>
          <a:p>
            <a:r>
              <a:rPr lang="en-US"/>
              <a:t>답변: 기존의 정상 오통지 두 사례를 회귀에서 제거했고 새 합성 평가의 탐지 성능은 유지했습니다. 그 대가로 정상 범위 안 고착 확인이 8초 늦어진 절충을 공개합니다. 새 평가에서 원본보다 오통지율이 우수했다고 주장하지 않습니다.</a:t>
            </a:r>
          </a:p>
          <a:p>
            <a:r>
              <a:rPr lang="en-US"/>
              <a:t>질문: 테스트 자료만 바꿔 38/38을 만든 것 아닙니까?</a:t>
            </a:r>
          </a:p>
          <a:p>
            <a:r>
              <a:rPr lang="en-US"/>
              <a:t>답변: 후보·생성기·설정·프로토콜을 고정한 뒤 입력을 생성·봉인하고 원본과 후보에 같은 자료를 재생했습니다. 다만 정상 생성 가정과 구성은 공유하므로 외부 독립 검증은 아닙니다.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22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23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26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27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28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29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30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svg"/><Relationship Id="rId8" Type="http://schemas.openxmlformats.org/officeDocument/2006/relationships/image" Target="../media/image4.png"/><Relationship Id="rId9" Type="http://schemas.openxmlformats.org/officeDocument/2006/relationships/image" Target="../media/image5.png"/><Relationship Id="rId10"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8.jpe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hyperlink" Target="https://www.yna.co.kr/view/AKR20260612046000003" TargetMode="External"/><Relationship Id="rId9" Type="http://schemas.openxmlformats.org/officeDocument/2006/relationships/hyperlink" Target="https://shiheungcci.korcham.net/front/board/boardContentsView.do?boardId=10499&amp;contId=128097&amp;menuId=2845" TargetMode="External"/><Relationship Id="rId10" Type="http://schemas.openxmlformats.org/officeDocument/2006/relationships/hyperlink" Target="https://shiheungcci.korcham.net/front/board/boardContentsView.do?boardId=10499&amp;contId=128097&amp;menuId=2845"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13.png"/><Relationship Id="rId6" Type="http://schemas.openxmlformats.org/officeDocument/2006/relationships/image" Target="../media/image14.sv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8.jpeg"/><Relationship Id="rId4" Type="http://schemas.openxmlformats.org/officeDocument/2006/relationships/image" Target="../media/image15.png"/><Relationship Id="rId5" Type="http://schemas.openxmlformats.org/officeDocument/2006/relationships/image" Target="../media/image16.svg"/><Relationship Id="rId6" Type="http://schemas.openxmlformats.org/officeDocument/2006/relationships/image" Target="../media/image17.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 Id="rId10" Type="http://schemas.openxmlformats.org/officeDocument/2006/relationships/image" Target="../media/image18.png"/><Relationship Id="rId11" Type="http://schemas.openxmlformats.org/officeDocument/2006/relationships/image" Target="../media/image19.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0.jpeg"/><Relationship Id="rId4" Type="http://schemas.openxmlformats.org/officeDocument/2006/relationships/image" Target="../media/image7.jpeg"/><Relationship Id="rId5" Type="http://schemas.openxmlformats.org/officeDocument/2006/relationships/image" Target="../media/image8.jpe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0.jpeg"/><Relationship Id="rId4" Type="http://schemas.openxmlformats.org/officeDocument/2006/relationships/image" Target="../media/image7.jpeg"/><Relationship Id="rId5" Type="http://schemas.openxmlformats.org/officeDocument/2006/relationships/image" Target="../media/image8.jpe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0.jpeg"/><Relationship Id="rId4" Type="http://schemas.openxmlformats.org/officeDocument/2006/relationships/image" Target="../media/image7.jpeg"/><Relationship Id="rId5" Type="http://schemas.openxmlformats.org/officeDocument/2006/relationships/image" Target="../media/image8.jpe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0.jpeg"/><Relationship Id="rId4" Type="http://schemas.openxmlformats.org/officeDocument/2006/relationships/image" Target="../media/image7.jpeg"/><Relationship Id="rId5" Type="http://schemas.openxmlformats.org/officeDocument/2006/relationships/image" Target="../media/image8.jpe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0.jpeg"/><Relationship Id="rId4" Type="http://schemas.openxmlformats.org/officeDocument/2006/relationships/image" Target="../media/image7.jpeg"/><Relationship Id="rId5" Type="http://schemas.openxmlformats.org/officeDocument/2006/relationships/image" Target="../media/image8.jpe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0.jpeg"/><Relationship Id="rId4" Type="http://schemas.openxmlformats.org/officeDocument/2006/relationships/image" Target="../media/image7.jpeg"/><Relationship Id="rId5" Type="http://schemas.openxmlformats.org/officeDocument/2006/relationships/image" Target="../media/image8.jpe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image" Target="../media/image35.svg"/><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eg"/><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4.png"/><Relationship Id="rId8" Type="http://schemas.openxmlformats.org/officeDocument/2006/relationships/image" Target="../media/image35.sv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0.jpeg"/><Relationship Id="rId4" Type="http://schemas.openxmlformats.org/officeDocument/2006/relationships/image" Target="../media/image7.jpeg"/><Relationship Id="rId5" Type="http://schemas.openxmlformats.org/officeDocument/2006/relationships/image" Target="../media/image8.jpe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image" Target="../media/image41.png"/><Relationship Id="rId10" Type="http://schemas.openxmlformats.org/officeDocument/2006/relationships/image" Target="../media/image42.png"/><Relationship Id="rId11" Type="http://schemas.openxmlformats.org/officeDocument/2006/relationships/image" Target="../media/image43.svg"/><Relationship Id="rId12" Type="http://schemas.openxmlformats.org/officeDocument/2006/relationships/image" Target="../media/image21.png"/><Relationship Id="rId13" Type="http://schemas.openxmlformats.org/officeDocument/2006/relationships/image" Target="../media/image22.png"/><Relationship Id="rId14"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44.png"/><Relationship Id="rId6" Type="http://schemas.openxmlformats.org/officeDocument/2006/relationships/image" Target="../media/image45.svg"/><Relationship Id="rId7" Type="http://schemas.openxmlformats.org/officeDocument/2006/relationships/image" Target="../media/image46.png"/><Relationship Id="rId8" Type="http://schemas.openxmlformats.org/officeDocument/2006/relationships/image" Target="../media/image47.svg"/><Relationship Id="rId9" Type="http://schemas.openxmlformats.org/officeDocument/2006/relationships/image" Target="../media/image15.png"/><Relationship Id="rId10" Type="http://schemas.openxmlformats.org/officeDocument/2006/relationships/image" Target="../media/image16.svg"/><Relationship Id="rId11" Type="http://schemas.openxmlformats.org/officeDocument/2006/relationships/image" Target="../media/image4.png"/><Relationship Id="rId12" Type="http://schemas.openxmlformats.org/officeDocument/2006/relationships/image" Target="../media/image5.png"/><Relationship Id="rId1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48.png"/><Relationship Id="rId6" Type="http://schemas.openxmlformats.org/officeDocument/2006/relationships/image" Target="../media/image49.sv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50.jpeg"/><Relationship Id="rId6" Type="http://schemas.openxmlformats.org/officeDocument/2006/relationships/video" Target="../media/VAHY7Lo7Ym8.mp4"/><Relationship Id="rId7" Type="http://schemas.microsoft.com/office/2007/relationships/media" Target="../media/VAHY7Lo7Ym8.mp4"/><Relationship Id="rId8" Type="http://schemas.openxmlformats.org/officeDocument/2006/relationships/image" Target="../media/image51.png"/><Relationship Id="rId9" Type="http://schemas.openxmlformats.org/officeDocument/2006/relationships/image" Target="../media/image52.svg"/><Relationship Id="rId10" Type="http://schemas.openxmlformats.org/officeDocument/2006/relationships/image" Target="../media/image53.png"/><Relationship Id="rId11" Type="http://schemas.openxmlformats.org/officeDocument/2006/relationships/image" Target="../media/image54.svg"/><Relationship Id="rId12" Type="http://schemas.openxmlformats.org/officeDocument/2006/relationships/image" Target="../media/image4.png"/><Relationship Id="rId13" Type="http://schemas.openxmlformats.org/officeDocument/2006/relationships/image" Target="../media/image5.png"/><Relationship Id="rId14"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60.svg"/><Relationship Id="rId11" Type="http://schemas.openxmlformats.org/officeDocument/2006/relationships/image" Target="../media/image4.png"/><Relationship Id="rId12" Type="http://schemas.openxmlformats.org/officeDocument/2006/relationships/image" Target="../media/image5.png"/><Relationship Id="rId13" Type="http://schemas.openxmlformats.org/officeDocument/2006/relationships/image" Target="../media/image6.png"/><Relationship Id="rId14" Type="http://schemas.openxmlformats.org/officeDocument/2006/relationships/image" Target="../media/image61.png"/><Relationship Id="rId15" Type="http://schemas.openxmlformats.org/officeDocument/2006/relationships/image" Target="../media/image62.svg"/><Relationship Id="rId16" Type="http://schemas.openxmlformats.org/officeDocument/2006/relationships/image" Target="../media/image63.png"/><Relationship Id="rId17" Type="http://schemas.openxmlformats.org/officeDocument/2006/relationships/image" Target="../media/image64.svg"/><Relationship Id="rId18" Type="http://schemas.openxmlformats.org/officeDocument/2006/relationships/image" Target="../media/image18.png"/><Relationship Id="rId19" Type="http://schemas.openxmlformats.org/officeDocument/2006/relationships/image" Target="../media/image19.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svg"/><Relationship Id="rId10" Type="http://schemas.openxmlformats.org/officeDocument/2006/relationships/image" Target="../media/image70.png"/><Relationship Id="rId11" Type="http://schemas.openxmlformats.org/officeDocument/2006/relationships/image" Target="../media/image71.png"/><Relationship Id="rId12" Type="http://schemas.openxmlformats.org/officeDocument/2006/relationships/image" Target="../media/image72.png"/><Relationship Id="rId13" Type="http://schemas.openxmlformats.org/officeDocument/2006/relationships/image" Target="../media/image73.png"/><Relationship Id="rId14" Type="http://schemas.openxmlformats.org/officeDocument/2006/relationships/image" Target="../media/image4.png"/><Relationship Id="rId15" Type="http://schemas.openxmlformats.org/officeDocument/2006/relationships/image" Target="../media/image5.png"/><Relationship Id="rId16"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74.png"/><Relationship Id="rId6" Type="http://schemas.openxmlformats.org/officeDocument/2006/relationships/image" Target="../media/image75.sv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image" Target="../media/image4.png"/><Relationship Id="rId10" Type="http://schemas.openxmlformats.org/officeDocument/2006/relationships/image" Target="../media/image5.png"/><Relationship Id="rId11"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61.png"/><Relationship Id="rId9" Type="http://schemas.openxmlformats.org/officeDocument/2006/relationships/image" Target="../media/image62.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8.jpeg"/><Relationship Id="rId9" Type="http://schemas.openxmlformats.org/officeDocument/2006/relationships/video" Target="../media/VAHY9vRgSHY.mp4"/><Relationship Id="rId10" Type="http://schemas.microsoft.com/office/2007/relationships/media" Target="../media/VAHY9vRgSHY.mp4"/></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79.png"/><Relationship Id="rId6" Type="http://schemas.openxmlformats.org/officeDocument/2006/relationships/image" Target="../media/image80.svg"/><Relationship Id="rId7" Type="http://schemas.openxmlformats.org/officeDocument/2006/relationships/image" Target="../media/image81.png"/><Relationship Id="rId8" Type="http://schemas.openxmlformats.org/officeDocument/2006/relationships/image" Target="../media/image82.svg"/><Relationship Id="rId9" Type="http://schemas.openxmlformats.org/officeDocument/2006/relationships/image" Target="../media/image83.png"/><Relationship Id="rId10" Type="http://schemas.openxmlformats.org/officeDocument/2006/relationships/image" Target="../media/image84.png"/><Relationship Id="rId11" Type="http://schemas.openxmlformats.org/officeDocument/2006/relationships/image" Target="../media/image85.png"/><Relationship Id="rId12" Type="http://schemas.openxmlformats.org/officeDocument/2006/relationships/image" Target="../media/image48.png"/><Relationship Id="rId13" Type="http://schemas.openxmlformats.org/officeDocument/2006/relationships/image" Target="../media/image49.svg"/><Relationship Id="rId14" Type="http://schemas.openxmlformats.org/officeDocument/2006/relationships/image" Target="../media/image4.png"/><Relationship Id="rId15" Type="http://schemas.openxmlformats.org/officeDocument/2006/relationships/image" Target="../media/image5.png"/><Relationship Id="rId16"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7.jpeg"/><Relationship Id="rId4" Type="http://schemas.openxmlformats.org/officeDocument/2006/relationships/image" Target="../media/image8.jpeg"/><Relationship Id="rId5" Type="http://schemas.openxmlformats.org/officeDocument/2006/relationships/image" Target="../media/image86.png"/><Relationship Id="rId6" Type="http://schemas.openxmlformats.org/officeDocument/2006/relationships/image" Target="../media/image87.svg"/><Relationship Id="rId7" Type="http://schemas.openxmlformats.org/officeDocument/2006/relationships/image" Target="../media/image88.png"/><Relationship Id="rId8" Type="http://schemas.openxmlformats.org/officeDocument/2006/relationships/image" Target="../media/image89.png"/><Relationship Id="rId9" Type="http://schemas.openxmlformats.org/officeDocument/2006/relationships/image" Target="../media/image90.svg"/><Relationship Id="rId10" Type="http://schemas.openxmlformats.org/officeDocument/2006/relationships/image" Target="../media/image91.png"/><Relationship Id="rId11" Type="http://schemas.openxmlformats.org/officeDocument/2006/relationships/image" Target="../media/image92.svg"/><Relationship Id="rId12" Type="http://schemas.openxmlformats.org/officeDocument/2006/relationships/image" Target="../media/image93.png"/><Relationship Id="rId13" Type="http://schemas.openxmlformats.org/officeDocument/2006/relationships/image" Target="../media/image94.png"/><Relationship Id="rId14" Type="http://schemas.openxmlformats.org/officeDocument/2006/relationships/image" Target="../media/image4.png"/><Relationship Id="rId15" Type="http://schemas.openxmlformats.org/officeDocument/2006/relationships/image" Target="../media/image5.png"/><Relationship Id="rId16" Type="http://schemas.openxmlformats.org/officeDocument/2006/relationships/image" Target="../media/image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eg"/><Relationship Id="rId3" Type="http://schemas.openxmlformats.org/officeDocument/2006/relationships/image" Target="../media/image8.jpeg"/><Relationship Id="rId4" Type="http://schemas.openxmlformats.org/officeDocument/2006/relationships/image" Target="../media/image95.png"/><Relationship Id="rId5" Type="http://schemas.openxmlformats.org/officeDocument/2006/relationships/image" Target="../media/image96.png"/><Relationship Id="rId6" Type="http://schemas.openxmlformats.org/officeDocument/2006/relationships/image" Target="../media/image97.sv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sv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E3B3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7524" cy="10287000"/>
            <a:chOff x="0" y="0"/>
            <a:chExt cx="24383365" cy="13716000"/>
          </a:xfrm>
        </p:grpSpPr>
        <p:sp>
          <p:nvSpPr>
            <p:cNvPr name="Freeform 3" id="3" descr="C:\Users\abab9\AppData\Local\Temp\claude\C--Users-abab9-Desktop-Shiftlink\03368683-632b-4bf6-b41d-988cf517f7bf\scratchpad\deck\media\image2.png"/>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lnTo>
                    <a:pt x="0" y="0"/>
                  </a:lnTo>
                  <a:close/>
                </a:path>
              </a:pathLst>
            </a:custGeom>
            <a:blipFill>
              <a:blip r:embed="rId3">
                <a:alphaModFix amt="44999"/>
              </a:blip>
              <a:stretch>
                <a:fillRect l="-1" t="0" r="-1" b="0"/>
              </a:stretch>
            </a:blipFill>
          </p:spPr>
        </p:sp>
      </p:grpSp>
      <p:grpSp>
        <p:nvGrpSpPr>
          <p:cNvPr name="Group 4" id="4"/>
          <p:cNvGrpSpPr/>
          <p:nvPr/>
        </p:nvGrpSpPr>
        <p:grpSpPr>
          <a:xfrm rot="0">
            <a:off x="-9525" y="-9525"/>
            <a:ext cx="9339532" cy="10306050"/>
            <a:chOff x="0" y="0"/>
            <a:chExt cx="12452709" cy="13741400"/>
          </a:xfrm>
        </p:grpSpPr>
        <p:sp>
          <p:nvSpPr>
            <p:cNvPr name="Freeform 5" id="5"/>
            <p:cNvSpPr/>
            <p:nvPr/>
          </p:nvSpPr>
          <p:spPr>
            <a:xfrm flipH="false" flipV="false" rot="0">
              <a:off x="0" y="0"/>
              <a:ext cx="12452710" cy="13741400"/>
            </a:xfrm>
            <a:custGeom>
              <a:avLst/>
              <a:gdLst/>
              <a:ahLst/>
              <a:cxnLst/>
              <a:rect r="r" b="b" t="t" l="l"/>
              <a:pathLst>
                <a:path h="13741400" w="12452710">
                  <a:moveTo>
                    <a:pt x="0" y="0"/>
                  </a:moveTo>
                  <a:lnTo>
                    <a:pt x="12452710" y="0"/>
                  </a:lnTo>
                  <a:lnTo>
                    <a:pt x="12452710" y="13741400"/>
                  </a:lnTo>
                  <a:lnTo>
                    <a:pt x="0" y="13741400"/>
                  </a:lnTo>
                  <a:close/>
                </a:path>
              </a:pathLst>
            </a:custGeom>
            <a:solidFill>
              <a:srgbClr val="0E3B38">
                <a:alpha val="70980"/>
              </a:srgbClr>
            </a:solidFill>
          </p:spPr>
        </p:sp>
      </p:grpSp>
      <p:sp>
        <p:nvSpPr>
          <p:cNvPr name="TextBox 6" id="6"/>
          <p:cNvSpPr txBox="true"/>
          <p:nvPr/>
        </p:nvSpPr>
        <p:spPr>
          <a:xfrm rot="0">
            <a:off x="1234440" y="438912"/>
            <a:ext cx="11239500" cy="342900"/>
          </a:xfrm>
          <a:prstGeom prst="rect">
            <a:avLst/>
          </a:prstGeom>
        </p:spPr>
        <p:txBody>
          <a:bodyPr anchor="t" rtlCol="false" tIns="0" lIns="0" bIns="0" rIns="0">
            <a:spAutoFit/>
          </a:bodyPr>
          <a:lstStyle/>
          <a:p>
            <a:pPr algn="l">
              <a:lnSpc>
                <a:spcPts val="2760"/>
              </a:lnSpc>
            </a:pPr>
            <a:r>
              <a:rPr lang="en-US" sz="2300">
                <a:solidFill>
                  <a:srgbClr val="FFFFFF"/>
                </a:solidFill>
                <a:latin typeface="Noto Sans"/>
                <a:ea typeface="Noto Sans"/>
                <a:cs typeface="Noto Sans"/>
                <a:sym typeface="Noto Sans"/>
              </a:rPr>
              <a:t>2026 KNDA 온디바이스 AI 1기 프로젝트 최종 발표</a:t>
            </a:r>
          </a:p>
        </p:txBody>
      </p:sp>
      <p:sp>
        <p:nvSpPr>
          <p:cNvPr name="TextBox 7" id="7"/>
          <p:cNvSpPr txBox="true"/>
          <p:nvPr/>
        </p:nvSpPr>
        <p:spPr>
          <a:xfrm rot="0">
            <a:off x="1234440" y="3005490"/>
            <a:ext cx="8915400" cy="2743200"/>
          </a:xfrm>
          <a:prstGeom prst="rect">
            <a:avLst/>
          </a:prstGeom>
        </p:spPr>
        <p:txBody>
          <a:bodyPr anchor="t" rtlCol="false" tIns="0" lIns="0" bIns="0" rIns="0">
            <a:spAutoFit/>
          </a:bodyPr>
          <a:lstStyle/>
          <a:p>
            <a:pPr algn="l">
              <a:lnSpc>
                <a:spcPts val="10800"/>
              </a:lnSpc>
            </a:pPr>
            <a:r>
              <a:rPr lang="en-US" sz="9000">
                <a:solidFill>
                  <a:srgbClr val="FFFFFF"/>
                </a:solidFill>
                <a:latin typeface="Noto Sans"/>
                <a:ea typeface="Noto Sans"/>
                <a:cs typeface="Noto Sans"/>
                <a:sym typeface="Noto Sans"/>
              </a:rPr>
              <a:t>온디바이스 </a:t>
            </a:r>
          </a:p>
          <a:p>
            <a:pPr algn="l">
              <a:lnSpc>
                <a:spcPts val="10800"/>
              </a:lnSpc>
            </a:pPr>
            <a:r>
              <a:rPr lang="en-US" sz="9000">
                <a:solidFill>
                  <a:srgbClr val="FFFFFF"/>
                </a:solidFill>
                <a:latin typeface="Noto Sans"/>
                <a:ea typeface="Noto Sans"/>
                <a:cs typeface="Noto Sans"/>
                <a:sym typeface="Noto Sans"/>
              </a:rPr>
              <a:t>AI 에이전트</a:t>
            </a:r>
          </a:p>
        </p:txBody>
      </p:sp>
      <p:sp>
        <p:nvSpPr>
          <p:cNvPr name="TextBox 8" id="8"/>
          <p:cNvSpPr txBox="true"/>
          <p:nvPr/>
        </p:nvSpPr>
        <p:spPr>
          <a:xfrm rot="0">
            <a:off x="1097280" y="6377940"/>
            <a:ext cx="6777335" cy="485775"/>
          </a:xfrm>
          <a:prstGeom prst="rect">
            <a:avLst/>
          </a:prstGeom>
        </p:spPr>
        <p:txBody>
          <a:bodyPr anchor="t" rtlCol="false" tIns="0" lIns="0" bIns="0" rIns="0">
            <a:spAutoFit/>
          </a:bodyPr>
          <a:lstStyle/>
          <a:p>
            <a:pPr algn="l">
              <a:lnSpc>
                <a:spcPts val="3840"/>
              </a:lnSpc>
            </a:pPr>
            <a:r>
              <a:rPr lang="en-US" sz="3200" i="true">
                <a:solidFill>
                  <a:srgbClr val="FFE27A"/>
                </a:solidFill>
                <a:latin typeface="Noto Sans Italics"/>
                <a:ea typeface="Noto Sans Italics"/>
                <a:cs typeface="Noto Sans Italics"/>
                <a:sym typeface="Noto Sans Italics"/>
              </a:rPr>
              <a:t>현장의 경험으로 성장하는 지식 네트워크</a:t>
            </a:r>
          </a:p>
        </p:txBody>
      </p:sp>
      <p:sp>
        <p:nvSpPr>
          <p:cNvPr name="TextBox 9" id="9"/>
          <p:cNvSpPr txBox="true"/>
          <p:nvPr/>
        </p:nvSpPr>
        <p:spPr>
          <a:xfrm rot="0">
            <a:off x="1097280" y="9114218"/>
            <a:ext cx="12801236" cy="506032"/>
          </a:xfrm>
          <a:prstGeom prst="rect">
            <a:avLst/>
          </a:prstGeom>
        </p:spPr>
        <p:txBody>
          <a:bodyPr anchor="t" rtlCol="false" tIns="0" lIns="0" bIns="0" rIns="0">
            <a:spAutoFit/>
          </a:bodyPr>
          <a:lstStyle/>
          <a:p>
            <a:pPr algn="l">
              <a:lnSpc>
                <a:spcPts val="4133"/>
              </a:lnSpc>
            </a:pPr>
            <a:r>
              <a:rPr lang="en-US" sz="3446">
                <a:solidFill>
                  <a:srgbClr val="CFE7DF"/>
                </a:solidFill>
                <a:latin typeface="Noto Sans"/>
                <a:ea typeface="Noto Sans"/>
                <a:cs typeface="Noto Sans"/>
                <a:sym typeface="Noto Sans"/>
              </a:rPr>
              <a:t>팀명 : Shiftlink</a:t>
            </a:r>
          </a:p>
        </p:txBody>
      </p:sp>
      <p:grpSp>
        <p:nvGrpSpPr>
          <p:cNvPr name="Group 10" id="10"/>
          <p:cNvGrpSpPr/>
          <p:nvPr/>
        </p:nvGrpSpPr>
        <p:grpSpPr>
          <a:xfrm rot="0">
            <a:off x="12384195" y="9200483"/>
            <a:ext cx="5508498" cy="856298"/>
            <a:chOff x="0" y="0"/>
            <a:chExt cx="7344664" cy="1141730"/>
          </a:xfrm>
        </p:grpSpPr>
        <p:sp>
          <p:nvSpPr>
            <p:cNvPr name="Freeform 11" id="11"/>
            <p:cNvSpPr/>
            <p:nvPr/>
          </p:nvSpPr>
          <p:spPr>
            <a:xfrm flipH="false" flipV="false" rot="0">
              <a:off x="0" y="0"/>
              <a:ext cx="7344664" cy="1141730"/>
            </a:xfrm>
            <a:custGeom>
              <a:avLst/>
              <a:gdLst/>
              <a:ahLst/>
              <a:cxnLst/>
              <a:rect r="r" b="b" t="t" l="l"/>
              <a:pathLst>
                <a:path h="1141730" w="7344664">
                  <a:moveTo>
                    <a:pt x="0" y="0"/>
                  </a:moveTo>
                  <a:lnTo>
                    <a:pt x="7344664" y="0"/>
                  </a:lnTo>
                  <a:lnTo>
                    <a:pt x="7344664" y="1141730"/>
                  </a:lnTo>
                  <a:lnTo>
                    <a:pt x="0" y="11417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479425" y="241681"/>
              <a:ext cx="1977517" cy="658368"/>
              <a:chOff x="0" y="0"/>
              <a:chExt cx="1977517" cy="658368"/>
            </a:xfrm>
          </p:grpSpPr>
          <p:sp>
            <p:nvSpPr>
              <p:cNvPr name="Freeform 13" id="13" descr="C:\Users\abab9\AppData\Local\Temp\claude\C--Users-abab9-Desktop-Shiftlink\03368683-632b-4bf6-b41d-988cf517f7bf\scratchpad\build\logos\knda.png"/>
              <p:cNvSpPr/>
              <p:nvPr/>
            </p:nvSpPr>
            <p:spPr>
              <a:xfrm flipH="false" flipV="false" rot="0">
                <a:off x="0" y="0"/>
                <a:ext cx="1977517" cy="658368"/>
              </a:xfrm>
              <a:custGeom>
                <a:avLst/>
                <a:gdLst/>
                <a:ahLst/>
                <a:cxnLst/>
                <a:rect r="r" b="b" t="t" l="l"/>
                <a:pathLst>
                  <a:path h="658368" w="1977517">
                    <a:moveTo>
                      <a:pt x="0" y="0"/>
                    </a:moveTo>
                    <a:lnTo>
                      <a:pt x="1977517" y="0"/>
                    </a:lnTo>
                    <a:lnTo>
                      <a:pt x="1977517" y="658368"/>
                    </a:lnTo>
                    <a:lnTo>
                      <a:pt x="0" y="658368"/>
                    </a:lnTo>
                    <a:lnTo>
                      <a:pt x="0" y="0"/>
                    </a:lnTo>
                    <a:close/>
                  </a:path>
                </a:pathLst>
              </a:custGeom>
              <a:blipFill>
                <a:blip r:embed="rId6"/>
                <a:stretch>
                  <a:fillRect l="0" t="-262" r="0" b="-264"/>
                </a:stretch>
              </a:blipFill>
            </p:spPr>
          </p:sp>
        </p:grpSp>
        <p:grpSp>
          <p:nvGrpSpPr>
            <p:cNvPr name="Group 14" id="14"/>
            <p:cNvGrpSpPr/>
            <p:nvPr/>
          </p:nvGrpSpPr>
          <p:grpSpPr>
            <a:xfrm rot="0">
              <a:off x="2914129" y="387985"/>
              <a:ext cx="1398905" cy="365760"/>
              <a:chOff x="0" y="0"/>
              <a:chExt cx="1398905" cy="365760"/>
            </a:xfrm>
          </p:grpSpPr>
          <p:sp>
            <p:nvSpPr>
              <p:cNvPr name="Freeform 15" id="15" descr="C:\Users\abab9\AppData\Local\Temp\claude\C--Users-abab9-Desktop-Shiftlink\03368683-632b-4bf6-b41d-988cf517f7bf\scratchpad\build\logos\posco.png"/>
              <p:cNvSpPr/>
              <p:nvPr/>
            </p:nvSpPr>
            <p:spPr>
              <a:xfrm flipH="false" flipV="false" rot="0">
                <a:off x="0" y="0"/>
                <a:ext cx="1398905" cy="365760"/>
              </a:xfrm>
              <a:custGeom>
                <a:avLst/>
                <a:gdLst/>
                <a:ahLst/>
                <a:cxnLst/>
                <a:rect r="r" b="b" t="t" l="l"/>
                <a:pathLst>
                  <a:path h="365760" w="1398905">
                    <a:moveTo>
                      <a:pt x="0" y="0"/>
                    </a:moveTo>
                    <a:lnTo>
                      <a:pt x="1398905" y="0"/>
                    </a:lnTo>
                    <a:lnTo>
                      <a:pt x="1398905" y="365760"/>
                    </a:lnTo>
                    <a:lnTo>
                      <a:pt x="0" y="365760"/>
                    </a:lnTo>
                    <a:lnTo>
                      <a:pt x="0" y="0"/>
                    </a:lnTo>
                    <a:close/>
                  </a:path>
                </a:pathLst>
              </a:custGeom>
              <a:blipFill>
                <a:blip r:embed="rId7"/>
                <a:stretch>
                  <a:fillRect l="-32" t="0" r="-32" b="0"/>
                </a:stretch>
              </a:blipFill>
            </p:spPr>
          </p:sp>
        </p:grpSp>
        <p:grpSp>
          <p:nvGrpSpPr>
            <p:cNvPr name="Group 16" id="16"/>
            <p:cNvGrpSpPr/>
            <p:nvPr/>
          </p:nvGrpSpPr>
          <p:grpSpPr>
            <a:xfrm rot="0">
              <a:off x="4770247" y="387985"/>
              <a:ext cx="2094992" cy="365760"/>
              <a:chOff x="0" y="0"/>
              <a:chExt cx="2094992" cy="365760"/>
            </a:xfrm>
          </p:grpSpPr>
          <p:sp>
            <p:nvSpPr>
              <p:cNvPr name="Freeform 17" id="17" descr="C:\Users\abab9\AppData\Local\Temp\claude\C--Users-abab9-Desktop-Shiftlink\03368683-632b-4bf6-b41d-988cf517f7bf\scratchpad\build\logos\nextsurfer.png"/>
              <p:cNvSpPr/>
              <p:nvPr/>
            </p:nvSpPr>
            <p:spPr>
              <a:xfrm flipH="false" flipV="false" rot="0">
                <a:off x="0" y="0"/>
                <a:ext cx="2094992" cy="365760"/>
              </a:xfrm>
              <a:custGeom>
                <a:avLst/>
                <a:gdLst/>
                <a:ahLst/>
                <a:cxnLst/>
                <a:rect r="r" b="b" t="t" l="l"/>
                <a:pathLst>
                  <a:path h="365760" w="2094992">
                    <a:moveTo>
                      <a:pt x="0" y="0"/>
                    </a:moveTo>
                    <a:lnTo>
                      <a:pt x="2094992" y="0"/>
                    </a:lnTo>
                    <a:lnTo>
                      <a:pt x="2094992" y="365760"/>
                    </a:lnTo>
                    <a:lnTo>
                      <a:pt x="0" y="365760"/>
                    </a:lnTo>
                    <a:lnTo>
                      <a:pt x="0" y="0"/>
                    </a:lnTo>
                    <a:close/>
                  </a:path>
                </a:pathLst>
              </a:custGeom>
              <a:blipFill>
                <a:blip r:embed="rId8"/>
                <a:stretch>
                  <a:fillRect l="0" t="-118" r="0" b="-118"/>
                </a:stretch>
              </a:blipFill>
            </p:spPr>
          </p:sp>
        </p:gr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3050" r="0" b="-333050"/>
              </a:stretch>
            </a:blipFill>
          </p:spPr>
        </p:sp>
        <p:sp>
          <p:nvSpPr>
            <p:cNvPr name="TextBox 6" id="6"/>
            <p:cNvSpPr txBox="true"/>
            <p:nvPr/>
          </p:nvSpPr>
          <p:spPr>
            <a:xfrm>
              <a:off x="0" y="-9525"/>
              <a:ext cx="10972800" cy="567690"/>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7" id="7"/>
          <p:cNvGrpSpPr/>
          <p:nvPr/>
        </p:nvGrpSpPr>
        <p:grpSpPr>
          <a:xfrm rot="0">
            <a:off x="5818352" y="9710928"/>
            <a:ext cx="4070985" cy="419672"/>
            <a:chOff x="0" y="0"/>
            <a:chExt cx="5427980" cy="559562"/>
          </a:xfrm>
        </p:grpSpPr>
        <p:grpSp>
          <p:nvGrpSpPr>
            <p:cNvPr name="Group 8" id="8"/>
            <p:cNvGrpSpPr/>
            <p:nvPr/>
          </p:nvGrpSpPr>
          <p:grpSpPr>
            <a:xfrm rot="0">
              <a:off x="0" y="0"/>
              <a:ext cx="1680845" cy="559562"/>
              <a:chOff x="0" y="0"/>
              <a:chExt cx="1680845" cy="559562"/>
            </a:xfrm>
          </p:grpSpPr>
          <p:sp>
            <p:nvSpPr>
              <p:cNvPr name="Freeform 9" id="9"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5"/>
                <a:stretch>
                  <a:fillRect l="0" t="-265" r="0" b="-267"/>
                </a:stretch>
              </a:blipFill>
            </p:spPr>
          </p:sp>
        </p:grpSp>
        <p:grpSp>
          <p:nvGrpSpPr>
            <p:cNvPr name="Group 10" id="10"/>
            <p:cNvGrpSpPr/>
            <p:nvPr/>
          </p:nvGrpSpPr>
          <p:grpSpPr>
            <a:xfrm rot="0">
              <a:off x="2069490" y="124358"/>
              <a:ext cx="1189101" cy="310896"/>
              <a:chOff x="0" y="0"/>
              <a:chExt cx="1189101" cy="310896"/>
            </a:xfrm>
          </p:grpSpPr>
          <p:sp>
            <p:nvSpPr>
              <p:cNvPr name="Freeform 11" id="11"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6"/>
                <a:stretch>
                  <a:fillRect l="-30" t="0" r="-32" b="0"/>
                </a:stretch>
              </a:blipFill>
            </p:spPr>
          </p:sp>
        </p:grpSp>
        <p:grpSp>
          <p:nvGrpSpPr>
            <p:cNvPr name="Group 12" id="12"/>
            <p:cNvGrpSpPr/>
            <p:nvPr/>
          </p:nvGrpSpPr>
          <p:grpSpPr>
            <a:xfrm rot="0">
              <a:off x="3647186" y="124358"/>
              <a:ext cx="1780794" cy="310896"/>
              <a:chOff x="0" y="0"/>
              <a:chExt cx="1780794" cy="310896"/>
            </a:xfrm>
          </p:grpSpPr>
          <p:sp>
            <p:nvSpPr>
              <p:cNvPr name="Freeform 13" id="13"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7"/>
                <a:stretch>
                  <a:fillRect l="0" t="-118" r="0" b="-122"/>
                </a:stretch>
              </a:blipFill>
            </p:spPr>
          </p:sp>
        </p:grpSp>
      </p:grpSp>
      <p:sp>
        <p:nvSpPr>
          <p:cNvPr name="TextBox 14" id="14"/>
          <p:cNvSpPr txBox="true"/>
          <p:nvPr/>
        </p:nvSpPr>
        <p:spPr>
          <a:xfrm rot="0">
            <a:off x="822960" y="946785"/>
            <a:ext cx="16642080" cy="581025"/>
          </a:xfrm>
          <a:prstGeom prst="rect">
            <a:avLst/>
          </a:prstGeom>
        </p:spPr>
        <p:txBody>
          <a:bodyPr anchor="t" rtlCol="false" tIns="0" lIns="0" bIns="0" rIns="0">
            <a:spAutoFit/>
          </a:bodyPr>
          <a:lstStyle/>
          <a:p>
            <a:pPr algn="l">
              <a:lnSpc>
                <a:spcPts val="4500"/>
              </a:lnSpc>
            </a:pPr>
            <a:r>
              <a:rPr lang="en-US" sz="3750" spc="750" b="true">
                <a:solidFill>
                  <a:srgbClr val="203238"/>
                </a:solidFill>
                <a:latin typeface="Noto Sans Bold"/>
                <a:ea typeface="Noto Sans Bold"/>
                <a:cs typeface="Noto Sans Bold"/>
                <a:sym typeface="Noto Sans Bold"/>
              </a:rPr>
              <a:t>CONTENTS</a:t>
            </a:r>
          </a:p>
        </p:txBody>
      </p:sp>
      <p:graphicFrame>
        <p:nvGraphicFramePr>
          <p:cNvPr name="Table 15" id="15"/>
          <p:cNvGraphicFramePr>
            <a:graphicFrameLocks noGrp="true"/>
          </p:cNvGraphicFramePr>
          <p:nvPr/>
        </p:nvGraphicFramePr>
        <p:xfrm>
          <a:off x="868909" y="2157956"/>
          <a:ext cx="16550183" cy="6860355"/>
        </p:xfrm>
        <a:graphic>
          <a:graphicData uri="http://schemas.openxmlformats.org/drawingml/2006/table">
            <a:tbl>
              <a:tblPr/>
              <a:tblGrid>
                <a:gridCol w="1227407"/>
                <a:gridCol w="6000652"/>
                <a:gridCol w="9322124"/>
              </a:tblGrid>
              <a:tr h="1362127">
                <a:tc>
                  <a:txBody>
                    <a:bodyPr anchor="t" rtlCol="false"/>
                    <a:lstStyle/>
                    <a:p>
                      <a:pPr algn="l">
                        <a:lnSpc>
                          <a:spcPts val="3060"/>
                        </a:lnSpc>
                        <a:defRPr/>
                      </a:pPr>
                      <a:r>
                        <a:rPr lang="en-US" sz="2550" b="true">
                          <a:solidFill>
                            <a:srgbClr val="1F6F63"/>
                          </a:solidFill>
                          <a:latin typeface="Noto Sans Bold"/>
                          <a:ea typeface="Noto Sans Bold"/>
                          <a:cs typeface="Noto Sans Bold"/>
                          <a:sym typeface="Noto Sans Bold"/>
                        </a:rPr>
                        <a:t>01</a:t>
                      </a:r>
                      <a:endParaRPr lang="en-US" sz="1100"/>
                    </a:p>
                  </a:txBody>
                  <a:tcPr marL="137160" marR="137160" marT="137160" marB="13716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a:lnSpc>
                          <a:spcPts val="3060"/>
                        </a:lnSpc>
                        <a:defRPr/>
                      </a:pPr>
                      <a:r>
                        <a:rPr lang="en-US" sz="2550" b="true">
                          <a:solidFill>
                            <a:srgbClr val="000000"/>
                          </a:solidFill>
                          <a:latin typeface="Noto Sans Bold"/>
                          <a:ea typeface="Noto Sans Bold"/>
                          <a:cs typeface="Noto Sans Bold"/>
                          <a:sym typeface="Noto Sans Bold"/>
                        </a:rPr>
                        <a:t>프로젝트 개요</a:t>
                      </a:r>
                      <a:endParaRPr lang="en-US" sz="1100"/>
                    </a:p>
                  </a:txBody>
                  <a:tcPr marL="137160" marR="137160" marT="137160" marB="13716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r">
                        <a:lnSpc>
                          <a:spcPts val="2340"/>
                        </a:lnSpc>
                        <a:defRPr/>
                      </a:pPr>
                      <a:r>
                        <a:rPr lang="en-US" sz="1950">
                          <a:solidFill>
                            <a:srgbClr val="6B787A"/>
                          </a:solidFill>
                          <a:latin typeface="Noto Sans"/>
                          <a:ea typeface="Noto Sans"/>
                          <a:cs typeface="Noto Sans"/>
                          <a:sym typeface="Noto Sans"/>
                        </a:rPr>
                        <a:t>p.04</a:t>
                      </a:r>
                      <a:endParaRPr lang="en-US" sz="1100"/>
                    </a:p>
                  </a:txBody>
                  <a:tcPr marL="137160" marR="137160" marT="137160" marB="13716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r>
              <a:tr h="1374557">
                <a:tc>
                  <a:txBody>
                    <a:bodyPr anchor="t" rtlCol="false"/>
                    <a:lstStyle/>
                    <a:p>
                      <a:pPr algn="l">
                        <a:lnSpc>
                          <a:spcPts val="3060"/>
                        </a:lnSpc>
                        <a:defRPr/>
                      </a:pPr>
                      <a:r>
                        <a:rPr lang="en-US" sz="2550" b="true">
                          <a:solidFill>
                            <a:srgbClr val="1F6F63"/>
                          </a:solidFill>
                          <a:latin typeface="Noto Sans Bold"/>
                          <a:ea typeface="Noto Sans Bold"/>
                          <a:cs typeface="Noto Sans Bold"/>
                          <a:sym typeface="Noto Sans Bold"/>
                        </a:rPr>
                        <a:t>02</a:t>
                      </a:r>
                      <a:endParaRPr lang="en-US" sz="1100"/>
                    </a:p>
                  </a:txBody>
                  <a:tcPr marL="137160" marR="137160" marT="137160" marB="13716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a:lnSpc>
                          <a:spcPts val="3060"/>
                        </a:lnSpc>
                        <a:defRPr/>
                      </a:pPr>
                      <a:r>
                        <a:rPr lang="en-US" sz="2550" b="true">
                          <a:solidFill>
                            <a:srgbClr val="000000"/>
                          </a:solidFill>
                          <a:latin typeface="Noto Sans Bold"/>
                          <a:ea typeface="Noto Sans Bold"/>
                          <a:cs typeface="Noto Sans Bold"/>
                          <a:sym typeface="Noto Sans Bold"/>
                        </a:rPr>
                        <a:t>시스템 구성</a:t>
                      </a:r>
                      <a:endParaRPr lang="en-US" sz="1100"/>
                    </a:p>
                  </a:txBody>
                  <a:tcPr marL="137160" marR="137160" marT="137160" marB="13716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r" marL="0" indent="0" lvl="0">
                        <a:lnSpc>
                          <a:spcPts val="2340"/>
                        </a:lnSpc>
                        <a:spcBef>
                          <a:spcPct val="0"/>
                        </a:spcBef>
                        <a:defRPr/>
                      </a:pPr>
                      <a:r>
                        <a:rPr lang="en-US" sz="1950" strike="noStrike" u="none">
                          <a:solidFill>
                            <a:srgbClr val="6B787A"/>
                          </a:solidFill>
                          <a:latin typeface="Noto Sans"/>
                          <a:ea typeface="Noto Sans"/>
                          <a:cs typeface="Noto Sans"/>
                          <a:sym typeface="Noto Sans"/>
                        </a:rPr>
                        <a:t>p.09</a:t>
                      </a:r>
                      <a:endParaRPr lang="en-US" sz="1100"/>
                    </a:p>
                  </a:txBody>
                  <a:tcPr marL="137160" marR="137160" marT="137160" marB="13716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r>
              <a:tr h="1374557">
                <a:tc>
                  <a:txBody>
                    <a:bodyPr anchor="t" rtlCol="false"/>
                    <a:lstStyle/>
                    <a:p>
                      <a:pPr algn="l">
                        <a:lnSpc>
                          <a:spcPts val="3060"/>
                        </a:lnSpc>
                        <a:defRPr/>
                      </a:pPr>
                      <a:r>
                        <a:rPr lang="en-US" sz="2550" b="true">
                          <a:solidFill>
                            <a:srgbClr val="1F6F63"/>
                          </a:solidFill>
                          <a:latin typeface="Noto Sans Bold"/>
                          <a:ea typeface="Noto Sans Bold"/>
                          <a:cs typeface="Noto Sans Bold"/>
                          <a:sym typeface="Noto Sans Bold"/>
                        </a:rPr>
                        <a:t>03</a:t>
                      </a:r>
                      <a:endParaRPr lang="en-US" sz="1100"/>
                    </a:p>
                  </a:txBody>
                  <a:tcPr marL="137160" marR="137160" marT="137160" marB="13716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a:lnSpc>
                          <a:spcPts val="3060"/>
                        </a:lnSpc>
                        <a:defRPr/>
                      </a:pPr>
                      <a:r>
                        <a:rPr lang="en-US" sz="2550" b="true">
                          <a:solidFill>
                            <a:srgbClr val="000000"/>
                          </a:solidFill>
                          <a:latin typeface="Noto Sans Bold"/>
                          <a:ea typeface="Noto Sans Bold"/>
                          <a:cs typeface="Noto Sans Bold"/>
                          <a:sym typeface="Noto Sans Bold"/>
                        </a:rPr>
                        <a:t>AI 모델</a:t>
                      </a:r>
                      <a:endParaRPr lang="en-US" sz="1100"/>
                    </a:p>
                  </a:txBody>
                  <a:tcPr marL="137160" marR="137160" marT="137160" marB="13716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r" marL="0" indent="0" lvl="0">
                        <a:lnSpc>
                          <a:spcPts val="2340"/>
                        </a:lnSpc>
                        <a:spcBef>
                          <a:spcPct val="0"/>
                        </a:spcBef>
                        <a:defRPr/>
                      </a:pPr>
                      <a:r>
                        <a:rPr lang="en-US" sz="1950" strike="noStrike" u="none">
                          <a:solidFill>
                            <a:srgbClr val="6B787A"/>
                          </a:solidFill>
                          <a:latin typeface="Noto Sans"/>
                          <a:ea typeface="Noto Sans"/>
                          <a:cs typeface="Noto Sans"/>
                          <a:sym typeface="Noto Sans"/>
                        </a:rPr>
                        <a:t>p.16</a:t>
                      </a:r>
                      <a:endParaRPr lang="en-US" sz="1100"/>
                    </a:p>
                  </a:txBody>
                  <a:tcPr marL="137160" marR="137160" marT="137160" marB="13716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r>
              <a:tr h="1374557">
                <a:tc>
                  <a:txBody>
                    <a:bodyPr anchor="t" rtlCol="false"/>
                    <a:lstStyle/>
                    <a:p>
                      <a:pPr algn="l">
                        <a:lnSpc>
                          <a:spcPts val="3060"/>
                        </a:lnSpc>
                        <a:defRPr/>
                      </a:pPr>
                      <a:r>
                        <a:rPr lang="en-US" sz="2550" b="true">
                          <a:solidFill>
                            <a:srgbClr val="1F6F63"/>
                          </a:solidFill>
                          <a:latin typeface="Noto Sans Bold"/>
                          <a:ea typeface="Noto Sans Bold"/>
                          <a:cs typeface="Noto Sans Bold"/>
                          <a:sym typeface="Noto Sans Bold"/>
                        </a:rPr>
                        <a:t>04</a:t>
                      </a:r>
                      <a:endParaRPr lang="en-US" sz="1100"/>
                    </a:p>
                  </a:txBody>
                  <a:tcPr marL="137160" marR="137160" marT="137160" marB="13716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a:lnSpc>
                          <a:spcPts val="3060"/>
                        </a:lnSpc>
                        <a:defRPr/>
                      </a:pPr>
                      <a:r>
                        <a:rPr lang="en-US" sz="2550" b="true">
                          <a:solidFill>
                            <a:srgbClr val="000000"/>
                          </a:solidFill>
                          <a:latin typeface="Noto Sans Bold"/>
                          <a:ea typeface="Noto Sans Bold"/>
                          <a:cs typeface="Noto Sans Bold"/>
                          <a:sym typeface="Noto Sans Bold"/>
                        </a:rPr>
                        <a:t>시연</a:t>
                      </a:r>
                      <a:endParaRPr lang="en-US" sz="1100"/>
                    </a:p>
                  </a:txBody>
                  <a:tcPr marL="137160" marR="137160" marT="137160" marB="13716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r" marL="0" indent="0" lvl="0">
                        <a:lnSpc>
                          <a:spcPts val="2340"/>
                        </a:lnSpc>
                        <a:spcBef>
                          <a:spcPct val="0"/>
                        </a:spcBef>
                        <a:defRPr/>
                      </a:pPr>
                      <a:r>
                        <a:rPr lang="en-US" sz="1950" strike="noStrike" u="none">
                          <a:solidFill>
                            <a:srgbClr val="6B787A"/>
                          </a:solidFill>
                          <a:latin typeface="Noto Sans"/>
                          <a:ea typeface="Noto Sans"/>
                          <a:cs typeface="Noto Sans"/>
                          <a:sym typeface="Noto Sans"/>
                        </a:rPr>
                        <a:t>p.27</a:t>
                      </a:r>
                      <a:endParaRPr lang="en-US" sz="1100"/>
                    </a:p>
                  </a:txBody>
                  <a:tcPr marL="137160" marR="137160" marT="137160" marB="13716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r>
              <a:tr h="1374557">
                <a:tc>
                  <a:txBody>
                    <a:bodyPr anchor="t" rtlCol="false"/>
                    <a:lstStyle/>
                    <a:p>
                      <a:pPr algn="l">
                        <a:lnSpc>
                          <a:spcPts val="3060"/>
                        </a:lnSpc>
                        <a:defRPr/>
                      </a:pPr>
                      <a:r>
                        <a:rPr lang="en-US" sz="2550" b="true">
                          <a:solidFill>
                            <a:srgbClr val="1F6F63"/>
                          </a:solidFill>
                          <a:latin typeface="Noto Sans Bold"/>
                          <a:ea typeface="Noto Sans Bold"/>
                          <a:cs typeface="Noto Sans Bold"/>
                          <a:sym typeface="Noto Sans Bold"/>
                        </a:rPr>
                        <a:t>05</a:t>
                      </a:r>
                      <a:endParaRPr lang="en-US" sz="1100"/>
                    </a:p>
                  </a:txBody>
                  <a:tcPr marL="137160" marR="137160" marT="137160" marB="13716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a:lnSpc>
                          <a:spcPts val="3060"/>
                        </a:lnSpc>
                        <a:defRPr/>
                      </a:pPr>
                      <a:r>
                        <a:rPr lang="en-US" sz="2550" b="true">
                          <a:solidFill>
                            <a:srgbClr val="000000"/>
                          </a:solidFill>
                          <a:latin typeface="Noto Sans Bold"/>
                          <a:ea typeface="Noto Sans Bold"/>
                          <a:cs typeface="Noto Sans Bold"/>
                          <a:sym typeface="Noto Sans Bold"/>
                        </a:rPr>
                        <a:t>성과와 회고</a:t>
                      </a:r>
                      <a:endParaRPr lang="en-US" sz="1100"/>
                    </a:p>
                  </a:txBody>
                  <a:tcPr marL="137160" marR="137160" marT="137160" marB="13716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r" marL="0" indent="0" lvl="0">
                        <a:lnSpc>
                          <a:spcPts val="2340"/>
                        </a:lnSpc>
                        <a:spcBef>
                          <a:spcPct val="0"/>
                        </a:spcBef>
                        <a:defRPr/>
                      </a:pPr>
                      <a:r>
                        <a:rPr lang="en-US" sz="1950" strike="noStrike" u="none">
                          <a:solidFill>
                            <a:srgbClr val="6B787A"/>
                          </a:solidFill>
                          <a:latin typeface="Noto Sans"/>
                          <a:ea typeface="Noto Sans"/>
                          <a:cs typeface="Noto Sans"/>
                          <a:sym typeface="Noto Sans"/>
                        </a:rPr>
                        <a:t>p.31</a:t>
                      </a:r>
                      <a:endParaRPr lang="en-US" sz="1100"/>
                    </a:p>
                  </a:txBody>
                  <a:tcPr marL="137160" marR="137160" marT="137160" marB="13716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r>
            </a:tbl>
          </a:graphicData>
        </a:graphic>
      </p:graphicFrame>
      <p:sp>
        <p:nvSpPr>
          <p:cNvPr name="TextBox 16" id="16"/>
          <p:cNvSpPr txBox="true"/>
          <p:nvPr/>
        </p:nvSpPr>
        <p:spPr>
          <a:xfrm rot="0">
            <a:off x="16733063" y="9737598"/>
            <a:ext cx="640080" cy="209550"/>
          </a:xfrm>
          <a:prstGeom prst="rect">
            <a:avLst/>
          </a:prstGeom>
        </p:spPr>
        <p:txBody>
          <a:bodyPr anchor="t" rtlCol="false" tIns="0" lIns="0" bIns="0" rIns="0">
            <a:spAutoFit/>
          </a:bodyPr>
          <a:lstStyle/>
          <a:p>
            <a:pPr algn="r">
              <a:lnSpc>
                <a:spcPts val="1620"/>
              </a:lnSpc>
            </a:pPr>
            <a:r>
              <a:rPr lang="en-US" sz="1350">
                <a:solidFill>
                  <a:srgbClr val="6B787A"/>
                </a:solidFill>
                <a:latin typeface="Noto Sans"/>
                <a:ea typeface="Noto Sans"/>
                <a:cs typeface="Noto Sans"/>
                <a:sym typeface="Noto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3050" r="0" b="-333050"/>
              </a:stretch>
            </a:blipFill>
          </p:spPr>
        </p:sp>
        <p:sp>
          <p:nvSpPr>
            <p:cNvPr name="TextBox 6" id="6"/>
            <p:cNvSpPr txBox="true"/>
            <p:nvPr/>
          </p:nvSpPr>
          <p:spPr>
            <a:xfrm>
              <a:off x="0" y="-9525"/>
              <a:ext cx="10972800" cy="567690"/>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sp>
        <p:nvSpPr>
          <p:cNvPr name="TextBox 7" id="7"/>
          <p:cNvSpPr txBox="true"/>
          <p:nvPr/>
        </p:nvSpPr>
        <p:spPr>
          <a:xfrm rot="0">
            <a:off x="822960" y="515112"/>
            <a:ext cx="4114800" cy="228600"/>
          </a:xfrm>
          <a:prstGeom prst="rect">
            <a:avLst/>
          </a:prstGeom>
        </p:spPr>
        <p:txBody>
          <a:bodyPr anchor="t" rtlCol="false" tIns="0" lIns="0" bIns="0" rIns="0">
            <a:spAutoFit/>
          </a:bodyPr>
          <a:lstStyle/>
          <a:p>
            <a:pPr algn="l">
              <a:lnSpc>
                <a:spcPts val="1800"/>
              </a:lnSpc>
            </a:pPr>
            <a:r>
              <a:rPr lang="en-US" sz="1500" b="true">
                <a:solidFill>
                  <a:srgbClr val="16796C"/>
                </a:solidFill>
                <a:latin typeface="Noto Sans Bold"/>
                <a:ea typeface="Noto Sans Bold"/>
                <a:cs typeface="Noto Sans Bold"/>
                <a:sym typeface="Noto Sans Bold"/>
              </a:rPr>
              <a:t>TEAM</a:t>
            </a:r>
          </a:p>
        </p:txBody>
      </p:sp>
      <p:sp>
        <p:nvSpPr>
          <p:cNvPr name="TextBox 8" id="8"/>
          <p:cNvSpPr txBox="true"/>
          <p:nvPr/>
        </p:nvSpPr>
        <p:spPr>
          <a:xfrm rot="0">
            <a:off x="822960" y="946785"/>
            <a:ext cx="16642080" cy="581025"/>
          </a:xfrm>
          <a:prstGeom prst="rect">
            <a:avLst/>
          </a:prstGeom>
        </p:spPr>
        <p:txBody>
          <a:bodyPr anchor="t" rtlCol="false" tIns="0" lIns="0" bIns="0" rIns="0">
            <a:spAutoFit/>
          </a:bodyPr>
          <a:lstStyle/>
          <a:p>
            <a:pPr algn="l">
              <a:lnSpc>
                <a:spcPts val="4500"/>
              </a:lnSpc>
            </a:pPr>
            <a:r>
              <a:rPr lang="en-US" sz="3750" b="true">
                <a:solidFill>
                  <a:srgbClr val="203238"/>
                </a:solidFill>
                <a:latin typeface="Noto Sans Bold"/>
                <a:ea typeface="Noto Sans Bold"/>
                <a:cs typeface="Noto Sans Bold"/>
                <a:sym typeface="Noto Sans Bold"/>
              </a:rPr>
              <a:t>팀 구성과 역할</a:t>
            </a:r>
          </a:p>
        </p:txBody>
      </p:sp>
      <p:grpSp>
        <p:nvGrpSpPr>
          <p:cNvPr name="Group 9" id="9"/>
          <p:cNvGrpSpPr/>
          <p:nvPr/>
        </p:nvGrpSpPr>
        <p:grpSpPr>
          <a:xfrm rot="0">
            <a:off x="1577340" y="1851660"/>
            <a:ext cx="15087600" cy="4828032"/>
            <a:chOff x="0" y="0"/>
            <a:chExt cx="20116800" cy="6437376"/>
          </a:xfrm>
        </p:grpSpPr>
        <p:sp>
          <p:nvSpPr>
            <p:cNvPr name="Freeform 10" id="10" descr="C:\Users\abab9\AppData\Local\Temp\claude\C--Users-abab9-Desktop-Shiftlink\03368683-632b-4bf6-b41d-988cf517f7bf\scratchpad\build\team_crop.png"/>
            <p:cNvSpPr/>
            <p:nvPr/>
          </p:nvSpPr>
          <p:spPr>
            <a:xfrm flipH="false" flipV="false" rot="0">
              <a:off x="0" y="0"/>
              <a:ext cx="20116800" cy="6437376"/>
            </a:xfrm>
            <a:custGeom>
              <a:avLst/>
              <a:gdLst/>
              <a:ahLst/>
              <a:cxnLst/>
              <a:rect r="r" b="b" t="t" l="l"/>
              <a:pathLst>
                <a:path h="6437376" w="20116800">
                  <a:moveTo>
                    <a:pt x="0" y="0"/>
                  </a:moveTo>
                  <a:lnTo>
                    <a:pt x="20116800" y="0"/>
                  </a:lnTo>
                  <a:lnTo>
                    <a:pt x="20116800" y="6437376"/>
                  </a:lnTo>
                  <a:lnTo>
                    <a:pt x="0" y="6437376"/>
                  </a:lnTo>
                  <a:lnTo>
                    <a:pt x="0" y="0"/>
                  </a:lnTo>
                  <a:close/>
                </a:path>
              </a:pathLst>
            </a:custGeom>
            <a:blipFill>
              <a:blip r:embed="rId5"/>
              <a:stretch>
                <a:fillRect l="0" t="0" r="0" b="0"/>
              </a:stretch>
            </a:blipFill>
          </p:spPr>
        </p:sp>
      </p:grpSp>
      <p:sp>
        <p:nvSpPr>
          <p:cNvPr name="Freeform 11" id="11"/>
          <p:cNvSpPr/>
          <p:nvPr/>
        </p:nvSpPr>
        <p:spPr>
          <a:xfrm flipH="false" flipV="false" rot="0">
            <a:off x="1560671" y="6292691"/>
            <a:ext cx="3805238" cy="2707958"/>
          </a:xfrm>
          <a:custGeom>
            <a:avLst/>
            <a:gdLst/>
            <a:ahLst/>
            <a:cxnLst/>
            <a:rect r="r" b="b" t="t" l="l"/>
            <a:pathLst>
              <a:path h="2707958" w="3805238">
                <a:moveTo>
                  <a:pt x="0" y="0"/>
                </a:moveTo>
                <a:lnTo>
                  <a:pt x="3805238" y="0"/>
                </a:lnTo>
                <a:lnTo>
                  <a:pt x="3805238" y="2707958"/>
                </a:lnTo>
                <a:lnTo>
                  <a:pt x="0" y="27079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1577340" y="6454902"/>
            <a:ext cx="3771900" cy="595122"/>
          </a:xfrm>
          <a:prstGeom prst="rect">
            <a:avLst/>
          </a:prstGeom>
        </p:spPr>
        <p:txBody>
          <a:bodyPr anchor="t" rtlCol="false" tIns="0" lIns="0" bIns="0" rIns="0">
            <a:spAutoFit/>
          </a:bodyPr>
          <a:lstStyle/>
          <a:p>
            <a:pPr algn="ctr">
              <a:lnSpc>
                <a:spcPts val="3240"/>
              </a:lnSpc>
            </a:pPr>
            <a:r>
              <a:rPr lang="en-US" sz="2700" b="true">
                <a:solidFill>
                  <a:srgbClr val="1B2B2E"/>
                </a:solidFill>
                <a:latin typeface="Noto Sans Bold"/>
                <a:ea typeface="Noto Sans Bold"/>
                <a:cs typeface="Noto Sans Bold"/>
                <a:sym typeface="Noto Sans Bold"/>
              </a:rPr>
              <a:t>최재영</a:t>
            </a:r>
          </a:p>
        </p:txBody>
      </p:sp>
      <p:sp>
        <p:nvSpPr>
          <p:cNvPr name="TextBox 13" id="13"/>
          <p:cNvSpPr txBox="true"/>
          <p:nvPr/>
        </p:nvSpPr>
        <p:spPr>
          <a:xfrm rot="0">
            <a:off x="1577340" y="7030974"/>
            <a:ext cx="3771900" cy="430530"/>
          </a:xfrm>
          <a:prstGeom prst="rect">
            <a:avLst/>
          </a:prstGeom>
        </p:spPr>
        <p:txBody>
          <a:bodyPr anchor="t" rtlCol="false" tIns="0" lIns="0" bIns="0" rIns="0">
            <a:spAutoFit/>
          </a:bodyPr>
          <a:lstStyle/>
          <a:p>
            <a:pPr algn="ctr">
              <a:lnSpc>
                <a:spcPts val="2340"/>
              </a:lnSpc>
            </a:pPr>
            <a:r>
              <a:rPr lang="en-US" sz="1950" b="true">
                <a:solidFill>
                  <a:srgbClr val="1F6F63"/>
                </a:solidFill>
                <a:latin typeface="Noto Sans Bold"/>
                <a:ea typeface="Noto Sans Bold"/>
                <a:cs typeface="Noto Sans Bold"/>
                <a:sym typeface="Noto Sans Bold"/>
              </a:rPr>
              <a:t>AI 개발</a:t>
            </a:r>
          </a:p>
        </p:txBody>
      </p:sp>
      <p:sp>
        <p:nvSpPr>
          <p:cNvPr name="TextBox 14" id="14"/>
          <p:cNvSpPr txBox="true"/>
          <p:nvPr/>
        </p:nvSpPr>
        <p:spPr>
          <a:xfrm rot="0">
            <a:off x="1577340" y="7593330"/>
            <a:ext cx="3771900" cy="1184910"/>
          </a:xfrm>
          <a:prstGeom prst="rect">
            <a:avLst/>
          </a:prstGeom>
        </p:spPr>
        <p:txBody>
          <a:bodyPr anchor="t" rtlCol="false" tIns="0" lIns="0" bIns="0" rIns="0">
            <a:spAutoFit/>
          </a:bodyPr>
          <a:lstStyle/>
          <a:p>
            <a:pPr algn="ctr">
              <a:lnSpc>
                <a:spcPts val="2340"/>
              </a:lnSpc>
            </a:pPr>
            <a:r>
              <a:rPr lang="en-US" sz="1950">
                <a:solidFill>
                  <a:srgbClr val="45545A"/>
                </a:solidFill>
                <a:latin typeface="Noto Sans"/>
                <a:ea typeface="Noto Sans"/>
                <a:cs typeface="Noto Sans"/>
                <a:sym typeface="Noto Sans"/>
              </a:rPr>
              <a:t>RAG 검색·답변 엔진</a:t>
            </a:r>
          </a:p>
          <a:p>
            <a:pPr algn="ctr">
              <a:lnSpc>
                <a:spcPts val="2340"/>
              </a:lnSpc>
            </a:pPr>
            <a:r>
              <a:rPr lang="en-US" sz="1950">
                <a:solidFill>
                  <a:srgbClr val="45545A"/>
                </a:solidFill>
                <a:latin typeface="Noto Sans"/>
                <a:ea typeface="Noto Sans"/>
                <a:cs typeface="Noto Sans"/>
                <a:sym typeface="Noto Sans"/>
              </a:rPr>
              <a:t>모델 학습·평가 체계</a:t>
            </a:r>
          </a:p>
        </p:txBody>
      </p:sp>
      <p:sp>
        <p:nvSpPr>
          <p:cNvPr name="Freeform 15" id="15"/>
          <p:cNvSpPr/>
          <p:nvPr/>
        </p:nvSpPr>
        <p:spPr>
          <a:xfrm flipH="false" flipV="false" rot="0">
            <a:off x="5332571" y="6292691"/>
            <a:ext cx="3805238" cy="2707958"/>
          </a:xfrm>
          <a:custGeom>
            <a:avLst/>
            <a:gdLst/>
            <a:ahLst/>
            <a:cxnLst/>
            <a:rect r="r" b="b" t="t" l="l"/>
            <a:pathLst>
              <a:path h="2707958" w="3805238">
                <a:moveTo>
                  <a:pt x="0" y="0"/>
                </a:moveTo>
                <a:lnTo>
                  <a:pt x="3805238" y="0"/>
                </a:lnTo>
                <a:lnTo>
                  <a:pt x="3805238" y="2707958"/>
                </a:lnTo>
                <a:lnTo>
                  <a:pt x="0" y="27079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6" id="16"/>
          <p:cNvSpPr txBox="true"/>
          <p:nvPr/>
        </p:nvSpPr>
        <p:spPr>
          <a:xfrm rot="0">
            <a:off x="5349240" y="6454902"/>
            <a:ext cx="3771900" cy="595122"/>
          </a:xfrm>
          <a:prstGeom prst="rect">
            <a:avLst/>
          </a:prstGeom>
        </p:spPr>
        <p:txBody>
          <a:bodyPr anchor="t" rtlCol="false" tIns="0" lIns="0" bIns="0" rIns="0">
            <a:spAutoFit/>
          </a:bodyPr>
          <a:lstStyle/>
          <a:p>
            <a:pPr algn="ctr">
              <a:lnSpc>
                <a:spcPts val="3240"/>
              </a:lnSpc>
            </a:pPr>
            <a:r>
              <a:rPr lang="en-US" sz="2700" b="true">
                <a:solidFill>
                  <a:srgbClr val="1B2B2E"/>
                </a:solidFill>
                <a:latin typeface="Noto Sans Bold"/>
                <a:ea typeface="Noto Sans Bold"/>
                <a:cs typeface="Noto Sans Bold"/>
                <a:sym typeface="Noto Sans Bold"/>
              </a:rPr>
              <a:t>유현준</a:t>
            </a:r>
          </a:p>
        </p:txBody>
      </p:sp>
      <p:sp>
        <p:nvSpPr>
          <p:cNvPr name="TextBox 17" id="17"/>
          <p:cNvSpPr txBox="true"/>
          <p:nvPr/>
        </p:nvSpPr>
        <p:spPr>
          <a:xfrm rot="0">
            <a:off x="5349240" y="7030974"/>
            <a:ext cx="3771900" cy="430530"/>
          </a:xfrm>
          <a:prstGeom prst="rect">
            <a:avLst/>
          </a:prstGeom>
        </p:spPr>
        <p:txBody>
          <a:bodyPr anchor="t" rtlCol="false" tIns="0" lIns="0" bIns="0" rIns="0">
            <a:spAutoFit/>
          </a:bodyPr>
          <a:lstStyle/>
          <a:p>
            <a:pPr algn="ctr">
              <a:lnSpc>
                <a:spcPts val="2340"/>
              </a:lnSpc>
            </a:pPr>
            <a:r>
              <a:rPr lang="en-US" sz="1950" b="true">
                <a:solidFill>
                  <a:srgbClr val="1F6F63"/>
                </a:solidFill>
                <a:latin typeface="Noto Sans Bold"/>
                <a:ea typeface="Noto Sans Bold"/>
                <a:cs typeface="Noto Sans Bold"/>
                <a:sym typeface="Noto Sans Bold"/>
              </a:rPr>
              <a:t>팀장 · 시스템</a:t>
            </a:r>
          </a:p>
        </p:txBody>
      </p:sp>
      <p:sp>
        <p:nvSpPr>
          <p:cNvPr name="TextBox 18" id="18"/>
          <p:cNvSpPr txBox="true"/>
          <p:nvPr/>
        </p:nvSpPr>
        <p:spPr>
          <a:xfrm rot="0">
            <a:off x="5349240" y="7593330"/>
            <a:ext cx="3771900" cy="1184910"/>
          </a:xfrm>
          <a:prstGeom prst="rect">
            <a:avLst/>
          </a:prstGeom>
        </p:spPr>
        <p:txBody>
          <a:bodyPr anchor="t" rtlCol="false" tIns="0" lIns="0" bIns="0" rIns="0">
            <a:spAutoFit/>
          </a:bodyPr>
          <a:lstStyle/>
          <a:p>
            <a:pPr algn="ctr">
              <a:lnSpc>
                <a:spcPts val="2340"/>
              </a:lnSpc>
            </a:pPr>
            <a:r>
              <a:rPr lang="en-US" sz="1950">
                <a:solidFill>
                  <a:srgbClr val="45545A"/>
                </a:solidFill>
                <a:latin typeface="Noto Sans"/>
                <a:ea typeface="Noto Sans"/>
                <a:cs typeface="Noto Sans"/>
                <a:sym typeface="Noto Sans"/>
              </a:rPr>
              <a:t>스키마·에이전트 구조</a:t>
            </a:r>
          </a:p>
          <a:p>
            <a:pPr algn="ctr">
              <a:lnSpc>
                <a:spcPts val="2340"/>
              </a:lnSpc>
            </a:pPr>
            <a:r>
              <a:rPr lang="en-US" sz="1950">
                <a:solidFill>
                  <a:srgbClr val="45545A"/>
                </a:solidFill>
                <a:latin typeface="Noto Sans"/>
                <a:ea typeface="Noto Sans"/>
                <a:cs typeface="Noto Sans"/>
                <a:sym typeface="Noto Sans"/>
              </a:rPr>
              <a:t>모의 MES·Unity 가상 공장</a:t>
            </a:r>
          </a:p>
        </p:txBody>
      </p:sp>
      <p:sp>
        <p:nvSpPr>
          <p:cNvPr name="Freeform 19" id="19"/>
          <p:cNvSpPr/>
          <p:nvPr/>
        </p:nvSpPr>
        <p:spPr>
          <a:xfrm flipH="false" flipV="false" rot="0">
            <a:off x="9104471" y="6292691"/>
            <a:ext cx="3805238" cy="2707958"/>
          </a:xfrm>
          <a:custGeom>
            <a:avLst/>
            <a:gdLst/>
            <a:ahLst/>
            <a:cxnLst/>
            <a:rect r="r" b="b" t="t" l="l"/>
            <a:pathLst>
              <a:path h="2707958" w="3805238">
                <a:moveTo>
                  <a:pt x="0" y="0"/>
                </a:moveTo>
                <a:lnTo>
                  <a:pt x="3805238" y="0"/>
                </a:lnTo>
                <a:lnTo>
                  <a:pt x="3805238" y="2707958"/>
                </a:lnTo>
                <a:lnTo>
                  <a:pt x="0" y="27079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0" id="20"/>
          <p:cNvSpPr txBox="true"/>
          <p:nvPr/>
        </p:nvSpPr>
        <p:spPr>
          <a:xfrm rot="0">
            <a:off x="9121140" y="6454902"/>
            <a:ext cx="3771900" cy="595122"/>
          </a:xfrm>
          <a:prstGeom prst="rect">
            <a:avLst/>
          </a:prstGeom>
        </p:spPr>
        <p:txBody>
          <a:bodyPr anchor="t" rtlCol="false" tIns="0" lIns="0" bIns="0" rIns="0">
            <a:spAutoFit/>
          </a:bodyPr>
          <a:lstStyle/>
          <a:p>
            <a:pPr algn="ctr">
              <a:lnSpc>
                <a:spcPts val="3240"/>
              </a:lnSpc>
            </a:pPr>
            <a:r>
              <a:rPr lang="en-US" sz="2700" b="true">
                <a:solidFill>
                  <a:srgbClr val="1B2B2E"/>
                </a:solidFill>
                <a:latin typeface="Noto Sans Bold"/>
                <a:ea typeface="Noto Sans Bold"/>
                <a:cs typeface="Noto Sans Bold"/>
                <a:sym typeface="Noto Sans Bold"/>
              </a:rPr>
              <a:t>전혜민</a:t>
            </a:r>
          </a:p>
        </p:txBody>
      </p:sp>
      <p:sp>
        <p:nvSpPr>
          <p:cNvPr name="TextBox 21" id="21"/>
          <p:cNvSpPr txBox="true"/>
          <p:nvPr/>
        </p:nvSpPr>
        <p:spPr>
          <a:xfrm rot="0">
            <a:off x="9121140" y="7030974"/>
            <a:ext cx="3771900" cy="430530"/>
          </a:xfrm>
          <a:prstGeom prst="rect">
            <a:avLst/>
          </a:prstGeom>
        </p:spPr>
        <p:txBody>
          <a:bodyPr anchor="t" rtlCol="false" tIns="0" lIns="0" bIns="0" rIns="0">
            <a:spAutoFit/>
          </a:bodyPr>
          <a:lstStyle/>
          <a:p>
            <a:pPr algn="ctr">
              <a:lnSpc>
                <a:spcPts val="2340"/>
              </a:lnSpc>
            </a:pPr>
            <a:r>
              <a:rPr lang="en-US" sz="1950" b="true">
                <a:solidFill>
                  <a:srgbClr val="1F6F63"/>
                </a:solidFill>
                <a:latin typeface="Noto Sans Bold"/>
                <a:ea typeface="Noto Sans Bold"/>
                <a:cs typeface="Noto Sans Bold"/>
                <a:sym typeface="Noto Sans Bold"/>
              </a:rPr>
              <a:t>PM · QA</a:t>
            </a:r>
          </a:p>
        </p:txBody>
      </p:sp>
      <p:sp>
        <p:nvSpPr>
          <p:cNvPr name="TextBox 22" id="22"/>
          <p:cNvSpPr txBox="true"/>
          <p:nvPr/>
        </p:nvSpPr>
        <p:spPr>
          <a:xfrm rot="0">
            <a:off x="9121140" y="7593330"/>
            <a:ext cx="3771900" cy="1184910"/>
          </a:xfrm>
          <a:prstGeom prst="rect">
            <a:avLst/>
          </a:prstGeom>
        </p:spPr>
        <p:txBody>
          <a:bodyPr anchor="t" rtlCol="false" tIns="0" lIns="0" bIns="0" rIns="0">
            <a:spAutoFit/>
          </a:bodyPr>
          <a:lstStyle/>
          <a:p>
            <a:pPr algn="ctr">
              <a:lnSpc>
                <a:spcPts val="2340"/>
              </a:lnSpc>
            </a:pPr>
            <a:r>
              <a:rPr lang="en-US" sz="1950">
                <a:solidFill>
                  <a:srgbClr val="45545A"/>
                </a:solidFill>
                <a:latin typeface="Noto Sans"/>
                <a:ea typeface="Noto Sans"/>
                <a:cs typeface="Noto Sans"/>
                <a:sym typeface="Noto Sans"/>
              </a:rPr>
              <a:t>일정·요구사항</a:t>
            </a:r>
          </a:p>
          <a:p>
            <a:pPr algn="ctr">
              <a:lnSpc>
                <a:spcPts val="2340"/>
              </a:lnSpc>
            </a:pPr>
            <a:r>
              <a:rPr lang="en-US" sz="1950">
                <a:solidFill>
                  <a:srgbClr val="45545A"/>
                </a:solidFill>
                <a:latin typeface="Noto Sans"/>
                <a:ea typeface="Noto Sans"/>
                <a:cs typeface="Noto Sans"/>
                <a:sym typeface="Noto Sans"/>
              </a:rPr>
              <a:t>품질 검수·평가 시나리오</a:t>
            </a:r>
          </a:p>
        </p:txBody>
      </p:sp>
      <p:sp>
        <p:nvSpPr>
          <p:cNvPr name="Freeform 23" id="23"/>
          <p:cNvSpPr/>
          <p:nvPr/>
        </p:nvSpPr>
        <p:spPr>
          <a:xfrm flipH="false" flipV="false" rot="0">
            <a:off x="12876371" y="6292691"/>
            <a:ext cx="3805237" cy="2707958"/>
          </a:xfrm>
          <a:custGeom>
            <a:avLst/>
            <a:gdLst/>
            <a:ahLst/>
            <a:cxnLst/>
            <a:rect r="r" b="b" t="t" l="l"/>
            <a:pathLst>
              <a:path h="2707958" w="3805237">
                <a:moveTo>
                  <a:pt x="0" y="0"/>
                </a:moveTo>
                <a:lnTo>
                  <a:pt x="3805238" y="0"/>
                </a:lnTo>
                <a:lnTo>
                  <a:pt x="3805238" y="2707958"/>
                </a:lnTo>
                <a:lnTo>
                  <a:pt x="0" y="27079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4" id="24"/>
          <p:cNvSpPr txBox="true"/>
          <p:nvPr/>
        </p:nvSpPr>
        <p:spPr>
          <a:xfrm rot="0">
            <a:off x="12893040" y="6454902"/>
            <a:ext cx="3771900" cy="595122"/>
          </a:xfrm>
          <a:prstGeom prst="rect">
            <a:avLst/>
          </a:prstGeom>
        </p:spPr>
        <p:txBody>
          <a:bodyPr anchor="t" rtlCol="false" tIns="0" lIns="0" bIns="0" rIns="0">
            <a:spAutoFit/>
          </a:bodyPr>
          <a:lstStyle/>
          <a:p>
            <a:pPr algn="ctr">
              <a:lnSpc>
                <a:spcPts val="3240"/>
              </a:lnSpc>
            </a:pPr>
            <a:r>
              <a:rPr lang="en-US" sz="2700" b="true">
                <a:solidFill>
                  <a:srgbClr val="1B2B2E"/>
                </a:solidFill>
                <a:latin typeface="Noto Sans Bold"/>
                <a:ea typeface="Noto Sans Bold"/>
                <a:cs typeface="Noto Sans Bold"/>
                <a:sym typeface="Noto Sans Bold"/>
              </a:rPr>
              <a:t>허재원</a:t>
            </a:r>
          </a:p>
        </p:txBody>
      </p:sp>
      <p:sp>
        <p:nvSpPr>
          <p:cNvPr name="TextBox 25" id="25"/>
          <p:cNvSpPr txBox="true"/>
          <p:nvPr/>
        </p:nvSpPr>
        <p:spPr>
          <a:xfrm rot="0">
            <a:off x="12893040" y="7030974"/>
            <a:ext cx="3771900" cy="430530"/>
          </a:xfrm>
          <a:prstGeom prst="rect">
            <a:avLst/>
          </a:prstGeom>
        </p:spPr>
        <p:txBody>
          <a:bodyPr anchor="t" rtlCol="false" tIns="0" lIns="0" bIns="0" rIns="0">
            <a:spAutoFit/>
          </a:bodyPr>
          <a:lstStyle/>
          <a:p>
            <a:pPr algn="ctr">
              <a:lnSpc>
                <a:spcPts val="2340"/>
              </a:lnSpc>
            </a:pPr>
            <a:r>
              <a:rPr lang="en-US" sz="1950" b="true">
                <a:solidFill>
                  <a:srgbClr val="1F6F63"/>
                </a:solidFill>
                <a:latin typeface="Noto Sans Bold"/>
                <a:ea typeface="Noto Sans Bold"/>
                <a:cs typeface="Noto Sans Bold"/>
                <a:sym typeface="Noto Sans Bold"/>
              </a:rPr>
              <a:t>임베디드</a:t>
            </a:r>
          </a:p>
        </p:txBody>
      </p:sp>
      <p:sp>
        <p:nvSpPr>
          <p:cNvPr name="TextBox 26" id="26"/>
          <p:cNvSpPr txBox="true"/>
          <p:nvPr/>
        </p:nvSpPr>
        <p:spPr>
          <a:xfrm rot="0">
            <a:off x="12893040" y="7593330"/>
            <a:ext cx="3771900" cy="1184910"/>
          </a:xfrm>
          <a:prstGeom prst="rect">
            <a:avLst/>
          </a:prstGeom>
        </p:spPr>
        <p:txBody>
          <a:bodyPr anchor="t" rtlCol="false" tIns="0" lIns="0" bIns="0" rIns="0">
            <a:spAutoFit/>
          </a:bodyPr>
          <a:lstStyle/>
          <a:p>
            <a:pPr algn="ctr">
              <a:lnSpc>
                <a:spcPts val="2340"/>
              </a:lnSpc>
            </a:pPr>
            <a:r>
              <a:rPr lang="en-US" sz="1950">
                <a:solidFill>
                  <a:srgbClr val="45545A"/>
                </a:solidFill>
                <a:latin typeface="Noto Sans"/>
                <a:ea typeface="Noto Sans"/>
                <a:cs typeface="Noto Sans"/>
                <a:sym typeface="Noto Sans"/>
              </a:rPr>
              <a:t>Jetson 실행·추론·저장</a:t>
            </a:r>
          </a:p>
          <a:p>
            <a:pPr algn="ctr">
              <a:lnSpc>
                <a:spcPts val="2340"/>
              </a:lnSpc>
            </a:pPr>
            <a:r>
              <a:rPr lang="en-US" sz="1950">
                <a:solidFill>
                  <a:srgbClr val="45545A"/>
                </a:solidFill>
                <a:latin typeface="Noto Sans"/>
                <a:ea typeface="Noto Sans"/>
                <a:cs typeface="Noto Sans"/>
                <a:sym typeface="Noto Sans"/>
              </a:rPr>
              <a:t>PDA 화면·근무일지</a:t>
            </a:r>
          </a:p>
        </p:txBody>
      </p:sp>
      <p:sp>
        <p:nvSpPr>
          <p:cNvPr name="TextBox 27" id="27"/>
          <p:cNvSpPr txBox="true"/>
          <p:nvPr/>
        </p:nvSpPr>
        <p:spPr>
          <a:xfrm rot="0">
            <a:off x="16733063" y="9737598"/>
            <a:ext cx="640080" cy="209550"/>
          </a:xfrm>
          <a:prstGeom prst="rect">
            <a:avLst/>
          </a:prstGeom>
        </p:spPr>
        <p:txBody>
          <a:bodyPr anchor="t" rtlCol="false" tIns="0" lIns="0" bIns="0" rIns="0">
            <a:spAutoFit/>
          </a:bodyPr>
          <a:lstStyle/>
          <a:p>
            <a:pPr algn="r">
              <a:lnSpc>
                <a:spcPts val="1620"/>
              </a:lnSpc>
            </a:pPr>
            <a:r>
              <a:rPr lang="en-US" sz="1350">
                <a:solidFill>
                  <a:srgbClr val="6B787A"/>
                </a:solidFill>
                <a:latin typeface="Noto Sans"/>
                <a:ea typeface="Noto Sans"/>
                <a:cs typeface="Noto Sans"/>
                <a:sym typeface="Noto Sans"/>
              </a:rPr>
              <a:t>3</a:t>
            </a:r>
          </a:p>
        </p:txBody>
      </p:sp>
      <p:grpSp>
        <p:nvGrpSpPr>
          <p:cNvPr name="Group 28" id="28"/>
          <p:cNvGrpSpPr/>
          <p:nvPr/>
        </p:nvGrpSpPr>
        <p:grpSpPr>
          <a:xfrm rot="0">
            <a:off x="5818352" y="9710928"/>
            <a:ext cx="4070985" cy="419672"/>
            <a:chOff x="0" y="0"/>
            <a:chExt cx="5427980" cy="559562"/>
          </a:xfrm>
        </p:grpSpPr>
        <p:grpSp>
          <p:nvGrpSpPr>
            <p:cNvPr name="Group 29" id="29"/>
            <p:cNvGrpSpPr/>
            <p:nvPr/>
          </p:nvGrpSpPr>
          <p:grpSpPr>
            <a:xfrm rot="0">
              <a:off x="0" y="0"/>
              <a:ext cx="1680845" cy="559562"/>
              <a:chOff x="0" y="0"/>
              <a:chExt cx="1680845" cy="559562"/>
            </a:xfrm>
          </p:grpSpPr>
          <p:sp>
            <p:nvSpPr>
              <p:cNvPr name="Freeform 30" id="30"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8"/>
                <a:stretch>
                  <a:fillRect l="0" t="-265" r="0" b="-267"/>
                </a:stretch>
              </a:blipFill>
            </p:spPr>
          </p:sp>
        </p:grpSp>
        <p:grpSp>
          <p:nvGrpSpPr>
            <p:cNvPr name="Group 31" id="31"/>
            <p:cNvGrpSpPr/>
            <p:nvPr/>
          </p:nvGrpSpPr>
          <p:grpSpPr>
            <a:xfrm rot="0">
              <a:off x="2069490" y="124358"/>
              <a:ext cx="1189101" cy="310896"/>
              <a:chOff x="0" y="0"/>
              <a:chExt cx="1189101" cy="310896"/>
            </a:xfrm>
          </p:grpSpPr>
          <p:sp>
            <p:nvSpPr>
              <p:cNvPr name="Freeform 32" id="32"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9"/>
                <a:stretch>
                  <a:fillRect l="-30" t="0" r="-32" b="0"/>
                </a:stretch>
              </a:blipFill>
            </p:spPr>
          </p:sp>
        </p:grpSp>
        <p:grpSp>
          <p:nvGrpSpPr>
            <p:cNvPr name="Group 33" id="33"/>
            <p:cNvGrpSpPr/>
            <p:nvPr/>
          </p:nvGrpSpPr>
          <p:grpSpPr>
            <a:xfrm rot="0">
              <a:off x="3647186" y="124358"/>
              <a:ext cx="1780794" cy="310896"/>
              <a:chOff x="0" y="0"/>
              <a:chExt cx="1780794" cy="310896"/>
            </a:xfrm>
          </p:grpSpPr>
          <p:sp>
            <p:nvSpPr>
              <p:cNvPr name="Freeform 34" id="34"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10"/>
                <a:stretch>
                  <a:fillRect l="0" t="-118" r="0" b="-122"/>
                </a:stretch>
              </a:blipFill>
            </p:spPr>
          </p:sp>
        </p:gr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492853" y="-16669"/>
            <a:ext cx="8811387" cy="10320338"/>
            <a:chOff x="0" y="0"/>
            <a:chExt cx="11748516" cy="13760450"/>
          </a:xfrm>
        </p:grpSpPr>
        <p:sp>
          <p:nvSpPr>
            <p:cNvPr name="Freeform 3" id="3"/>
            <p:cNvSpPr/>
            <p:nvPr/>
          </p:nvSpPr>
          <p:spPr>
            <a:xfrm flipH="false" flipV="false" rot="0">
              <a:off x="0" y="0"/>
              <a:ext cx="11748516" cy="13760450"/>
            </a:xfrm>
            <a:custGeom>
              <a:avLst/>
              <a:gdLst/>
              <a:ahLst/>
              <a:cxnLst/>
              <a:rect r="r" b="b" t="t" l="l"/>
              <a:pathLst>
                <a:path h="13760450" w="11748516">
                  <a:moveTo>
                    <a:pt x="0" y="0"/>
                  </a:moveTo>
                  <a:lnTo>
                    <a:pt x="11748516" y="0"/>
                  </a:lnTo>
                  <a:lnTo>
                    <a:pt x="11748516" y="13760450"/>
                  </a:lnTo>
                  <a:lnTo>
                    <a:pt x="0" y="13760450"/>
                  </a:lnTo>
                  <a:close/>
                </a:path>
              </a:pathLst>
            </a:custGeom>
            <a:solidFill>
              <a:srgbClr val="0E3B38"/>
            </a:solidFill>
            <a:ln w="19050" cap="sq">
              <a:solidFill>
                <a:srgbClr val="0E3B38"/>
              </a:solidFill>
              <a:prstDash val="solid"/>
              <a:miter/>
            </a:ln>
          </p:spPr>
        </p:sp>
      </p:grpSp>
      <p:grpSp>
        <p:nvGrpSpPr>
          <p:cNvPr name="Group 4" id="4"/>
          <p:cNvGrpSpPr/>
          <p:nvPr/>
        </p:nvGrpSpPr>
        <p:grpSpPr>
          <a:xfrm rot="0">
            <a:off x="9509522" y="4937760"/>
            <a:ext cx="8092221" cy="4937760"/>
            <a:chOff x="0" y="0"/>
            <a:chExt cx="10789628" cy="6583680"/>
          </a:xfrm>
        </p:grpSpPr>
        <p:sp>
          <p:nvSpPr>
            <p:cNvPr name="Freeform 5" id="5"/>
            <p:cNvSpPr/>
            <p:nvPr/>
          </p:nvSpPr>
          <p:spPr>
            <a:xfrm flipH="false" flipV="false" rot="0">
              <a:off x="0" y="0"/>
              <a:ext cx="10789666" cy="6583680"/>
            </a:xfrm>
            <a:custGeom>
              <a:avLst/>
              <a:gdLst/>
              <a:ahLst/>
              <a:cxnLst/>
              <a:rect r="r" b="b" t="t" l="l"/>
              <a:pathLst>
                <a:path h="6583680" w="10789666">
                  <a:moveTo>
                    <a:pt x="0" y="0"/>
                  </a:moveTo>
                  <a:lnTo>
                    <a:pt x="10789666" y="0"/>
                  </a:lnTo>
                  <a:lnTo>
                    <a:pt x="10789666" y="6583680"/>
                  </a:lnTo>
                  <a:lnTo>
                    <a:pt x="0" y="6583680"/>
                  </a:lnTo>
                  <a:close/>
                </a:path>
              </a:pathLst>
            </a:custGeom>
            <a:blipFill>
              <a:blip r:embed="rId3">
                <a:alphaModFix amt="0"/>
              </a:blip>
              <a:stretch>
                <a:fillRect l="-28343" t="0" r="-28343" b="0"/>
              </a:stretch>
            </a:blipFill>
          </p:spPr>
        </p:sp>
      </p:grpSp>
      <p:grpSp>
        <p:nvGrpSpPr>
          <p:cNvPr name="Group 6" id="6"/>
          <p:cNvGrpSpPr/>
          <p:nvPr/>
        </p:nvGrpSpPr>
        <p:grpSpPr>
          <a:xfrm rot="0">
            <a:off x="9509522" y="4930616"/>
            <a:ext cx="8092221" cy="4944904"/>
            <a:chOff x="0" y="0"/>
            <a:chExt cx="10789628" cy="6593205"/>
          </a:xfrm>
        </p:grpSpPr>
        <p:sp>
          <p:nvSpPr>
            <p:cNvPr name="Freeform 7" id="7"/>
            <p:cNvSpPr/>
            <p:nvPr/>
          </p:nvSpPr>
          <p:spPr>
            <a:xfrm flipH="false" flipV="false" rot="0">
              <a:off x="0" y="0"/>
              <a:ext cx="10789628" cy="6593205"/>
            </a:xfrm>
            <a:custGeom>
              <a:avLst/>
              <a:gdLst/>
              <a:ahLst/>
              <a:cxnLst/>
              <a:rect r="r" b="b" t="t" l="l"/>
              <a:pathLst>
                <a:path h="6593205" w="10789628">
                  <a:moveTo>
                    <a:pt x="0" y="0"/>
                  </a:moveTo>
                  <a:lnTo>
                    <a:pt x="10789628" y="0"/>
                  </a:lnTo>
                  <a:lnTo>
                    <a:pt x="10789628" y="6593205"/>
                  </a:lnTo>
                  <a:lnTo>
                    <a:pt x="0" y="6593205"/>
                  </a:lnTo>
                  <a:close/>
                </a:path>
              </a:pathLst>
            </a:custGeom>
            <a:blipFill>
              <a:blip r:embed="rId4">
                <a:alphaModFix amt="0"/>
              </a:blip>
              <a:stretch>
                <a:fillRect l="-28402" t="0" r="-28402" b="0"/>
              </a:stretch>
            </a:blipFill>
          </p:spPr>
        </p:sp>
        <p:sp>
          <p:nvSpPr>
            <p:cNvPr name="TextBox 8" id="8"/>
            <p:cNvSpPr txBox="true"/>
            <p:nvPr/>
          </p:nvSpPr>
          <p:spPr>
            <a:xfrm>
              <a:off x="0" y="-9525"/>
              <a:ext cx="10789628" cy="6602730"/>
            </a:xfrm>
            <a:prstGeom prst="rect">
              <a:avLst/>
            </a:prstGeom>
          </p:spPr>
          <p:txBody>
            <a:bodyPr anchor="b" rtlCol="false" tIns="0" lIns="0" bIns="0" rIns="0"/>
            <a:lstStyle/>
            <a:p>
              <a:pPr algn="r">
                <a:lnSpc>
                  <a:spcPts val="36000"/>
                </a:lnSpc>
              </a:pPr>
              <a:r>
                <a:rPr lang="en-US" sz="30000" b="true">
                  <a:solidFill>
                    <a:srgbClr val="FFFFFF"/>
                  </a:solidFill>
                  <a:latin typeface="Noto Sans Bold"/>
                  <a:ea typeface="Noto Sans Bold"/>
                  <a:cs typeface="Noto Sans Bold"/>
                  <a:sym typeface="Noto Sans Bold"/>
                </a:rPr>
                <a:t>01</a:t>
              </a:r>
            </a:p>
          </p:txBody>
        </p:sp>
      </p:grpSp>
      <p:sp>
        <p:nvSpPr>
          <p:cNvPr name="TextBox 9" id="9"/>
          <p:cNvSpPr txBox="true"/>
          <p:nvPr/>
        </p:nvSpPr>
        <p:spPr>
          <a:xfrm rot="0">
            <a:off x="1234440" y="1518285"/>
            <a:ext cx="7955280" cy="314325"/>
          </a:xfrm>
          <a:prstGeom prst="rect">
            <a:avLst/>
          </a:prstGeom>
        </p:spPr>
        <p:txBody>
          <a:bodyPr anchor="t" rtlCol="false" tIns="0" lIns="0" bIns="0" rIns="0">
            <a:spAutoFit/>
          </a:bodyPr>
          <a:lstStyle/>
          <a:p>
            <a:pPr algn="l">
              <a:lnSpc>
                <a:spcPts val="2520"/>
              </a:lnSpc>
            </a:pPr>
            <a:r>
              <a:rPr lang="en-US" sz="2100">
                <a:solidFill>
                  <a:srgbClr val="16796C"/>
                </a:solidFill>
                <a:latin typeface="Noto Sans"/>
                <a:ea typeface="Noto Sans"/>
                <a:cs typeface="Noto Sans"/>
                <a:sym typeface="Noto Sans"/>
              </a:rPr>
              <a:t>ShiftLink 최종 발표</a:t>
            </a:r>
          </a:p>
        </p:txBody>
      </p:sp>
      <p:sp>
        <p:nvSpPr>
          <p:cNvPr name="TextBox 10" id="10"/>
          <p:cNvSpPr txBox="true"/>
          <p:nvPr/>
        </p:nvSpPr>
        <p:spPr>
          <a:xfrm rot="0">
            <a:off x="1234440" y="2047875"/>
            <a:ext cx="7955280" cy="819150"/>
          </a:xfrm>
          <a:prstGeom prst="rect">
            <a:avLst/>
          </a:prstGeom>
        </p:spPr>
        <p:txBody>
          <a:bodyPr anchor="t" rtlCol="false" tIns="0" lIns="0" bIns="0" rIns="0">
            <a:spAutoFit/>
          </a:bodyPr>
          <a:lstStyle/>
          <a:p>
            <a:pPr algn="l">
              <a:lnSpc>
                <a:spcPts val="6480"/>
              </a:lnSpc>
            </a:pPr>
            <a:r>
              <a:rPr lang="en-US" sz="5400" b="true">
                <a:solidFill>
                  <a:srgbClr val="203238"/>
                </a:solidFill>
                <a:latin typeface="Noto Sans Bold"/>
                <a:ea typeface="Noto Sans Bold"/>
                <a:cs typeface="Noto Sans Bold"/>
                <a:sym typeface="Noto Sans Bold"/>
              </a:rPr>
              <a:t>프로젝트 개요</a:t>
            </a:r>
          </a:p>
        </p:txBody>
      </p:sp>
      <p:sp>
        <p:nvSpPr>
          <p:cNvPr name="TextBox 11" id="11"/>
          <p:cNvSpPr txBox="true"/>
          <p:nvPr/>
        </p:nvSpPr>
        <p:spPr>
          <a:xfrm rot="0">
            <a:off x="1234440" y="3499485"/>
            <a:ext cx="7955280" cy="1804035"/>
          </a:xfrm>
          <a:prstGeom prst="rect">
            <a:avLst/>
          </a:prstGeom>
        </p:spPr>
        <p:txBody>
          <a:bodyPr anchor="t" rtlCol="false" tIns="0" lIns="0" bIns="0" rIns="0">
            <a:spAutoFit/>
          </a:bodyPr>
          <a:lstStyle/>
          <a:p>
            <a:pPr algn="l">
              <a:lnSpc>
                <a:spcPts val="3600"/>
              </a:lnSpc>
              <a:spcBef>
                <a:spcPct val="0"/>
              </a:spcBef>
            </a:pPr>
            <a:r>
              <a:rPr lang="en-US" sz="2400" strike="noStrike" u="none">
                <a:solidFill>
                  <a:srgbClr val="45545A"/>
                </a:solidFill>
                <a:latin typeface="Noto Sans"/>
                <a:ea typeface="Noto Sans"/>
                <a:cs typeface="Noto Sans"/>
                <a:sym typeface="Noto Sans"/>
              </a:rPr>
              <a:t>01  배경</a:t>
            </a:r>
          </a:p>
          <a:p>
            <a:pPr algn="l">
              <a:lnSpc>
                <a:spcPts val="3600"/>
              </a:lnSpc>
              <a:spcBef>
                <a:spcPct val="0"/>
              </a:spcBef>
            </a:pPr>
            <a:r>
              <a:rPr lang="en-US" sz="2400" strike="noStrike" u="none">
                <a:solidFill>
                  <a:srgbClr val="45545A"/>
                </a:solidFill>
                <a:latin typeface="Noto Sans"/>
                <a:ea typeface="Noto Sans"/>
                <a:cs typeface="Noto Sans"/>
                <a:sym typeface="Noto Sans"/>
              </a:rPr>
              <a:t>02  문제정의</a:t>
            </a:r>
          </a:p>
          <a:p>
            <a:pPr algn="l">
              <a:lnSpc>
                <a:spcPts val="3600"/>
              </a:lnSpc>
              <a:spcBef>
                <a:spcPct val="0"/>
              </a:spcBef>
            </a:pPr>
            <a:r>
              <a:rPr lang="en-US" sz="2400" strike="noStrike" u="none">
                <a:solidFill>
                  <a:srgbClr val="45545A"/>
                </a:solidFill>
                <a:latin typeface="Noto Sans"/>
                <a:ea typeface="Noto Sans"/>
                <a:cs typeface="Noto Sans"/>
                <a:sym typeface="Noto Sans"/>
              </a:rPr>
              <a:t>03  데이터 구축 전략</a:t>
            </a:r>
          </a:p>
          <a:p>
            <a:pPr algn="l">
              <a:lnSpc>
                <a:spcPts val="3600"/>
              </a:lnSpc>
              <a:spcBef>
                <a:spcPct val="0"/>
              </a:spcBef>
            </a:pPr>
            <a:r>
              <a:rPr lang="en-US" sz="2400" strike="noStrike" u="none">
                <a:solidFill>
                  <a:srgbClr val="45545A"/>
                </a:solidFill>
                <a:latin typeface="Noto Sans"/>
                <a:ea typeface="Noto Sans"/>
                <a:cs typeface="Noto Sans"/>
                <a:sym typeface="Noto Sans"/>
              </a:rPr>
              <a:t>04  설계 요구사항과 검증 목표</a:t>
            </a:r>
          </a:p>
        </p:txBody>
      </p:sp>
      <p:grpSp>
        <p:nvGrpSpPr>
          <p:cNvPr name="Group 12" id="12"/>
          <p:cNvGrpSpPr/>
          <p:nvPr/>
        </p:nvGrpSpPr>
        <p:grpSpPr>
          <a:xfrm rot="0">
            <a:off x="12384195" y="9200483"/>
            <a:ext cx="5508498" cy="856298"/>
            <a:chOff x="0" y="0"/>
            <a:chExt cx="7344664" cy="1141730"/>
          </a:xfrm>
        </p:grpSpPr>
        <p:sp>
          <p:nvSpPr>
            <p:cNvPr name="Freeform 13" id="13"/>
            <p:cNvSpPr/>
            <p:nvPr/>
          </p:nvSpPr>
          <p:spPr>
            <a:xfrm flipH="false" flipV="false" rot="0">
              <a:off x="0" y="0"/>
              <a:ext cx="7344664" cy="1141730"/>
            </a:xfrm>
            <a:custGeom>
              <a:avLst/>
              <a:gdLst/>
              <a:ahLst/>
              <a:cxnLst/>
              <a:rect r="r" b="b" t="t" l="l"/>
              <a:pathLst>
                <a:path h="1141730" w="7344664">
                  <a:moveTo>
                    <a:pt x="0" y="0"/>
                  </a:moveTo>
                  <a:lnTo>
                    <a:pt x="7344664" y="0"/>
                  </a:lnTo>
                  <a:lnTo>
                    <a:pt x="7344664" y="1141730"/>
                  </a:lnTo>
                  <a:lnTo>
                    <a:pt x="0" y="11417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479425" y="241681"/>
              <a:ext cx="1977517" cy="658368"/>
              <a:chOff x="0" y="0"/>
              <a:chExt cx="1977517" cy="658368"/>
            </a:xfrm>
          </p:grpSpPr>
          <p:sp>
            <p:nvSpPr>
              <p:cNvPr name="Freeform 15" id="15" descr="C:\Users\abab9\AppData\Local\Temp\claude\C--Users-abab9-Desktop-Shiftlink\03368683-632b-4bf6-b41d-988cf517f7bf\scratchpad\build\logos\knda.png"/>
              <p:cNvSpPr/>
              <p:nvPr/>
            </p:nvSpPr>
            <p:spPr>
              <a:xfrm flipH="false" flipV="false" rot="0">
                <a:off x="0" y="0"/>
                <a:ext cx="1977517" cy="658368"/>
              </a:xfrm>
              <a:custGeom>
                <a:avLst/>
                <a:gdLst/>
                <a:ahLst/>
                <a:cxnLst/>
                <a:rect r="r" b="b" t="t" l="l"/>
                <a:pathLst>
                  <a:path h="658368" w="1977517">
                    <a:moveTo>
                      <a:pt x="0" y="0"/>
                    </a:moveTo>
                    <a:lnTo>
                      <a:pt x="1977517" y="0"/>
                    </a:lnTo>
                    <a:lnTo>
                      <a:pt x="1977517" y="658368"/>
                    </a:lnTo>
                    <a:lnTo>
                      <a:pt x="0" y="658368"/>
                    </a:lnTo>
                    <a:lnTo>
                      <a:pt x="0" y="0"/>
                    </a:lnTo>
                    <a:close/>
                  </a:path>
                </a:pathLst>
              </a:custGeom>
              <a:blipFill>
                <a:blip r:embed="rId7"/>
                <a:stretch>
                  <a:fillRect l="0" t="-262" r="0" b="-264"/>
                </a:stretch>
              </a:blipFill>
            </p:spPr>
          </p:sp>
        </p:grpSp>
        <p:grpSp>
          <p:nvGrpSpPr>
            <p:cNvPr name="Group 16" id="16"/>
            <p:cNvGrpSpPr/>
            <p:nvPr/>
          </p:nvGrpSpPr>
          <p:grpSpPr>
            <a:xfrm rot="0">
              <a:off x="2914129" y="387985"/>
              <a:ext cx="1398905" cy="365760"/>
              <a:chOff x="0" y="0"/>
              <a:chExt cx="1398905" cy="365760"/>
            </a:xfrm>
          </p:grpSpPr>
          <p:sp>
            <p:nvSpPr>
              <p:cNvPr name="Freeform 17" id="17" descr="C:\Users\abab9\AppData\Local\Temp\claude\C--Users-abab9-Desktop-Shiftlink\03368683-632b-4bf6-b41d-988cf517f7bf\scratchpad\build\logos\posco.png"/>
              <p:cNvSpPr/>
              <p:nvPr/>
            </p:nvSpPr>
            <p:spPr>
              <a:xfrm flipH="false" flipV="false" rot="0">
                <a:off x="0" y="0"/>
                <a:ext cx="1398905" cy="365760"/>
              </a:xfrm>
              <a:custGeom>
                <a:avLst/>
                <a:gdLst/>
                <a:ahLst/>
                <a:cxnLst/>
                <a:rect r="r" b="b" t="t" l="l"/>
                <a:pathLst>
                  <a:path h="365760" w="1398905">
                    <a:moveTo>
                      <a:pt x="0" y="0"/>
                    </a:moveTo>
                    <a:lnTo>
                      <a:pt x="1398905" y="0"/>
                    </a:lnTo>
                    <a:lnTo>
                      <a:pt x="1398905" y="365760"/>
                    </a:lnTo>
                    <a:lnTo>
                      <a:pt x="0" y="365760"/>
                    </a:lnTo>
                    <a:lnTo>
                      <a:pt x="0" y="0"/>
                    </a:lnTo>
                    <a:close/>
                  </a:path>
                </a:pathLst>
              </a:custGeom>
              <a:blipFill>
                <a:blip r:embed="rId8"/>
                <a:stretch>
                  <a:fillRect l="-32" t="0" r="-32" b="0"/>
                </a:stretch>
              </a:blipFill>
            </p:spPr>
          </p:sp>
        </p:grpSp>
        <p:grpSp>
          <p:nvGrpSpPr>
            <p:cNvPr name="Group 18" id="18"/>
            <p:cNvGrpSpPr/>
            <p:nvPr/>
          </p:nvGrpSpPr>
          <p:grpSpPr>
            <a:xfrm rot="0">
              <a:off x="4770247" y="387985"/>
              <a:ext cx="2094992" cy="365760"/>
              <a:chOff x="0" y="0"/>
              <a:chExt cx="2094992" cy="365760"/>
            </a:xfrm>
          </p:grpSpPr>
          <p:sp>
            <p:nvSpPr>
              <p:cNvPr name="Freeform 19" id="19" descr="C:\Users\abab9\AppData\Local\Temp\claude\C--Users-abab9-Desktop-Shiftlink\03368683-632b-4bf6-b41d-988cf517f7bf\scratchpad\build\logos\nextsurfer.png"/>
              <p:cNvSpPr/>
              <p:nvPr/>
            </p:nvSpPr>
            <p:spPr>
              <a:xfrm flipH="false" flipV="false" rot="0">
                <a:off x="0" y="0"/>
                <a:ext cx="2094992" cy="365760"/>
              </a:xfrm>
              <a:custGeom>
                <a:avLst/>
                <a:gdLst/>
                <a:ahLst/>
                <a:cxnLst/>
                <a:rect r="r" b="b" t="t" l="l"/>
                <a:pathLst>
                  <a:path h="365760" w="2094992">
                    <a:moveTo>
                      <a:pt x="0" y="0"/>
                    </a:moveTo>
                    <a:lnTo>
                      <a:pt x="2094992" y="0"/>
                    </a:lnTo>
                    <a:lnTo>
                      <a:pt x="2094992" y="365760"/>
                    </a:lnTo>
                    <a:lnTo>
                      <a:pt x="0" y="365760"/>
                    </a:lnTo>
                    <a:lnTo>
                      <a:pt x="0" y="0"/>
                    </a:lnTo>
                    <a:close/>
                  </a:path>
                </a:pathLst>
              </a:custGeom>
              <a:blipFill>
                <a:blip r:embed="rId9"/>
                <a:stretch>
                  <a:fillRect l="0" t="-118" r="0" b="-118"/>
                </a:stretch>
              </a:blipFill>
            </p:spPr>
          </p:sp>
        </p:gr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descr="기사와 조사 수치를 나누는 가로·세로 구분선"/>
          <p:cNvSpPr/>
          <p:nvPr/>
        </p:nvSpPr>
        <p:spPr>
          <a:xfrm flipH="false" flipV="false" rot="0">
            <a:off x="0" y="-497014"/>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0" r="0" b="0"/>
            </a:stretch>
          </a:blipFill>
        </p:spPr>
      </p:sp>
      <p:grpSp>
        <p:nvGrpSpPr>
          <p:cNvPr name="Group 3" id="3"/>
          <p:cNvGrpSpPr/>
          <p:nvPr/>
        </p:nvGrpSpPr>
        <p:grpSpPr>
          <a:xfrm rot="0">
            <a:off x="822960" y="9703784"/>
            <a:ext cx="8229600" cy="418624"/>
            <a:chOff x="0" y="0"/>
            <a:chExt cx="10972800" cy="558165"/>
          </a:xfrm>
        </p:grpSpPr>
        <p:sp>
          <p:nvSpPr>
            <p:cNvPr name="Freeform 4" id="4"/>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3050" r="0" b="-333050"/>
              </a:stretch>
            </a:blipFill>
          </p:spPr>
        </p:sp>
        <p:sp>
          <p:nvSpPr>
            <p:cNvPr name="TextBox 5" id="5"/>
            <p:cNvSpPr txBox="true"/>
            <p:nvPr/>
          </p:nvSpPr>
          <p:spPr>
            <a:xfrm>
              <a:off x="0" y="-9525"/>
              <a:ext cx="10972800" cy="567690"/>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sp>
        <p:nvSpPr>
          <p:cNvPr name="TextBox 6" id="6"/>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strike="noStrike" u="none">
                <a:solidFill>
                  <a:srgbClr val="6B787A"/>
                </a:solidFill>
                <a:latin typeface="Noto Sans"/>
                <a:ea typeface="Noto Sans"/>
                <a:cs typeface="Noto Sans"/>
                <a:sym typeface="Noto Sans"/>
              </a:rPr>
              <a:t>5</a:t>
            </a:r>
          </a:p>
        </p:txBody>
      </p:sp>
      <p:grpSp>
        <p:nvGrpSpPr>
          <p:cNvPr name="Group 7" id="7"/>
          <p:cNvGrpSpPr/>
          <p:nvPr/>
        </p:nvGrpSpPr>
        <p:grpSpPr>
          <a:xfrm rot="0">
            <a:off x="5818352" y="9710928"/>
            <a:ext cx="4070985" cy="419672"/>
            <a:chOff x="0" y="0"/>
            <a:chExt cx="5427980" cy="559562"/>
          </a:xfrm>
        </p:grpSpPr>
        <p:grpSp>
          <p:nvGrpSpPr>
            <p:cNvPr name="Group 8" id="8"/>
            <p:cNvGrpSpPr/>
            <p:nvPr/>
          </p:nvGrpSpPr>
          <p:grpSpPr>
            <a:xfrm rot="0">
              <a:off x="0" y="0"/>
              <a:ext cx="1680845" cy="559562"/>
              <a:chOff x="0" y="0"/>
              <a:chExt cx="1680845" cy="559562"/>
            </a:xfrm>
          </p:grpSpPr>
          <p:sp>
            <p:nvSpPr>
              <p:cNvPr name="Freeform 9" id="9"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5"/>
                <a:stretch>
                  <a:fillRect l="0" t="-265" r="0" b="-267"/>
                </a:stretch>
              </a:blipFill>
            </p:spPr>
          </p:sp>
        </p:grpSp>
        <p:grpSp>
          <p:nvGrpSpPr>
            <p:cNvPr name="Group 10" id="10"/>
            <p:cNvGrpSpPr/>
            <p:nvPr/>
          </p:nvGrpSpPr>
          <p:grpSpPr>
            <a:xfrm rot="0">
              <a:off x="2069490" y="124358"/>
              <a:ext cx="1189101" cy="310896"/>
              <a:chOff x="0" y="0"/>
              <a:chExt cx="1189101" cy="310896"/>
            </a:xfrm>
          </p:grpSpPr>
          <p:sp>
            <p:nvSpPr>
              <p:cNvPr name="Freeform 11" id="11"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6"/>
                <a:stretch>
                  <a:fillRect l="-30" t="0" r="-32" b="0"/>
                </a:stretch>
              </a:blipFill>
            </p:spPr>
          </p:sp>
        </p:grpSp>
        <p:grpSp>
          <p:nvGrpSpPr>
            <p:cNvPr name="Group 12" id="12"/>
            <p:cNvGrpSpPr/>
            <p:nvPr/>
          </p:nvGrpSpPr>
          <p:grpSpPr>
            <a:xfrm rot="0">
              <a:off x="3647186" y="124358"/>
              <a:ext cx="1780794" cy="310896"/>
              <a:chOff x="0" y="0"/>
              <a:chExt cx="1780794" cy="310896"/>
            </a:xfrm>
          </p:grpSpPr>
          <p:sp>
            <p:nvSpPr>
              <p:cNvPr name="Freeform 13" id="13"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7"/>
                <a:stretch>
                  <a:fillRect l="0" t="-118" r="0" b="-122"/>
                </a:stretch>
              </a:blipFill>
            </p:spPr>
          </p:sp>
        </p:grpSp>
      </p:grpSp>
      <p:sp>
        <p:nvSpPr>
          <p:cNvPr name="TextBox 14" id="14"/>
          <p:cNvSpPr txBox="true"/>
          <p:nvPr/>
        </p:nvSpPr>
        <p:spPr>
          <a:xfrm rot="0">
            <a:off x="1228725" y="2053447"/>
            <a:ext cx="9525000" cy="285750"/>
          </a:xfrm>
          <a:prstGeom prst="rect">
            <a:avLst/>
          </a:prstGeom>
        </p:spPr>
        <p:txBody>
          <a:bodyPr anchor="t" rtlCol="false" tIns="0" lIns="0" bIns="0" rIns="0">
            <a:spAutoFit/>
          </a:bodyPr>
          <a:lstStyle/>
          <a:p>
            <a:pPr algn="l" marL="0" indent="0" lvl="0">
              <a:lnSpc>
                <a:spcPts val="2250"/>
              </a:lnSpc>
              <a:spcBef>
                <a:spcPct val="0"/>
              </a:spcBef>
            </a:pPr>
            <a:r>
              <a:rPr lang="en-US" b="true" sz="1875" strike="noStrike" u="none">
                <a:solidFill>
                  <a:srgbClr val="16796C"/>
                </a:solidFill>
                <a:latin typeface="Noto Sans Bold"/>
                <a:ea typeface="Noto Sans Bold"/>
                <a:cs typeface="Noto Sans Bold"/>
                <a:sym typeface="Noto Sans Bold"/>
              </a:rPr>
              <a:t>연합뉴스  |  2026.06.12</a:t>
            </a:r>
          </a:p>
        </p:txBody>
      </p:sp>
      <p:sp>
        <p:nvSpPr>
          <p:cNvPr name="TextBox 15" id="15"/>
          <p:cNvSpPr txBox="true"/>
          <p:nvPr/>
        </p:nvSpPr>
        <p:spPr>
          <a:xfrm rot="0">
            <a:off x="1228725" y="2615422"/>
            <a:ext cx="9810750" cy="1981200"/>
          </a:xfrm>
          <a:prstGeom prst="rect">
            <a:avLst/>
          </a:prstGeom>
        </p:spPr>
        <p:txBody>
          <a:bodyPr anchor="t" rtlCol="false" tIns="0" lIns="0" bIns="0" rIns="0">
            <a:spAutoFit/>
          </a:bodyPr>
          <a:lstStyle/>
          <a:p>
            <a:pPr algn="l" marL="0" indent="0" lvl="0">
              <a:lnSpc>
                <a:spcPts val="5220"/>
              </a:lnSpc>
              <a:spcBef>
                <a:spcPct val="0"/>
              </a:spcBef>
            </a:pPr>
            <a:r>
              <a:rPr lang="en-US" b="true" sz="4350" strike="noStrike" u="none">
                <a:solidFill>
                  <a:srgbClr val="203238"/>
                </a:solidFill>
                <a:latin typeface="Noto Sans Bold"/>
                <a:ea typeface="Noto Sans Bold"/>
                <a:cs typeface="Noto Sans Bold"/>
                <a:sym typeface="Noto Sans Bold"/>
              </a:rPr>
              <a:t>명장 암묵지, AI로 전수…</a:t>
            </a:r>
          </a:p>
          <a:p>
            <a:pPr algn="l" marL="0" indent="0" lvl="0">
              <a:lnSpc>
                <a:spcPts val="5220"/>
              </a:lnSpc>
              <a:spcBef>
                <a:spcPct val="0"/>
              </a:spcBef>
            </a:pPr>
            <a:r>
              <a:rPr lang="en-US" b="true" sz="4350" strike="noStrike" u="none">
                <a:solidFill>
                  <a:srgbClr val="203238"/>
                </a:solidFill>
                <a:latin typeface="Noto Sans Bold"/>
                <a:ea typeface="Noto Sans Bold"/>
                <a:cs typeface="Noto Sans Bold"/>
                <a:sym typeface="Noto Sans Bold"/>
              </a:rPr>
              <a:t>제조 현장 지키고</a:t>
            </a:r>
          </a:p>
          <a:p>
            <a:pPr algn="l" marL="0" indent="0" lvl="0">
              <a:lnSpc>
                <a:spcPts val="5220"/>
              </a:lnSpc>
              <a:spcBef>
                <a:spcPct val="0"/>
              </a:spcBef>
            </a:pPr>
            <a:r>
              <a:rPr lang="en-US" b="true" sz="4350" strike="noStrike" u="none">
                <a:solidFill>
                  <a:srgbClr val="203238"/>
                </a:solidFill>
                <a:latin typeface="Noto Sans Bold"/>
                <a:ea typeface="Noto Sans Bold"/>
                <a:cs typeface="Noto Sans Bold"/>
                <a:sym typeface="Noto Sans Bold"/>
              </a:rPr>
              <a:t>청년참여 확대</a:t>
            </a:r>
          </a:p>
        </p:txBody>
      </p:sp>
      <p:sp>
        <p:nvSpPr>
          <p:cNvPr name="TextBox 16" id="16"/>
          <p:cNvSpPr txBox="true"/>
          <p:nvPr/>
        </p:nvSpPr>
        <p:spPr>
          <a:xfrm rot="0">
            <a:off x="1228725" y="5006197"/>
            <a:ext cx="9715500" cy="685800"/>
          </a:xfrm>
          <a:prstGeom prst="rect">
            <a:avLst/>
          </a:prstGeom>
        </p:spPr>
        <p:txBody>
          <a:bodyPr anchor="t" rtlCol="false" tIns="0" lIns="0" bIns="0" rIns="0">
            <a:spAutoFit/>
          </a:bodyPr>
          <a:lstStyle/>
          <a:p>
            <a:pPr algn="l" marL="0" indent="0" lvl="0">
              <a:lnSpc>
                <a:spcPts val="2700"/>
              </a:lnSpc>
              <a:spcBef>
                <a:spcPct val="0"/>
              </a:spcBef>
            </a:pPr>
            <a:r>
              <a:rPr lang="en-US" sz="2250" strike="noStrike" u="none">
                <a:solidFill>
                  <a:srgbClr val="53666E"/>
                </a:solidFill>
                <a:latin typeface="Noto Sans"/>
                <a:ea typeface="Noto Sans"/>
                <a:cs typeface="Noto Sans"/>
                <a:sym typeface="Noto Sans"/>
              </a:rPr>
              <a:t>숙련자의 고령화·은퇴로</a:t>
            </a:r>
          </a:p>
          <a:p>
            <a:pPr algn="l" marL="0" indent="0" lvl="0">
              <a:lnSpc>
                <a:spcPts val="2700"/>
              </a:lnSpc>
              <a:spcBef>
                <a:spcPct val="0"/>
              </a:spcBef>
            </a:pPr>
            <a:r>
              <a:rPr lang="en-US" sz="2250" strike="noStrike" u="none">
                <a:solidFill>
                  <a:srgbClr val="53666E"/>
                </a:solidFill>
                <a:latin typeface="Noto Sans"/>
                <a:ea typeface="Noto Sans"/>
                <a:cs typeface="Noto Sans"/>
                <a:sym typeface="Noto Sans"/>
              </a:rPr>
              <a:t>경험과 노하우의 체계적 전수가 산업 과제로 부상</a:t>
            </a:r>
          </a:p>
        </p:txBody>
      </p:sp>
      <p:sp>
        <p:nvSpPr>
          <p:cNvPr name="TextBox 17" id="17"/>
          <p:cNvSpPr txBox="true"/>
          <p:nvPr/>
        </p:nvSpPr>
        <p:spPr>
          <a:xfrm rot="0">
            <a:off x="1228725" y="6111097"/>
            <a:ext cx="9525000" cy="247650"/>
          </a:xfrm>
          <a:prstGeom prst="rect">
            <a:avLst/>
          </a:prstGeom>
        </p:spPr>
        <p:txBody>
          <a:bodyPr anchor="t" rtlCol="false" tIns="0" lIns="0" bIns="0" rIns="0">
            <a:spAutoFit/>
          </a:bodyPr>
          <a:lstStyle/>
          <a:p>
            <a:pPr algn="l" marL="0" indent="0" lvl="0">
              <a:lnSpc>
                <a:spcPts val="2070"/>
              </a:lnSpc>
              <a:spcBef>
                <a:spcPct val="0"/>
              </a:spcBef>
            </a:pPr>
            <a:r>
              <a:rPr lang="en-US" sz="1725" strike="noStrike" u="none">
                <a:solidFill>
                  <a:srgbClr val="16796C"/>
                </a:solidFill>
                <a:latin typeface="Noto Sans"/>
                <a:ea typeface="Noto Sans"/>
                <a:cs typeface="Noto Sans"/>
                <a:sym typeface="Noto Sans"/>
                <a:hlinkClick r:id="rId8" tooltip="https://www.yna.co.kr/view/AKR20260612046000003"/>
              </a:rPr>
              <a:t>기사 원문 보기 ↗</a:t>
            </a:r>
          </a:p>
        </p:txBody>
      </p:sp>
      <p:sp>
        <p:nvSpPr>
          <p:cNvPr name="TextBox 18" id="18"/>
          <p:cNvSpPr txBox="true"/>
          <p:nvPr/>
        </p:nvSpPr>
        <p:spPr>
          <a:xfrm rot="0">
            <a:off x="12001500" y="2053447"/>
            <a:ext cx="5429250" cy="285750"/>
          </a:xfrm>
          <a:prstGeom prst="rect">
            <a:avLst/>
          </a:prstGeom>
        </p:spPr>
        <p:txBody>
          <a:bodyPr anchor="t" rtlCol="false" tIns="0" lIns="0" bIns="0" rIns="0">
            <a:spAutoFit/>
          </a:bodyPr>
          <a:lstStyle/>
          <a:p>
            <a:pPr algn="l" marL="0" indent="0" lvl="0">
              <a:lnSpc>
                <a:spcPts val="2250"/>
              </a:lnSpc>
              <a:spcBef>
                <a:spcPct val="0"/>
              </a:spcBef>
            </a:pPr>
            <a:r>
              <a:rPr lang="en-US" b="true" sz="1875" strike="noStrike" u="none">
                <a:solidFill>
                  <a:srgbClr val="53666E"/>
                </a:solidFill>
                <a:latin typeface="Noto Sans Bold"/>
                <a:ea typeface="Noto Sans Bold"/>
                <a:cs typeface="Noto Sans Bold"/>
                <a:sym typeface="Noto Sans Bold"/>
              </a:rPr>
              <a:t>현장 조사에서도 드러난 연결의 어려움</a:t>
            </a:r>
          </a:p>
        </p:txBody>
      </p:sp>
      <p:sp>
        <p:nvSpPr>
          <p:cNvPr name="TextBox 19" id="19"/>
          <p:cNvSpPr txBox="true"/>
          <p:nvPr/>
        </p:nvSpPr>
        <p:spPr>
          <a:xfrm rot="0">
            <a:off x="12001500" y="2596372"/>
            <a:ext cx="5238750" cy="990600"/>
          </a:xfrm>
          <a:prstGeom prst="rect">
            <a:avLst/>
          </a:prstGeom>
        </p:spPr>
        <p:txBody>
          <a:bodyPr anchor="t" rtlCol="false" tIns="0" lIns="0" bIns="0" rIns="0">
            <a:spAutoFit/>
          </a:bodyPr>
          <a:lstStyle/>
          <a:p>
            <a:pPr algn="l" marL="0" indent="0" lvl="0">
              <a:lnSpc>
                <a:spcPts val="7739"/>
              </a:lnSpc>
              <a:spcBef>
                <a:spcPct val="0"/>
              </a:spcBef>
            </a:pPr>
            <a:r>
              <a:rPr lang="en-US" b="true" sz="6450" strike="noStrike" u="none">
                <a:solidFill>
                  <a:srgbClr val="16796C"/>
                </a:solidFill>
                <a:latin typeface="Noto Sans Bold"/>
                <a:ea typeface="Noto Sans Bold"/>
                <a:cs typeface="Noto Sans Bold"/>
                <a:sym typeface="Noto Sans Bold"/>
              </a:rPr>
              <a:t>20.5%</a:t>
            </a:r>
          </a:p>
        </p:txBody>
      </p:sp>
      <p:sp>
        <p:nvSpPr>
          <p:cNvPr name="TextBox 20" id="20"/>
          <p:cNvSpPr txBox="true"/>
          <p:nvPr/>
        </p:nvSpPr>
        <p:spPr>
          <a:xfrm rot="0">
            <a:off x="12001500" y="3596497"/>
            <a:ext cx="5238750" cy="352425"/>
          </a:xfrm>
          <a:prstGeom prst="rect">
            <a:avLst/>
          </a:prstGeom>
        </p:spPr>
        <p:txBody>
          <a:bodyPr anchor="t" rtlCol="false" tIns="0" lIns="0" bIns="0" rIns="0">
            <a:spAutoFit/>
          </a:bodyPr>
          <a:lstStyle/>
          <a:p>
            <a:pPr algn="l" marL="0" indent="0" lvl="0">
              <a:lnSpc>
                <a:spcPts val="2790"/>
              </a:lnSpc>
              <a:spcBef>
                <a:spcPct val="0"/>
              </a:spcBef>
            </a:pPr>
            <a:r>
              <a:rPr lang="en-US" b="true" sz="2325" strike="noStrike" u="none">
                <a:solidFill>
                  <a:srgbClr val="203238"/>
                </a:solidFill>
                <a:latin typeface="Noto Sans Bold"/>
                <a:ea typeface="Noto Sans Bold"/>
                <a:cs typeface="Noto Sans Bold"/>
                <a:sym typeface="Noto Sans Bold"/>
              </a:rPr>
              <a:t>시스템 간 연계 부족</a:t>
            </a:r>
          </a:p>
        </p:txBody>
      </p:sp>
      <p:sp>
        <p:nvSpPr>
          <p:cNvPr name="TextBox 21" id="21"/>
          <p:cNvSpPr txBox="true"/>
          <p:nvPr/>
        </p:nvSpPr>
        <p:spPr>
          <a:xfrm rot="0">
            <a:off x="12001500" y="4377547"/>
            <a:ext cx="5238750" cy="990600"/>
          </a:xfrm>
          <a:prstGeom prst="rect">
            <a:avLst/>
          </a:prstGeom>
        </p:spPr>
        <p:txBody>
          <a:bodyPr anchor="t" rtlCol="false" tIns="0" lIns="0" bIns="0" rIns="0">
            <a:spAutoFit/>
          </a:bodyPr>
          <a:lstStyle/>
          <a:p>
            <a:pPr algn="l" marL="0" indent="0" lvl="0">
              <a:lnSpc>
                <a:spcPts val="7739"/>
              </a:lnSpc>
              <a:spcBef>
                <a:spcPct val="0"/>
              </a:spcBef>
            </a:pPr>
            <a:r>
              <a:rPr lang="en-US" b="true" sz="6450" strike="noStrike" u="none">
                <a:solidFill>
                  <a:srgbClr val="16796C"/>
                </a:solidFill>
                <a:latin typeface="Noto Sans Bold"/>
                <a:ea typeface="Noto Sans Bold"/>
                <a:cs typeface="Noto Sans Bold"/>
                <a:sym typeface="Noto Sans Bold"/>
              </a:rPr>
              <a:t>14.1%</a:t>
            </a:r>
          </a:p>
        </p:txBody>
      </p:sp>
      <p:sp>
        <p:nvSpPr>
          <p:cNvPr name="TextBox 22" id="22"/>
          <p:cNvSpPr txBox="true"/>
          <p:nvPr/>
        </p:nvSpPr>
        <p:spPr>
          <a:xfrm rot="0">
            <a:off x="12001500" y="5377672"/>
            <a:ext cx="5238750" cy="352425"/>
          </a:xfrm>
          <a:prstGeom prst="rect">
            <a:avLst/>
          </a:prstGeom>
        </p:spPr>
        <p:txBody>
          <a:bodyPr anchor="t" rtlCol="false" tIns="0" lIns="0" bIns="0" rIns="0">
            <a:spAutoFit/>
          </a:bodyPr>
          <a:lstStyle/>
          <a:p>
            <a:pPr algn="l" marL="0" indent="0" lvl="0">
              <a:lnSpc>
                <a:spcPts val="2790"/>
              </a:lnSpc>
              <a:spcBef>
                <a:spcPct val="0"/>
              </a:spcBef>
            </a:pPr>
            <a:r>
              <a:rPr lang="en-US" b="true" sz="2325" strike="noStrike" u="none">
                <a:solidFill>
                  <a:srgbClr val="203238"/>
                </a:solidFill>
                <a:latin typeface="Noto Sans Bold"/>
                <a:ea typeface="Noto Sans Bold"/>
                <a:cs typeface="Noto Sans Bold"/>
                <a:sym typeface="Noto Sans Bold"/>
              </a:rPr>
              <a:t>부서별 자료 분산</a:t>
            </a:r>
          </a:p>
        </p:txBody>
      </p:sp>
      <p:sp>
        <p:nvSpPr>
          <p:cNvPr name="TextBox 23" id="23"/>
          <p:cNvSpPr txBox="true"/>
          <p:nvPr/>
        </p:nvSpPr>
        <p:spPr>
          <a:xfrm rot="0">
            <a:off x="12001500" y="6101572"/>
            <a:ext cx="5381625" cy="495300"/>
          </a:xfrm>
          <a:prstGeom prst="rect">
            <a:avLst/>
          </a:prstGeom>
        </p:spPr>
        <p:txBody>
          <a:bodyPr anchor="t" rtlCol="false" tIns="0" lIns="0" bIns="0" rIns="0">
            <a:spAutoFit/>
          </a:bodyPr>
          <a:lstStyle/>
          <a:p>
            <a:pPr algn="l" marL="0" indent="0" lvl="0">
              <a:lnSpc>
                <a:spcPts val="1980"/>
              </a:lnSpc>
              <a:spcBef>
                <a:spcPct val="0"/>
              </a:spcBef>
            </a:pPr>
            <a:r>
              <a:rPr lang="en-US" sz="1650" strike="noStrike" u="none">
                <a:solidFill>
                  <a:srgbClr val="53666E"/>
                </a:solidFill>
                <a:latin typeface="Noto Sans"/>
                <a:ea typeface="Noto Sans"/>
                <a:cs typeface="Noto Sans"/>
                <a:sym typeface="Noto Sans"/>
                <a:hlinkClick r:id="rId9" tooltip="https://shiheungcci.korcham.net/front/board/boardContentsView.do?boardId=10499&amp;contId=128097&amp;menuId=2845"/>
              </a:rPr>
              <a:t>시흥상공회의소 · 2026.05.06</a:t>
            </a:r>
          </a:p>
          <a:p>
            <a:pPr algn="l" marL="0" indent="0" lvl="0">
              <a:lnSpc>
                <a:spcPts val="1980"/>
              </a:lnSpc>
              <a:spcBef>
                <a:spcPct val="0"/>
              </a:spcBef>
            </a:pPr>
            <a:r>
              <a:rPr lang="en-US" sz="1650" strike="noStrike" u="none">
                <a:solidFill>
                  <a:srgbClr val="53666E"/>
                </a:solidFill>
                <a:latin typeface="Noto Sans"/>
                <a:ea typeface="Noto Sans"/>
                <a:cs typeface="Noto Sans"/>
                <a:sym typeface="Noto Sans"/>
                <a:hlinkClick r:id="rId10" tooltip="https://shiheungcci.korcham.net/front/board/boardContentsView.do?boardId=10499&amp;contId=128097&amp;menuId=2845"/>
              </a:rPr>
              <a:t>시흥지역 제조기업 113개사 · DX 추진 애로요인</a:t>
            </a:r>
          </a:p>
        </p:txBody>
      </p:sp>
      <p:sp>
        <p:nvSpPr>
          <p:cNvPr name="TextBox 24" id="24"/>
          <p:cNvSpPr txBox="true"/>
          <p:nvPr/>
        </p:nvSpPr>
        <p:spPr>
          <a:xfrm rot="0">
            <a:off x="1228725" y="7377922"/>
            <a:ext cx="15906750" cy="428625"/>
          </a:xfrm>
          <a:prstGeom prst="rect">
            <a:avLst/>
          </a:prstGeom>
        </p:spPr>
        <p:txBody>
          <a:bodyPr anchor="t" rtlCol="false" tIns="0" lIns="0" bIns="0" rIns="0">
            <a:spAutoFit/>
          </a:bodyPr>
          <a:lstStyle/>
          <a:p>
            <a:pPr algn="l" marL="0" indent="0" lvl="0">
              <a:lnSpc>
                <a:spcPts val="3419"/>
              </a:lnSpc>
              <a:spcBef>
                <a:spcPct val="0"/>
              </a:spcBef>
            </a:pPr>
            <a:r>
              <a:rPr lang="en-US" b="true" sz="2850" strike="noStrike" u="none">
                <a:solidFill>
                  <a:srgbClr val="16796C"/>
                </a:solidFill>
                <a:latin typeface="Noto Sans Bold"/>
                <a:ea typeface="Noto Sans Bold"/>
                <a:cs typeface="Noto Sans Bold"/>
                <a:sym typeface="Noto Sans Bold"/>
              </a:rPr>
              <a:t>현장 지식을 찾고, 판단하고, 다음 교대에 이어주려면?</a:t>
            </a:r>
          </a:p>
        </p:txBody>
      </p:sp>
      <p:sp>
        <p:nvSpPr>
          <p:cNvPr name="TextBox 25" id="25"/>
          <p:cNvSpPr txBox="true"/>
          <p:nvPr/>
        </p:nvSpPr>
        <p:spPr>
          <a:xfrm rot="0">
            <a:off x="1228725" y="7987522"/>
            <a:ext cx="15906750" cy="314325"/>
          </a:xfrm>
          <a:prstGeom prst="rect">
            <a:avLst/>
          </a:prstGeom>
        </p:spPr>
        <p:txBody>
          <a:bodyPr anchor="t" rtlCol="false" tIns="0" lIns="0" bIns="0" rIns="0">
            <a:spAutoFit/>
          </a:bodyPr>
          <a:lstStyle/>
          <a:p>
            <a:pPr algn="l" marL="0" indent="0" lvl="0">
              <a:lnSpc>
                <a:spcPts val="2430"/>
              </a:lnSpc>
              <a:spcBef>
                <a:spcPct val="0"/>
              </a:spcBef>
            </a:pPr>
            <a:r>
              <a:rPr lang="en-US" sz="2025" strike="noStrike" u="none">
                <a:solidFill>
                  <a:srgbClr val="53666E"/>
                </a:solidFill>
                <a:latin typeface="Noto Sans"/>
                <a:ea typeface="Noto Sans"/>
                <a:cs typeface="Noto Sans"/>
                <a:sym typeface="Noto Sans"/>
              </a:rPr>
              <a:t>ShiftLink의 접근: 제조사 원문을 기반으로 지식 제공·상태 확인·인계를 연결</a:t>
            </a:r>
          </a:p>
        </p:txBody>
      </p:sp>
      <p:grpSp>
        <p:nvGrpSpPr>
          <p:cNvPr name="Group 26" id="26"/>
          <p:cNvGrpSpPr/>
          <p:nvPr/>
        </p:nvGrpSpPr>
        <p:grpSpPr>
          <a:xfrm rot="0">
            <a:off x="822960" y="438912"/>
            <a:ext cx="4114800" cy="384048"/>
            <a:chOff x="0" y="0"/>
            <a:chExt cx="5486400" cy="512064"/>
          </a:xfrm>
        </p:grpSpPr>
        <p:sp>
          <p:nvSpPr>
            <p:cNvPr name="Freeform 27" id="27"/>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4">
                <a:alphaModFix amt="0"/>
              </a:blip>
              <a:stretch>
                <a:fillRect l="0" t="-158768" r="0" b="-158768"/>
              </a:stretch>
            </a:blipFill>
          </p:spPr>
        </p:sp>
        <p:sp>
          <p:nvSpPr>
            <p:cNvPr name="TextBox 28" id="28"/>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01  프로젝트 개요</a:t>
              </a:r>
            </a:p>
          </p:txBody>
        </p:sp>
      </p:grpSp>
      <p:grpSp>
        <p:nvGrpSpPr>
          <p:cNvPr name="Group 29" id="29"/>
          <p:cNvGrpSpPr/>
          <p:nvPr/>
        </p:nvGrpSpPr>
        <p:grpSpPr>
          <a:xfrm rot="0">
            <a:off x="822960" y="822960"/>
            <a:ext cx="16642080" cy="850392"/>
            <a:chOff x="0" y="0"/>
            <a:chExt cx="22189440" cy="1133856"/>
          </a:xfrm>
        </p:grpSpPr>
        <p:sp>
          <p:nvSpPr>
            <p:cNvPr name="Freeform 30" id="30"/>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4">
                <a:alphaModFix amt="0"/>
              </a:blip>
              <a:stretch>
                <a:fillRect l="0" t="-331309" r="2" b="-331309"/>
              </a:stretch>
            </a:blipFill>
          </p:spPr>
        </p:sp>
        <p:sp>
          <p:nvSpPr>
            <p:cNvPr name="TextBox 31" id="31"/>
            <p:cNvSpPr txBox="true"/>
            <p:nvPr/>
          </p:nvSpPr>
          <p:spPr>
            <a:xfrm>
              <a:off x="0" y="-9525"/>
              <a:ext cx="22189440" cy="1143381"/>
            </a:xfrm>
            <a:prstGeom prst="rect">
              <a:avLst/>
            </a:prstGeom>
          </p:spPr>
          <p:txBody>
            <a:bodyPr anchor="ctr" rtlCol="false" tIns="0" lIns="0" bIns="0" rIns="0"/>
            <a:lstStyle/>
            <a:p>
              <a:pPr algn="l" marL="0" indent="0" lvl="0">
                <a:lnSpc>
                  <a:spcPts val="4500"/>
                </a:lnSpc>
                <a:spcBef>
                  <a:spcPct val="0"/>
                </a:spcBef>
              </a:pPr>
              <a:r>
                <a:rPr lang="en-US" b="true" sz="3750" strike="noStrike" u="none">
                  <a:solidFill>
                    <a:srgbClr val="203238"/>
                  </a:solidFill>
                  <a:latin typeface="Noto Sans Bold"/>
                  <a:ea typeface="Noto Sans Bold"/>
                  <a:cs typeface="Noto Sans Bold"/>
                  <a:sym typeface="Noto Sans Bold"/>
                </a:rPr>
                <a:t>01  </a:t>
              </a:r>
              <a:r>
                <a:rPr lang="en-US" b="true" sz="3750" strike="noStrike" u="none">
                  <a:solidFill>
                    <a:srgbClr val="203238"/>
                  </a:solidFill>
                  <a:latin typeface="Noto Sans Bold"/>
                  <a:ea typeface="Noto Sans Bold"/>
                  <a:cs typeface="Noto Sans Bold"/>
                  <a:sym typeface="Noto Sans Bold"/>
                </a:rPr>
                <a:t>배경</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3050" r="0" b="-333050"/>
              </a:stretch>
            </a:blipFill>
          </p:spPr>
        </p:sp>
        <p:sp>
          <p:nvSpPr>
            <p:cNvPr name="TextBox 6" id="6"/>
            <p:cNvSpPr txBox="true"/>
            <p:nvPr/>
          </p:nvSpPr>
          <p:spPr>
            <a:xfrm>
              <a:off x="0" y="-9525"/>
              <a:ext cx="10972800" cy="567690"/>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sp>
        <p:nvSpPr>
          <p:cNvPr name="Freeform 7" id="7" descr="네 항목의 청록 세로 표시와 구분선·연결 화살표"/>
          <p:cNvSpPr/>
          <p:nvPr/>
        </p:nvSpPr>
        <p:spPr>
          <a:xfrm flipH="false" flipV="false" rot="0">
            <a:off x="822960" y="2266950"/>
            <a:ext cx="16649700" cy="6667500"/>
          </a:xfrm>
          <a:custGeom>
            <a:avLst/>
            <a:gdLst/>
            <a:ahLst/>
            <a:cxnLst/>
            <a:rect r="r" b="b" t="t" l="l"/>
            <a:pathLst>
              <a:path h="6667500" w="16649700">
                <a:moveTo>
                  <a:pt x="0" y="0"/>
                </a:moveTo>
                <a:lnTo>
                  <a:pt x="16649700" y="0"/>
                </a:lnTo>
                <a:lnTo>
                  <a:pt x="16649700" y="6667500"/>
                </a:lnTo>
                <a:lnTo>
                  <a:pt x="0" y="66675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1232535" y="2046126"/>
            <a:ext cx="7143750" cy="708347"/>
            <a:chOff x="0" y="0"/>
            <a:chExt cx="9525000" cy="944463"/>
          </a:xfrm>
        </p:grpSpPr>
        <p:sp>
          <p:nvSpPr>
            <p:cNvPr name="Freeform 9" id="9"/>
            <p:cNvSpPr/>
            <p:nvPr/>
          </p:nvSpPr>
          <p:spPr>
            <a:xfrm flipH="false" flipV="false" rot="0">
              <a:off x="0" y="0"/>
              <a:ext cx="9525000" cy="944463"/>
            </a:xfrm>
            <a:custGeom>
              <a:avLst/>
              <a:gdLst/>
              <a:ahLst/>
              <a:cxnLst/>
              <a:rect r="r" b="b" t="t" l="l"/>
              <a:pathLst>
                <a:path h="944463" w="9525000">
                  <a:moveTo>
                    <a:pt x="0" y="0"/>
                  </a:moveTo>
                  <a:lnTo>
                    <a:pt x="9525000" y="0"/>
                  </a:lnTo>
                  <a:lnTo>
                    <a:pt x="9525000" y="944463"/>
                  </a:lnTo>
                  <a:lnTo>
                    <a:pt x="0" y="944463"/>
                  </a:lnTo>
                  <a:close/>
                </a:path>
              </a:pathLst>
            </a:custGeom>
            <a:blipFill>
              <a:blip r:embed="rId4">
                <a:alphaModFix amt="0"/>
              </a:blip>
              <a:stretch>
                <a:fillRect l="0" t="-86080" r="42400" b="-40297"/>
              </a:stretch>
            </a:blipFill>
          </p:spPr>
        </p:sp>
        <p:sp>
          <p:nvSpPr>
            <p:cNvPr name="TextBox 10" id="10"/>
            <p:cNvSpPr txBox="true"/>
            <p:nvPr/>
          </p:nvSpPr>
          <p:spPr>
            <a:xfrm>
              <a:off x="0" y="9525"/>
              <a:ext cx="9525000" cy="934938"/>
            </a:xfrm>
            <a:prstGeom prst="rect">
              <a:avLst/>
            </a:prstGeom>
          </p:spPr>
          <p:txBody>
            <a:bodyPr anchor="ctr" rtlCol="false" tIns="0" lIns="0" bIns="0" rIns="0"/>
            <a:lstStyle/>
            <a:p>
              <a:pPr algn="l" marL="0" indent="0" lvl="0">
                <a:lnSpc>
                  <a:spcPts val="2160"/>
                </a:lnSpc>
                <a:spcBef>
                  <a:spcPct val="0"/>
                </a:spcBef>
              </a:pPr>
              <a:r>
                <a:rPr lang="en-US" b="true" sz="1800" strike="noStrike" u="none">
                  <a:solidFill>
                    <a:srgbClr val="53666E"/>
                  </a:solidFill>
                  <a:latin typeface="Noto Sans Bold"/>
                  <a:ea typeface="Noto Sans Bold"/>
                  <a:cs typeface="Noto Sans Bold"/>
                  <a:sym typeface="Noto Sans Bold"/>
                </a:rPr>
                <a:t>현장의 문제</a:t>
              </a:r>
            </a:p>
          </p:txBody>
        </p:sp>
      </p:grpSp>
      <p:grpSp>
        <p:nvGrpSpPr>
          <p:cNvPr name="Group 11" id="11"/>
          <p:cNvGrpSpPr/>
          <p:nvPr/>
        </p:nvGrpSpPr>
        <p:grpSpPr>
          <a:xfrm rot="0">
            <a:off x="822960" y="822960"/>
            <a:ext cx="16641623" cy="850392"/>
            <a:chOff x="0" y="0"/>
            <a:chExt cx="22188830" cy="1133856"/>
          </a:xfrm>
        </p:grpSpPr>
        <p:sp>
          <p:nvSpPr>
            <p:cNvPr name="Freeform 12" id="12"/>
            <p:cNvSpPr/>
            <p:nvPr/>
          </p:nvSpPr>
          <p:spPr>
            <a:xfrm flipH="false" flipV="false" rot="0">
              <a:off x="0" y="0"/>
              <a:ext cx="22188805" cy="1133856"/>
            </a:xfrm>
            <a:custGeom>
              <a:avLst/>
              <a:gdLst/>
              <a:ahLst/>
              <a:cxnLst/>
              <a:rect r="r" b="b" t="t" l="l"/>
              <a:pathLst>
                <a:path h="1133856" w="22188805">
                  <a:moveTo>
                    <a:pt x="0" y="0"/>
                  </a:moveTo>
                  <a:lnTo>
                    <a:pt x="22188805" y="0"/>
                  </a:lnTo>
                  <a:lnTo>
                    <a:pt x="22188805" y="1133856"/>
                  </a:lnTo>
                  <a:lnTo>
                    <a:pt x="0" y="1133856"/>
                  </a:lnTo>
                  <a:close/>
                </a:path>
              </a:pathLst>
            </a:custGeom>
            <a:blipFill>
              <a:blip r:embed="rId3">
                <a:alphaModFix amt="0"/>
              </a:blip>
              <a:stretch>
                <a:fillRect l="0" t="-331043" r="0" b="-331045"/>
              </a:stretch>
            </a:blipFill>
          </p:spPr>
        </p:sp>
      </p:grpSp>
      <p:grpSp>
        <p:nvGrpSpPr>
          <p:cNvPr name="Group 13" id="13"/>
          <p:cNvGrpSpPr/>
          <p:nvPr/>
        </p:nvGrpSpPr>
        <p:grpSpPr>
          <a:xfrm rot="0">
            <a:off x="2057400" y="3017520"/>
            <a:ext cx="3771900" cy="617220"/>
            <a:chOff x="0" y="0"/>
            <a:chExt cx="5029200" cy="822960"/>
          </a:xfrm>
        </p:grpSpPr>
        <p:sp>
          <p:nvSpPr>
            <p:cNvPr name="Freeform 14" id="14"/>
            <p:cNvSpPr/>
            <p:nvPr/>
          </p:nvSpPr>
          <p:spPr>
            <a:xfrm flipH="false" flipV="false" rot="0">
              <a:off x="0" y="0"/>
              <a:ext cx="5029200" cy="822960"/>
            </a:xfrm>
            <a:custGeom>
              <a:avLst/>
              <a:gdLst/>
              <a:ahLst/>
              <a:cxnLst/>
              <a:rect r="r" b="b" t="t" l="l"/>
              <a:pathLst>
                <a:path h="822960" w="5029200">
                  <a:moveTo>
                    <a:pt x="0" y="0"/>
                  </a:moveTo>
                  <a:lnTo>
                    <a:pt x="5029200" y="0"/>
                  </a:lnTo>
                  <a:lnTo>
                    <a:pt x="5029200" y="822960"/>
                  </a:lnTo>
                  <a:lnTo>
                    <a:pt x="0" y="822960"/>
                  </a:lnTo>
                  <a:close/>
                </a:path>
              </a:pathLst>
            </a:custGeom>
            <a:blipFill>
              <a:blip r:embed="rId3">
                <a:alphaModFix amt="0"/>
              </a:blip>
              <a:stretch>
                <a:fillRect l="0" t="-68992" r="0" b="-68992"/>
              </a:stretch>
            </a:blipFill>
          </p:spPr>
        </p:sp>
      </p:grpSp>
      <p:grpSp>
        <p:nvGrpSpPr>
          <p:cNvPr name="Group 15" id="15"/>
          <p:cNvGrpSpPr/>
          <p:nvPr/>
        </p:nvGrpSpPr>
        <p:grpSpPr>
          <a:xfrm rot="0">
            <a:off x="13418363" y="3017520"/>
            <a:ext cx="3771900" cy="617220"/>
            <a:chOff x="0" y="0"/>
            <a:chExt cx="5029200" cy="822960"/>
          </a:xfrm>
        </p:grpSpPr>
        <p:sp>
          <p:nvSpPr>
            <p:cNvPr name="Freeform 16" id="16"/>
            <p:cNvSpPr/>
            <p:nvPr/>
          </p:nvSpPr>
          <p:spPr>
            <a:xfrm flipH="false" flipV="false" rot="0">
              <a:off x="0" y="0"/>
              <a:ext cx="5029200" cy="822960"/>
            </a:xfrm>
            <a:custGeom>
              <a:avLst/>
              <a:gdLst/>
              <a:ahLst/>
              <a:cxnLst/>
              <a:rect r="r" b="b" t="t" l="l"/>
              <a:pathLst>
                <a:path h="822960" w="5029200">
                  <a:moveTo>
                    <a:pt x="0" y="0"/>
                  </a:moveTo>
                  <a:lnTo>
                    <a:pt x="5029200" y="0"/>
                  </a:lnTo>
                  <a:lnTo>
                    <a:pt x="5029200" y="822960"/>
                  </a:lnTo>
                  <a:lnTo>
                    <a:pt x="0" y="822960"/>
                  </a:lnTo>
                  <a:close/>
                </a:path>
              </a:pathLst>
            </a:custGeom>
            <a:blipFill>
              <a:blip r:embed="rId3">
                <a:alphaModFix amt="0"/>
              </a:blip>
              <a:stretch>
                <a:fillRect l="0" t="-68992" r="0" b="-68992"/>
              </a:stretch>
            </a:blipFill>
          </p:spPr>
        </p:sp>
      </p:grpSp>
      <p:sp>
        <p:nvSpPr>
          <p:cNvPr name="TextBox 17" id="17"/>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strike="noStrike" u="none">
                <a:solidFill>
                  <a:srgbClr val="6B787A"/>
                </a:solidFill>
                <a:latin typeface="Noto Sans"/>
                <a:ea typeface="Noto Sans"/>
                <a:cs typeface="Noto Sans"/>
                <a:sym typeface="Noto Sans"/>
              </a:rPr>
              <a:t>6</a:t>
            </a:r>
          </a:p>
        </p:txBody>
      </p:sp>
      <p:grpSp>
        <p:nvGrpSpPr>
          <p:cNvPr name="Group 18" id="18"/>
          <p:cNvGrpSpPr/>
          <p:nvPr/>
        </p:nvGrpSpPr>
        <p:grpSpPr>
          <a:xfrm rot="0">
            <a:off x="5818352" y="9710928"/>
            <a:ext cx="4070985" cy="419672"/>
            <a:chOff x="0" y="0"/>
            <a:chExt cx="5427980" cy="559562"/>
          </a:xfrm>
        </p:grpSpPr>
        <p:grpSp>
          <p:nvGrpSpPr>
            <p:cNvPr name="Group 19" id="19"/>
            <p:cNvGrpSpPr/>
            <p:nvPr/>
          </p:nvGrpSpPr>
          <p:grpSpPr>
            <a:xfrm rot="0">
              <a:off x="0" y="0"/>
              <a:ext cx="1680845" cy="559562"/>
              <a:chOff x="0" y="0"/>
              <a:chExt cx="1680845" cy="559562"/>
            </a:xfrm>
          </p:grpSpPr>
          <p:sp>
            <p:nvSpPr>
              <p:cNvPr name="Freeform 20" id="20"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7"/>
                <a:stretch>
                  <a:fillRect l="0" t="-265" r="0" b="-267"/>
                </a:stretch>
              </a:blipFill>
            </p:spPr>
          </p:sp>
        </p:grpSp>
        <p:grpSp>
          <p:nvGrpSpPr>
            <p:cNvPr name="Group 21" id="21"/>
            <p:cNvGrpSpPr/>
            <p:nvPr/>
          </p:nvGrpSpPr>
          <p:grpSpPr>
            <a:xfrm rot="0">
              <a:off x="2069490" y="124358"/>
              <a:ext cx="1189101" cy="310896"/>
              <a:chOff x="0" y="0"/>
              <a:chExt cx="1189101" cy="310896"/>
            </a:xfrm>
          </p:grpSpPr>
          <p:sp>
            <p:nvSpPr>
              <p:cNvPr name="Freeform 22" id="22"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8"/>
                <a:stretch>
                  <a:fillRect l="-30" t="0" r="-32" b="0"/>
                </a:stretch>
              </a:blipFill>
            </p:spPr>
          </p:sp>
        </p:grpSp>
        <p:grpSp>
          <p:nvGrpSpPr>
            <p:cNvPr name="Group 23" id="23"/>
            <p:cNvGrpSpPr/>
            <p:nvPr/>
          </p:nvGrpSpPr>
          <p:grpSpPr>
            <a:xfrm rot="0">
              <a:off x="3647186" y="124358"/>
              <a:ext cx="1780794" cy="310896"/>
              <a:chOff x="0" y="0"/>
              <a:chExt cx="1780794" cy="310896"/>
            </a:xfrm>
          </p:grpSpPr>
          <p:sp>
            <p:nvSpPr>
              <p:cNvPr name="Freeform 24" id="24"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9"/>
                <a:stretch>
                  <a:fillRect l="0" t="-118" r="0" b="-122"/>
                </a:stretch>
              </a:blipFill>
            </p:spPr>
          </p:sp>
        </p:grpSp>
      </p:grpSp>
      <p:sp>
        <p:nvSpPr>
          <p:cNvPr name="TextBox 25" id="25"/>
          <p:cNvSpPr txBox="true"/>
          <p:nvPr/>
        </p:nvSpPr>
        <p:spPr>
          <a:xfrm rot="0">
            <a:off x="10416083" y="2276475"/>
            <a:ext cx="7048500" cy="257175"/>
          </a:xfrm>
          <a:prstGeom prst="rect">
            <a:avLst/>
          </a:prstGeom>
        </p:spPr>
        <p:txBody>
          <a:bodyPr anchor="t" rtlCol="false" tIns="0" lIns="0" bIns="0" rIns="0">
            <a:spAutoFit/>
          </a:bodyPr>
          <a:lstStyle/>
          <a:p>
            <a:pPr algn="l">
              <a:lnSpc>
                <a:spcPts val="2160"/>
              </a:lnSpc>
              <a:spcBef>
                <a:spcPct val="0"/>
              </a:spcBef>
            </a:pPr>
            <a:r>
              <a:rPr lang="en-US" b="true" sz="1800">
                <a:solidFill>
                  <a:srgbClr val="16796C"/>
                </a:solidFill>
                <a:latin typeface="Noto Sans Bold"/>
                <a:ea typeface="Noto Sans Bold"/>
                <a:cs typeface="Noto Sans Bold"/>
                <a:sym typeface="Noto Sans Bold"/>
              </a:rPr>
              <a:t>ShiftLink의</a:t>
            </a:r>
            <a:r>
              <a:rPr lang="en-US" b="true" sz="1800">
                <a:solidFill>
                  <a:srgbClr val="16796C"/>
                </a:solidFill>
                <a:latin typeface="Noto Sans Bold"/>
                <a:ea typeface="Noto Sans Bold"/>
                <a:cs typeface="Noto Sans Bold"/>
                <a:sym typeface="Noto Sans Bold"/>
              </a:rPr>
              <a:t> 해결 아이디어</a:t>
            </a:r>
          </a:p>
        </p:txBody>
      </p:sp>
      <p:sp>
        <p:nvSpPr>
          <p:cNvPr name="TextBox 26" id="26"/>
          <p:cNvSpPr txBox="true"/>
          <p:nvPr/>
        </p:nvSpPr>
        <p:spPr>
          <a:xfrm rot="0">
            <a:off x="1232535" y="2867025"/>
            <a:ext cx="7143750" cy="352425"/>
          </a:xfrm>
          <a:prstGeom prst="rect">
            <a:avLst/>
          </a:prstGeom>
        </p:spPr>
        <p:txBody>
          <a:bodyPr anchor="t" rtlCol="false" tIns="0" lIns="0" bIns="0" rIns="0">
            <a:spAutoFit/>
          </a:bodyPr>
          <a:lstStyle/>
          <a:p>
            <a:pPr algn="l" marL="0" indent="0" lvl="0">
              <a:lnSpc>
                <a:spcPts val="2879"/>
              </a:lnSpc>
              <a:spcBef>
                <a:spcPct val="0"/>
              </a:spcBef>
            </a:pPr>
            <a:r>
              <a:rPr lang="en-US" b="true" sz="2400" strike="noStrike" u="none">
                <a:solidFill>
                  <a:srgbClr val="203238"/>
                </a:solidFill>
                <a:latin typeface="Noto Sans Bold"/>
                <a:ea typeface="Noto Sans Bold"/>
                <a:cs typeface="Noto Sans Bold"/>
                <a:sym typeface="Noto Sans Bold"/>
              </a:rPr>
              <a:t>01   개인에게 머무는 숙련 지식</a:t>
            </a:r>
          </a:p>
        </p:txBody>
      </p:sp>
      <p:sp>
        <p:nvSpPr>
          <p:cNvPr name="TextBox 27" id="27"/>
          <p:cNvSpPr txBox="true"/>
          <p:nvPr/>
        </p:nvSpPr>
        <p:spPr>
          <a:xfrm rot="0">
            <a:off x="1933575" y="3352800"/>
            <a:ext cx="6477000" cy="257175"/>
          </a:xfrm>
          <a:prstGeom prst="rect">
            <a:avLst/>
          </a:prstGeom>
        </p:spPr>
        <p:txBody>
          <a:bodyPr anchor="t" rtlCol="false" tIns="0" lIns="0" bIns="0" rIns="0">
            <a:spAutoFit/>
          </a:bodyPr>
          <a:lstStyle/>
          <a:p>
            <a:pPr algn="l">
              <a:lnSpc>
                <a:spcPts val="2160"/>
              </a:lnSpc>
              <a:spcBef>
                <a:spcPct val="0"/>
              </a:spcBef>
            </a:pPr>
            <a:r>
              <a:rPr lang="en-US" sz="1800">
                <a:solidFill>
                  <a:srgbClr val="53666E"/>
                </a:solidFill>
                <a:latin typeface="Noto Sans"/>
                <a:ea typeface="Noto Sans"/>
                <a:cs typeface="Noto Sans"/>
                <a:sym typeface="Noto Sans"/>
              </a:rPr>
              <a:t>판</a:t>
            </a:r>
            <a:r>
              <a:rPr lang="en-US" sz="1800">
                <a:solidFill>
                  <a:srgbClr val="53666E"/>
                </a:solidFill>
                <a:latin typeface="Noto Sans"/>
                <a:ea typeface="Noto Sans"/>
                <a:cs typeface="Noto Sans"/>
                <a:sym typeface="Noto Sans"/>
              </a:rPr>
              <a:t>단 기준과 예외 대응이 구두로 전해져,</a:t>
            </a:r>
          </a:p>
        </p:txBody>
      </p:sp>
      <p:sp>
        <p:nvSpPr>
          <p:cNvPr name="TextBox 28" id="28"/>
          <p:cNvSpPr txBox="true"/>
          <p:nvPr/>
        </p:nvSpPr>
        <p:spPr>
          <a:xfrm rot="0">
            <a:off x="1933575" y="3695700"/>
            <a:ext cx="6477000" cy="257175"/>
          </a:xfrm>
          <a:prstGeom prst="rect">
            <a:avLst/>
          </a:prstGeom>
        </p:spPr>
        <p:txBody>
          <a:bodyPr anchor="t" rtlCol="false" tIns="0" lIns="0" bIns="0" rIns="0">
            <a:spAutoFit/>
          </a:bodyPr>
          <a:lstStyle/>
          <a:p>
            <a:pPr algn="l">
              <a:lnSpc>
                <a:spcPts val="2160"/>
              </a:lnSpc>
              <a:spcBef>
                <a:spcPct val="0"/>
              </a:spcBef>
            </a:pPr>
            <a:r>
              <a:rPr lang="en-US" sz="1800">
                <a:solidFill>
                  <a:srgbClr val="53666E"/>
                </a:solidFill>
                <a:latin typeface="Noto Sans"/>
                <a:ea typeface="Noto Sans"/>
                <a:cs typeface="Noto Sans"/>
                <a:sym typeface="Noto Sans"/>
              </a:rPr>
              <a:t>신입이 적용 조건과 이유를 배우기</a:t>
            </a:r>
            <a:r>
              <a:rPr lang="en-US" sz="1800">
                <a:solidFill>
                  <a:srgbClr val="53666E"/>
                </a:solidFill>
                <a:latin typeface="Noto Sans"/>
                <a:ea typeface="Noto Sans"/>
                <a:cs typeface="Noto Sans"/>
                <a:sym typeface="Noto Sans"/>
              </a:rPr>
              <a:t> 어렵습니다.</a:t>
            </a:r>
          </a:p>
        </p:txBody>
      </p:sp>
      <p:sp>
        <p:nvSpPr>
          <p:cNvPr name="TextBox 29" id="29"/>
          <p:cNvSpPr txBox="true"/>
          <p:nvPr/>
        </p:nvSpPr>
        <p:spPr>
          <a:xfrm rot="0">
            <a:off x="10416083" y="2867025"/>
            <a:ext cx="7048500" cy="352425"/>
          </a:xfrm>
          <a:prstGeom prst="rect">
            <a:avLst/>
          </a:prstGeom>
        </p:spPr>
        <p:txBody>
          <a:bodyPr anchor="t" rtlCol="false" tIns="0" lIns="0" bIns="0" rIns="0">
            <a:spAutoFit/>
          </a:bodyPr>
          <a:lstStyle/>
          <a:p>
            <a:pPr algn="l">
              <a:lnSpc>
                <a:spcPts val="2879"/>
              </a:lnSpc>
              <a:spcBef>
                <a:spcPct val="0"/>
              </a:spcBef>
            </a:pPr>
            <a:r>
              <a:rPr lang="en-US" b="true" sz="2400">
                <a:solidFill>
                  <a:srgbClr val="16796C"/>
                </a:solidFill>
                <a:latin typeface="Noto Sans Bold"/>
                <a:ea typeface="Noto Sans Bold"/>
                <a:cs typeface="Noto Sans Bold"/>
                <a:sym typeface="Noto Sans Bold"/>
              </a:rPr>
              <a:t>원문 기반 지식</a:t>
            </a:r>
            <a:r>
              <a:rPr lang="en-US" b="true" sz="2400">
                <a:solidFill>
                  <a:srgbClr val="16796C"/>
                </a:solidFill>
                <a:latin typeface="Noto Sans Bold"/>
                <a:ea typeface="Noto Sans Bold"/>
                <a:cs typeface="Noto Sans Bold"/>
                <a:sym typeface="Noto Sans Bold"/>
              </a:rPr>
              <a:t> 카드</a:t>
            </a:r>
          </a:p>
        </p:txBody>
      </p:sp>
      <p:sp>
        <p:nvSpPr>
          <p:cNvPr name="TextBox 30" id="30"/>
          <p:cNvSpPr txBox="true"/>
          <p:nvPr/>
        </p:nvSpPr>
        <p:spPr>
          <a:xfrm rot="0">
            <a:off x="10416083" y="3333750"/>
            <a:ext cx="7048500" cy="257175"/>
          </a:xfrm>
          <a:prstGeom prst="rect">
            <a:avLst/>
          </a:prstGeom>
        </p:spPr>
        <p:txBody>
          <a:bodyPr anchor="t" rtlCol="false" tIns="0" lIns="0" bIns="0" rIns="0">
            <a:spAutoFit/>
          </a:bodyPr>
          <a:lstStyle/>
          <a:p>
            <a:pPr algn="l">
              <a:lnSpc>
                <a:spcPts val="2160"/>
              </a:lnSpc>
              <a:spcBef>
                <a:spcPct val="0"/>
              </a:spcBef>
            </a:pPr>
            <a:r>
              <a:rPr lang="en-US" sz="1800">
                <a:solidFill>
                  <a:srgbClr val="53666E"/>
                </a:solidFill>
                <a:latin typeface="Noto Sans"/>
                <a:ea typeface="Noto Sans"/>
                <a:cs typeface="Noto Sans"/>
                <a:sym typeface="Noto Sans"/>
              </a:rPr>
              <a:t>적용 조건·안전 주의·근거를 공통</a:t>
            </a:r>
            <a:r>
              <a:rPr lang="en-US" sz="1800">
                <a:solidFill>
                  <a:srgbClr val="53666E"/>
                </a:solidFill>
                <a:latin typeface="Noto Sans"/>
                <a:ea typeface="Noto Sans"/>
                <a:cs typeface="Noto Sans"/>
                <a:sym typeface="Noto Sans"/>
              </a:rPr>
              <a:t> 형식으로</a:t>
            </a:r>
          </a:p>
        </p:txBody>
      </p:sp>
      <p:sp>
        <p:nvSpPr>
          <p:cNvPr name="TextBox 31" id="31"/>
          <p:cNvSpPr txBox="true"/>
          <p:nvPr/>
        </p:nvSpPr>
        <p:spPr>
          <a:xfrm rot="0">
            <a:off x="1232535" y="4371975"/>
            <a:ext cx="7143750" cy="352425"/>
          </a:xfrm>
          <a:prstGeom prst="rect">
            <a:avLst/>
          </a:prstGeom>
        </p:spPr>
        <p:txBody>
          <a:bodyPr anchor="t" rtlCol="false" tIns="0" lIns="0" bIns="0" rIns="0">
            <a:spAutoFit/>
          </a:bodyPr>
          <a:lstStyle/>
          <a:p>
            <a:pPr algn="l" marL="0" indent="0" lvl="0">
              <a:lnSpc>
                <a:spcPts val="2879"/>
              </a:lnSpc>
              <a:spcBef>
                <a:spcPct val="0"/>
              </a:spcBef>
            </a:pPr>
            <a:r>
              <a:rPr lang="en-US" b="true" sz="2400" strike="noStrike" u="none">
                <a:solidFill>
                  <a:srgbClr val="203238"/>
                </a:solidFill>
                <a:latin typeface="Noto Sans Bold"/>
                <a:ea typeface="Noto Sans Bold"/>
                <a:cs typeface="Noto Sans Bold"/>
                <a:sym typeface="Noto Sans Bold"/>
              </a:rPr>
              <a:t>02   문서·설비 상태·기록의 단절</a:t>
            </a:r>
          </a:p>
        </p:txBody>
      </p:sp>
      <p:sp>
        <p:nvSpPr>
          <p:cNvPr name="TextBox 32" id="32"/>
          <p:cNvSpPr txBox="true"/>
          <p:nvPr/>
        </p:nvSpPr>
        <p:spPr>
          <a:xfrm rot="0">
            <a:off x="1933575" y="4857750"/>
            <a:ext cx="6477000" cy="257175"/>
          </a:xfrm>
          <a:prstGeom prst="rect">
            <a:avLst/>
          </a:prstGeom>
        </p:spPr>
        <p:txBody>
          <a:bodyPr anchor="t" rtlCol="false" tIns="0" lIns="0" bIns="0" rIns="0">
            <a:spAutoFit/>
          </a:bodyPr>
          <a:lstStyle/>
          <a:p>
            <a:pPr algn="l">
              <a:lnSpc>
                <a:spcPts val="2160"/>
              </a:lnSpc>
              <a:spcBef>
                <a:spcPct val="0"/>
              </a:spcBef>
            </a:pPr>
            <a:r>
              <a:rPr lang="en-US" sz="1800">
                <a:solidFill>
                  <a:srgbClr val="53666E"/>
                </a:solidFill>
                <a:latin typeface="Noto Sans"/>
                <a:ea typeface="Noto Sans"/>
                <a:cs typeface="Noto Sans"/>
                <a:sym typeface="Noto Sans"/>
              </a:rPr>
              <a:t>매뉴얼과 설비 값, 조치 이력을 따로</a:t>
            </a:r>
            <a:r>
              <a:rPr lang="en-US" sz="1800">
                <a:solidFill>
                  <a:srgbClr val="53666E"/>
                </a:solidFill>
                <a:latin typeface="Noto Sans"/>
                <a:ea typeface="Noto Sans"/>
                <a:cs typeface="Noto Sans"/>
                <a:sym typeface="Noto Sans"/>
              </a:rPr>
              <a:t> 찾아</a:t>
            </a:r>
          </a:p>
        </p:txBody>
      </p:sp>
      <p:sp>
        <p:nvSpPr>
          <p:cNvPr name="TextBox 33" id="33"/>
          <p:cNvSpPr txBox="true"/>
          <p:nvPr/>
        </p:nvSpPr>
        <p:spPr>
          <a:xfrm rot="0">
            <a:off x="1933575" y="5200650"/>
            <a:ext cx="6477000" cy="257175"/>
          </a:xfrm>
          <a:prstGeom prst="rect">
            <a:avLst/>
          </a:prstGeom>
        </p:spPr>
        <p:txBody>
          <a:bodyPr anchor="t" rtlCol="false" tIns="0" lIns="0" bIns="0" rIns="0">
            <a:spAutoFit/>
          </a:bodyPr>
          <a:lstStyle/>
          <a:p>
            <a:pPr algn="l">
              <a:lnSpc>
                <a:spcPts val="2160"/>
              </a:lnSpc>
              <a:spcBef>
                <a:spcPct val="0"/>
              </a:spcBef>
            </a:pPr>
            <a:r>
              <a:rPr lang="en-US" sz="1800">
                <a:solidFill>
                  <a:srgbClr val="53666E"/>
                </a:solidFill>
                <a:latin typeface="Noto Sans"/>
                <a:ea typeface="Noto Sans"/>
                <a:cs typeface="Noto Sans"/>
                <a:sym typeface="Noto Sans"/>
              </a:rPr>
              <a:t>현재</a:t>
            </a:r>
            <a:r>
              <a:rPr lang="en-US" sz="1800">
                <a:solidFill>
                  <a:srgbClr val="53666E"/>
                </a:solidFill>
                <a:latin typeface="Noto Sans"/>
                <a:ea typeface="Noto Sans"/>
                <a:cs typeface="Noto Sans"/>
                <a:sym typeface="Noto Sans"/>
              </a:rPr>
              <a:t> 상황에 필요한 정보를 대조해야 합니다.</a:t>
            </a:r>
          </a:p>
        </p:txBody>
      </p:sp>
      <p:sp>
        <p:nvSpPr>
          <p:cNvPr name="TextBox 34" id="34"/>
          <p:cNvSpPr txBox="true"/>
          <p:nvPr/>
        </p:nvSpPr>
        <p:spPr>
          <a:xfrm rot="0">
            <a:off x="10424160" y="4371975"/>
            <a:ext cx="7048500" cy="352425"/>
          </a:xfrm>
          <a:prstGeom prst="rect">
            <a:avLst/>
          </a:prstGeom>
        </p:spPr>
        <p:txBody>
          <a:bodyPr anchor="t" rtlCol="false" tIns="0" lIns="0" bIns="0" rIns="0">
            <a:spAutoFit/>
          </a:bodyPr>
          <a:lstStyle/>
          <a:p>
            <a:pPr algn="l">
              <a:lnSpc>
                <a:spcPts val="2879"/>
              </a:lnSpc>
              <a:spcBef>
                <a:spcPct val="0"/>
              </a:spcBef>
            </a:pPr>
            <a:r>
              <a:rPr lang="en-US" b="true" sz="2400">
                <a:solidFill>
                  <a:srgbClr val="16796C"/>
                </a:solidFill>
                <a:latin typeface="Noto Sans Bold"/>
                <a:ea typeface="Noto Sans Bold"/>
                <a:cs typeface="Noto Sans Bold"/>
                <a:sym typeface="Noto Sans Bold"/>
              </a:rPr>
              <a:t>지식</a:t>
            </a:r>
            <a:r>
              <a:rPr lang="en-US" b="true" sz="2400">
                <a:solidFill>
                  <a:srgbClr val="16796C"/>
                </a:solidFill>
                <a:latin typeface="Noto Sans Bold"/>
                <a:ea typeface="Noto Sans Bold"/>
                <a:cs typeface="Noto Sans Bold"/>
                <a:sym typeface="Noto Sans Bold"/>
              </a:rPr>
              <a:t> 표준화·통합 검색</a:t>
            </a:r>
          </a:p>
        </p:txBody>
      </p:sp>
      <p:sp>
        <p:nvSpPr>
          <p:cNvPr name="TextBox 35" id="35"/>
          <p:cNvSpPr txBox="true"/>
          <p:nvPr/>
        </p:nvSpPr>
        <p:spPr>
          <a:xfrm rot="0">
            <a:off x="10416083" y="4838700"/>
            <a:ext cx="7048500" cy="257175"/>
          </a:xfrm>
          <a:prstGeom prst="rect">
            <a:avLst/>
          </a:prstGeom>
        </p:spPr>
        <p:txBody>
          <a:bodyPr anchor="t" rtlCol="false" tIns="0" lIns="0" bIns="0" rIns="0">
            <a:spAutoFit/>
          </a:bodyPr>
          <a:lstStyle/>
          <a:p>
            <a:pPr algn="l">
              <a:lnSpc>
                <a:spcPts val="2160"/>
              </a:lnSpc>
              <a:spcBef>
                <a:spcPct val="0"/>
              </a:spcBef>
            </a:pPr>
            <a:r>
              <a:rPr lang="en-US" sz="1800">
                <a:solidFill>
                  <a:srgbClr val="53666E"/>
                </a:solidFill>
                <a:latin typeface="Noto Sans"/>
                <a:ea typeface="Noto Sans"/>
                <a:cs typeface="Noto Sans"/>
                <a:sym typeface="Noto Sans"/>
              </a:rPr>
              <a:t>매뉴얼·기록</a:t>
            </a:r>
            <a:r>
              <a:rPr lang="en-US" sz="1800">
                <a:solidFill>
                  <a:srgbClr val="53666E"/>
                </a:solidFill>
                <a:latin typeface="Noto Sans"/>
                <a:ea typeface="Noto Sans"/>
                <a:cs typeface="Noto Sans"/>
                <a:sym typeface="Noto Sans"/>
              </a:rPr>
              <a:t> 검색과 현재 설비 상태 연결</a:t>
            </a:r>
          </a:p>
        </p:txBody>
      </p:sp>
      <p:sp>
        <p:nvSpPr>
          <p:cNvPr name="TextBox 36" id="36"/>
          <p:cNvSpPr txBox="true"/>
          <p:nvPr/>
        </p:nvSpPr>
        <p:spPr>
          <a:xfrm rot="0">
            <a:off x="1232535" y="5876925"/>
            <a:ext cx="7143750" cy="352425"/>
          </a:xfrm>
          <a:prstGeom prst="rect">
            <a:avLst/>
          </a:prstGeom>
        </p:spPr>
        <p:txBody>
          <a:bodyPr anchor="t" rtlCol="false" tIns="0" lIns="0" bIns="0" rIns="0">
            <a:spAutoFit/>
          </a:bodyPr>
          <a:lstStyle/>
          <a:p>
            <a:pPr algn="l" marL="0" indent="0" lvl="0">
              <a:lnSpc>
                <a:spcPts val="2879"/>
              </a:lnSpc>
              <a:spcBef>
                <a:spcPct val="0"/>
              </a:spcBef>
            </a:pPr>
            <a:r>
              <a:rPr lang="en-US" b="true" sz="2400" strike="noStrike" u="none">
                <a:solidFill>
                  <a:srgbClr val="203238"/>
                </a:solidFill>
                <a:latin typeface="Noto Sans Bold"/>
                <a:ea typeface="Noto Sans Bold"/>
                <a:cs typeface="Noto Sans Bold"/>
                <a:sym typeface="Noto Sans Bold"/>
              </a:rPr>
              <a:t>03   교대 시 끊기는 작업 맥락</a:t>
            </a:r>
          </a:p>
        </p:txBody>
      </p:sp>
      <p:sp>
        <p:nvSpPr>
          <p:cNvPr name="TextBox 37" id="37"/>
          <p:cNvSpPr txBox="true"/>
          <p:nvPr/>
        </p:nvSpPr>
        <p:spPr>
          <a:xfrm rot="0">
            <a:off x="1933575" y="6362700"/>
            <a:ext cx="6477000" cy="257175"/>
          </a:xfrm>
          <a:prstGeom prst="rect">
            <a:avLst/>
          </a:prstGeom>
        </p:spPr>
        <p:txBody>
          <a:bodyPr anchor="t" rtlCol="false" tIns="0" lIns="0" bIns="0" rIns="0">
            <a:spAutoFit/>
          </a:bodyPr>
          <a:lstStyle/>
          <a:p>
            <a:pPr algn="l">
              <a:lnSpc>
                <a:spcPts val="2160"/>
              </a:lnSpc>
              <a:spcBef>
                <a:spcPct val="0"/>
              </a:spcBef>
            </a:pPr>
            <a:r>
              <a:rPr lang="en-US" sz="1800">
                <a:solidFill>
                  <a:srgbClr val="53666E"/>
                </a:solidFill>
                <a:latin typeface="Noto Sans"/>
                <a:ea typeface="Noto Sans"/>
                <a:cs typeface="Noto Sans"/>
                <a:sym typeface="Noto Sans"/>
              </a:rPr>
              <a:t>확인한 상태와</a:t>
            </a:r>
            <a:r>
              <a:rPr lang="en-US" sz="1800">
                <a:solidFill>
                  <a:srgbClr val="53666E"/>
                </a:solidFill>
                <a:latin typeface="Noto Sans"/>
                <a:ea typeface="Noto Sans"/>
                <a:cs typeface="Noto Sans"/>
                <a:sym typeface="Noto Sans"/>
              </a:rPr>
              <a:t> 수행한 조치, 남은 작업이</a:t>
            </a:r>
          </a:p>
        </p:txBody>
      </p:sp>
      <p:sp>
        <p:nvSpPr>
          <p:cNvPr name="TextBox 38" id="38"/>
          <p:cNvSpPr txBox="true"/>
          <p:nvPr/>
        </p:nvSpPr>
        <p:spPr>
          <a:xfrm rot="0">
            <a:off x="1933575" y="6705600"/>
            <a:ext cx="6477000" cy="257175"/>
          </a:xfrm>
          <a:prstGeom prst="rect">
            <a:avLst/>
          </a:prstGeom>
        </p:spPr>
        <p:txBody>
          <a:bodyPr anchor="t" rtlCol="false" tIns="0" lIns="0" bIns="0" rIns="0">
            <a:spAutoFit/>
          </a:bodyPr>
          <a:lstStyle/>
          <a:p>
            <a:pPr algn="l">
              <a:lnSpc>
                <a:spcPts val="2160"/>
              </a:lnSpc>
              <a:spcBef>
                <a:spcPct val="0"/>
              </a:spcBef>
            </a:pPr>
            <a:r>
              <a:rPr lang="en-US" sz="1800">
                <a:solidFill>
                  <a:srgbClr val="53666E"/>
                </a:solidFill>
                <a:latin typeface="Noto Sans"/>
                <a:ea typeface="Noto Sans"/>
                <a:cs typeface="Noto Sans"/>
                <a:sym typeface="Noto Sans"/>
              </a:rPr>
              <a:t>전달되지 않아 다음 교대가 다시 파악해야</a:t>
            </a:r>
            <a:r>
              <a:rPr lang="en-US" sz="1800">
                <a:solidFill>
                  <a:srgbClr val="53666E"/>
                </a:solidFill>
                <a:latin typeface="Noto Sans"/>
                <a:ea typeface="Noto Sans"/>
                <a:cs typeface="Noto Sans"/>
                <a:sym typeface="Noto Sans"/>
              </a:rPr>
              <a:t> 합니다.</a:t>
            </a:r>
          </a:p>
        </p:txBody>
      </p:sp>
      <p:sp>
        <p:nvSpPr>
          <p:cNvPr name="TextBox 39" id="39"/>
          <p:cNvSpPr txBox="true"/>
          <p:nvPr/>
        </p:nvSpPr>
        <p:spPr>
          <a:xfrm rot="0">
            <a:off x="10416083" y="5876925"/>
            <a:ext cx="7048500" cy="352425"/>
          </a:xfrm>
          <a:prstGeom prst="rect">
            <a:avLst/>
          </a:prstGeom>
        </p:spPr>
        <p:txBody>
          <a:bodyPr anchor="t" rtlCol="false" tIns="0" lIns="0" bIns="0" rIns="0">
            <a:spAutoFit/>
          </a:bodyPr>
          <a:lstStyle/>
          <a:p>
            <a:pPr algn="l">
              <a:lnSpc>
                <a:spcPts val="2879"/>
              </a:lnSpc>
              <a:spcBef>
                <a:spcPct val="0"/>
              </a:spcBef>
            </a:pPr>
            <a:r>
              <a:rPr lang="en-US" b="true" sz="2400">
                <a:solidFill>
                  <a:srgbClr val="16796C"/>
                </a:solidFill>
                <a:latin typeface="Noto Sans Bold"/>
                <a:ea typeface="Noto Sans Bold"/>
                <a:cs typeface="Noto Sans Bold"/>
                <a:sym typeface="Noto Sans Bold"/>
              </a:rPr>
              <a:t>상태·조치</a:t>
            </a:r>
            <a:r>
              <a:rPr lang="en-US" b="true" sz="2400">
                <a:solidFill>
                  <a:srgbClr val="16796C"/>
                </a:solidFill>
                <a:latin typeface="Noto Sans Bold"/>
                <a:ea typeface="Noto Sans Bold"/>
                <a:cs typeface="Noto Sans Bold"/>
                <a:sym typeface="Noto Sans Bold"/>
              </a:rPr>
              <a:t> 기록과 인계</a:t>
            </a:r>
          </a:p>
        </p:txBody>
      </p:sp>
      <p:sp>
        <p:nvSpPr>
          <p:cNvPr name="TextBox 40" id="40"/>
          <p:cNvSpPr txBox="true"/>
          <p:nvPr/>
        </p:nvSpPr>
        <p:spPr>
          <a:xfrm rot="0">
            <a:off x="10416083" y="6219825"/>
            <a:ext cx="7048500" cy="257175"/>
          </a:xfrm>
          <a:prstGeom prst="rect">
            <a:avLst/>
          </a:prstGeom>
        </p:spPr>
        <p:txBody>
          <a:bodyPr anchor="t" rtlCol="false" tIns="0" lIns="0" bIns="0" rIns="0">
            <a:spAutoFit/>
          </a:bodyPr>
          <a:lstStyle/>
          <a:p>
            <a:pPr algn="l">
              <a:lnSpc>
                <a:spcPts val="2160"/>
              </a:lnSpc>
              <a:spcBef>
                <a:spcPct val="0"/>
              </a:spcBef>
            </a:pPr>
            <a:r>
              <a:rPr lang="en-US" sz="1800">
                <a:solidFill>
                  <a:srgbClr val="53666E"/>
                </a:solidFill>
                <a:latin typeface="Noto Sans"/>
                <a:ea typeface="Noto Sans"/>
                <a:cs typeface="Noto Sans"/>
                <a:sym typeface="Noto Sans"/>
              </a:rPr>
              <a:t>당시 상태와</a:t>
            </a:r>
            <a:r>
              <a:rPr lang="en-US" sz="1800">
                <a:solidFill>
                  <a:srgbClr val="53666E"/>
                </a:solidFill>
                <a:latin typeface="Noto Sans"/>
                <a:ea typeface="Noto Sans"/>
                <a:cs typeface="Noto Sans"/>
                <a:sym typeface="Noto Sans"/>
              </a:rPr>
              <a:t> 작업 기록을 함께 남겨 전달</a:t>
            </a:r>
          </a:p>
        </p:txBody>
      </p:sp>
      <p:sp>
        <p:nvSpPr>
          <p:cNvPr name="TextBox 41" id="41"/>
          <p:cNvSpPr txBox="true"/>
          <p:nvPr/>
        </p:nvSpPr>
        <p:spPr>
          <a:xfrm rot="0">
            <a:off x="1232535" y="7381875"/>
            <a:ext cx="7143750" cy="352425"/>
          </a:xfrm>
          <a:prstGeom prst="rect">
            <a:avLst/>
          </a:prstGeom>
        </p:spPr>
        <p:txBody>
          <a:bodyPr anchor="t" rtlCol="false" tIns="0" lIns="0" bIns="0" rIns="0">
            <a:spAutoFit/>
          </a:bodyPr>
          <a:lstStyle/>
          <a:p>
            <a:pPr algn="l" marL="0" indent="0" lvl="0">
              <a:lnSpc>
                <a:spcPts val="2879"/>
              </a:lnSpc>
              <a:spcBef>
                <a:spcPct val="0"/>
              </a:spcBef>
            </a:pPr>
            <a:r>
              <a:rPr lang="en-US" b="true" sz="2400" strike="noStrike" u="none">
                <a:solidFill>
                  <a:srgbClr val="203238"/>
                </a:solidFill>
                <a:latin typeface="Noto Sans Bold"/>
                <a:ea typeface="Noto Sans Bold"/>
                <a:cs typeface="Noto Sans Bold"/>
                <a:sym typeface="Noto Sans Bold"/>
              </a:rPr>
              <a:t>04   외부 연결에 의존하는 AI</a:t>
            </a:r>
          </a:p>
        </p:txBody>
      </p:sp>
      <p:sp>
        <p:nvSpPr>
          <p:cNvPr name="TextBox 42" id="42"/>
          <p:cNvSpPr txBox="true"/>
          <p:nvPr/>
        </p:nvSpPr>
        <p:spPr>
          <a:xfrm rot="0">
            <a:off x="1933575" y="7867650"/>
            <a:ext cx="6477000" cy="257175"/>
          </a:xfrm>
          <a:prstGeom prst="rect">
            <a:avLst/>
          </a:prstGeom>
        </p:spPr>
        <p:txBody>
          <a:bodyPr anchor="t" rtlCol="false" tIns="0" lIns="0" bIns="0" rIns="0">
            <a:spAutoFit/>
          </a:bodyPr>
          <a:lstStyle/>
          <a:p>
            <a:pPr algn="l">
              <a:lnSpc>
                <a:spcPts val="2160"/>
              </a:lnSpc>
              <a:spcBef>
                <a:spcPct val="0"/>
              </a:spcBef>
            </a:pPr>
            <a:r>
              <a:rPr lang="en-US" sz="1800">
                <a:solidFill>
                  <a:srgbClr val="53666E"/>
                </a:solidFill>
                <a:latin typeface="Noto Sans"/>
                <a:ea typeface="Noto Sans"/>
                <a:cs typeface="Noto Sans"/>
                <a:sym typeface="Noto Sans"/>
              </a:rPr>
              <a:t>네트워크 장애나 지연이</a:t>
            </a:r>
            <a:r>
              <a:rPr lang="en-US" sz="1800">
                <a:solidFill>
                  <a:srgbClr val="53666E"/>
                </a:solidFill>
                <a:latin typeface="Noto Sans"/>
                <a:ea typeface="Noto Sans"/>
                <a:cs typeface="Noto Sans"/>
                <a:sym typeface="Noto Sans"/>
              </a:rPr>
              <a:t> 발생하면</a:t>
            </a:r>
          </a:p>
        </p:txBody>
      </p:sp>
      <p:sp>
        <p:nvSpPr>
          <p:cNvPr name="TextBox 43" id="43"/>
          <p:cNvSpPr txBox="true"/>
          <p:nvPr/>
        </p:nvSpPr>
        <p:spPr>
          <a:xfrm rot="0">
            <a:off x="1933575" y="8210550"/>
            <a:ext cx="6477000" cy="257175"/>
          </a:xfrm>
          <a:prstGeom prst="rect">
            <a:avLst/>
          </a:prstGeom>
        </p:spPr>
        <p:txBody>
          <a:bodyPr anchor="t" rtlCol="false" tIns="0" lIns="0" bIns="0" rIns="0">
            <a:spAutoFit/>
          </a:bodyPr>
          <a:lstStyle/>
          <a:p>
            <a:pPr algn="l">
              <a:lnSpc>
                <a:spcPts val="2160"/>
              </a:lnSpc>
              <a:spcBef>
                <a:spcPct val="0"/>
              </a:spcBef>
            </a:pPr>
            <a:r>
              <a:rPr lang="en-US" sz="1800">
                <a:solidFill>
                  <a:srgbClr val="53666E"/>
                </a:solidFill>
                <a:latin typeface="Noto Sans"/>
                <a:ea typeface="Noto Sans"/>
                <a:cs typeface="Noto Sans"/>
                <a:sym typeface="Noto Sans"/>
              </a:rPr>
              <a:t>필요한 순간에 AI 지원이 끊길</a:t>
            </a:r>
            <a:r>
              <a:rPr lang="en-US" sz="1800">
                <a:solidFill>
                  <a:srgbClr val="53666E"/>
                </a:solidFill>
                <a:latin typeface="Noto Sans"/>
                <a:ea typeface="Noto Sans"/>
                <a:cs typeface="Noto Sans"/>
                <a:sym typeface="Noto Sans"/>
              </a:rPr>
              <a:t> 수 있습니다.</a:t>
            </a:r>
          </a:p>
        </p:txBody>
      </p:sp>
      <p:sp>
        <p:nvSpPr>
          <p:cNvPr name="TextBox 44" id="44"/>
          <p:cNvSpPr txBox="true"/>
          <p:nvPr/>
        </p:nvSpPr>
        <p:spPr>
          <a:xfrm rot="0">
            <a:off x="10416083" y="7381875"/>
            <a:ext cx="7048500" cy="352425"/>
          </a:xfrm>
          <a:prstGeom prst="rect">
            <a:avLst/>
          </a:prstGeom>
        </p:spPr>
        <p:txBody>
          <a:bodyPr anchor="t" rtlCol="false" tIns="0" lIns="0" bIns="0" rIns="0">
            <a:spAutoFit/>
          </a:bodyPr>
          <a:lstStyle/>
          <a:p>
            <a:pPr algn="l">
              <a:lnSpc>
                <a:spcPts val="2879"/>
              </a:lnSpc>
              <a:spcBef>
                <a:spcPct val="0"/>
              </a:spcBef>
            </a:pPr>
            <a:r>
              <a:rPr lang="en-US" b="true" sz="2400">
                <a:solidFill>
                  <a:srgbClr val="16796C"/>
                </a:solidFill>
                <a:latin typeface="Noto Sans Bold"/>
                <a:ea typeface="Noto Sans Bold"/>
                <a:cs typeface="Noto Sans Bold"/>
                <a:sym typeface="Noto Sans Bold"/>
              </a:rPr>
              <a:t>온디바이</a:t>
            </a:r>
            <a:r>
              <a:rPr lang="en-US" b="true" sz="2400">
                <a:solidFill>
                  <a:srgbClr val="16796C"/>
                </a:solidFill>
                <a:latin typeface="Noto Sans Bold"/>
                <a:ea typeface="Noto Sans Bold"/>
                <a:cs typeface="Noto Sans Bold"/>
                <a:sym typeface="Noto Sans Bold"/>
              </a:rPr>
              <a:t>스 AI</a:t>
            </a:r>
          </a:p>
        </p:txBody>
      </p:sp>
      <p:sp>
        <p:nvSpPr>
          <p:cNvPr name="TextBox 45" id="45"/>
          <p:cNvSpPr txBox="true"/>
          <p:nvPr/>
        </p:nvSpPr>
        <p:spPr>
          <a:xfrm rot="0">
            <a:off x="10416083" y="7867650"/>
            <a:ext cx="7048500" cy="257175"/>
          </a:xfrm>
          <a:prstGeom prst="rect">
            <a:avLst/>
          </a:prstGeom>
        </p:spPr>
        <p:txBody>
          <a:bodyPr anchor="t" rtlCol="false" tIns="0" lIns="0" bIns="0" rIns="0">
            <a:spAutoFit/>
          </a:bodyPr>
          <a:lstStyle/>
          <a:p>
            <a:pPr algn="l">
              <a:lnSpc>
                <a:spcPts val="2160"/>
              </a:lnSpc>
              <a:spcBef>
                <a:spcPct val="0"/>
              </a:spcBef>
            </a:pPr>
            <a:r>
              <a:rPr lang="en-US" sz="1800">
                <a:solidFill>
                  <a:srgbClr val="53666E"/>
                </a:solidFill>
                <a:latin typeface="Noto Sans"/>
                <a:ea typeface="Noto Sans"/>
                <a:cs typeface="Noto Sans"/>
                <a:sym typeface="Noto Sans"/>
              </a:rPr>
              <a:t>외부 API 없이 핵심 검색·답변</a:t>
            </a:r>
            <a:r>
              <a:rPr lang="en-US" sz="1800">
                <a:solidFill>
                  <a:srgbClr val="53666E"/>
                </a:solidFill>
                <a:latin typeface="Noto Sans"/>
                <a:ea typeface="Noto Sans"/>
                <a:cs typeface="Noto Sans"/>
                <a:sym typeface="Noto Sans"/>
              </a:rPr>
              <a:t> 실행</a:t>
            </a:r>
          </a:p>
        </p:txBody>
      </p:sp>
      <p:grpSp>
        <p:nvGrpSpPr>
          <p:cNvPr name="Group 46" id="46"/>
          <p:cNvGrpSpPr/>
          <p:nvPr/>
        </p:nvGrpSpPr>
        <p:grpSpPr>
          <a:xfrm rot="0">
            <a:off x="822960" y="438912"/>
            <a:ext cx="4114800" cy="384048"/>
            <a:chOff x="0" y="0"/>
            <a:chExt cx="5486400" cy="512064"/>
          </a:xfrm>
        </p:grpSpPr>
        <p:sp>
          <p:nvSpPr>
            <p:cNvPr name="Freeform 47" id="47"/>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4">
                <a:alphaModFix amt="0"/>
              </a:blip>
              <a:stretch>
                <a:fillRect l="0" t="-158768" r="0" b="-158768"/>
              </a:stretch>
            </a:blipFill>
          </p:spPr>
        </p:sp>
        <p:sp>
          <p:nvSpPr>
            <p:cNvPr name="TextBox 48" id="48"/>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01  프로젝트 개요</a:t>
              </a:r>
            </a:p>
          </p:txBody>
        </p:sp>
      </p:grpSp>
      <p:grpSp>
        <p:nvGrpSpPr>
          <p:cNvPr name="Group 49" id="49"/>
          <p:cNvGrpSpPr/>
          <p:nvPr/>
        </p:nvGrpSpPr>
        <p:grpSpPr>
          <a:xfrm rot="0">
            <a:off x="822960" y="822960"/>
            <a:ext cx="16642080" cy="850392"/>
            <a:chOff x="0" y="0"/>
            <a:chExt cx="22189440" cy="1133856"/>
          </a:xfrm>
        </p:grpSpPr>
        <p:sp>
          <p:nvSpPr>
            <p:cNvPr name="Freeform 50" id="50"/>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4">
                <a:alphaModFix amt="0"/>
              </a:blip>
              <a:stretch>
                <a:fillRect l="0" t="-331309" r="2" b="-331309"/>
              </a:stretch>
            </a:blipFill>
          </p:spPr>
        </p:sp>
        <p:sp>
          <p:nvSpPr>
            <p:cNvPr name="TextBox 51" id="51"/>
            <p:cNvSpPr txBox="true"/>
            <p:nvPr/>
          </p:nvSpPr>
          <p:spPr>
            <a:xfrm>
              <a:off x="0" y="-9525"/>
              <a:ext cx="22189440" cy="1143381"/>
            </a:xfrm>
            <a:prstGeom prst="rect">
              <a:avLst/>
            </a:prstGeom>
          </p:spPr>
          <p:txBody>
            <a:bodyPr anchor="ctr" rtlCol="false" tIns="0" lIns="0" bIns="0" rIns="0"/>
            <a:lstStyle/>
            <a:p>
              <a:pPr algn="l" marL="0" indent="0" lvl="0">
                <a:lnSpc>
                  <a:spcPts val="4500"/>
                </a:lnSpc>
                <a:spcBef>
                  <a:spcPct val="0"/>
                </a:spcBef>
              </a:pPr>
              <a:r>
                <a:rPr lang="en-US" b="true" sz="3750" strike="noStrike" u="none">
                  <a:solidFill>
                    <a:srgbClr val="203238"/>
                  </a:solidFill>
                  <a:latin typeface="Noto Sans Bold"/>
                  <a:ea typeface="Noto Sans Bold"/>
                  <a:cs typeface="Noto Sans Bold"/>
                  <a:sym typeface="Noto Sans Bold"/>
                </a:rPr>
                <a:t>02  </a:t>
              </a:r>
              <a:r>
                <a:rPr lang="en-US" b="true" sz="3750" strike="noStrike" u="none">
                  <a:solidFill>
                    <a:srgbClr val="203238"/>
                  </a:solidFill>
                  <a:latin typeface="Noto Sans Bold"/>
                  <a:ea typeface="Noto Sans Bold"/>
                  <a:cs typeface="Noto Sans Bold"/>
                  <a:sym typeface="Noto Sans Bold"/>
                </a:rPr>
                <a:t>문제정의</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03784"/>
            <a:ext cx="8229600" cy="418624"/>
            <a:chOff x="0" y="0"/>
            <a:chExt cx="10972800" cy="558165"/>
          </a:xfrm>
        </p:grpSpPr>
        <p:sp>
          <p:nvSpPr>
            <p:cNvPr name="Freeform 3" id="3"/>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3">
                <a:alphaModFix amt="0"/>
              </a:blip>
              <a:stretch>
                <a:fillRect l="0" t="-333050" r="0" b="-333050"/>
              </a:stretch>
            </a:blipFill>
          </p:spPr>
        </p:sp>
        <p:sp>
          <p:nvSpPr>
            <p:cNvPr name="TextBox 4" id="4"/>
            <p:cNvSpPr txBox="true"/>
            <p:nvPr/>
          </p:nvSpPr>
          <p:spPr>
            <a:xfrm>
              <a:off x="0" y="-9525"/>
              <a:ext cx="10972800" cy="567690"/>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5" id="5"/>
          <p:cNvGrpSpPr/>
          <p:nvPr/>
        </p:nvGrpSpPr>
        <p:grpSpPr>
          <a:xfrm rot="0">
            <a:off x="822960" y="438912"/>
            <a:ext cx="4114800" cy="384048"/>
            <a:chOff x="0" y="0"/>
            <a:chExt cx="5486400" cy="512064"/>
          </a:xfrm>
        </p:grpSpPr>
        <p:sp>
          <p:nvSpPr>
            <p:cNvPr name="Freeform 6" id="6"/>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3">
                <a:alphaModFix amt="0"/>
              </a:blip>
              <a:stretch>
                <a:fillRect l="0" t="-158768" r="0" b="-158768"/>
              </a:stretch>
            </a:blipFill>
          </p:spPr>
        </p:sp>
        <p:sp>
          <p:nvSpPr>
            <p:cNvPr name="TextBox 7" id="7"/>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01  프로젝트 개요</a:t>
              </a:r>
            </a:p>
          </p:txBody>
        </p:sp>
      </p:grpSp>
      <p:grpSp>
        <p:nvGrpSpPr>
          <p:cNvPr name="Group 8" id="8"/>
          <p:cNvGrpSpPr/>
          <p:nvPr/>
        </p:nvGrpSpPr>
        <p:grpSpPr>
          <a:xfrm rot="0">
            <a:off x="822960" y="1762125"/>
            <a:ext cx="15621000" cy="619125"/>
            <a:chOff x="0" y="0"/>
            <a:chExt cx="20828000" cy="825500"/>
          </a:xfrm>
        </p:grpSpPr>
        <p:sp>
          <p:nvSpPr>
            <p:cNvPr name="Freeform 9" id="9"/>
            <p:cNvSpPr/>
            <p:nvPr/>
          </p:nvSpPr>
          <p:spPr>
            <a:xfrm flipH="false" flipV="false" rot="0">
              <a:off x="0" y="0"/>
              <a:ext cx="20828000" cy="825500"/>
            </a:xfrm>
            <a:custGeom>
              <a:avLst/>
              <a:gdLst/>
              <a:ahLst/>
              <a:cxnLst/>
              <a:rect r="r" b="b" t="t" l="l"/>
              <a:pathLst>
                <a:path h="825500" w="20828000">
                  <a:moveTo>
                    <a:pt x="0" y="0"/>
                  </a:moveTo>
                  <a:lnTo>
                    <a:pt x="20828000" y="0"/>
                  </a:lnTo>
                  <a:lnTo>
                    <a:pt x="20828000" y="825500"/>
                  </a:lnTo>
                  <a:lnTo>
                    <a:pt x="0" y="825500"/>
                  </a:lnTo>
                  <a:close/>
                </a:path>
              </a:pathLst>
            </a:custGeom>
            <a:blipFill>
              <a:blip r:embed="rId3">
                <a:alphaModFix amt="0"/>
              </a:blip>
              <a:stretch>
                <a:fillRect l="0" t="-477797" r="-6533" b="-469689"/>
              </a:stretch>
            </a:blipFill>
          </p:spPr>
        </p:sp>
        <p:sp>
          <p:nvSpPr>
            <p:cNvPr name="TextBox 10" id="10"/>
            <p:cNvSpPr txBox="true"/>
            <p:nvPr/>
          </p:nvSpPr>
          <p:spPr>
            <a:xfrm>
              <a:off x="0" y="9525"/>
              <a:ext cx="20828000" cy="815975"/>
            </a:xfrm>
            <a:prstGeom prst="rect">
              <a:avLst/>
            </a:prstGeom>
          </p:spPr>
          <p:txBody>
            <a:bodyPr anchor="ctr" rtlCol="false" tIns="0" lIns="0" bIns="0" rIns="0"/>
            <a:lstStyle/>
            <a:p>
              <a:pPr algn="l" marL="0" indent="0" lvl="0">
                <a:lnSpc>
                  <a:spcPts val="2878"/>
                </a:lnSpc>
                <a:spcBef>
                  <a:spcPct val="0"/>
                </a:spcBef>
              </a:pPr>
              <a:r>
                <a:rPr lang="en-US" sz="2400" strike="noStrike" u="none">
                  <a:solidFill>
                    <a:srgbClr val="53666E"/>
                  </a:solidFill>
                  <a:latin typeface="Noto Sans"/>
                  <a:ea typeface="Noto Sans"/>
                  <a:cs typeface="Noto Sans"/>
                  <a:sym typeface="Noto Sans"/>
                </a:rPr>
                <a:t>현장 데이터 확보의 제약을, 원문 근거와 공통 형식으로 보완</a:t>
              </a:r>
            </a:p>
          </p:txBody>
        </p:sp>
      </p:grpSp>
      <p:sp>
        <p:nvSpPr>
          <p:cNvPr name="Freeform 11" id="11"/>
          <p:cNvSpPr/>
          <p:nvPr/>
        </p:nvSpPr>
        <p:spPr>
          <a:xfrm flipH="false" flipV="false" rot="0">
            <a:off x="680491" y="2791849"/>
            <a:ext cx="16927018" cy="2818376"/>
          </a:xfrm>
          <a:custGeom>
            <a:avLst/>
            <a:gdLst/>
            <a:ahLst/>
            <a:cxnLst/>
            <a:rect r="r" b="b" t="t" l="l"/>
            <a:pathLst>
              <a:path h="2818376" w="16927018">
                <a:moveTo>
                  <a:pt x="0" y="0"/>
                </a:moveTo>
                <a:lnTo>
                  <a:pt x="16927018" y="0"/>
                </a:lnTo>
                <a:lnTo>
                  <a:pt x="16927018" y="2818376"/>
                </a:lnTo>
                <a:lnTo>
                  <a:pt x="0" y="28183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1228725" y="3076575"/>
            <a:ext cx="4762500" cy="619125"/>
            <a:chOff x="0" y="0"/>
            <a:chExt cx="6350000" cy="825500"/>
          </a:xfrm>
        </p:grpSpPr>
        <p:sp>
          <p:nvSpPr>
            <p:cNvPr name="Freeform 13" id="13"/>
            <p:cNvSpPr/>
            <p:nvPr/>
          </p:nvSpPr>
          <p:spPr>
            <a:xfrm flipH="false" flipV="false" rot="0">
              <a:off x="0" y="0"/>
              <a:ext cx="6350000" cy="825500"/>
            </a:xfrm>
            <a:custGeom>
              <a:avLst/>
              <a:gdLst/>
              <a:ahLst/>
              <a:cxnLst/>
              <a:rect r="r" b="b" t="t" l="l"/>
              <a:pathLst>
                <a:path h="825500" w="6350000">
                  <a:moveTo>
                    <a:pt x="0" y="0"/>
                  </a:moveTo>
                  <a:lnTo>
                    <a:pt x="6350000" y="0"/>
                  </a:lnTo>
                  <a:lnTo>
                    <a:pt x="6350000" y="825500"/>
                  </a:lnTo>
                  <a:lnTo>
                    <a:pt x="0" y="825500"/>
                  </a:lnTo>
                  <a:close/>
                </a:path>
              </a:pathLst>
            </a:custGeom>
            <a:blipFill>
              <a:blip r:embed="rId3">
                <a:alphaModFix amt="0"/>
              </a:blip>
              <a:stretch>
                <a:fillRect l="0" t="-186806" r="-49759" b="-162129"/>
              </a:stretch>
            </a:blipFill>
          </p:spPr>
        </p:sp>
        <p:sp>
          <p:nvSpPr>
            <p:cNvPr name="TextBox 14" id="14"/>
            <p:cNvSpPr txBox="true"/>
            <p:nvPr/>
          </p:nvSpPr>
          <p:spPr>
            <a:xfrm>
              <a:off x="0" y="0"/>
              <a:ext cx="6350000" cy="825500"/>
            </a:xfrm>
            <a:prstGeom prst="rect">
              <a:avLst/>
            </a:prstGeom>
          </p:spPr>
          <p:txBody>
            <a:bodyPr anchor="ctr" rtlCol="false" tIns="0" lIns="0" bIns="0" rIns="0"/>
            <a:lstStyle/>
            <a:p>
              <a:pPr algn="l" marL="0" indent="0" lvl="0">
                <a:lnSpc>
                  <a:spcPts val="3060"/>
                </a:lnSpc>
                <a:spcBef>
                  <a:spcPct val="0"/>
                </a:spcBef>
              </a:pPr>
              <a:r>
                <a:rPr lang="en-US" b="true" sz="2550" strike="noStrike" u="none">
                  <a:solidFill>
                    <a:srgbClr val="203238"/>
                  </a:solidFill>
                  <a:latin typeface="Noto Sans Bold"/>
                  <a:ea typeface="Noto Sans Bold"/>
                  <a:cs typeface="Noto Sans Bold"/>
                  <a:sym typeface="Noto Sans Bold"/>
                </a:rPr>
                <a:t>01  근거 선정</a:t>
              </a:r>
            </a:p>
          </p:txBody>
        </p:sp>
      </p:grpSp>
      <p:grpSp>
        <p:nvGrpSpPr>
          <p:cNvPr name="Group 15" id="15"/>
          <p:cNvGrpSpPr/>
          <p:nvPr/>
        </p:nvGrpSpPr>
        <p:grpSpPr>
          <a:xfrm rot="0">
            <a:off x="7048500" y="3076575"/>
            <a:ext cx="4953000" cy="619125"/>
            <a:chOff x="0" y="0"/>
            <a:chExt cx="6604000" cy="825500"/>
          </a:xfrm>
        </p:grpSpPr>
        <p:sp>
          <p:nvSpPr>
            <p:cNvPr name="Freeform 16" id="16"/>
            <p:cNvSpPr/>
            <p:nvPr/>
          </p:nvSpPr>
          <p:spPr>
            <a:xfrm flipH="false" flipV="false" rot="0">
              <a:off x="0" y="0"/>
              <a:ext cx="6604000" cy="825500"/>
            </a:xfrm>
            <a:custGeom>
              <a:avLst/>
              <a:gdLst/>
              <a:ahLst/>
              <a:cxnLst/>
              <a:rect r="r" b="b" t="t" l="l"/>
              <a:pathLst>
                <a:path h="825500" w="6604000">
                  <a:moveTo>
                    <a:pt x="0" y="0"/>
                  </a:moveTo>
                  <a:lnTo>
                    <a:pt x="6604000" y="0"/>
                  </a:lnTo>
                  <a:lnTo>
                    <a:pt x="6604000" y="825500"/>
                  </a:lnTo>
                  <a:lnTo>
                    <a:pt x="0" y="825500"/>
                  </a:lnTo>
                  <a:close/>
                </a:path>
              </a:pathLst>
            </a:custGeom>
            <a:blipFill>
              <a:blip r:embed="rId3">
                <a:alphaModFix amt="0"/>
              </a:blip>
              <a:stretch>
                <a:fillRect l="-9642" t="0" r="73742" b="-11923"/>
              </a:stretch>
            </a:blipFill>
          </p:spPr>
        </p:sp>
        <p:sp>
          <p:nvSpPr>
            <p:cNvPr name="TextBox 17" id="17"/>
            <p:cNvSpPr txBox="true"/>
            <p:nvPr/>
          </p:nvSpPr>
          <p:spPr>
            <a:xfrm>
              <a:off x="0" y="0"/>
              <a:ext cx="6604000" cy="825500"/>
            </a:xfrm>
            <a:prstGeom prst="rect">
              <a:avLst/>
            </a:prstGeom>
          </p:spPr>
          <p:txBody>
            <a:bodyPr anchor="ctr" rtlCol="false" tIns="0" lIns="0" bIns="0" rIns="0"/>
            <a:lstStyle/>
            <a:p>
              <a:pPr algn="l" marL="0" indent="0" lvl="0">
                <a:lnSpc>
                  <a:spcPts val="3060"/>
                </a:lnSpc>
                <a:spcBef>
                  <a:spcPct val="0"/>
                </a:spcBef>
              </a:pPr>
              <a:r>
                <a:rPr lang="en-US" b="true" sz="2550" strike="noStrike" u="none">
                  <a:solidFill>
                    <a:srgbClr val="203238"/>
                  </a:solidFill>
                  <a:latin typeface="Noto Sans Bold"/>
                  <a:ea typeface="Noto Sans Bold"/>
                  <a:cs typeface="Noto Sans Bold"/>
                  <a:sym typeface="Noto Sans Bold"/>
                </a:rPr>
                <a:t>02  공통 지식 스키마</a:t>
              </a:r>
            </a:p>
          </p:txBody>
        </p:sp>
      </p:grpSp>
      <p:grpSp>
        <p:nvGrpSpPr>
          <p:cNvPr name="Group 18" id="18"/>
          <p:cNvGrpSpPr/>
          <p:nvPr/>
        </p:nvGrpSpPr>
        <p:grpSpPr>
          <a:xfrm rot="0">
            <a:off x="7048500" y="3724275"/>
            <a:ext cx="4953000" cy="952500"/>
            <a:chOff x="0" y="0"/>
            <a:chExt cx="6604000" cy="1270000"/>
          </a:xfrm>
        </p:grpSpPr>
        <p:sp>
          <p:nvSpPr>
            <p:cNvPr name="Freeform 19" id="19"/>
            <p:cNvSpPr/>
            <p:nvPr/>
          </p:nvSpPr>
          <p:spPr>
            <a:xfrm flipH="false" flipV="false" rot="0">
              <a:off x="0" y="0"/>
              <a:ext cx="6604000" cy="1270000"/>
            </a:xfrm>
            <a:custGeom>
              <a:avLst/>
              <a:gdLst/>
              <a:ahLst/>
              <a:cxnLst/>
              <a:rect r="r" b="b" t="t" l="l"/>
              <a:pathLst>
                <a:path h="1270000" w="6604000">
                  <a:moveTo>
                    <a:pt x="0" y="0"/>
                  </a:moveTo>
                  <a:lnTo>
                    <a:pt x="6604000" y="0"/>
                  </a:lnTo>
                  <a:lnTo>
                    <a:pt x="6604000" y="1270000"/>
                  </a:lnTo>
                  <a:lnTo>
                    <a:pt x="0" y="1270000"/>
                  </a:lnTo>
                  <a:close/>
                </a:path>
              </a:pathLst>
            </a:custGeom>
            <a:blipFill>
              <a:blip r:embed="rId3">
                <a:alphaModFix amt="0"/>
              </a:blip>
              <a:stretch>
                <a:fillRect l="0" t="-28534" r="36307" b="-534"/>
              </a:stretch>
            </a:blipFill>
          </p:spPr>
        </p:sp>
        <p:sp>
          <p:nvSpPr>
            <p:cNvPr name="TextBox 20" id="20"/>
            <p:cNvSpPr txBox="true"/>
            <p:nvPr/>
          </p:nvSpPr>
          <p:spPr>
            <a:xfrm>
              <a:off x="0" y="0"/>
              <a:ext cx="6604000" cy="1270000"/>
            </a:xfrm>
            <a:prstGeom prst="rect">
              <a:avLst/>
            </a:prstGeom>
          </p:spPr>
          <p:txBody>
            <a:bodyPr anchor="ctr" rtlCol="false" tIns="0" lIns="0" bIns="0" rIns="0"/>
            <a:lstStyle/>
            <a:p>
              <a:pPr algn="l" marL="0" indent="0" lvl="0">
                <a:lnSpc>
                  <a:spcPts val="2610"/>
                </a:lnSpc>
                <a:spcBef>
                  <a:spcPct val="0"/>
                </a:spcBef>
              </a:pPr>
              <a:r>
                <a:rPr lang="en-US" sz="2175" strike="noStrike" u="none">
                  <a:solidFill>
                    <a:srgbClr val="53666E"/>
                  </a:solidFill>
                  <a:latin typeface="Noto Sans"/>
                  <a:ea typeface="Noto Sans"/>
                  <a:cs typeface="Noto Sans"/>
                  <a:sym typeface="Noto Sans"/>
                </a:rPr>
                <a:t>적용 조건 · 판단 근거</a:t>
              </a:r>
            </a:p>
            <a:p>
              <a:pPr algn="l" marL="0" indent="0" lvl="0">
                <a:lnSpc>
                  <a:spcPts val="2610"/>
                </a:lnSpc>
                <a:spcBef>
                  <a:spcPct val="0"/>
                </a:spcBef>
              </a:pPr>
              <a:r>
                <a:rPr lang="en-US" sz="2175" strike="noStrike" u="none">
                  <a:solidFill>
                    <a:srgbClr val="53666E"/>
                  </a:solidFill>
                  <a:latin typeface="Noto Sans"/>
                  <a:ea typeface="Noto Sans"/>
                  <a:cs typeface="Noto Sans"/>
                  <a:sym typeface="Noto Sans"/>
                </a:rPr>
                <a:t>조치 절차 · 안전 주의</a:t>
              </a:r>
            </a:p>
          </p:txBody>
        </p:sp>
      </p:grpSp>
      <p:grpSp>
        <p:nvGrpSpPr>
          <p:cNvPr name="Group 21" id="21"/>
          <p:cNvGrpSpPr/>
          <p:nvPr/>
        </p:nvGrpSpPr>
        <p:grpSpPr>
          <a:xfrm rot="0">
            <a:off x="7048500" y="4857750"/>
            <a:ext cx="4953000" cy="619125"/>
            <a:chOff x="0" y="0"/>
            <a:chExt cx="6604000" cy="825500"/>
          </a:xfrm>
        </p:grpSpPr>
        <p:sp>
          <p:nvSpPr>
            <p:cNvPr name="Freeform 22" id="22"/>
            <p:cNvSpPr/>
            <p:nvPr/>
          </p:nvSpPr>
          <p:spPr>
            <a:xfrm flipH="false" flipV="false" rot="0">
              <a:off x="0" y="0"/>
              <a:ext cx="6604000" cy="825500"/>
            </a:xfrm>
            <a:custGeom>
              <a:avLst/>
              <a:gdLst/>
              <a:ahLst/>
              <a:cxnLst/>
              <a:rect r="r" b="b" t="t" l="l"/>
              <a:pathLst>
                <a:path h="825500" w="6604000">
                  <a:moveTo>
                    <a:pt x="0" y="0"/>
                  </a:moveTo>
                  <a:lnTo>
                    <a:pt x="6604000" y="0"/>
                  </a:lnTo>
                  <a:lnTo>
                    <a:pt x="6604000" y="825500"/>
                  </a:lnTo>
                  <a:lnTo>
                    <a:pt x="0" y="825500"/>
                  </a:lnTo>
                  <a:close/>
                </a:path>
              </a:pathLst>
            </a:custGeom>
            <a:blipFill>
              <a:blip r:embed="rId3">
                <a:alphaModFix amt="0"/>
              </a:blip>
              <a:stretch>
                <a:fillRect l="0" t="-79150" r="13323" b="-91073"/>
              </a:stretch>
            </a:blipFill>
          </p:spPr>
        </p:sp>
        <p:sp>
          <p:nvSpPr>
            <p:cNvPr name="TextBox 23" id="23"/>
            <p:cNvSpPr txBox="true"/>
            <p:nvPr/>
          </p:nvSpPr>
          <p:spPr>
            <a:xfrm>
              <a:off x="0" y="9525"/>
              <a:ext cx="6604000" cy="815975"/>
            </a:xfrm>
            <a:prstGeom prst="rect">
              <a:avLst/>
            </a:prstGeom>
          </p:spPr>
          <p:txBody>
            <a:bodyPr anchor="ctr" rtlCol="false" tIns="0" lIns="0" bIns="0" rIns="0"/>
            <a:lstStyle/>
            <a:p>
              <a:pPr algn="l" marL="0" indent="0" lvl="0">
                <a:lnSpc>
                  <a:spcPts val="2160"/>
                </a:lnSpc>
                <a:spcBef>
                  <a:spcPct val="0"/>
                </a:spcBef>
              </a:pPr>
              <a:r>
                <a:rPr lang="en-US" b="true" sz="1800" strike="noStrike" u="none">
                  <a:solidFill>
                    <a:srgbClr val="16796C"/>
                  </a:solidFill>
                  <a:latin typeface="Noto Sans Bold"/>
                  <a:ea typeface="Noto Sans Bold"/>
                  <a:cs typeface="Noto Sans Bold"/>
                  <a:sym typeface="Noto Sans Bold"/>
                </a:rPr>
                <a:t>출처 문서·쪽수로 원문 추적</a:t>
              </a:r>
            </a:p>
          </p:txBody>
        </p:sp>
      </p:grpSp>
      <p:grpSp>
        <p:nvGrpSpPr>
          <p:cNvPr name="Group 24" id="24"/>
          <p:cNvGrpSpPr/>
          <p:nvPr/>
        </p:nvGrpSpPr>
        <p:grpSpPr>
          <a:xfrm rot="0">
            <a:off x="12858750" y="3076575"/>
            <a:ext cx="4286250" cy="619125"/>
            <a:chOff x="0" y="0"/>
            <a:chExt cx="5715000" cy="825500"/>
          </a:xfrm>
        </p:grpSpPr>
        <p:sp>
          <p:nvSpPr>
            <p:cNvPr name="Freeform 25" id="25"/>
            <p:cNvSpPr/>
            <p:nvPr/>
          </p:nvSpPr>
          <p:spPr>
            <a:xfrm flipH="false" flipV="false" rot="0">
              <a:off x="0" y="0"/>
              <a:ext cx="5715000" cy="825500"/>
            </a:xfrm>
            <a:custGeom>
              <a:avLst/>
              <a:gdLst/>
              <a:ahLst/>
              <a:cxnLst/>
              <a:rect r="r" b="b" t="t" l="l"/>
              <a:pathLst>
                <a:path h="825500" w="5715000">
                  <a:moveTo>
                    <a:pt x="0" y="0"/>
                  </a:moveTo>
                  <a:lnTo>
                    <a:pt x="5715000" y="0"/>
                  </a:lnTo>
                  <a:lnTo>
                    <a:pt x="5715000" y="825500"/>
                  </a:lnTo>
                  <a:lnTo>
                    <a:pt x="0" y="825500"/>
                  </a:lnTo>
                  <a:close/>
                </a:path>
              </a:pathLst>
            </a:custGeom>
            <a:blipFill>
              <a:blip r:embed="rId3">
                <a:alphaModFix amt="0"/>
              </a:blip>
              <a:stretch>
                <a:fillRect l="-11142" t="0" r="69657" b="-11923"/>
              </a:stretch>
            </a:blipFill>
          </p:spPr>
        </p:sp>
        <p:sp>
          <p:nvSpPr>
            <p:cNvPr name="TextBox 26" id="26"/>
            <p:cNvSpPr txBox="true"/>
            <p:nvPr/>
          </p:nvSpPr>
          <p:spPr>
            <a:xfrm>
              <a:off x="0" y="0"/>
              <a:ext cx="5715000" cy="825500"/>
            </a:xfrm>
            <a:prstGeom prst="rect">
              <a:avLst/>
            </a:prstGeom>
          </p:spPr>
          <p:txBody>
            <a:bodyPr anchor="ctr" rtlCol="false" tIns="0" lIns="0" bIns="0" rIns="0"/>
            <a:lstStyle/>
            <a:p>
              <a:pPr algn="l" marL="0" indent="0" lvl="0">
                <a:lnSpc>
                  <a:spcPts val="3060"/>
                </a:lnSpc>
                <a:spcBef>
                  <a:spcPct val="0"/>
                </a:spcBef>
              </a:pPr>
              <a:r>
                <a:rPr lang="en-US" b="true" sz="2550" strike="noStrike" u="none">
                  <a:solidFill>
                    <a:srgbClr val="203238"/>
                  </a:solidFill>
                  <a:latin typeface="Noto Sans Bold"/>
                  <a:ea typeface="Noto Sans Bold"/>
                  <a:cs typeface="Noto Sans Bold"/>
                  <a:sym typeface="Noto Sans Bold"/>
                </a:rPr>
                <a:t>03  구조화·검수</a:t>
              </a:r>
            </a:p>
          </p:txBody>
        </p:sp>
      </p:grpSp>
      <p:grpSp>
        <p:nvGrpSpPr>
          <p:cNvPr name="Group 27" id="27"/>
          <p:cNvGrpSpPr/>
          <p:nvPr/>
        </p:nvGrpSpPr>
        <p:grpSpPr>
          <a:xfrm rot="0">
            <a:off x="12858750" y="3724275"/>
            <a:ext cx="4381500" cy="952500"/>
            <a:chOff x="0" y="0"/>
            <a:chExt cx="5842000" cy="1270000"/>
          </a:xfrm>
        </p:grpSpPr>
        <p:sp>
          <p:nvSpPr>
            <p:cNvPr name="Freeform 28" id="28"/>
            <p:cNvSpPr/>
            <p:nvPr/>
          </p:nvSpPr>
          <p:spPr>
            <a:xfrm flipH="false" flipV="false" rot="0">
              <a:off x="0" y="0"/>
              <a:ext cx="5842000" cy="1270000"/>
            </a:xfrm>
            <a:custGeom>
              <a:avLst/>
              <a:gdLst/>
              <a:ahLst/>
              <a:cxnLst/>
              <a:rect r="r" b="b" t="t" l="l"/>
              <a:pathLst>
                <a:path h="1270000" w="5842000">
                  <a:moveTo>
                    <a:pt x="0" y="0"/>
                  </a:moveTo>
                  <a:lnTo>
                    <a:pt x="5842000" y="0"/>
                  </a:lnTo>
                  <a:lnTo>
                    <a:pt x="5842000" y="1270000"/>
                  </a:lnTo>
                  <a:lnTo>
                    <a:pt x="0" y="1270000"/>
                  </a:lnTo>
                  <a:close/>
                </a:path>
              </a:pathLst>
            </a:custGeom>
            <a:blipFill>
              <a:blip r:embed="rId3">
                <a:alphaModFix amt="0"/>
              </a:blip>
              <a:stretch>
                <a:fillRect l="0" t="-28534" r="28000" b="-534"/>
              </a:stretch>
            </a:blipFill>
          </p:spPr>
        </p:sp>
        <p:sp>
          <p:nvSpPr>
            <p:cNvPr name="TextBox 29" id="29"/>
            <p:cNvSpPr txBox="true"/>
            <p:nvPr/>
          </p:nvSpPr>
          <p:spPr>
            <a:xfrm>
              <a:off x="0" y="0"/>
              <a:ext cx="5842000" cy="1270000"/>
            </a:xfrm>
            <a:prstGeom prst="rect">
              <a:avLst/>
            </a:prstGeom>
          </p:spPr>
          <p:txBody>
            <a:bodyPr anchor="ctr" rtlCol="false" tIns="0" lIns="0" bIns="0" rIns="0"/>
            <a:lstStyle/>
            <a:p>
              <a:pPr algn="l" marL="0" indent="0" lvl="0">
                <a:lnSpc>
                  <a:spcPts val="2610"/>
                </a:lnSpc>
                <a:spcBef>
                  <a:spcPct val="0"/>
                </a:spcBef>
              </a:pPr>
              <a:r>
                <a:rPr lang="en-US" sz="2175" strike="noStrike" u="none">
                  <a:solidFill>
                    <a:srgbClr val="53666E"/>
                  </a:solidFill>
                  <a:latin typeface="Noto Sans"/>
                  <a:ea typeface="Noto Sans"/>
                  <a:cs typeface="Noto Sans"/>
                  <a:sym typeface="Noto Sans"/>
                </a:rPr>
                <a:t>AI가 지식 카드로 구조화</a:t>
              </a:r>
            </a:p>
            <a:p>
              <a:pPr algn="l" marL="0" indent="0" lvl="0">
                <a:lnSpc>
                  <a:spcPts val="2610"/>
                </a:lnSpc>
                <a:spcBef>
                  <a:spcPct val="0"/>
                </a:spcBef>
              </a:pPr>
              <a:r>
                <a:rPr lang="en-US" sz="2175" strike="noStrike" u="none">
                  <a:solidFill>
                    <a:srgbClr val="53666E"/>
                  </a:solidFill>
                  <a:latin typeface="Noto Sans"/>
                  <a:ea typeface="Noto Sans"/>
                  <a:cs typeface="Noto Sans"/>
                  <a:sym typeface="Noto Sans"/>
                </a:rPr>
                <a:t>사람이 원문 대조·검수</a:t>
              </a:r>
            </a:p>
          </p:txBody>
        </p:sp>
      </p:grpSp>
      <p:grpSp>
        <p:nvGrpSpPr>
          <p:cNvPr name="Group 30" id="30"/>
          <p:cNvGrpSpPr/>
          <p:nvPr/>
        </p:nvGrpSpPr>
        <p:grpSpPr>
          <a:xfrm rot="0">
            <a:off x="12858750" y="4857750"/>
            <a:ext cx="4381500" cy="619125"/>
            <a:chOff x="0" y="0"/>
            <a:chExt cx="5842000" cy="825500"/>
          </a:xfrm>
        </p:grpSpPr>
        <p:sp>
          <p:nvSpPr>
            <p:cNvPr name="Freeform 31" id="31"/>
            <p:cNvSpPr/>
            <p:nvPr/>
          </p:nvSpPr>
          <p:spPr>
            <a:xfrm flipH="false" flipV="false" rot="0">
              <a:off x="0" y="0"/>
              <a:ext cx="5842000" cy="825500"/>
            </a:xfrm>
            <a:custGeom>
              <a:avLst/>
              <a:gdLst/>
              <a:ahLst/>
              <a:cxnLst/>
              <a:rect r="r" b="b" t="t" l="l"/>
              <a:pathLst>
                <a:path h="825500" w="5842000">
                  <a:moveTo>
                    <a:pt x="0" y="0"/>
                  </a:moveTo>
                  <a:lnTo>
                    <a:pt x="5842000" y="0"/>
                  </a:lnTo>
                  <a:lnTo>
                    <a:pt x="5842000" y="825500"/>
                  </a:lnTo>
                  <a:lnTo>
                    <a:pt x="0" y="825500"/>
                  </a:lnTo>
                  <a:close/>
                </a:path>
              </a:pathLst>
            </a:custGeom>
            <a:blipFill>
              <a:blip r:embed="rId3">
                <a:alphaModFix amt="0"/>
              </a:blip>
              <a:stretch>
                <a:fillRect l="0" t="-79150" r="2017" b="-91073"/>
              </a:stretch>
            </a:blipFill>
          </p:spPr>
        </p:sp>
        <p:sp>
          <p:nvSpPr>
            <p:cNvPr name="TextBox 32" id="32"/>
            <p:cNvSpPr txBox="true"/>
            <p:nvPr/>
          </p:nvSpPr>
          <p:spPr>
            <a:xfrm>
              <a:off x="0" y="9525"/>
              <a:ext cx="5842000" cy="815975"/>
            </a:xfrm>
            <a:prstGeom prst="rect">
              <a:avLst/>
            </a:prstGeom>
          </p:spPr>
          <p:txBody>
            <a:bodyPr anchor="ctr" rtlCol="false" tIns="0" lIns="0" bIns="0" rIns="0"/>
            <a:lstStyle/>
            <a:p>
              <a:pPr algn="l" marL="0" indent="0" lvl="0">
                <a:lnSpc>
                  <a:spcPts val="2160"/>
                </a:lnSpc>
                <a:spcBef>
                  <a:spcPct val="0"/>
                </a:spcBef>
              </a:pPr>
              <a:r>
                <a:rPr lang="en-US" b="true" sz="1800" strike="noStrike" u="none">
                  <a:solidFill>
                    <a:srgbClr val="16796C"/>
                  </a:solidFill>
                  <a:latin typeface="Noto Sans Bold"/>
                  <a:ea typeface="Noto Sans Bold"/>
                  <a:cs typeface="Noto Sans Bold"/>
                  <a:sym typeface="Noto Sans Bold"/>
                </a:rPr>
                <a:t>검색·답변에 재사용</a:t>
              </a:r>
            </a:p>
          </p:txBody>
        </p:sp>
      </p:grpSp>
      <p:grpSp>
        <p:nvGrpSpPr>
          <p:cNvPr name="Group 33" id="33"/>
          <p:cNvGrpSpPr/>
          <p:nvPr/>
        </p:nvGrpSpPr>
        <p:grpSpPr>
          <a:xfrm rot="0">
            <a:off x="1228725" y="5981700"/>
            <a:ext cx="15716250" cy="619125"/>
            <a:chOff x="0" y="0"/>
            <a:chExt cx="20955000" cy="825500"/>
          </a:xfrm>
        </p:grpSpPr>
        <p:sp>
          <p:nvSpPr>
            <p:cNvPr name="Freeform 34" id="34"/>
            <p:cNvSpPr/>
            <p:nvPr/>
          </p:nvSpPr>
          <p:spPr>
            <a:xfrm flipH="false" flipV="false" rot="0">
              <a:off x="0" y="0"/>
              <a:ext cx="20955000" cy="825500"/>
            </a:xfrm>
            <a:custGeom>
              <a:avLst/>
              <a:gdLst/>
              <a:ahLst/>
              <a:cxnLst/>
              <a:rect r="r" b="b" t="t" l="l"/>
              <a:pathLst>
                <a:path h="825500" w="20955000">
                  <a:moveTo>
                    <a:pt x="0" y="0"/>
                  </a:moveTo>
                  <a:lnTo>
                    <a:pt x="20955000" y="0"/>
                  </a:lnTo>
                  <a:lnTo>
                    <a:pt x="20955000" y="825500"/>
                  </a:lnTo>
                  <a:lnTo>
                    <a:pt x="0" y="825500"/>
                  </a:lnTo>
                  <a:close/>
                </a:path>
              </a:pathLst>
            </a:custGeom>
            <a:blipFill>
              <a:blip r:embed="rId3">
                <a:alphaModFix amt="0"/>
              </a:blip>
              <a:stretch>
                <a:fillRect l="-3038" t="0" r="91724" b="-11923"/>
              </a:stretch>
            </a:blipFill>
          </p:spPr>
        </p:sp>
        <p:sp>
          <p:nvSpPr>
            <p:cNvPr name="TextBox 35" id="35"/>
            <p:cNvSpPr txBox="true"/>
            <p:nvPr/>
          </p:nvSpPr>
          <p:spPr>
            <a:xfrm>
              <a:off x="0" y="0"/>
              <a:ext cx="20955000" cy="825500"/>
            </a:xfrm>
            <a:prstGeom prst="rect">
              <a:avLst/>
            </a:prstGeom>
          </p:spPr>
          <p:txBody>
            <a:bodyPr anchor="ctr" rtlCol="false" tIns="0" lIns="0" bIns="0" rIns="0"/>
            <a:lstStyle/>
            <a:p>
              <a:pPr algn="l" marL="0" indent="0" lvl="0">
                <a:lnSpc>
                  <a:spcPts val="3419"/>
                </a:lnSpc>
                <a:spcBef>
                  <a:spcPct val="0"/>
                </a:spcBef>
              </a:pPr>
              <a:r>
                <a:rPr lang="en-US" b="true" sz="2850" strike="noStrike" u="none">
                  <a:solidFill>
                    <a:srgbClr val="16796C"/>
                  </a:solidFill>
                  <a:latin typeface="Noto Sans Bold"/>
                  <a:ea typeface="Noto Sans Bold"/>
                  <a:cs typeface="Noto Sans Bold"/>
                  <a:sym typeface="Noto Sans Bold"/>
                </a:rPr>
                <a:t>공통 스키마에 맞춘 원문 기반 지식 카드</a:t>
              </a:r>
            </a:p>
          </p:txBody>
        </p:sp>
      </p:grpSp>
      <p:grpSp>
        <p:nvGrpSpPr>
          <p:cNvPr name="Group 36" id="36"/>
          <p:cNvGrpSpPr/>
          <p:nvPr/>
        </p:nvGrpSpPr>
        <p:grpSpPr>
          <a:xfrm rot="0">
            <a:off x="1228725" y="7086600"/>
            <a:ext cx="15716250" cy="619125"/>
            <a:chOff x="0" y="0"/>
            <a:chExt cx="20955000" cy="825500"/>
          </a:xfrm>
        </p:grpSpPr>
        <p:sp>
          <p:nvSpPr>
            <p:cNvPr name="Freeform 37" id="37"/>
            <p:cNvSpPr/>
            <p:nvPr/>
          </p:nvSpPr>
          <p:spPr>
            <a:xfrm flipH="false" flipV="false" rot="0">
              <a:off x="0" y="0"/>
              <a:ext cx="20955000" cy="825500"/>
            </a:xfrm>
            <a:custGeom>
              <a:avLst/>
              <a:gdLst/>
              <a:ahLst/>
              <a:cxnLst/>
              <a:rect r="r" b="b" t="t" l="l"/>
              <a:pathLst>
                <a:path h="825500" w="20955000">
                  <a:moveTo>
                    <a:pt x="0" y="0"/>
                  </a:moveTo>
                  <a:lnTo>
                    <a:pt x="20955000" y="0"/>
                  </a:lnTo>
                  <a:lnTo>
                    <a:pt x="20955000" y="825500"/>
                  </a:lnTo>
                  <a:lnTo>
                    <a:pt x="0" y="825500"/>
                  </a:lnTo>
                  <a:close/>
                </a:path>
              </a:pathLst>
            </a:custGeom>
            <a:blipFill>
              <a:blip r:embed="rId3">
                <a:alphaModFix amt="0"/>
              </a:blip>
              <a:stretch>
                <a:fillRect l="0" t="-43899" r="79927" b="-54668"/>
              </a:stretch>
            </a:blipFill>
          </p:spPr>
        </p:sp>
        <p:sp>
          <p:nvSpPr>
            <p:cNvPr name="TextBox 38" id="38"/>
            <p:cNvSpPr txBox="true"/>
            <p:nvPr/>
          </p:nvSpPr>
          <p:spPr>
            <a:xfrm>
              <a:off x="0" y="0"/>
              <a:ext cx="20955000" cy="825500"/>
            </a:xfrm>
            <a:prstGeom prst="rect">
              <a:avLst/>
            </a:prstGeom>
          </p:spPr>
          <p:txBody>
            <a:bodyPr anchor="ctr" rtlCol="false" tIns="0" lIns="0" bIns="0" rIns="0"/>
            <a:lstStyle/>
            <a:p>
              <a:pPr algn="l" marL="0" indent="0" lvl="0">
                <a:lnSpc>
                  <a:spcPts val="2610"/>
                </a:lnSpc>
                <a:spcBef>
                  <a:spcPct val="0"/>
                </a:spcBef>
              </a:pPr>
              <a:r>
                <a:rPr lang="en-US" b="true" sz="2175" strike="noStrike" u="none">
                  <a:solidFill>
                    <a:srgbClr val="203238"/>
                  </a:solidFill>
                  <a:latin typeface="Noto Sans Bold"/>
                  <a:ea typeface="Noto Sans Bold"/>
                  <a:cs typeface="Noto Sans Bold"/>
                  <a:sym typeface="Noto Sans Bold"/>
                </a:rPr>
                <a:t>검증 데이터는 별도 구축</a:t>
              </a:r>
            </a:p>
          </p:txBody>
        </p:sp>
      </p:grpSp>
      <p:grpSp>
        <p:nvGrpSpPr>
          <p:cNvPr name="Group 39" id="39"/>
          <p:cNvGrpSpPr/>
          <p:nvPr/>
        </p:nvGrpSpPr>
        <p:grpSpPr>
          <a:xfrm rot="0">
            <a:off x="1228725" y="7629525"/>
            <a:ext cx="7239000" cy="619125"/>
            <a:chOff x="0" y="0"/>
            <a:chExt cx="9652000" cy="825500"/>
          </a:xfrm>
        </p:grpSpPr>
        <p:sp>
          <p:nvSpPr>
            <p:cNvPr name="Freeform 40" id="40"/>
            <p:cNvSpPr/>
            <p:nvPr/>
          </p:nvSpPr>
          <p:spPr>
            <a:xfrm flipH="false" flipV="false" rot="0">
              <a:off x="0" y="0"/>
              <a:ext cx="9652000" cy="825500"/>
            </a:xfrm>
            <a:custGeom>
              <a:avLst/>
              <a:gdLst/>
              <a:ahLst/>
              <a:cxnLst/>
              <a:rect r="r" b="b" t="t" l="l"/>
              <a:pathLst>
                <a:path h="825500" w="9652000">
                  <a:moveTo>
                    <a:pt x="0" y="0"/>
                  </a:moveTo>
                  <a:lnTo>
                    <a:pt x="9652000" y="0"/>
                  </a:lnTo>
                  <a:lnTo>
                    <a:pt x="9652000" y="825500"/>
                  </a:lnTo>
                  <a:lnTo>
                    <a:pt x="0" y="825500"/>
                  </a:lnTo>
                  <a:close/>
                </a:path>
              </a:pathLst>
            </a:custGeom>
            <a:blipFill>
              <a:blip r:embed="rId3">
                <a:alphaModFix amt="0"/>
              </a:blip>
              <a:stretch>
                <a:fillRect l="0" t="-79150" r="40694" b="-91073"/>
              </a:stretch>
            </a:blipFill>
          </p:spPr>
        </p:sp>
        <p:sp>
          <p:nvSpPr>
            <p:cNvPr name="TextBox 41" id="41"/>
            <p:cNvSpPr txBox="true"/>
            <p:nvPr/>
          </p:nvSpPr>
          <p:spPr>
            <a:xfrm>
              <a:off x="0" y="0"/>
              <a:ext cx="9652000" cy="825500"/>
            </a:xfrm>
            <a:prstGeom prst="rect">
              <a:avLst/>
            </a:prstGeom>
          </p:spPr>
          <p:txBody>
            <a:bodyPr anchor="ctr" rtlCol="false" tIns="0" lIns="0" bIns="0" rIns="0"/>
            <a:lstStyle/>
            <a:p>
              <a:pPr algn="l" marL="0" indent="0" lvl="0">
                <a:lnSpc>
                  <a:spcPts val="2790"/>
                </a:lnSpc>
                <a:spcBef>
                  <a:spcPct val="0"/>
                </a:spcBef>
              </a:pPr>
              <a:r>
                <a:rPr lang="en-US" b="true" sz="2325" strike="noStrike" u="none">
                  <a:solidFill>
                    <a:srgbClr val="16796C"/>
                  </a:solidFill>
                  <a:latin typeface="Noto Sans Bold"/>
                  <a:ea typeface="Noto Sans Bold"/>
                  <a:cs typeface="Noto Sans Bold"/>
                  <a:sym typeface="Noto Sans Bold"/>
                </a:rPr>
                <a:t>Unity      가상 현장 이미지</a:t>
              </a:r>
            </a:p>
          </p:txBody>
        </p:sp>
      </p:grpSp>
      <p:grpSp>
        <p:nvGrpSpPr>
          <p:cNvPr name="Group 42" id="42"/>
          <p:cNvGrpSpPr/>
          <p:nvPr/>
        </p:nvGrpSpPr>
        <p:grpSpPr>
          <a:xfrm rot="0">
            <a:off x="9525000" y="7629525"/>
            <a:ext cx="7524750" cy="619125"/>
            <a:chOff x="0" y="0"/>
            <a:chExt cx="10033000" cy="825500"/>
          </a:xfrm>
        </p:grpSpPr>
        <p:sp>
          <p:nvSpPr>
            <p:cNvPr name="Freeform 43" id="43"/>
            <p:cNvSpPr/>
            <p:nvPr/>
          </p:nvSpPr>
          <p:spPr>
            <a:xfrm flipH="false" flipV="false" rot="0">
              <a:off x="0" y="0"/>
              <a:ext cx="10033000" cy="825500"/>
            </a:xfrm>
            <a:custGeom>
              <a:avLst/>
              <a:gdLst/>
              <a:ahLst/>
              <a:cxnLst/>
              <a:rect r="r" b="b" t="t" l="l"/>
              <a:pathLst>
                <a:path h="825500" w="10033000">
                  <a:moveTo>
                    <a:pt x="0" y="0"/>
                  </a:moveTo>
                  <a:lnTo>
                    <a:pt x="10033000" y="0"/>
                  </a:lnTo>
                  <a:lnTo>
                    <a:pt x="10033000" y="825500"/>
                  </a:lnTo>
                  <a:lnTo>
                    <a:pt x="0" y="825500"/>
                  </a:lnTo>
                  <a:close/>
                </a:path>
              </a:pathLst>
            </a:custGeom>
            <a:blipFill>
              <a:blip r:embed="rId3">
                <a:alphaModFix amt="0"/>
              </a:blip>
              <a:stretch>
                <a:fillRect l="-6346" t="0" r="82716" b="-11923"/>
              </a:stretch>
            </a:blipFill>
          </p:spPr>
        </p:sp>
        <p:sp>
          <p:nvSpPr>
            <p:cNvPr name="TextBox 44" id="44"/>
            <p:cNvSpPr txBox="true"/>
            <p:nvPr/>
          </p:nvSpPr>
          <p:spPr>
            <a:xfrm>
              <a:off x="0" y="0"/>
              <a:ext cx="10033000" cy="825500"/>
            </a:xfrm>
            <a:prstGeom prst="rect">
              <a:avLst/>
            </a:prstGeom>
          </p:spPr>
          <p:txBody>
            <a:bodyPr anchor="ctr" rtlCol="false" tIns="0" lIns="0" bIns="0" rIns="0"/>
            <a:lstStyle/>
            <a:p>
              <a:pPr algn="l" marL="0" indent="0" lvl="0">
                <a:lnSpc>
                  <a:spcPts val="2790"/>
                </a:lnSpc>
                <a:spcBef>
                  <a:spcPct val="0"/>
                </a:spcBef>
              </a:pPr>
              <a:r>
                <a:rPr lang="en-US" b="true" sz="2325" strike="noStrike" u="none">
                  <a:solidFill>
                    <a:srgbClr val="16796C"/>
                  </a:solidFill>
                  <a:latin typeface="Noto Sans Bold"/>
                  <a:ea typeface="Noto Sans Bold"/>
                  <a:cs typeface="Noto Sans Bold"/>
                  <a:sym typeface="Noto Sans Bold"/>
                </a:rPr>
                <a:t>모의 MES       상태값·기준 범위</a:t>
              </a:r>
            </a:p>
          </p:txBody>
        </p:sp>
      </p:grpSp>
      <p:grpSp>
        <p:nvGrpSpPr>
          <p:cNvPr name="Group 45" id="45"/>
          <p:cNvGrpSpPr/>
          <p:nvPr/>
        </p:nvGrpSpPr>
        <p:grpSpPr>
          <a:xfrm rot="0">
            <a:off x="1228725" y="8410575"/>
            <a:ext cx="15906750" cy="619125"/>
            <a:chOff x="0" y="0"/>
            <a:chExt cx="21209000" cy="825500"/>
          </a:xfrm>
        </p:grpSpPr>
        <p:sp>
          <p:nvSpPr>
            <p:cNvPr name="Freeform 46" id="46" descr="근거 선정→공통 지식 스키마→구조화·검수를 연결하는 청록 화살표 두 개와 검증 데이터 상단 가로 구분선"/>
            <p:cNvSpPr/>
            <p:nvPr/>
          </p:nvSpPr>
          <p:spPr>
            <a:xfrm flipH="false" flipV="false" rot="0">
              <a:off x="0" y="0"/>
              <a:ext cx="21209000" cy="825500"/>
            </a:xfrm>
            <a:custGeom>
              <a:avLst/>
              <a:gdLst/>
              <a:ahLst/>
              <a:cxnLst/>
              <a:rect r="r" b="b" t="t" l="l"/>
              <a:pathLst>
                <a:path h="825500" w="21209000">
                  <a:moveTo>
                    <a:pt x="0" y="0"/>
                  </a:moveTo>
                  <a:lnTo>
                    <a:pt x="21209000" y="0"/>
                  </a:lnTo>
                  <a:lnTo>
                    <a:pt x="21209000" y="825500"/>
                  </a:lnTo>
                  <a:lnTo>
                    <a:pt x="0" y="825500"/>
                  </a:lnTo>
                  <a:close/>
                </a:path>
              </a:pathLst>
            </a:custGeom>
            <a:blipFill>
              <a:blip r:embed="rId6">
                <a:alphaModFix amt="0"/>
              </a:blip>
              <a:stretch>
                <a:fillRect l="0" t="-672596" r="0" b="-672596"/>
              </a:stretch>
            </a:blipFill>
          </p:spPr>
        </p:sp>
        <p:sp>
          <p:nvSpPr>
            <p:cNvPr name="TextBox 47" id="47"/>
            <p:cNvSpPr txBox="true"/>
            <p:nvPr/>
          </p:nvSpPr>
          <p:spPr>
            <a:xfrm>
              <a:off x="0" y="0"/>
              <a:ext cx="21209000" cy="825500"/>
            </a:xfrm>
            <a:prstGeom prst="rect">
              <a:avLst/>
            </a:prstGeom>
          </p:spPr>
          <p:txBody>
            <a:bodyPr anchor="ctr" rtlCol="false" tIns="0" lIns="0" bIns="0" rIns="0"/>
            <a:lstStyle/>
            <a:p>
              <a:pPr algn="l" marL="0" indent="0" lvl="0">
                <a:lnSpc>
                  <a:spcPts val="2250"/>
                </a:lnSpc>
                <a:spcBef>
                  <a:spcPct val="0"/>
                </a:spcBef>
              </a:pPr>
              <a:r>
                <a:rPr lang="en-US" sz="1875" strike="noStrike" u="none">
                  <a:solidFill>
                    <a:srgbClr val="53666E"/>
                  </a:solidFill>
                  <a:latin typeface="Noto Sans"/>
                  <a:ea typeface="Noto Sans"/>
                  <a:cs typeface="Noto Sans"/>
                  <a:sym typeface="Noto Sans"/>
                </a:rPr>
                <a:t>이미지와 수치는 가상 데이터 · 실제 숙련자의 암묵지 및 현장 실측 데이터와 구분</a:t>
              </a:r>
            </a:p>
          </p:txBody>
        </p:sp>
      </p:grpSp>
      <p:grpSp>
        <p:nvGrpSpPr>
          <p:cNvPr name="Group 48" id="48"/>
          <p:cNvGrpSpPr/>
          <p:nvPr/>
        </p:nvGrpSpPr>
        <p:grpSpPr>
          <a:xfrm rot="0">
            <a:off x="5818352" y="9710928"/>
            <a:ext cx="4070985" cy="419672"/>
            <a:chOff x="0" y="0"/>
            <a:chExt cx="5427980" cy="559562"/>
          </a:xfrm>
        </p:grpSpPr>
        <p:grpSp>
          <p:nvGrpSpPr>
            <p:cNvPr name="Group 49" id="49"/>
            <p:cNvGrpSpPr/>
            <p:nvPr/>
          </p:nvGrpSpPr>
          <p:grpSpPr>
            <a:xfrm rot="0">
              <a:off x="0" y="0"/>
              <a:ext cx="1680845" cy="559562"/>
              <a:chOff x="0" y="0"/>
              <a:chExt cx="1680845" cy="559562"/>
            </a:xfrm>
          </p:grpSpPr>
          <p:sp>
            <p:nvSpPr>
              <p:cNvPr name="Freeform 50" id="50"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7"/>
                <a:stretch>
                  <a:fillRect l="0" t="-265" r="0" b="-267"/>
                </a:stretch>
              </a:blipFill>
            </p:spPr>
          </p:sp>
        </p:grpSp>
        <p:grpSp>
          <p:nvGrpSpPr>
            <p:cNvPr name="Group 51" id="51"/>
            <p:cNvGrpSpPr/>
            <p:nvPr/>
          </p:nvGrpSpPr>
          <p:grpSpPr>
            <a:xfrm rot="0">
              <a:off x="2069490" y="124358"/>
              <a:ext cx="1189101" cy="310896"/>
              <a:chOff x="0" y="0"/>
              <a:chExt cx="1189101" cy="310896"/>
            </a:xfrm>
          </p:grpSpPr>
          <p:sp>
            <p:nvSpPr>
              <p:cNvPr name="Freeform 52" id="52"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8"/>
                <a:stretch>
                  <a:fillRect l="-30" t="0" r="-32" b="0"/>
                </a:stretch>
              </a:blipFill>
            </p:spPr>
          </p:sp>
        </p:grpSp>
        <p:grpSp>
          <p:nvGrpSpPr>
            <p:cNvPr name="Group 53" id="53"/>
            <p:cNvGrpSpPr/>
            <p:nvPr/>
          </p:nvGrpSpPr>
          <p:grpSpPr>
            <a:xfrm rot="0">
              <a:off x="3647186" y="124358"/>
              <a:ext cx="1780794" cy="310896"/>
              <a:chOff x="0" y="0"/>
              <a:chExt cx="1780794" cy="310896"/>
            </a:xfrm>
          </p:grpSpPr>
          <p:sp>
            <p:nvSpPr>
              <p:cNvPr name="Freeform 54" id="54"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9"/>
                <a:stretch>
                  <a:fillRect l="0" t="-118" r="0" b="-122"/>
                </a:stretch>
              </a:blipFill>
            </p:spPr>
          </p:sp>
        </p:grpSp>
      </p:grpSp>
      <p:sp>
        <p:nvSpPr>
          <p:cNvPr name="Freeform 55" id="55"/>
          <p:cNvSpPr/>
          <p:nvPr/>
        </p:nvSpPr>
        <p:spPr>
          <a:xfrm flipH="false" flipV="false" rot="0">
            <a:off x="10907383" y="7843411"/>
            <a:ext cx="292142" cy="191353"/>
          </a:xfrm>
          <a:custGeom>
            <a:avLst/>
            <a:gdLst/>
            <a:ahLst/>
            <a:cxnLst/>
            <a:rect r="r" b="b" t="t" l="l"/>
            <a:pathLst>
              <a:path h="191353" w="292142">
                <a:moveTo>
                  <a:pt x="0" y="0"/>
                </a:moveTo>
                <a:lnTo>
                  <a:pt x="292142" y="0"/>
                </a:lnTo>
                <a:lnTo>
                  <a:pt x="292142" y="191353"/>
                </a:lnTo>
                <a:lnTo>
                  <a:pt x="0" y="19135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56" id="56"/>
          <p:cNvSpPr txBox="true"/>
          <p:nvPr/>
        </p:nvSpPr>
        <p:spPr>
          <a:xfrm rot="0">
            <a:off x="1228725" y="3724275"/>
            <a:ext cx="4857750" cy="647700"/>
          </a:xfrm>
          <a:prstGeom prst="rect">
            <a:avLst/>
          </a:prstGeom>
        </p:spPr>
        <p:txBody>
          <a:bodyPr anchor="t" rtlCol="false" tIns="0" lIns="0" bIns="0" rIns="0">
            <a:spAutoFit/>
          </a:bodyPr>
          <a:lstStyle/>
          <a:p>
            <a:pPr algn="l" marL="0" indent="0" lvl="0">
              <a:lnSpc>
                <a:spcPts val="2610"/>
              </a:lnSpc>
              <a:spcBef>
                <a:spcPct val="0"/>
              </a:spcBef>
            </a:pPr>
            <a:r>
              <a:rPr lang="en-US" sz="2175" strike="noStrike" u="none">
                <a:solidFill>
                  <a:srgbClr val="53666E"/>
                </a:solidFill>
                <a:latin typeface="Noto Sans"/>
                <a:ea typeface="Noto Sans"/>
                <a:cs typeface="Noto Sans"/>
                <a:sym typeface="Noto Sans"/>
              </a:rPr>
              <a:t>글로벌 제조사 공식 매뉴얼</a:t>
            </a:r>
          </a:p>
          <a:p>
            <a:pPr algn="l" marL="0" indent="0" lvl="0">
              <a:lnSpc>
                <a:spcPts val="2610"/>
              </a:lnSpc>
              <a:spcBef>
                <a:spcPct val="0"/>
              </a:spcBef>
            </a:pPr>
            <a:r>
              <a:rPr lang="en-US" sz="2175" strike="noStrike" u="none">
                <a:solidFill>
                  <a:srgbClr val="53666E"/>
                </a:solidFill>
                <a:latin typeface="Noto Sans"/>
                <a:ea typeface="Noto Sans"/>
                <a:cs typeface="Noto Sans"/>
                <a:sym typeface="Noto Sans"/>
              </a:rPr>
              <a:t>HSE 안전·인수인계 지침</a:t>
            </a:r>
          </a:p>
        </p:txBody>
      </p:sp>
      <p:sp>
        <p:nvSpPr>
          <p:cNvPr name="TextBox 57" id="57"/>
          <p:cNvSpPr txBox="true"/>
          <p:nvPr/>
        </p:nvSpPr>
        <p:spPr>
          <a:xfrm rot="0">
            <a:off x="1228725" y="4867275"/>
            <a:ext cx="4857750" cy="247742"/>
          </a:xfrm>
          <a:prstGeom prst="rect">
            <a:avLst/>
          </a:prstGeom>
        </p:spPr>
        <p:txBody>
          <a:bodyPr anchor="t" rtlCol="false" tIns="0" lIns="0" bIns="0" rIns="0">
            <a:spAutoFit/>
          </a:bodyPr>
          <a:lstStyle/>
          <a:p>
            <a:pPr algn="l" marL="0" indent="0" lvl="0">
              <a:lnSpc>
                <a:spcPts val="2069"/>
              </a:lnSpc>
              <a:spcBef>
                <a:spcPct val="0"/>
              </a:spcBef>
            </a:pPr>
            <a:r>
              <a:rPr lang="en-US" sz="1725" strike="noStrike" u="none">
                <a:solidFill>
                  <a:srgbClr val="53666E"/>
                </a:solidFill>
                <a:latin typeface="Noto Sans"/>
                <a:ea typeface="Noto Sans"/>
                <a:cs typeface="Noto Sans"/>
                <a:sym typeface="Noto Sans"/>
              </a:rPr>
              <a:t>제조사 기술 지식 + 공공기관 지침</a:t>
            </a:r>
          </a:p>
        </p:txBody>
      </p:sp>
      <p:sp>
        <p:nvSpPr>
          <p:cNvPr name="TextBox 58" id="58"/>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strike="noStrike" u="none">
                <a:solidFill>
                  <a:srgbClr val="6B787A"/>
                </a:solidFill>
                <a:latin typeface="Noto Sans"/>
                <a:ea typeface="Noto Sans"/>
                <a:cs typeface="Noto Sans"/>
                <a:sym typeface="Noto Sans"/>
              </a:rPr>
              <a:t>7</a:t>
            </a:r>
          </a:p>
        </p:txBody>
      </p:sp>
      <p:sp>
        <p:nvSpPr>
          <p:cNvPr name="Freeform 59" id="59"/>
          <p:cNvSpPr/>
          <p:nvPr/>
        </p:nvSpPr>
        <p:spPr>
          <a:xfrm flipH="false" flipV="false" rot="0">
            <a:off x="2125428" y="7843411"/>
            <a:ext cx="292142" cy="191353"/>
          </a:xfrm>
          <a:custGeom>
            <a:avLst/>
            <a:gdLst/>
            <a:ahLst/>
            <a:cxnLst/>
            <a:rect r="r" b="b" t="t" l="l"/>
            <a:pathLst>
              <a:path h="191353" w="292142">
                <a:moveTo>
                  <a:pt x="0" y="0"/>
                </a:moveTo>
                <a:lnTo>
                  <a:pt x="292142" y="0"/>
                </a:lnTo>
                <a:lnTo>
                  <a:pt x="292142" y="191353"/>
                </a:lnTo>
                <a:lnTo>
                  <a:pt x="0" y="19135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60" id="60"/>
          <p:cNvGrpSpPr/>
          <p:nvPr/>
        </p:nvGrpSpPr>
        <p:grpSpPr>
          <a:xfrm rot="0">
            <a:off x="822960" y="822960"/>
            <a:ext cx="16642080" cy="850392"/>
            <a:chOff x="0" y="0"/>
            <a:chExt cx="22189440" cy="1133856"/>
          </a:xfrm>
        </p:grpSpPr>
        <p:sp>
          <p:nvSpPr>
            <p:cNvPr name="Freeform 61" id="61"/>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3">
                <a:alphaModFix amt="0"/>
              </a:blip>
              <a:stretch>
                <a:fillRect l="0" t="-331309" r="2" b="-331309"/>
              </a:stretch>
            </a:blipFill>
          </p:spPr>
        </p:sp>
        <p:sp>
          <p:nvSpPr>
            <p:cNvPr name="TextBox 62" id="62"/>
            <p:cNvSpPr txBox="true"/>
            <p:nvPr/>
          </p:nvSpPr>
          <p:spPr>
            <a:xfrm>
              <a:off x="0" y="-9525"/>
              <a:ext cx="22189440" cy="1143381"/>
            </a:xfrm>
            <a:prstGeom prst="rect">
              <a:avLst/>
            </a:prstGeom>
          </p:spPr>
          <p:txBody>
            <a:bodyPr anchor="ctr" rtlCol="false" tIns="0" lIns="0" bIns="0" rIns="0"/>
            <a:lstStyle/>
            <a:p>
              <a:pPr algn="l" marL="0" indent="0" lvl="0">
                <a:lnSpc>
                  <a:spcPts val="4500"/>
                </a:lnSpc>
                <a:spcBef>
                  <a:spcPct val="0"/>
                </a:spcBef>
              </a:pPr>
              <a:r>
                <a:rPr lang="en-US" b="true" sz="3750" strike="noStrike" u="none">
                  <a:solidFill>
                    <a:srgbClr val="203238"/>
                  </a:solidFill>
                  <a:latin typeface="Noto Sans Bold"/>
                  <a:ea typeface="Noto Sans Bold"/>
                  <a:cs typeface="Noto Sans Bold"/>
                  <a:sym typeface="Noto Sans Bold"/>
                </a:rPr>
                <a:t>03  </a:t>
              </a:r>
              <a:r>
                <a:rPr lang="en-US" b="true" sz="3750" strike="noStrike" u="none">
                  <a:solidFill>
                    <a:srgbClr val="203238"/>
                  </a:solidFill>
                  <a:latin typeface="Noto Sans Bold"/>
                  <a:ea typeface="Noto Sans Bold"/>
                  <a:cs typeface="Noto Sans Bold"/>
                  <a:sym typeface="Noto Sans Bold"/>
                </a:rPr>
                <a:t>데이터 구축 전략</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3050" r="0" b="-333050"/>
              </a:stretch>
            </a:blipFill>
          </p:spPr>
        </p:sp>
        <p:sp>
          <p:nvSpPr>
            <p:cNvPr name="TextBox 6" id="6"/>
            <p:cNvSpPr txBox="true"/>
            <p:nvPr/>
          </p:nvSpPr>
          <p:spPr>
            <a:xfrm>
              <a:off x="0" y="-9525"/>
              <a:ext cx="10972800" cy="567690"/>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7" id="7"/>
          <p:cNvGrpSpPr/>
          <p:nvPr/>
        </p:nvGrpSpPr>
        <p:grpSpPr>
          <a:xfrm rot="0">
            <a:off x="822960" y="438912"/>
            <a:ext cx="4114800" cy="384048"/>
            <a:chOff x="0" y="0"/>
            <a:chExt cx="5486400" cy="512064"/>
          </a:xfrm>
        </p:grpSpPr>
        <p:sp>
          <p:nvSpPr>
            <p:cNvPr name="Freeform 8" id="8"/>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3">
                <a:alphaModFix amt="0"/>
              </a:blip>
              <a:stretch>
                <a:fillRect l="0" t="-158623" r="0" b="-158623"/>
              </a:stretch>
            </a:blipFill>
          </p:spPr>
        </p:sp>
      </p:grpSp>
      <p:grpSp>
        <p:nvGrpSpPr>
          <p:cNvPr name="Group 9" id="9"/>
          <p:cNvGrpSpPr/>
          <p:nvPr/>
        </p:nvGrpSpPr>
        <p:grpSpPr>
          <a:xfrm rot="0">
            <a:off x="822960" y="438912"/>
            <a:ext cx="4114800" cy="384048"/>
            <a:chOff x="0" y="0"/>
            <a:chExt cx="5486400" cy="512064"/>
          </a:xfrm>
        </p:grpSpPr>
        <p:sp>
          <p:nvSpPr>
            <p:cNvPr name="Freeform 10" id="10"/>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4">
                <a:alphaModFix amt="0"/>
              </a:blip>
              <a:stretch>
                <a:fillRect l="0" t="-158768" r="0" b="-158768"/>
              </a:stretch>
            </a:blipFill>
          </p:spPr>
        </p:sp>
        <p:sp>
          <p:nvSpPr>
            <p:cNvPr name="TextBox 11" id="11"/>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01  프로젝트 개요</a:t>
              </a:r>
            </a:p>
          </p:txBody>
        </p:sp>
      </p:grpSp>
      <p:grpSp>
        <p:nvGrpSpPr>
          <p:cNvPr name="Group 12" id="12"/>
          <p:cNvGrpSpPr/>
          <p:nvPr/>
        </p:nvGrpSpPr>
        <p:grpSpPr>
          <a:xfrm rot="0">
            <a:off x="822960" y="822960"/>
            <a:ext cx="16641623" cy="850392"/>
            <a:chOff x="0" y="0"/>
            <a:chExt cx="22188830" cy="1133856"/>
          </a:xfrm>
        </p:grpSpPr>
        <p:sp>
          <p:nvSpPr>
            <p:cNvPr name="Freeform 13" id="13"/>
            <p:cNvSpPr/>
            <p:nvPr/>
          </p:nvSpPr>
          <p:spPr>
            <a:xfrm flipH="false" flipV="false" rot="0">
              <a:off x="0" y="0"/>
              <a:ext cx="22188805" cy="1133856"/>
            </a:xfrm>
            <a:custGeom>
              <a:avLst/>
              <a:gdLst/>
              <a:ahLst/>
              <a:cxnLst/>
              <a:rect r="r" b="b" t="t" l="l"/>
              <a:pathLst>
                <a:path h="1133856" w="22188805">
                  <a:moveTo>
                    <a:pt x="0" y="0"/>
                  </a:moveTo>
                  <a:lnTo>
                    <a:pt x="22188805" y="0"/>
                  </a:lnTo>
                  <a:lnTo>
                    <a:pt x="22188805" y="1133856"/>
                  </a:lnTo>
                  <a:lnTo>
                    <a:pt x="0" y="1133856"/>
                  </a:lnTo>
                  <a:close/>
                </a:path>
              </a:pathLst>
            </a:custGeom>
            <a:blipFill>
              <a:blip r:embed="rId3">
                <a:alphaModFix amt="0"/>
              </a:blip>
              <a:stretch>
                <a:fillRect l="0" t="-331043" r="0" b="-331045"/>
              </a:stretch>
            </a:blipFill>
          </p:spPr>
        </p:sp>
      </p:grpSp>
      <p:grpSp>
        <p:nvGrpSpPr>
          <p:cNvPr name="Group 14" id="14"/>
          <p:cNvGrpSpPr/>
          <p:nvPr/>
        </p:nvGrpSpPr>
        <p:grpSpPr>
          <a:xfrm rot="0">
            <a:off x="822960" y="822960"/>
            <a:ext cx="16642080" cy="850392"/>
            <a:chOff x="0" y="0"/>
            <a:chExt cx="22189440" cy="1133856"/>
          </a:xfrm>
        </p:grpSpPr>
        <p:sp>
          <p:nvSpPr>
            <p:cNvPr name="Freeform 15" id="15"/>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4">
                <a:alphaModFix amt="0"/>
              </a:blip>
              <a:stretch>
                <a:fillRect l="0" t="-331309" r="2" b="-331309"/>
              </a:stretch>
            </a:blipFill>
          </p:spPr>
        </p:sp>
        <p:sp>
          <p:nvSpPr>
            <p:cNvPr name="TextBox 16" id="16"/>
            <p:cNvSpPr txBox="true"/>
            <p:nvPr/>
          </p:nvSpPr>
          <p:spPr>
            <a:xfrm>
              <a:off x="0" y="-9525"/>
              <a:ext cx="22189440" cy="1143381"/>
            </a:xfrm>
            <a:prstGeom prst="rect">
              <a:avLst/>
            </a:prstGeom>
          </p:spPr>
          <p:txBody>
            <a:bodyPr anchor="ctr" rtlCol="false" tIns="0" lIns="0" bIns="0" rIns="0"/>
            <a:lstStyle/>
            <a:p>
              <a:pPr algn="l" marL="0" indent="0" lvl="0">
                <a:lnSpc>
                  <a:spcPts val="4500"/>
                </a:lnSpc>
                <a:spcBef>
                  <a:spcPct val="0"/>
                </a:spcBef>
              </a:pPr>
              <a:r>
                <a:rPr lang="en-US" b="true" sz="3750" strike="noStrike" u="none">
                  <a:solidFill>
                    <a:srgbClr val="203238"/>
                  </a:solidFill>
                  <a:latin typeface="Noto Sans Bold"/>
                  <a:ea typeface="Noto Sans Bold"/>
                  <a:cs typeface="Noto Sans Bold"/>
                  <a:sym typeface="Noto Sans Bold"/>
                </a:rPr>
                <a:t>04</a:t>
              </a:r>
              <a:r>
                <a:rPr lang="en-US" b="true" sz="3750" strike="noStrike" u="none">
                  <a:solidFill>
                    <a:srgbClr val="203238"/>
                  </a:solidFill>
                  <a:latin typeface="Noto Sans Bold"/>
                  <a:ea typeface="Noto Sans Bold"/>
                  <a:cs typeface="Noto Sans Bold"/>
                  <a:sym typeface="Noto Sans Bold"/>
                </a:rPr>
                <a:t>  설계 요구사항과 검증 목표</a:t>
              </a:r>
            </a:p>
          </p:txBody>
        </p:sp>
      </p:grpSp>
      <p:grpSp>
        <p:nvGrpSpPr>
          <p:cNvPr name="Group 17" id="17"/>
          <p:cNvGrpSpPr/>
          <p:nvPr/>
        </p:nvGrpSpPr>
        <p:grpSpPr>
          <a:xfrm rot="0">
            <a:off x="822960" y="1755648"/>
            <a:ext cx="16641623" cy="576072"/>
            <a:chOff x="0" y="0"/>
            <a:chExt cx="22188830" cy="768096"/>
          </a:xfrm>
        </p:grpSpPr>
        <p:sp>
          <p:nvSpPr>
            <p:cNvPr name="Freeform 18" id="18"/>
            <p:cNvSpPr/>
            <p:nvPr/>
          </p:nvSpPr>
          <p:spPr>
            <a:xfrm flipH="false" flipV="false" rot="0">
              <a:off x="0" y="0"/>
              <a:ext cx="22188805" cy="768096"/>
            </a:xfrm>
            <a:custGeom>
              <a:avLst/>
              <a:gdLst/>
              <a:ahLst/>
              <a:cxnLst/>
              <a:rect r="r" b="b" t="t" l="l"/>
              <a:pathLst>
                <a:path h="768096" w="22188805">
                  <a:moveTo>
                    <a:pt x="0" y="0"/>
                  </a:moveTo>
                  <a:lnTo>
                    <a:pt x="22188805" y="0"/>
                  </a:lnTo>
                  <a:lnTo>
                    <a:pt x="22188805" y="768096"/>
                  </a:lnTo>
                  <a:lnTo>
                    <a:pt x="0" y="768096"/>
                  </a:lnTo>
                  <a:close/>
                </a:path>
              </a:pathLst>
            </a:custGeom>
            <a:blipFill>
              <a:blip r:embed="rId3">
                <a:alphaModFix amt="0"/>
              </a:blip>
              <a:stretch>
                <a:fillRect l="0" t="-512493" r="0" b="-512495"/>
              </a:stretch>
            </a:blipFill>
          </p:spPr>
        </p:sp>
      </p:grpSp>
      <p:grpSp>
        <p:nvGrpSpPr>
          <p:cNvPr name="Group 19" id="19"/>
          <p:cNvGrpSpPr/>
          <p:nvPr/>
        </p:nvGrpSpPr>
        <p:grpSpPr>
          <a:xfrm rot="0">
            <a:off x="822960" y="1762125"/>
            <a:ext cx="16641623" cy="568928"/>
            <a:chOff x="0" y="0"/>
            <a:chExt cx="22188830" cy="758571"/>
          </a:xfrm>
        </p:grpSpPr>
        <p:sp>
          <p:nvSpPr>
            <p:cNvPr name="Freeform 20" id="20"/>
            <p:cNvSpPr/>
            <p:nvPr/>
          </p:nvSpPr>
          <p:spPr>
            <a:xfrm flipH="false" flipV="false" rot="0">
              <a:off x="0" y="0"/>
              <a:ext cx="22188830" cy="758571"/>
            </a:xfrm>
            <a:custGeom>
              <a:avLst/>
              <a:gdLst/>
              <a:ahLst/>
              <a:cxnLst/>
              <a:rect r="r" b="b" t="t" l="l"/>
              <a:pathLst>
                <a:path h="758571" w="22188830">
                  <a:moveTo>
                    <a:pt x="0" y="0"/>
                  </a:moveTo>
                  <a:lnTo>
                    <a:pt x="22188830" y="0"/>
                  </a:lnTo>
                  <a:lnTo>
                    <a:pt x="22188830" y="758571"/>
                  </a:lnTo>
                  <a:lnTo>
                    <a:pt x="0" y="758571"/>
                  </a:lnTo>
                  <a:close/>
                </a:path>
              </a:pathLst>
            </a:custGeom>
            <a:blipFill>
              <a:blip r:embed="rId4">
                <a:alphaModFix amt="0"/>
              </a:blip>
              <a:stretch>
                <a:fillRect l="0" t="-519953" r="0" b="-519953"/>
              </a:stretch>
            </a:blipFill>
          </p:spPr>
        </p:sp>
        <p:sp>
          <p:nvSpPr>
            <p:cNvPr name="TextBox 21" id="21"/>
            <p:cNvSpPr txBox="true"/>
            <p:nvPr/>
          </p:nvSpPr>
          <p:spPr>
            <a:xfrm>
              <a:off x="0" y="9525"/>
              <a:ext cx="22188830" cy="749046"/>
            </a:xfrm>
            <a:prstGeom prst="rect">
              <a:avLst/>
            </a:prstGeom>
          </p:spPr>
          <p:txBody>
            <a:bodyPr anchor="ctr" rtlCol="false" tIns="0" lIns="0" bIns="0" rIns="0"/>
            <a:lstStyle/>
            <a:p>
              <a:pPr algn="l" marL="0" indent="0" lvl="0">
                <a:lnSpc>
                  <a:spcPts val="2699"/>
                </a:lnSpc>
                <a:spcBef>
                  <a:spcPct val="0"/>
                </a:spcBef>
              </a:pPr>
              <a:r>
                <a:rPr lang="en-US" sz="2250" strike="noStrike" u="none">
                  <a:solidFill>
                    <a:srgbClr val="53666E"/>
                  </a:solidFill>
                  <a:latin typeface="Noto Sans"/>
                  <a:ea typeface="Noto Sans"/>
                  <a:cs typeface="Noto Sans"/>
                  <a:sym typeface="Noto Sans"/>
                </a:rPr>
                <a:t>오프라인·단일 장비 조건에서, 사전에 정한 기준으로 검증</a:t>
              </a:r>
            </a:p>
          </p:txBody>
        </p:sp>
      </p:grpSp>
      <p:graphicFrame>
        <p:nvGraphicFramePr>
          <p:cNvPr name="Table 22" id="22"/>
          <p:cNvGraphicFramePr>
            <a:graphicFrameLocks noGrp="true"/>
          </p:cNvGraphicFramePr>
          <p:nvPr/>
        </p:nvGraphicFramePr>
        <p:xfrm>
          <a:off x="822960" y="2743200"/>
          <a:ext cx="16598900" cy="5446183"/>
        </p:xfrm>
        <a:graphic>
          <a:graphicData uri="http://schemas.openxmlformats.org/drawingml/2006/table">
            <a:tbl>
              <a:tblPr/>
              <a:tblGrid>
                <a:gridCol w="3444180"/>
                <a:gridCol w="6419788"/>
                <a:gridCol w="6734932"/>
              </a:tblGrid>
              <a:tr h="888956">
                <a:tc>
                  <a:txBody>
                    <a:bodyPr anchor="t" rtlCol="false"/>
                    <a:lstStyle/>
                    <a:p>
                      <a:pPr algn="l" marL="0" indent="0" lvl="0">
                        <a:lnSpc>
                          <a:spcPts val="2610"/>
                        </a:lnSpc>
                        <a:spcBef>
                          <a:spcPct val="0"/>
                        </a:spcBef>
                        <a:defRPr/>
                      </a:pPr>
                      <a:r>
                        <a:rPr lang="en-US" b="true" sz="2175" strike="noStrike" u="none">
                          <a:solidFill>
                            <a:srgbClr val="FFFFFF"/>
                          </a:solidFill>
                          <a:latin typeface="Noto Sans Bold"/>
                          <a:ea typeface="Noto Sans Bold"/>
                          <a:cs typeface="Noto Sans Bold"/>
                          <a:sym typeface="Noto Sans Bold"/>
                        </a:rPr>
                        <a:t>설계 항목</a:t>
                      </a:r>
                      <a:endParaRPr lang="en-US" sz="1100"/>
                    </a:p>
                  </a:txBody>
                  <a:tcPr marL="109728" marR="109728" marT="109728" marB="109728"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1F6F63"/>
                    </a:solidFill>
                  </a:tcPr>
                </a:tc>
                <a:tc>
                  <a:txBody>
                    <a:bodyPr anchor="t" rtlCol="false"/>
                    <a:lstStyle/>
                    <a:p>
                      <a:pPr algn="l" marL="0" indent="0" lvl="0">
                        <a:lnSpc>
                          <a:spcPts val="2610"/>
                        </a:lnSpc>
                        <a:spcBef>
                          <a:spcPct val="0"/>
                        </a:spcBef>
                        <a:defRPr/>
                      </a:pPr>
                      <a:r>
                        <a:rPr lang="en-US" b="true" sz="2175" strike="noStrike" u="none">
                          <a:solidFill>
                            <a:srgbClr val="FFFFFF"/>
                          </a:solidFill>
                          <a:latin typeface="Noto Sans Bold"/>
                          <a:ea typeface="Noto Sans Bold"/>
                          <a:cs typeface="Noto Sans Bold"/>
                          <a:sym typeface="Noto Sans Bold"/>
                        </a:rPr>
                        <a:t>실행 조건</a:t>
                      </a:r>
                      <a:endParaRPr lang="en-US" sz="1100"/>
                    </a:p>
                  </a:txBody>
                  <a:tcPr marL="109728" marR="109728" marT="109728" marB="109728"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1F6F63"/>
                    </a:solidFill>
                  </a:tcPr>
                </a:tc>
                <a:tc>
                  <a:txBody>
                    <a:bodyPr anchor="t" rtlCol="false"/>
                    <a:lstStyle/>
                    <a:p>
                      <a:pPr algn="l" marL="0" indent="0" lvl="0">
                        <a:lnSpc>
                          <a:spcPts val="2610"/>
                        </a:lnSpc>
                        <a:spcBef>
                          <a:spcPct val="0"/>
                        </a:spcBef>
                        <a:defRPr/>
                      </a:pPr>
                      <a:r>
                        <a:rPr lang="en-US" b="true" sz="2175" strike="noStrike" u="none">
                          <a:solidFill>
                            <a:srgbClr val="FFFFFF"/>
                          </a:solidFill>
                          <a:latin typeface="Noto Sans Bold"/>
                          <a:ea typeface="Noto Sans Bold"/>
                          <a:cs typeface="Noto Sans Bold"/>
                          <a:sym typeface="Noto Sans Bold"/>
                        </a:rPr>
                        <a:t>검증 목표</a:t>
                      </a:r>
                      <a:endParaRPr lang="en-US" sz="1100"/>
                    </a:p>
                  </a:txBody>
                  <a:tcPr marL="109728" marR="109728" marT="109728" marB="109728"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1F6F63"/>
                    </a:solidFill>
                  </a:tcPr>
                </a:tc>
              </a:tr>
              <a:tr h="888956">
                <a:tc>
                  <a:txBody>
                    <a:bodyPr anchor="t" rtlCol="false"/>
                    <a:lstStyle/>
                    <a:p>
                      <a:pPr algn="l" marL="0" indent="0" lvl="0">
                        <a:lnSpc>
                          <a:spcPts val="2430"/>
                        </a:lnSpc>
                        <a:spcBef>
                          <a:spcPct val="0"/>
                        </a:spcBef>
                        <a:defRPr/>
                      </a:pPr>
                      <a:r>
                        <a:rPr lang="en-US" b="true" sz="2025" strike="noStrike" u="none">
                          <a:solidFill>
                            <a:srgbClr val="203238"/>
                          </a:solidFill>
                          <a:latin typeface="Noto Sans Bold"/>
                          <a:ea typeface="Noto Sans Bold"/>
                          <a:cs typeface="Noto Sans Bold"/>
                          <a:sym typeface="Noto Sans Bold"/>
                        </a:rPr>
                        <a:t>오프라인 실행</a:t>
                      </a:r>
                      <a:endParaRPr lang="en-US" sz="1100"/>
                    </a:p>
                  </a:txBody>
                  <a:tcPr marL="109728" marR="109728" marT="109728" marB="109728"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marL="0" indent="0" lvl="0">
                        <a:lnSpc>
                          <a:spcPts val="2430"/>
                        </a:lnSpc>
                        <a:spcBef>
                          <a:spcPct val="0"/>
                        </a:spcBef>
                        <a:defRPr/>
                      </a:pPr>
                      <a:r>
                        <a:rPr lang="en-US" sz="2025" strike="noStrike" u="none">
                          <a:solidFill>
                            <a:srgbClr val="203238"/>
                          </a:solidFill>
                          <a:latin typeface="Noto Sans"/>
                          <a:ea typeface="Noto Sans"/>
                          <a:cs typeface="Noto Sans"/>
                          <a:sym typeface="Noto Sans"/>
                        </a:rPr>
                        <a:t>외부 API 없이 기기 안에서 실행</a:t>
                      </a:r>
                      <a:endParaRPr lang="en-US" sz="1100"/>
                    </a:p>
                  </a:txBody>
                  <a:tcPr marL="109728" marR="109728" marT="109728" marB="109728"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marL="0" indent="0" lvl="0">
                        <a:lnSpc>
                          <a:spcPts val="2430"/>
                        </a:lnSpc>
                        <a:spcBef>
                          <a:spcPct val="0"/>
                        </a:spcBef>
                        <a:defRPr/>
                      </a:pPr>
                      <a:r>
                        <a:rPr lang="en-US" sz="2025" strike="noStrike" u="none">
                          <a:solidFill>
                            <a:srgbClr val="16796C"/>
                          </a:solidFill>
                          <a:latin typeface="Noto Sans"/>
                          <a:ea typeface="Noto Sans"/>
                          <a:cs typeface="Noto Sans"/>
                          <a:sym typeface="Noto Sans"/>
                        </a:rPr>
                        <a:t>외부 연결 없이 검색·답변</a:t>
                      </a:r>
                      <a:endParaRPr lang="en-US" sz="1100"/>
                    </a:p>
                  </a:txBody>
                  <a:tcPr marL="109728" marR="109728" marT="109728" marB="109728"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r>
              <a:tr h="945179">
                <a:tc>
                  <a:txBody>
                    <a:bodyPr anchor="t" rtlCol="false"/>
                    <a:lstStyle/>
                    <a:p>
                      <a:pPr algn="l" marL="0" indent="0" lvl="0">
                        <a:lnSpc>
                          <a:spcPts val="2430"/>
                        </a:lnSpc>
                        <a:spcBef>
                          <a:spcPct val="0"/>
                        </a:spcBef>
                        <a:defRPr/>
                      </a:pPr>
                      <a:r>
                        <a:rPr lang="en-US" b="true" sz="2025" strike="noStrike" u="none">
                          <a:solidFill>
                            <a:srgbClr val="203238"/>
                          </a:solidFill>
                          <a:latin typeface="Noto Sans Bold"/>
                          <a:ea typeface="Noto Sans Bold"/>
                          <a:cs typeface="Noto Sans Bold"/>
                          <a:sym typeface="Noto Sans Bold"/>
                        </a:rPr>
                        <a:t>근거 기반 답변</a:t>
                      </a:r>
                      <a:endParaRPr lang="en-US" sz="1100"/>
                    </a:p>
                  </a:txBody>
                  <a:tcPr marL="109728" marR="109728" marT="109728" marB="109728"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marL="0" indent="0" lvl="0">
                        <a:lnSpc>
                          <a:spcPts val="2430"/>
                        </a:lnSpc>
                        <a:spcBef>
                          <a:spcPct val="0"/>
                        </a:spcBef>
                        <a:defRPr/>
                      </a:pPr>
                      <a:r>
                        <a:rPr lang="en-US" sz="2025" strike="noStrike" u="none">
                          <a:solidFill>
                            <a:srgbClr val="203238"/>
                          </a:solidFill>
                          <a:latin typeface="Noto Sans"/>
                          <a:ea typeface="Noto Sans"/>
                          <a:cs typeface="Noto Sans"/>
                          <a:sym typeface="Noto Sans"/>
                        </a:rPr>
                        <a:t>카드·원문·인계 기록 통합 검색</a:t>
                      </a:r>
                      <a:endParaRPr lang="en-US" sz="1100"/>
                    </a:p>
                  </a:txBody>
                  <a:tcPr marL="109728" marR="109728" marT="109728" marB="109728"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marL="0" indent="0" lvl="0">
                        <a:lnSpc>
                          <a:spcPts val="2430"/>
                        </a:lnSpc>
                        <a:spcBef>
                          <a:spcPct val="0"/>
                        </a:spcBef>
                        <a:defRPr/>
                      </a:pPr>
                      <a:r>
                        <a:rPr lang="en-US" sz="2025" strike="noStrike" u="none">
                          <a:solidFill>
                            <a:srgbClr val="16796C"/>
                          </a:solidFill>
                          <a:latin typeface="Noto Sans"/>
                          <a:ea typeface="Noto Sans"/>
                          <a:cs typeface="Noto Sans"/>
                          <a:sym typeface="Noto Sans"/>
                        </a:rPr>
                        <a:t>근거 인용·답 없는 질문 거절</a:t>
                      </a:r>
                      <a:endParaRPr lang="en-US" sz="1100"/>
                    </a:p>
                    <a:p>
                      <a:pPr algn="l" marL="0" indent="0" lvl="0">
                        <a:lnSpc>
                          <a:spcPts val="2430"/>
                        </a:lnSpc>
                        <a:spcBef>
                          <a:spcPct val="0"/>
                        </a:spcBef>
                      </a:pPr>
                      <a:r>
                        <a:rPr lang="en-US" sz="2025" strike="noStrike" u="none">
                          <a:solidFill>
                            <a:srgbClr val="16796C"/>
                          </a:solidFill>
                          <a:latin typeface="Noto Sans"/>
                          <a:ea typeface="Noto Sans"/>
                          <a:cs typeface="Noto Sans"/>
                          <a:sym typeface="Noto Sans"/>
                        </a:rPr>
                        <a:t>중대 안전 오류 0건</a:t>
                      </a:r>
                    </a:p>
                  </a:txBody>
                  <a:tcPr marL="109728" marR="109728" marT="109728" marB="109728"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r>
              <a:tr h="888956">
                <a:tc>
                  <a:txBody>
                    <a:bodyPr anchor="t" rtlCol="false"/>
                    <a:lstStyle/>
                    <a:p>
                      <a:pPr algn="l" marL="0" indent="0" lvl="0">
                        <a:lnSpc>
                          <a:spcPts val="2430"/>
                        </a:lnSpc>
                        <a:spcBef>
                          <a:spcPct val="0"/>
                        </a:spcBef>
                        <a:defRPr/>
                      </a:pPr>
                      <a:r>
                        <a:rPr lang="en-US" b="true" sz="2025" strike="noStrike" u="none">
                          <a:solidFill>
                            <a:srgbClr val="203238"/>
                          </a:solidFill>
                          <a:latin typeface="Noto Sans Bold"/>
                          <a:ea typeface="Noto Sans Bold"/>
                          <a:cs typeface="Noto Sans Bold"/>
                          <a:sym typeface="Noto Sans Bold"/>
                        </a:rPr>
                        <a:t>현재 상태 반영</a:t>
                      </a:r>
                      <a:endParaRPr lang="en-US" sz="1100"/>
                    </a:p>
                  </a:txBody>
                  <a:tcPr marL="109728" marR="109728" marT="109728" marB="109728"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marL="0" indent="0" lvl="0">
                        <a:lnSpc>
                          <a:spcPts val="2430"/>
                        </a:lnSpc>
                        <a:spcBef>
                          <a:spcPct val="0"/>
                        </a:spcBef>
                        <a:defRPr/>
                      </a:pPr>
                      <a:r>
                        <a:rPr lang="en-US" sz="2025" strike="noStrike" u="none">
                          <a:solidFill>
                            <a:srgbClr val="203238"/>
                          </a:solidFill>
                          <a:latin typeface="Noto Sans"/>
                          <a:ea typeface="Noto Sans"/>
                          <a:cs typeface="Noto Sans"/>
                          <a:sym typeface="Noto Sans"/>
                        </a:rPr>
                        <a:t>현재 MES 값·기준 범위 확인</a:t>
                      </a:r>
                      <a:endParaRPr lang="en-US" sz="1100"/>
                    </a:p>
                  </a:txBody>
                  <a:tcPr marL="109728" marR="109728" marT="109728" marB="109728"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marL="0" indent="0" lvl="0">
                        <a:lnSpc>
                          <a:spcPts val="2430"/>
                        </a:lnSpc>
                        <a:spcBef>
                          <a:spcPct val="0"/>
                        </a:spcBef>
                        <a:defRPr/>
                      </a:pPr>
                      <a:r>
                        <a:rPr lang="en-US" sz="2025" strike="noStrike" u="none">
                          <a:solidFill>
                            <a:srgbClr val="16796C"/>
                          </a:solidFill>
                          <a:latin typeface="Noto Sans"/>
                          <a:ea typeface="Noto Sans"/>
                          <a:cs typeface="Noto Sans"/>
                          <a:sym typeface="Noto Sans"/>
                        </a:rPr>
                        <a:t>과거 기록과 상태 모순 0건</a:t>
                      </a:r>
                      <a:endParaRPr lang="en-US" sz="1100"/>
                    </a:p>
                  </a:txBody>
                  <a:tcPr marL="109728" marR="109728" marT="109728" marB="109728"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r>
              <a:tr h="945179">
                <a:tc>
                  <a:txBody>
                    <a:bodyPr anchor="t" rtlCol="false"/>
                    <a:lstStyle/>
                    <a:p>
                      <a:pPr algn="l" marL="0" indent="0" lvl="0">
                        <a:lnSpc>
                          <a:spcPts val="2430"/>
                        </a:lnSpc>
                        <a:spcBef>
                          <a:spcPct val="0"/>
                        </a:spcBef>
                        <a:defRPr/>
                      </a:pPr>
                      <a:r>
                        <a:rPr lang="en-US" b="true" sz="2025" strike="noStrike" u="none">
                          <a:solidFill>
                            <a:srgbClr val="203238"/>
                          </a:solidFill>
                          <a:latin typeface="Noto Sans Bold"/>
                          <a:ea typeface="Noto Sans Bold"/>
                          <a:cs typeface="Noto Sans Bold"/>
                          <a:sym typeface="Noto Sans Bold"/>
                        </a:rPr>
                        <a:t>제한 자원 실행</a:t>
                      </a:r>
                      <a:endParaRPr lang="en-US" sz="1100"/>
                    </a:p>
                  </a:txBody>
                  <a:tcPr marL="109728" marR="109728" marT="109728" marB="109728"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marL="0" indent="0" lvl="0">
                        <a:lnSpc>
                          <a:spcPts val="2430"/>
                        </a:lnSpc>
                        <a:spcBef>
                          <a:spcPct val="0"/>
                        </a:spcBef>
                        <a:defRPr/>
                      </a:pPr>
                      <a:r>
                        <a:rPr lang="en-US" sz="2025" strike="noStrike" u="none">
                          <a:solidFill>
                            <a:srgbClr val="203238"/>
                          </a:solidFill>
                          <a:latin typeface="Noto Sans"/>
                          <a:ea typeface="Noto Sans"/>
                          <a:cs typeface="Noto Sans"/>
                          <a:sym typeface="Noto Sans"/>
                        </a:rPr>
                        <a:t>Jetson Orin Nano 8GB</a:t>
                      </a:r>
                      <a:endParaRPr lang="en-US" sz="1100"/>
                    </a:p>
                  </a:txBody>
                  <a:tcPr marL="109728" marR="109728" marT="109728" marB="109728"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marL="0" indent="0" lvl="0">
                        <a:lnSpc>
                          <a:spcPts val="2430"/>
                        </a:lnSpc>
                        <a:spcBef>
                          <a:spcPct val="0"/>
                        </a:spcBef>
                        <a:defRPr/>
                      </a:pPr>
                      <a:r>
                        <a:rPr lang="en-US" sz="2025" strike="noStrike" u="none">
                          <a:solidFill>
                            <a:srgbClr val="16796C"/>
                          </a:solidFill>
                          <a:latin typeface="Noto Sans"/>
                          <a:ea typeface="Noto Sans"/>
                          <a:cs typeface="Noto Sans"/>
                          <a:sym typeface="Noto Sans"/>
                        </a:rPr>
                        <a:t>응답 p95 10초 이하</a:t>
                      </a:r>
                      <a:endParaRPr lang="en-US" sz="1100"/>
                    </a:p>
                    <a:p>
                      <a:pPr algn="l" marL="0" indent="0" lvl="0">
                        <a:lnSpc>
                          <a:spcPts val="2430"/>
                        </a:lnSpc>
                        <a:spcBef>
                          <a:spcPct val="0"/>
                        </a:spcBef>
                      </a:pPr>
                      <a:r>
                        <a:rPr lang="en-US" sz="2025" strike="noStrike" u="none">
                          <a:solidFill>
                            <a:srgbClr val="16796C"/>
                          </a:solidFill>
                          <a:latin typeface="Noto Sans"/>
                          <a:ea typeface="Noto Sans"/>
                          <a:cs typeface="Noto Sans"/>
                          <a:sym typeface="Noto Sans"/>
                        </a:rPr>
                        <a:t>여유 메모리 1.0GiB 이상</a:t>
                      </a:r>
                    </a:p>
                  </a:txBody>
                  <a:tcPr marL="109728" marR="109728" marT="109728" marB="109728"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r>
              <a:tr h="888956">
                <a:tc>
                  <a:txBody>
                    <a:bodyPr anchor="t" rtlCol="false"/>
                    <a:lstStyle/>
                    <a:p>
                      <a:pPr algn="l" marL="0" indent="0" lvl="0">
                        <a:lnSpc>
                          <a:spcPts val="2430"/>
                        </a:lnSpc>
                        <a:spcBef>
                          <a:spcPct val="0"/>
                        </a:spcBef>
                        <a:defRPr/>
                      </a:pPr>
                      <a:r>
                        <a:rPr lang="en-US" b="true" sz="2025" strike="noStrike" u="none">
                          <a:solidFill>
                            <a:srgbClr val="203238"/>
                          </a:solidFill>
                          <a:latin typeface="Noto Sans Bold"/>
                          <a:ea typeface="Noto Sans Bold"/>
                          <a:cs typeface="Noto Sans Bold"/>
                          <a:sym typeface="Noto Sans Bold"/>
                        </a:rPr>
                        <a:t>평가 독립성</a:t>
                      </a:r>
                      <a:endParaRPr lang="en-US" sz="1100"/>
                    </a:p>
                  </a:txBody>
                  <a:tcPr marL="109728" marR="109728" marT="109728" marB="109728"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marL="0" indent="0" lvl="0">
                        <a:lnSpc>
                          <a:spcPts val="2430"/>
                        </a:lnSpc>
                        <a:spcBef>
                          <a:spcPct val="0"/>
                        </a:spcBef>
                        <a:defRPr/>
                      </a:pPr>
                      <a:r>
                        <a:rPr lang="en-US" sz="2025" strike="noStrike" u="none">
                          <a:solidFill>
                            <a:srgbClr val="203238"/>
                          </a:solidFill>
                          <a:latin typeface="Noto Sans"/>
                          <a:ea typeface="Noto Sans"/>
                          <a:cs typeface="Noto Sans"/>
                          <a:sym typeface="Noto Sans"/>
                        </a:rPr>
                        <a:t>블라인드 문항·기준 사전 등록</a:t>
                      </a:r>
                      <a:endParaRPr lang="en-US" sz="1100"/>
                    </a:p>
                  </a:txBody>
                  <a:tcPr marL="109728" marR="109728" marT="109728" marB="109728"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marL="0" indent="0" lvl="0">
                        <a:lnSpc>
                          <a:spcPts val="2430"/>
                        </a:lnSpc>
                        <a:spcBef>
                          <a:spcPct val="0"/>
                        </a:spcBef>
                        <a:defRPr/>
                      </a:pPr>
                      <a:r>
                        <a:rPr lang="en-US" sz="2025" strike="noStrike" u="none">
                          <a:solidFill>
                            <a:srgbClr val="16796C"/>
                          </a:solidFill>
                          <a:latin typeface="Noto Sans"/>
                          <a:ea typeface="Noto Sans"/>
                          <a:cs typeface="Noto Sans"/>
                          <a:sym typeface="Noto Sans"/>
                        </a:rPr>
                        <a:t>블라인드 채점</a:t>
                      </a:r>
                      <a:endParaRPr lang="en-US" sz="1100"/>
                    </a:p>
                  </a:txBody>
                  <a:tcPr marL="109728" marR="109728" marT="109728" marB="109728"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r>
            </a:tbl>
          </a:graphicData>
        </a:graphic>
      </p:graphicFrame>
      <p:sp>
        <p:nvSpPr>
          <p:cNvPr name="TextBox 23" id="23"/>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strike="noStrike" u="none">
                <a:solidFill>
                  <a:srgbClr val="6B787A"/>
                </a:solidFill>
                <a:latin typeface="Noto Sans"/>
                <a:ea typeface="Noto Sans"/>
                <a:cs typeface="Noto Sans"/>
                <a:sym typeface="Noto Sans"/>
              </a:rPr>
              <a:t>8</a:t>
            </a:r>
          </a:p>
        </p:txBody>
      </p:sp>
      <p:grpSp>
        <p:nvGrpSpPr>
          <p:cNvPr name="Group 24" id="24"/>
          <p:cNvGrpSpPr/>
          <p:nvPr/>
        </p:nvGrpSpPr>
        <p:grpSpPr>
          <a:xfrm rot="0">
            <a:off x="5818352" y="9710928"/>
            <a:ext cx="4070985" cy="419672"/>
            <a:chOff x="0" y="0"/>
            <a:chExt cx="5427980" cy="559562"/>
          </a:xfrm>
        </p:grpSpPr>
        <p:grpSp>
          <p:nvGrpSpPr>
            <p:cNvPr name="Group 25" id="25"/>
            <p:cNvGrpSpPr/>
            <p:nvPr/>
          </p:nvGrpSpPr>
          <p:grpSpPr>
            <a:xfrm rot="0">
              <a:off x="0" y="0"/>
              <a:ext cx="1680845" cy="559562"/>
              <a:chOff x="0" y="0"/>
              <a:chExt cx="1680845" cy="559562"/>
            </a:xfrm>
          </p:grpSpPr>
          <p:sp>
            <p:nvSpPr>
              <p:cNvPr name="Freeform 26" id="26"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5"/>
                <a:stretch>
                  <a:fillRect l="0" t="-265" r="0" b="-267"/>
                </a:stretch>
              </a:blipFill>
            </p:spPr>
          </p:sp>
        </p:grpSp>
        <p:grpSp>
          <p:nvGrpSpPr>
            <p:cNvPr name="Group 27" id="27"/>
            <p:cNvGrpSpPr/>
            <p:nvPr/>
          </p:nvGrpSpPr>
          <p:grpSpPr>
            <a:xfrm rot="0">
              <a:off x="2069490" y="124358"/>
              <a:ext cx="1189101" cy="310896"/>
              <a:chOff x="0" y="0"/>
              <a:chExt cx="1189101" cy="310896"/>
            </a:xfrm>
          </p:grpSpPr>
          <p:sp>
            <p:nvSpPr>
              <p:cNvPr name="Freeform 28" id="28"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6"/>
                <a:stretch>
                  <a:fillRect l="-30" t="0" r="-32" b="0"/>
                </a:stretch>
              </a:blipFill>
            </p:spPr>
          </p:sp>
        </p:grpSp>
        <p:grpSp>
          <p:nvGrpSpPr>
            <p:cNvPr name="Group 29" id="29"/>
            <p:cNvGrpSpPr/>
            <p:nvPr/>
          </p:nvGrpSpPr>
          <p:grpSpPr>
            <a:xfrm rot="0">
              <a:off x="3647186" y="124358"/>
              <a:ext cx="1780794" cy="310896"/>
              <a:chOff x="0" y="0"/>
              <a:chExt cx="1780794" cy="310896"/>
            </a:xfrm>
          </p:grpSpPr>
          <p:sp>
            <p:nvSpPr>
              <p:cNvPr name="Freeform 30" id="30"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7"/>
                <a:stretch>
                  <a:fillRect l="0" t="-118" r="0" b="-122"/>
                </a:stretch>
              </a:blipFill>
            </p:spPr>
          </p:sp>
        </p:gr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492853" y="-16669"/>
            <a:ext cx="8811387" cy="10320338"/>
            <a:chOff x="0" y="0"/>
            <a:chExt cx="11748516" cy="13760450"/>
          </a:xfrm>
        </p:grpSpPr>
        <p:sp>
          <p:nvSpPr>
            <p:cNvPr name="Freeform 3" id="3"/>
            <p:cNvSpPr/>
            <p:nvPr/>
          </p:nvSpPr>
          <p:spPr>
            <a:xfrm flipH="false" flipV="false" rot="0">
              <a:off x="0" y="0"/>
              <a:ext cx="11748516" cy="13760450"/>
            </a:xfrm>
            <a:custGeom>
              <a:avLst/>
              <a:gdLst/>
              <a:ahLst/>
              <a:cxnLst/>
              <a:rect r="r" b="b" t="t" l="l"/>
              <a:pathLst>
                <a:path h="13760450" w="11748516">
                  <a:moveTo>
                    <a:pt x="0" y="0"/>
                  </a:moveTo>
                  <a:lnTo>
                    <a:pt x="11748516" y="0"/>
                  </a:lnTo>
                  <a:lnTo>
                    <a:pt x="11748516" y="13760450"/>
                  </a:lnTo>
                  <a:lnTo>
                    <a:pt x="0" y="13760450"/>
                  </a:lnTo>
                  <a:close/>
                </a:path>
              </a:pathLst>
            </a:custGeom>
            <a:solidFill>
              <a:srgbClr val="0E3B38"/>
            </a:solidFill>
            <a:ln w="19050" cap="sq">
              <a:solidFill>
                <a:srgbClr val="0E3B38"/>
              </a:solidFill>
              <a:prstDash val="solid"/>
              <a:miter/>
            </a:ln>
          </p:spPr>
        </p:sp>
      </p:grpSp>
      <p:grpSp>
        <p:nvGrpSpPr>
          <p:cNvPr name="Group 4" id="4"/>
          <p:cNvGrpSpPr/>
          <p:nvPr/>
        </p:nvGrpSpPr>
        <p:grpSpPr>
          <a:xfrm rot="0">
            <a:off x="9509522" y="4937760"/>
            <a:ext cx="8092221" cy="4937760"/>
            <a:chOff x="0" y="0"/>
            <a:chExt cx="10789628" cy="6583680"/>
          </a:xfrm>
        </p:grpSpPr>
        <p:sp>
          <p:nvSpPr>
            <p:cNvPr name="Freeform 5" id="5"/>
            <p:cNvSpPr/>
            <p:nvPr/>
          </p:nvSpPr>
          <p:spPr>
            <a:xfrm flipH="false" flipV="false" rot="0">
              <a:off x="0" y="0"/>
              <a:ext cx="10789666" cy="6583680"/>
            </a:xfrm>
            <a:custGeom>
              <a:avLst/>
              <a:gdLst/>
              <a:ahLst/>
              <a:cxnLst/>
              <a:rect r="r" b="b" t="t" l="l"/>
              <a:pathLst>
                <a:path h="6583680" w="10789666">
                  <a:moveTo>
                    <a:pt x="0" y="0"/>
                  </a:moveTo>
                  <a:lnTo>
                    <a:pt x="10789666" y="0"/>
                  </a:lnTo>
                  <a:lnTo>
                    <a:pt x="10789666" y="6583680"/>
                  </a:lnTo>
                  <a:lnTo>
                    <a:pt x="0" y="6583680"/>
                  </a:lnTo>
                  <a:close/>
                </a:path>
              </a:pathLst>
            </a:custGeom>
            <a:blipFill>
              <a:blip r:embed="rId3">
                <a:alphaModFix amt="0"/>
              </a:blip>
              <a:stretch>
                <a:fillRect l="-28343" t="0" r="-28343" b="0"/>
              </a:stretch>
            </a:blipFill>
          </p:spPr>
        </p:sp>
      </p:grpSp>
      <p:grpSp>
        <p:nvGrpSpPr>
          <p:cNvPr name="Group 6" id="6"/>
          <p:cNvGrpSpPr/>
          <p:nvPr/>
        </p:nvGrpSpPr>
        <p:grpSpPr>
          <a:xfrm rot="0">
            <a:off x="9509522" y="4930616"/>
            <a:ext cx="8092221" cy="4944904"/>
            <a:chOff x="0" y="0"/>
            <a:chExt cx="10789628" cy="6593205"/>
          </a:xfrm>
        </p:grpSpPr>
        <p:sp>
          <p:nvSpPr>
            <p:cNvPr name="Freeform 7" id="7"/>
            <p:cNvSpPr/>
            <p:nvPr/>
          </p:nvSpPr>
          <p:spPr>
            <a:xfrm flipH="false" flipV="false" rot="0">
              <a:off x="0" y="0"/>
              <a:ext cx="10789628" cy="6593205"/>
            </a:xfrm>
            <a:custGeom>
              <a:avLst/>
              <a:gdLst/>
              <a:ahLst/>
              <a:cxnLst/>
              <a:rect r="r" b="b" t="t" l="l"/>
              <a:pathLst>
                <a:path h="6593205" w="10789628">
                  <a:moveTo>
                    <a:pt x="0" y="0"/>
                  </a:moveTo>
                  <a:lnTo>
                    <a:pt x="10789628" y="0"/>
                  </a:lnTo>
                  <a:lnTo>
                    <a:pt x="10789628" y="6593205"/>
                  </a:lnTo>
                  <a:lnTo>
                    <a:pt x="0" y="6593205"/>
                  </a:lnTo>
                  <a:close/>
                </a:path>
              </a:pathLst>
            </a:custGeom>
            <a:blipFill>
              <a:blip r:embed="rId4">
                <a:alphaModFix amt="0"/>
              </a:blip>
              <a:stretch>
                <a:fillRect l="-28402" t="0" r="-28402" b="0"/>
              </a:stretch>
            </a:blipFill>
          </p:spPr>
        </p:sp>
        <p:sp>
          <p:nvSpPr>
            <p:cNvPr name="TextBox 8" id="8"/>
            <p:cNvSpPr txBox="true"/>
            <p:nvPr/>
          </p:nvSpPr>
          <p:spPr>
            <a:xfrm>
              <a:off x="0" y="-9525"/>
              <a:ext cx="10789628" cy="6602730"/>
            </a:xfrm>
            <a:prstGeom prst="rect">
              <a:avLst/>
            </a:prstGeom>
          </p:spPr>
          <p:txBody>
            <a:bodyPr anchor="b" rtlCol="false" tIns="0" lIns="0" bIns="0" rIns="0"/>
            <a:lstStyle/>
            <a:p>
              <a:pPr algn="r">
                <a:lnSpc>
                  <a:spcPts val="36000"/>
                </a:lnSpc>
              </a:pPr>
              <a:r>
                <a:rPr lang="en-US" sz="30000" b="true">
                  <a:solidFill>
                    <a:srgbClr val="FFFFFF"/>
                  </a:solidFill>
                  <a:latin typeface="Noto Sans Bold"/>
                  <a:ea typeface="Noto Sans Bold"/>
                  <a:cs typeface="Noto Sans Bold"/>
                  <a:sym typeface="Noto Sans Bold"/>
                </a:rPr>
                <a:t>02</a:t>
              </a:r>
            </a:p>
          </p:txBody>
        </p:sp>
      </p:grpSp>
      <p:sp>
        <p:nvSpPr>
          <p:cNvPr name="TextBox 9" id="9"/>
          <p:cNvSpPr txBox="true"/>
          <p:nvPr/>
        </p:nvSpPr>
        <p:spPr>
          <a:xfrm rot="0">
            <a:off x="1234440" y="1518285"/>
            <a:ext cx="7955280" cy="314325"/>
          </a:xfrm>
          <a:prstGeom prst="rect">
            <a:avLst/>
          </a:prstGeom>
        </p:spPr>
        <p:txBody>
          <a:bodyPr anchor="t" rtlCol="false" tIns="0" lIns="0" bIns="0" rIns="0">
            <a:spAutoFit/>
          </a:bodyPr>
          <a:lstStyle/>
          <a:p>
            <a:pPr algn="l">
              <a:lnSpc>
                <a:spcPts val="2520"/>
              </a:lnSpc>
            </a:pPr>
            <a:r>
              <a:rPr lang="en-US" sz="2100">
                <a:solidFill>
                  <a:srgbClr val="16796C"/>
                </a:solidFill>
                <a:latin typeface="Noto Sans"/>
                <a:ea typeface="Noto Sans"/>
                <a:cs typeface="Noto Sans"/>
                <a:sym typeface="Noto Sans"/>
              </a:rPr>
              <a:t>ShiftLink 최종 발표</a:t>
            </a:r>
          </a:p>
        </p:txBody>
      </p:sp>
      <p:sp>
        <p:nvSpPr>
          <p:cNvPr name="TextBox 10" id="10"/>
          <p:cNvSpPr txBox="true"/>
          <p:nvPr/>
        </p:nvSpPr>
        <p:spPr>
          <a:xfrm rot="0">
            <a:off x="1234440" y="2047875"/>
            <a:ext cx="7955280" cy="819150"/>
          </a:xfrm>
          <a:prstGeom prst="rect">
            <a:avLst/>
          </a:prstGeom>
        </p:spPr>
        <p:txBody>
          <a:bodyPr anchor="t" rtlCol="false" tIns="0" lIns="0" bIns="0" rIns="0">
            <a:spAutoFit/>
          </a:bodyPr>
          <a:lstStyle/>
          <a:p>
            <a:pPr algn="l">
              <a:lnSpc>
                <a:spcPts val="6480"/>
              </a:lnSpc>
            </a:pPr>
            <a:r>
              <a:rPr lang="en-US" sz="5400" b="true">
                <a:solidFill>
                  <a:srgbClr val="203238"/>
                </a:solidFill>
                <a:latin typeface="Noto Sans Bold"/>
                <a:ea typeface="Noto Sans Bold"/>
                <a:cs typeface="Noto Sans Bold"/>
                <a:sym typeface="Noto Sans Bold"/>
              </a:rPr>
              <a:t>시스템 구성</a:t>
            </a:r>
          </a:p>
        </p:txBody>
      </p:sp>
      <p:sp>
        <p:nvSpPr>
          <p:cNvPr name="TextBox 11" id="11"/>
          <p:cNvSpPr txBox="true"/>
          <p:nvPr/>
        </p:nvSpPr>
        <p:spPr>
          <a:xfrm rot="0">
            <a:off x="1234440" y="3499485"/>
            <a:ext cx="7955280" cy="2718435"/>
          </a:xfrm>
          <a:prstGeom prst="rect">
            <a:avLst/>
          </a:prstGeom>
        </p:spPr>
        <p:txBody>
          <a:bodyPr anchor="t" rtlCol="false" tIns="0" lIns="0" bIns="0" rIns="0">
            <a:spAutoFit/>
          </a:bodyPr>
          <a:lstStyle/>
          <a:p>
            <a:pPr algn="l">
              <a:lnSpc>
                <a:spcPts val="3600"/>
              </a:lnSpc>
              <a:spcBef>
                <a:spcPct val="0"/>
              </a:spcBef>
            </a:pPr>
            <a:r>
              <a:rPr lang="en-US" sz="2400" strike="noStrike" u="none">
                <a:solidFill>
                  <a:srgbClr val="45545A"/>
                </a:solidFill>
                <a:latin typeface="Noto Sans"/>
                <a:ea typeface="Noto Sans"/>
                <a:cs typeface="Noto Sans"/>
                <a:sym typeface="Noto Sans"/>
              </a:rPr>
              <a:t>01  아키텍처</a:t>
            </a:r>
          </a:p>
          <a:p>
            <a:pPr algn="l">
              <a:lnSpc>
                <a:spcPts val="3600"/>
              </a:lnSpc>
              <a:spcBef>
                <a:spcPct val="0"/>
              </a:spcBef>
            </a:pPr>
            <a:r>
              <a:rPr lang="en-US" sz="2400" strike="noStrike" u="none">
                <a:solidFill>
                  <a:srgbClr val="45545A"/>
                </a:solidFill>
                <a:latin typeface="Noto Sans"/>
                <a:ea typeface="Noto Sans"/>
                <a:cs typeface="Noto Sans"/>
                <a:sym typeface="Noto Sans"/>
              </a:rPr>
              <a:t>02  Jetson Orin Nano</a:t>
            </a:r>
          </a:p>
          <a:p>
            <a:pPr algn="l">
              <a:lnSpc>
                <a:spcPts val="3600"/>
              </a:lnSpc>
              <a:spcBef>
                <a:spcPct val="0"/>
              </a:spcBef>
            </a:pPr>
            <a:r>
              <a:rPr lang="en-US" sz="2400" strike="noStrike" u="none">
                <a:solidFill>
                  <a:srgbClr val="45545A"/>
                </a:solidFill>
                <a:latin typeface="Noto Sans"/>
                <a:ea typeface="Noto Sans"/>
                <a:cs typeface="Noto Sans"/>
                <a:sym typeface="Noto Sans"/>
              </a:rPr>
              <a:t>03  Raspberrypi 4</a:t>
            </a:r>
          </a:p>
          <a:p>
            <a:pPr algn="l">
              <a:lnSpc>
                <a:spcPts val="3600"/>
              </a:lnSpc>
              <a:spcBef>
                <a:spcPct val="0"/>
              </a:spcBef>
            </a:pPr>
            <a:r>
              <a:rPr lang="en-US" sz="2400" strike="noStrike" u="none">
                <a:solidFill>
                  <a:srgbClr val="45545A"/>
                </a:solidFill>
                <a:latin typeface="Noto Sans"/>
                <a:ea typeface="Noto Sans"/>
                <a:cs typeface="Noto Sans"/>
                <a:sym typeface="Noto Sans"/>
              </a:rPr>
              <a:t>04  MES 대시보드·지식카드 검토</a:t>
            </a:r>
          </a:p>
          <a:p>
            <a:pPr algn="l">
              <a:lnSpc>
                <a:spcPts val="3600"/>
              </a:lnSpc>
              <a:spcBef>
                <a:spcPct val="0"/>
              </a:spcBef>
            </a:pPr>
            <a:r>
              <a:rPr lang="en-US" sz="2400" strike="noStrike" u="none">
                <a:solidFill>
                  <a:srgbClr val="45545A"/>
                </a:solidFill>
                <a:latin typeface="Noto Sans"/>
                <a:ea typeface="Noto Sans"/>
                <a:cs typeface="Noto Sans"/>
                <a:sym typeface="Noto Sans"/>
              </a:rPr>
              <a:t>05  지식 재사용 루프</a:t>
            </a:r>
          </a:p>
          <a:p>
            <a:pPr algn="l">
              <a:lnSpc>
                <a:spcPts val="3600"/>
              </a:lnSpc>
              <a:spcBef>
                <a:spcPct val="0"/>
              </a:spcBef>
            </a:pPr>
            <a:r>
              <a:rPr lang="en-US" sz="2400" strike="noStrike" u="none">
                <a:solidFill>
                  <a:srgbClr val="45545A"/>
                </a:solidFill>
                <a:latin typeface="Noto Sans"/>
                <a:ea typeface="Noto Sans"/>
                <a:cs typeface="Noto Sans"/>
                <a:sym typeface="Noto Sans"/>
              </a:rPr>
              <a:t>06  합성 데이터 가상 공장</a:t>
            </a:r>
          </a:p>
        </p:txBody>
      </p:sp>
      <p:grpSp>
        <p:nvGrpSpPr>
          <p:cNvPr name="Group 12" id="12"/>
          <p:cNvGrpSpPr/>
          <p:nvPr/>
        </p:nvGrpSpPr>
        <p:grpSpPr>
          <a:xfrm rot="0">
            <a:off x="12384195" y="9200483"/>
            <a:ext cx="5508498" cy="856298"/>
            <a:chOff x="0" y="0"/>
            <a:chExt cx="7344664" cy="1141730"/>
          </a:xfrm>
        </p:grpSpPr>
        <p:sp>
          <p:nvSpPr>
            <p:cNvPr name="Freeform 13" id="13"/>
            <p:cNvSpPr/>
            <p:nvPr/>
          </p:nvSpPr>
          <p:spPr>
            <a:xfrm flipH="false" flipV="false" rot="0">
              <a:off x="0" y="0"/>
              <a:ext cx="7344664" cy="1141730"/>
            </a:xfrm>
            <a:custGeom>
              <a:avLst/>
              <a:gdLst/>
              <a:ahLst/>
              <a:cxnLst/>
              <a:rect r="r" b="b" t="t" l="l"/>
              <a:pathLst>
                <a:path h="1141730" w="7344664">
                  <a:moveTo>
                    <a:pt x="0" y="0"/>
                  </a:moveTo>
                  <a:lnTo>
                    <a:pt x="7344664" y="0"/>
                  </a:lnTo>
                  <a:lnTo>
                    <a:pt x="7344664" y="1141730"/>
                  </a:lnTo>
                  <a:lnTo>
                    <a:pt x="0" y="11417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479425" y="241681"/>
              <a:ext cx="1977517" cy="658368"/>
              <a:chOff x="0" y="0"/>
              <a:chExt cx="1977517" cy="658368"/>
            </a:xfrm>
          </p:grpSpPr>
          <p:sp>
            <p:nvSpPr>
              <p:cNvPr name="Freeform 15" id="15" descr="C:\Users\abab9\AppData\Local\Temp\claude\C--Users-abab9-Desktop-Shiftlink\03368683-632b-4bf6-b41d-988cf517f7bf\scratchpad\build\logos\knda.png"/>
              <p:cNvSpPr/>
              <p:nvPr/>
            </p:nvSpPr>
            <p:spPr>
              <a:xfrm flipH="false" flipV="false" rot="0">
                <a:off x="0" y="0"/>
                <a:ext cx="1977517" cy="658368"/>
              </a:xfrm>
              <a:custGeom>
                <a:avLst/>
                <a:gdLst/>
                <a:ahLst/>
                <a:cxnLst/>
                <a:rect r="r" b="b" t="t" l="l"/>
                <a:pathLst>
                  <a:path h="658368" w="1977517">
                    <a:moveTo>
                      <a:pt x="0" y="0"/>
                    </a:moveTo>
                    <a:lnTo>
                      <a:pt x="1977517" y="0"/>
                    </a:lnTo>
                    <a:lnTo>
                      <a:pt x="1977517" y="658368"/>
                    </a:lnTo>
                    <a:lnTo>
                      <a:pt x="0" y="658368"/>
                    </a:lnTo>
                    <a:lnTo>
                      <a:pt x="0" y="0"/>
                    </a:lnTo>
                    <a:close/>
                  </a:path>
                </a:pathLst>
              </a:custGeom>
              <a:blipFill>
                <a:blip r:embed="rId7"/>
                <a:stretch>
                  <a:fillRect l="0" t="-262" r="0" b="-264"/>
                </a:stretch>
              </a:blipFill>
            </p:spPr>
          </p:sp>
        </p:grpSp>
        <p:grpSp>
          <p:nvGrpSpPr>
            <p:cNvPr name="Group 16" id="16"/>
            <p:cNvGrpSpPr/>
            <p:nvPr/>
          </p:nvGrpSpPr>
          <p:grpSpPr>
            <a:xfrm rot="0">
              <a:off x="2914129" y="387985"/>
              <a:ext cx="1398905" cy="365760"/>
              <a:chOff x="0" y="0"/>
              <a:chExt cx="1398905" cy="365760"/>
            </a:xfrm>
          </p:grpSpPr>
          <p:sp>
            <p:nvSpPr>
              <p:cNvPr name="Freeform 17" id="17" descr="C:\Users\abab9\AppData\Local\Temp\claude\C--Users-abab9-Desktop-Shiftlink\03368683-632b-4bf6-b41d-988cf517f7bf\scratchpad\build\logos\posco.png"/>
              <p:cNvSpPr/>
              <p:nvPr/>
            </p:nvSpPr>
            <p:spPr>
              <a:xfrm flipH="false" flipV="false" rot="0">
                <a:off x="0" y="0"/>
                <a:ext cx="1398905" cy="365760"/>
              </a:xfrm>
              <a:custGeom>
                <a:avLst/>
                <a:gdLst/>
                <a:ahLst/>
                <a:cxnLst/>
                <a:rect r="r" b="b" t="t" l="l"/>
                <a:pathLst>
                  <a:path h="365760" w="1398905">
                    <a:moveTo>
                      <a:pt x="0" y="0"/>
                    </a:moveTo>
                    <a:lnTo>
                      <a:pt x="1398905" y="0"/>
                    </a:lnTo>
                    <a:lnTo>
                      <a:pt x="1398905" y="365760"/>
                    </a:lnTo>
                    <a:lnTo>
                      <a:pt x="0" y="365760"/>
                    </a:lnTo>
                    <a:lnTo>
                      <a:pt x="0" y="0"/>
                    </a:lnTo>
                    <a:close/>
                  </a:path>
                </a:pathLst>
              </a:custGeom>
              <a:blipFill>
                <a:blip r:embed="rId8"/>
                <a:stretch>
                  <a:fillRect l="-32" t="0" r="-32" b="0"/>
                </a:stretch>
              </a:blipFill>
            </p:spPr>
          </p:sp>
        </p:grpSp>
        <p:grpSp>
          <p:nvGrpSpPr>
            <p:cNvPr name="Group 18" id="18"/>
            <p:cNvGrpSpPr/>
            <p:nvPr/>
          </p:nvGrpSpPr>
          <p:grpSpPr>
            <a:xfrm rot="0">
              <a:off x="4770247" y="387985"/>
              <a:ext cx="2094992" cy="365760"/>
              <a:chOff x="0" y="0"/>
              <a:chExt cx="2094992" cy="365760"/>
            </a:xfrm>
          </p:grpSpPr>
          <p:sp>
            <p:nvSpPr>
              <p:cNvPr name="Freeform 19" id="19" descr="C:\Users\abab9\AppData\Local\Temp\claude\C--Users-abab9-Desktop-Shiftlink\03368683-632b-4bf6-b41d-988cf517f7bf\scratchpad\build\logos\nextsurfer.png"/>
              <p:cNvSpPr/>
              <p:nvPr/>
            </p:nvSpPr>
            <p:spPr>
              <a:xfrm flipH="false" flipV="false" rot="0">
                <a:off x="0" y="0"/>
                <a:ext cx="2094992" cy="365760"/>
              </a:xfrm>
              <a:custGeom>
                <a:avLst/>
                <a:gdLst/>
                <a:ahLst/>
                <a:cxnLst/>
                <a:rect r="r" b="b" t="t" l="l"/>
                <a:pathLst>
                  <a:path h="365760" w="2094992">
                    <a:moveTo>
                      <a:pt x="0" y="0"/>
                    </a:moveTo>
                    <a:lnTo>
                      <a:pt x="2094992" y="0"/>
                    </a:lnTo>
                    <a:lnTo>
                      <a:pt x="2094992" y="365760"/>
                    </a:lnTo>
                    <a:lnTo>
                      <a:pt x="0" y="365760"/>
                    </a:lnTo>
                    <a:lnTo>
                      <a:pt x="0" y="0"/>
                    </a:lnTo>
                    <a:close/>
                  </a:path>
                </a:pathLst>
              </a:custGeom>
              <a:blipFill>
                <a:blip r:embed="rId9"/>
                <a:stretch>
                  <a:fillRect l="0" t="-118" r="0" b="-118"/>
                </a:stretch>
              </a:blipFill>
            </p:spPr>
          </p:sp>
        </p:gr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2784" r="0" b="-332782"/>
              </a:stretch>
            </a:blipFill>
          </p:spPr>
        </p:sp>
      </p:grpSp>
      <p:grpSp>
        <p:nvGrpSpPr>
          <p:cNvPr name="Group 6" id="6"/>
          <p:cNvGrpSpPr/>
          <p:nvPr/>
        </p:nvGrpSpPr>
        <p:grpSpPr>
          <a:xfrm rot="0">
            <a:off x="822960" y="9696640"/>
            <a:ext cx="8229600" cy="425768"/>
            <a:chOff x="0" y="0"/>
            <a:chExt cx="10972800" cy="567690"/>
          </a:xfrm>
        </p:grpSpPr>
        <p:sp>
          <p:nvSpPr>
            <p:cNvPr name="Freeform 7" id="7"/>
            <p:cNvSpPr/>
            <p:nvPr/>
          </p:nvSpPr>
          <p:spPr>
            <a:xfrm flipH="false" flipV="false" rot="0">
              <a:off x="0" y="0"/>
              <a:ext cx="10972800" cy="567690"/>
            </a:xfrm>
            <a:custGeom>
              <a:avLst/>
              <a:gdLst/>
              <a:ahLst/>
              <a:cxnLst/>
              <a:rect r="r" b="b" t="t" l="l"/>
              <a:pathLst>
                <a:path h="567690" w="10972800">
                  <a:moveTo>
                    <a:pt x="0" y="0"/>
                  </a:moveTo>
                  <a:lnTo>
                    <a:pt x="10972800" y="0"/>
                  </a:lnTo>
                  <a:lnTo>
                    <a:pt x="10972800" y="567690"/>
                  </a:lnTo>
                  <a:lnTo>
                    <a:pt x="0" y="567690"/>
                  </a:lnTo>
                  <a:close/>
                </a:path>
              </a:pathLst>
            </a:custGeom>
            <a:blipFill>
              <a:blip r:embed="rId5">
                <a:alphaModFix amt="0"/>
              </a:blip>
              <a:stretch>
                <a:fillRect l="0" t="-326623" r="0" b="-326623"/>
              </a:stretch>
            </a:blipFill>
          </p:spPr>
        </p:sp>
        <p:sp>
          <p:nvSpPr>
            <p:cNvPr name="TextBox 8" id="8"/>
            <p:cNvSpPr txBox="true"/>
            <p:nvPr/>
          </p:nvSpPr>
          <p:spPr>
            <a:xfrm>
              <a:off x="0" y="-9525"/>
              <a:ext cx="10972800" cy="577215"/>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9" id="9"/>
          <p:cNvGrpSpPr/>
          <p:nvPr/>
        </p:nvGrpSpPr>
        <p:grpSpPr>
          <a:xfrm rot="0">
            <a:off x="822960" y="438912"/>
            <a:ext cx="4114800" cy="384048"/>
            <a:chOff x="0" y="0"/>
            <a:chExt cx="5486400" cy="512064"/>
          </a:xfrm>
        </p:grpSpPr>
        <p:sp>
          <p:nvSpPr>
            <p:cNvPr name="Freeform 10" id="10"/>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5">
                <a:alphaModFix amt="0"/>
              </a:blip>
              <a:stretch>
                <a:fillRect l="0" t="-158768" r="0" b="-158768"/>
              </a:stretch>
            </a:blipFill>
          </p:spPr>
        </p:sp>
        <p:sp>
          <p:nvSpPr>
            <p:cNvPr name="TextBox 11" id="11"/>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02  시스템 구성</a:t>
              </a:r>
            </a:p>
          </p:txBody>
        </p:sp>
      </p:grpSp>
      <p:grpSp>
        <p:nvGrpSpPr>
          <p:cNvPr name="Group 12" id="12"/>
          <p:cNvGrpSpPr/>
          <p:nvPr/>
        </p:nvGrpSpPr>
        <p:grpSpPr>
          <a:xfrm rot="0">
            <a:off x="822960" y="822960"/>
            <a:ext cx="16642080" cy="850392"/>
            <a:chOff x="0" y="0"/>
            <a:chExt cx="22189440" cy="1133856"/>
          </a:xfrm>
        </p:grpSpPr>
        <p:sp>
          <p:nvSpPr>
            <p:cNvPr name="Freeform 13" id="13"/>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5">
                <a:alphaModFix amt="0"/>
              </a:blip>
              <a:stretch>
                <a:fillRect l="0" t="-331309" r="2" b="-331309"/>
              </a:stretch>
            </a:blipFill>
          </p:spPr>
        </p:sp>
        <p:sp>
          <p:nvSpPr>
            <p:cNvPr name="TextBox 14" id="14"/>
            <p:cNvSpPr txBox="true"/>
            <p:nvPr/>
          </p:nvSpPr>
          <p:spPr>
            <a:xfrm>
              <a:off x="0" y="-9525"/>
              <a:ext cx="22189440" cy="1143381"/>
            </a:xfrm>
            <a:prstGeom prst="rect">
              <a:avLst/>
            </a:prstGeom>
          </p:spPr>
          <p:txBody>
            <a:bodyPr anchor="ctr" rtlCol="false" tIns="0" lIns="0" bIns="0" rIns="0"/>
            <a:lstStyle/>
            <a:p>
              <a:pPr algn="l" marL="0" indent="0" lvl="0">
                <a:lnSpc>
                  <a:spcPts val="4500"/>
                </a:lnSpc>
                <a:spcBef>
                  <a:spcPct val="0"/>
                </a:spcBef>
              </a:pPr>
              <a:r>
                <a:rPr lang="en-US" b="true" sz="3750" strike="noStrike" u="none">
                  <a:solidFill>
                    <a:srgbClr val="203238"/>
                  </a:solidFill>
                  <a:latin typeface="Noto Sans Bold"/>
                  <a:ea typeface="Noto Sans Bold"/>
                  <a:cs typeface="Noto Sans Bold"/>
                  <a:sym typeface="Noto Sans Bold"/>
                </a:rPr>
                <a:t>01  </a:t>
              </a:r>
              <a:r>
                <a:rPr lang="en-US" b="true" sz="3750" strike="noStrike" u="none">
                  <a:solidFill>
                    <a:srgbClr val="203238"/>
                  </a:solidFill>
                  <a:latin typeface="Noto Sans Bold"/>
                  <a:ea typeface="Noto Sans Bold"/>
                  <a:cs typeface="Noto Sans Bold"/>
                  <a:sym typeface="Noto Sans Bold"/>
                </a:rPr>
                <a:t>아키텍처 — PDA 로컬 연결 목표</a:t>
              </a:r>
            </a:p>
          </p:txBody>
        </p:sp>
      </p:grpSp>
      <p:sp>
        <p:nvSpPr>
          <p:cNvPr name="TextBox 15" id="15"/>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strike="noStrike" u="none">
                <a:solidFill>
                  <a:srgbClr val="6B787A"/>
                </a:solidFill>
                <a:latin typeface="Noto Sans"/>
                <a:ea typeface="Noto Sans"/>
                <a:cs typeface="Noto Sans"/>
                <a:sym typeface="Noto Sans"/>
              </a:rPr>
              <a:t>10</a:t>
            </a:r>
          </a:p>
        </p:txBody>
      </p:sp>
      <p:grpSp>
        <p:nvGrpSpPr>
          <p:cNvPr name="Group 16" id="16"/>
          <p:cNvGrpSpPr/>
          <p:nvPr/>
        </p:nvGrpSpPr>
        <p:grpSpPr>
          <a:xfrm rot="0">
            <a:off x="5818356" y="9710928"/>
            <a:ext cx="1260634" cy="419672"/>
            <a:chOff x="0" y="0"/>
            <a:chExt cx="1680845" cy="559562"/>
          </a:xfrm>
        </p:grpSpPr>
        <p:sp>
          <p:nvSpPr>
            <p:cNvPr name="Freeform 17" id="17"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6"/>
              <a:stretch>
                <a:fillRect l="0" t="-928" r="0" b="-926"/>
              </a:stretch>
            </a:blipFill>
          </p:spPr>
        </p:sp>
      </p:grpSp>
      <p:grpSp>
        <p:nvGrpSpPr>
          <p:cNvPr name="Group 18" id="18"/>
          <p:cNvGrpSpPr/>
          <p:nvPr/>
        </p:nvGrpSpPr>
        <p:grpSpPr>
          <a:xfrm rot="0">
            <a:off x="7370474" y="9804197"/>
            <a:ext cx="891826" cy="233172"/>
            <a:chOff x="0" y="0"/>
            <a:chExt cx="1189101" cy="310896"/>
          </a:xfrm>
        </p:grpSpPr>
        <p:sp>
          <p:nvSpPr>
            <p:cNvPr name="Freeform 19" id="19"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7"/>
              <a:stretch>
                <a:fillRect l="0" t="-584" r="0" b="-588"/>
              </a:stretch>
            </a:blipFill>
          </p:spPr>
        </p:sp>
      </p:grpSp>
      <p:grpSp>
        <p:nvGrpSpPr>
          <p:cNvPr name="Group 20" id="20"/>
          <p:cNvGrpSpPr/>
          <p:nvPr/>
        </p:nvGrpSpPr>
        <p:grpSpPr>
          <a:xfrm rot="0">
            <a:off x="8553745" y="9804197"/>
            <a:ext cx="1335596" cy="233172"/>
            <a:chOff x="0" y="0"/>
            <a:chExt cx="1780794" cy="310896"/>
          </a:xfrm>
        </p:grpSpPr>
        <p:sp>
          <p:nvSpPr>
            <p:cNvPr name="Freeform 21" id="21"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8"/>
              <a:stretch>
                <a:fillRect l="0" t="-714" r="0" b="-718"/>
              </a:stretch>
            </a:blipFill>
          </p:spPr>
        </p:sp>
      </p:grpSp>
      <p:grpSp>
        <p:nvGrpSpPr>
          <p:cNvPr name="Group 22" id="22"/>
          <p:cNvGrpSpPr/>
          <p:nvPr/>
        </p:nvGrpSpPr>
        <p:grpSpPr>
          <a:xfrm rot="0">
            <a:off x="822960" y="2510980"/>
            <a:ext cx="16642080" cy="6136767"/>
            <a:chOff x="0" y="0"/>
            <a:chExt cx="22189440" cy="8182356"/>
          </a:xfrm>
        </p:grpSpPr>
        <p:sp>
          <p:nvSpPr>
            <p:cNvPr name="Freeform 23" id="23" descr="C:\Users\hyjuy\.codex\visualizations\2026\10\24\01a16de7-7758-7d42-a989-40469d57b039\system-diagrams\01-architecture-shapes.png"/>
            <p:cNvSpPr/>
            <p:nvPr/>
          </p:nvSpPr>
          <p:spPr>
            <a:xfrm flipH="false" flipV="false" rot="0">
              <a:off x="0" y="0"/>
              <a:ext cx="22189439" cy="8182356"/>
            </a:xfrm>
            <a:custGeom>
              <a:avLst/>
              <a:gdLst/>
              <a:ahLst/>
              <a:cxnLst/>
              <a:rect r="r" b="b" t="t" l="l"/>
              <a:pathLst>
                <a:path h="8182356" w="22189439">
                  <a:moveTo>
                    <a:pt x="0" y="0"/>
                  </a:moveTo>
                  <a:lnTo>
                    <a:pt x="22189439" y="0"/>
                  </a:lnTo>
                  <a:lnTo>
                    <a:pt x="22189439" y="8182356"/>
                  </a:lnTo>
                  <a:lnTo>
                    <a:pt x="0" y="8182356"/>
                  </a:lnTo>
                  <a:lnTo>
                    <a:pt x="0" y="0"/>
                  </a:lnTo>
                  <a:close/>
                </a:path>
              </a:pathLst>
            </a:custGeom>
            <a:blipFill>
              <a:blip r:embed="rId9"/>
              <a:stretch>
                <a:fillRect l="0" t="0" r="0" b="0"/>
              </a:stretch>
            </a:blipFill>
          </p:spPr>
        </p:sp>
      </p:grpSp>
      <p:sp>
        <p:nvSpPr>
          <p:cNvPr name="TextBox 24" id="24"/>
          <p:cNvSpPr txBox="true"/>
          <p:nvPr/>
        </p:nvSpPr>
        <p:spPr>
          <a:xfrm rot="0">
            <a:off x="4879467" y="3447097"/>
            <a:ext cx="808653" cy="285750"/>
          </a:xfrm>
          <a:prstGeom prst="rect">
            <a:avLst/>
          </a:prstGeom>
        </p:spPr>
        <p:txBody>
          <a:bodyPr anchor="t" rtlCol="false" tIns="0" lIns="0" bIns="0" rIns="0">
            <a:spAutoFit/>
          </a:bodyPr>
          <a:lstStyle/>
          <a:p>
            <a:pPr algn="l">
              <a:lnSpc>
                <a:spcPts val="2250"/>
              </a:lnSpc>
            </a:pPr>
            <a:r>
              <a:rPr lang="en-US" sz="1875" b="true">
                <a:solidFill>
                  <a:srgbClr val="16796C"/>
                </a:solidFill>
                <a:latin typeface="Noto Sans Bold"/>
                <a:ea typeface="Noto Sans Bold"/>
                <a:cs typeface="Noto Sans Bold"/>
                <a:sym typeface="Noto Sans Bold"/>
              </a:rPr>
              <a:t>PDA</a:t>
            </a:r>
          </a:p>
        </p:txBody>
      </p:sp>
      <p:sp>
        <p:nvSpPr>
          <p:cNvPr name="TextBox 25" id="25"/>
          <p:cNvSpPr txBox="true"/>
          <p:nvPr/>
        </p:nvSpPr>
        <p:spPr>
          <a:xfrm rot="0">
            <a:off x="4216384" y="5042821"/>
            <a:ext cx="754094" cy="247650"/>
          </a:xfrm>
          <a:prstGeom prst="rect">
            <a:avLst/>
          </a:prstGeom>
        </p:spPr>
        <p:txBody>
          <a:bodyPr anchor="t" rtlCol="false" tIns="0" lIns="0" bIns="0" rIns="0">
            <a:spAutoFit/>
          </a:bodyPr>
          <a:lstStyle/>
          <a:p>
            <a:pPr algn="ctr">
              <a:lnSpc>
                <a:spcPts val="2070"/>
              </a:lnSpc>
            </a:pPr>
            <a:r>
              <a:rPr lang="en-US" sz="1725">
                <a:solidFill>
                  <a:srgbClr val="53666E"/>
                </a:solidFill>
                <a:latin typeface="Noto Sans"/>
                <a:ea typeface="Noto Sans"/>
                <a:cs typeface="Noto Sans"/>
                <a:sym typeface="Noto Sans"/>
              </a:rPr>
              <a:t>사용</a:t>
            </a:r>
          </a:p>
        </p:txBody>
      </p:sp>
      <p:sp>
        <p:nvSpPr>
          <p:cNvPr name="TextBox 26" id="26"/>
          <p:cNvSpPr txBox="true"/>
          <p:nvPr/>
        </p:nvSpPr>
        <p:spPr>
          <a:xfrm rot="0">
            <a:off x="8656541" y="5042821"/>
            <a:ext cx="1494984" cy="247650"/>
          </a:xfrm>
          <a:prstGeom prst="rect">
            <a:avLst/>
          </a:prstGeom>
        </p:spPr>
        <p:txBody>
          <a:bodyPr anchor="t" rtlCol="false" tIns="0" lIns="0" bIns="0" rIns="0">
            <a:spAutoFit/>
          </a:bodyPr>
          <a:lstStyle/>
          <a:p>
            <a:pPr algn="ctr">
              <a:lnSpc>
                <a:spcPts val="2070"/>
              </a:lnSpc>
            </a:pPr>
            <a:r>
              <a:rPr lang="en-US" sz="1725">
                <a:solidFill>
                  <a:srgbClr val="53666E"/>
                </a:solidFill>
                <a:latin typeface="Noto Sans"/>
                <a:ea typeface="Noto Sans"/>
                <a:cs typeface="Noto Sans"/>
                <a:sym typeface="Noto Sans"/>
              </a:rPr>
              <a:t>로컬 유선망</a:t>
            </a:r>
          </a:p>
        </p:txBody>
      </p:sp>
      <p:sp>
        <p:nvSpPr>
          <p:cNvPr name="TextBox 27" id="27"/>
          <p:cNvSpPr txBox="true"/>
          <p:nvPr/>
        </p:nvSpPr>
        <p:spPr>
          <a:xfrm rot="0">
            <a:off x="13519148" y="5042821"/>
            <a:ext cx="1494984" cy="247650"/>
          </a:xfrm>
          <a:prstGeom prst="rect">
            <a:avLst/>
          </a:prstGeom>
        </p:spPr>
        <p:txBody>
          <a:bodyPr anchor="t" rtlCol="false" tIns="0" lIns="0" bIns="0" rIns="0">
            <a:spAutoFit/>
          </a:bodyPr>
          <a:lstStyle/>
          <a:p>
            <a:pPr algn="ctr">
              <a:lnSpc>
                <a:spcPts val="2070"/>
              </a:lnSpc>
            </a:pPr>
            <a:r>
              <a:rPr lang="en-US" sz="1725">
                <a:solidFill>
                  <a:srgbClr val="53666E"/>
                </a:solidFill>
                <a:latin typeface="Noto Sans"/>
                <a:ea typeface="Noto Sans"/>
                <a:cs typeface="Noto Sans"/>
                <a:sym typeface="Noto Sans"/>
              </a:rPr>
              <a:t>선택 동기화</a:t>
            </a:r>
          </a:p>
        </p:txBody>
      </p:sp>
      <p:sp>
        <p:nvSpPr>
          <p:cNvPr name="TextBox 28" id="28"/>
          <p:cNvSpPr txBox="true"/>
          <p:nvPr/>
        </p:nvSpPr>
        <p:spPr>
          <a:xfrm rot="0">
            <a:off x="1764014" y="5319332"/>
            <a:ext cx="2070387"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현장 작업자</a:t>
            </a:r>
          </a:p>
        </p:txBody>
      </p:sp>
      <p:sp>
        <p:nvSpPr>
          <p:cNvPr name="TextBox 29" id="29"/>
          <p:cNvSpPr txBox="true"/>
          <p:nvPr/>
        </p:nvSpPr>
        <p:spPr>
          <a:xfrm rot="0">
            <a:off x="5427061" y="5319332"/>
            <a:ext cx="2545266"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Raspberry Pi 4</a:t>
            </a:r>
          </a:p>
        </p:txBody>
      </p:sp>
      <p:sp>
        <p:nvSpPr>
          <p:cNvPr name="TextBox 30" id="30"/>
          <p:cNvSpPr txBox="true"/>
          <p:nvPr/>
        </p:nvSpPr>
        <p:spPr>
          <a:xfrm rot="0">
            <a:off x="11354276" y="5228320"/>
            <a:ext cx="1508188" cy="495300"/>
          </a:xfrm>
          <a:prstGeom prst="rect">
            <a:avLst/>
          </a:prstGeom>
        </p:spPr>
        <p:txBody>
          <a:bodyPr anchor="t" rtlCol="false" tIns="0" lIns="0" bIns="0" rIns="0">
            <a:spAutoFit/>
          </a:bodyPr>
          <a:lstStyle/>
          <a:p>
            <a:pPr algn="ctr">
              <a:lnSpc>
                <a:spcPts val="3960"/>
              </a:lnSpc>
            </a:pPr>
            <a:r>
              <a:rPr lang="en-US" sz="3300" b="true">
                <a:solidFill>
                  <a:srgbClr val="FFFFFF"/>
                </a:solidFill>
                <a:latin typeface="Noto Sans Bold"/>
                <a:ea typeface="Noto Sans Bold"/>
                <a:cs typeface="Noto Sans Bold"/>
                <a:sym typeface="Noto Sans Bold"/>
              </a:rPr>
              <a:t>Jetson</a:t>
            </a:r>
          </a:p>
        </p:txBody>
      </p:sp>
      <p:sp>
        <p:nvSpPr>
          <p:cNvPr name="TextBox 31" id="31"/>
          <p:cNvSpPr txBox="true"/>
          <p:nvPr/>
        </p:nvSpPr>
        <p:spPr>
          <a:xfrm rot="0">
            <a:off x="15092954" y="5319332"/>
            <a:ext cx="1623781"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클라우드</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22960" y="496062"/>
            <a:ext cx="4114800" cy="247650"/>
          </a:xfrm>
          <a:prstGeom prst="rect">
            <a:avLst/>
          </a:prstGeom>
        </p:spPr>
        <p:txBody>
          <a:bodyPr anchor="t" rtlCol="false" tIns="0" lIns="0" bIns="0" rIns="0">
            <a:spAutoFit/>
          </a:bodyPr>
          <a:lstStyle/>
          <a:p>
            <a:pPr algn="l">
              <a:lnSpc>
                <a:spcPts val="1800"/>
              </a:lnSpc>
            </a:pPr>
            <a:r>
              <a:rPr lang="en-US" sz="1500" b="true">
                <a:solidFill>
                  <a:srgbClr val="16796C"/>
                </a:solidFill>
                <a:latin typeface="Arimo Bold"/>
                <a:ea typeface="Arimo Bold"/>
                <a:cs typeface="Arimo Bold"/>
                <a:sym typeface="Arimo Bold"/>
              </a:rPr>
              <a:t>02  시스템 구성</a:t>
            </a:r>
          </a:p>
        </p:txBody>
      </p:sp>
      <p:sp>
        <p:nvSpPr>
          <p:cNvPr name="TextBox 3" id="3"/>
          <p:cNvSpPr txBox="true"/>
          <p:nvPr/>
        </p:nvSpPr>
        <p:spPr>
          <a:xfrm rot="0">
            <a:off x="822960" y="918210"/>
            <a:ext cx="16642080" cy="609600"/>
          </a:xfrm>
          <a:prstGeom prst="rect">
            <a:avLst/>
          </a:prstGeom>
        </p:spPr>
        <p:txBody>
          <a:bodyPr anchor="t" rtlCol="false" tIns="0" lIns="0" bIns="0" rIns="0">
            <a:spAutoFit/>
          </a:bodyPr>
          <a:lstStyle/>
          <a:p>
            <a:pPr algn="l">
              <a:lnSpc>
                <a:spcPts val="4500"/>
              </a:lnSpc>
            </a:pPr>
            <a:r>
              <a:rPr lang="en-US" sz="3750" b="true">
                <a:solidFill>
                  <a:srgbClr val="203238"/>
                </a:solidFill>
                <a:latin typeface="Arimo Bold"/>
                <a:ea typeface="Arimo Bold"/>
                <a:cs typeface="Arimo Bold"/>
                <a:sym typeface="Arimo Bold"/>
              </a:rPr>
              <a:t>01-1  장치 배치</a:t>
            </a:r>
          </a:p>
        </p:txBody>
      </p:sp>
      <p:sp>
        <p:nvSpPr>
          <p:cNvPr name="TextBox 4" id="4"/>
          <p:cNvSpPr txBox="true"/>
          <p:nvPr/>
        </p:nvSpPr>
        <p:spPr>
          <a:xfrm rot="0">
            <a:off x="822960" y="1752600"/>
            <a:ext cx="16640175" cy="371475"/>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53666E"/>
                </a:solidFill>
                <a:latin typeface="Arimo"/>
                <a:ea typeface="Arimo"/>
                <a:cs typeface="Arimo"/>
                <a:sym typeface="Arimo"/>
              </a:rPr>
              <a:t>PDA 내부 LAN · 외부 인터넷은 선택 연결 (목표 구성)</a:t>
            </a:r>
          </a:p>
        </p:txBody>
      </p:sp>
      <p:sp>
        <p:nvSpPr>
          <p:cNvPr name="TextBox 5" id="5"/>
          <p:cNvSpPr txBox="true"/>
          <p:nvPr/>
        </p:nvSpPr>
        <p:spPr>
          <a:xfrm rot="0">
            <a:off x="822960" y="9684734"/>
            <a:ext cx="8229600" cy="219075"/>
          </a:xfrm>
          <a:prstGeom prst="rect">
            <a:avLst/>
          </a:prstGeom>
        </p:spPr>
        <p:txBody>
          <a:bodyPr anchor="t" rtlCol="false" tIns="0" lIns="0" bIns="0" rIns="0">
            <a:spAutoFit/>
          </a:bodyPr>
          <a:lstStyle/>
          <a:p>
            <a:pPr algn="l">
              <a:lnSpc>
                <a:spcPts val="1620"/>
              </a:lnSpc>
            </a:pPr>
            <a:r>
              <a:rPr lang="en-US" sz="1350">
                <a:solidFill>
                  <a:srgbClr val="6B787A"/>
                </a:solidFill>
                <a:latin typeface="Arimo"/>
                <a:ea typeface="Arimo"/>
                <a:cs typeface="Arimo"/>
                <a:sym typeface="Arimo"/>
              </a:rPr>
              <a:t>ShiftLink  |  현장 지식과 설비 상태를 잇는 온디바이스 AI 에이전트</a:t>
            </a:r>
          </a:p>
        </p:txBody>
      </p:sp>
      <p:sp>
        <p:nvSpPr>
          <p:cNvPr name="TextBox 6" id="6"/>
          <p:cNvSpPr txBox="true"/>
          <p:nvPr/>
        </p:nvSpPr>
        <p:spPr>
          <a:xfrm rot="0">
            <a:off x="16733063" y="9737598"/>
            <a:ext cx="640080" cy="209550"/>
          </a:xfrm>
          <a:prstGeom prst="rect">
            <a:avLst/>
          </a:prstGeom>
        </p:spPr>
        <p:txBody>
          <a:bodyPr anchor="t" rtlCol="false" tIns="0" lIns="0" bIns="0" rIns="0">
            <a:spAutoFit/>
          </a:bodyPr>
          <a:lstStyle/>
          <a:p>
            <a:pPr algn="r">
              <a:lnSpc>
                <a:spcPts val="1620"/>
              </a:lnSpc>
            </a:pPr>
            <a:r>
              <a:rPr lang="en-US" sz="1350">
                <a:solidFill>
                  <a:srgbClr val="6B787A"/>
                </a:solidFill>
                <a:latin typeface="Noto Sans"/>
                <a:ea typeface="Noto Sans"/>
                <a:cs typeface="Noto Sans"/>
                <a:sym typeface="Noto Sans"/>
              </a:rPr>
              <a:t>11</a:t>
            </a:r>
          </a:p>
        </p:txBody>
      </p:sp>
      <p:sp>
        <p:nvSpPr>
          <p:cNvPr name="Freeform 7" id="7" descr="KNDA 로고"/>
          <p:cNvSpPr/>
          <p:nvPr/>
        </p:nvSpPr>
        <p:spPr>
          <a:xfrm flipH="false" flipV="false" rot="0">
            <a:off x="5818346" y="9710928"/>
            <a:ext cx="1260634" cy="419671"/>
          </a:xfrm>
          <a:custGeom>
            <a:avLst/>
            <a:gdLst/>
            <a:ahLst/>
            <a:cxnLst/>
            <a:rect r="r" b="b" t="t" l="l"/>
            <a:pathLst>
              <a:path h="419671" w="1260634">
                <a:moveTo>
                  <a:pt x="0" y="0"/>
                </a:moveTo>
                <a:lnTo>
                  <a:pt x="1260634" y="0"/>
                </a:lnTo>
                <a:lnTo>
                  <a:pt x="1260634" y="419672"/>
                </a:lnTo>
                <a:lnTo>
                  <a:pt x="0" y="419672"/>
                </a:lnTo>
                <a:lnTo>
                  <a:pt x="0" y="0"/>
                </a:lnTo>
                <a:close/>
              </a:path>
            </a:pathLst>
          </a:custGeom>
          <a:blipFill>
            <a:blip r:embed="rId2"/>
            <a:stretch>
              <a:fillRect l="0" t="-927" r="0" b="-927"/>
            </a:stretch>
          </a:blipFill>
        </p:spPr>
      </p:sp>
      <p:sp>
        <p:nvSpPr>
          <p:cNvPr name="Freeform 8" id="8" descr="POSCO 로고"/>
          <p:cNvSpPr/>
          <p:nvPr/>
        </p:nvSpPr>
        <p:spPr>
          <a:xfrm flipH="false" flipV="false" rot="0">
            <a:off x="7370445" y="9804178"/>
            <a:ext cx="891826" cy="233172"/>
          </a:xfrm>
          <a:custGeom>
            <a:avLst/>
            <a:gdLst/>
            <a:ahLst/>
            <a:cxnLst/>
            <a:rect r="r" b="b" t="t" l="l"/>
            <a:pathLst>
              <a:path h="233172" w="891826">
                <a:moveTo>
                  <a:pt x="0" y="0"/>
                </a:moveTo>
                <a:lnTo>
                  <a:pt x="891826" y="0"/>
                </a:lnTo>
                <a:lnTo>
                  <a:pt x="891826" y="233172"/>
                </a:lnTo>
                <a:lnTo>
                  <a:pt x="0" y="233172"/>
                </a:lnTo>
                <a:lnTo>
                  <a:pt x="0" y="0"/>
                </a:lnTo>
                <a:close/>
              </a:path>
            </a:pathLst>
          </a:custGeom>
          <a:blipFill>
            <a:blip r:embed="rId3"/>
            <a:stretch>
              <a:fillRect l="0" t="-585" r="0" b="-585"/>
            </a:stretch>
          </a:blipFill>
        </p:spPr>
      </p:sp>
      <p:sp>
        <p:nvSpPr>
          <p:cNvPr name="Freeform 9" id="9" descr="Nextsurfer 로고"/>
          <p:cNvSpPr/>
          <p:nvPr/>
        </p:nvSpPr>
        <p:spPr>
          <a:xfrm flipH="false" flipV="false" rot="0">
            <a:off x="8553736" y="9804178"/>
            <a:ext cx="1335595" cy="233172"/>
          </a:xfrm>
          <a:custGeom>
            <a:avLst/>
            <a:gdLst/>
            <a:ahLst/>
            <a:cxnLst/>
            <a:rect r="r" b="b" t="t" l="l"/>
            <a:pathLst>
              <a:path h="233172" w="1335595">
                <a:moveTo>
                  <a:pt x="0" y="0"/>
                </a:moveTo>
                <a:lnTo>
                  <a:pt x="1335595" y="0"/>
                </a:lnTo>
                <a:lnTo>
                  <a:pt x="1335595" y="233172"/>
                </a:lnTo>
                <a:lnTo>
                  <a:pt x="0" y="233172"/>
                </a:lnTo>
                <a:lnTo>
                  <a:pt x="0" y="0"/>
                </a:lnTo>
                <a:close/>
              </a:path>
            </a:pathLst>
          </a:custGeom>
          <a:blipFill>
            <a:blip r:embed="rId4"/>
            <a:stretch>
              <a:fillRect l="0" t="-716" r="0" b="-716"/>
            </a:stretch>
          </a:blipFill>
        </p:spPr>
      </p:sp>
      <p:grpSp>
        <p:nvGrpSpPr>
          <p:cNvPr name="Group 10" id="10"/>
          <p:cNvGrpSpPr/>
          <p:nvPr/>
        </p:nvGrpSpPr>
        <p:grpSpPr>
          <a:xfrm rot="0">
            <a:off x="822960" y="2510980"/>
            <a:ext cx="16642080" cy="6136767"/>
            <a:chOff x="0" y="0"/>
            <a:chExt cx="22189440" cy="8182356"/>
          </a:xfrm>
        </p:grpSpPr>
        <p:sp>
          <p:nvSpPr>
            <p:cNvPr name="Freeform 11" id="11" descr="C:\Users\hyjuy\.codex\visualizations\2026\10\24\01a16de7-7758-7d42-a989-40469d57b039\system-diagrams\01-1-placement-shapes.png"/>
            <p:cNvSpPr/>
            <p:nvPr/>
          </p:nvSpPr>
          <p:spPr>
            <a:xfrm flipH="false" flipV="false" rot="0">
              <a:off x="0" y="0"/>
              <a:ext cx="22189439" cy="8182356"/>
            </a:xfrm>
            <a:custGeom>
              <a:avLst/>
              <a:gdLst/>
              <a:ahLst/>
              <a:cxnLst/>
              <a:rect r="r" b="b" t="t" l="l"/>
              <a:pathLst>
                <a:path h="8182356" w="22189439">
                  <a:moveTo>
                    <a:pt x="0" y="0"/>
                  </a:moveTo>
                  <a:lnTo>
                    <a:pt x="22189439" y="0"/>
                  </a:lnTo>
                  <a:lnTo>
                    <a:pt x="22189439" y="8182356"/>
                  </a:lnTo>
                  <a:lnTo>
                    <a:pt x="0" y="8182356"/>
                  </a:lnTo>
                  <a:lnTo>
                    <a:pt x="0" y="0"/>
                  </a:lnTo>
                  <a:close/>
                </a:path>
              </a:pathLst>
            </a:custGeom>
            <a:blipFill>
              <a:blip r:embed="rId5"/>
              <a:stretch>
                <a:fillRect l="0" t="0" r="0" b="0"/>
              </a:stretch>
            </a:blipFill>
          </p:spPr>
        </p:sp>
      </p:grpSp>
      <p:sp>
        <p:nvSpPr>
          <p:cNvPr name="TextBox 12" id="12"/>
          <p:cNvSpPr txBox="true"/>
          <p:nvPr/>
        </p:nvSpPr>
        <p:spPr>
          <a:xfrm rot="0">
            <a:off x="1759077" y="3343084"/>
            <a:ext cx="808653" cy="285750"/>
          </a:xfrm>
          <a:prstGeom prst="rect">
            <a:avLst/>
          </a:prstGeom>
        </p:spPr>
        <p:txBody>
          <a:bodyPr anchor="t" rtlCol="false" tIns="0" lIns="0" bIns="0" rIns="0">
            <a:spAutoFit/>
          </a:bodyPr>
          <a:lstStyle/>
          <a:p>
            <a:pPr algn="l">
              <a:lnSpc>
                <a:spcPts val="2250"/>
              </a:lnSpc>
            </a:pPr>
            <a:r>
              <a:rPr lang="en-US" sz="1875" b="true">
                <a:solidFill>
                  <a:srgbClr val="16796C"/>
                </a:solidFill>
                <a:latin typeface="Noto Sans Bold"/>
                <a:ea typeface="Noto Sans Bold"/>
                <a:cs typeface="Noto Sans Bold"/>
                <a:sym typeface="Noto Sans Bold"/>
              </a:rPr>
              <a:t>PDA</a:t>
            </a:r>
          </a:p>
        </p:txBody>
      </p:sp>
      <p:sp>
        <p:nvSpPr>
          <p:cNvPr name="TextBox 13" id="13"/>
          <p:cNvSpPr txBox="true"/>
          <p:nvPr/>
        </p:nvSpPr>
        <p:spPr>
          <a:xfrm rot="0">
            <a:off x="9034299" y="4470749"/>
            <a:ext cx="1259532" cy="247650"/>
          </a:xfrm>
          <a:prstGeom prst="rect">
            <a:avLst/>
          </a:prstGeom>
        </p:spPr>
        <p:txBody>
          <a:bodyPr anchor="t" rtlCol="false" tIns="0" lIns="0" bIns="0" rIns="0">
            <a:spAutoFit/>
          </a:bodyPr>
          <a:lstStyle/>
          <a:p>
            <a:pPr algn="ctr">
              <a:lnSpc>
                <a:spcPts val="2070"/>
              </a:lnSpc>
            </a:pPr>
            <a:r>
              <a:rPr lang="en-US" sz="1725">
                <a:solidFill>
                  <a:srgbClr val="53666E"/>
                </a:solidFill>
                <a:latin typeface="Noto Sans"/>
                <a:ea typeface="Noto Sans"/>
                <a:cs typeface="Noto Sans"/>
                <a:sym typeface="Noto Sans"/>
              </a:rPr>
              <a:t>내부 LAN</a:t>
            </a:r>
          </a:p>
        </p:txBody>
      </p:sp>
      <p:sp>
        <p:nvSpPr>
          <p:cNvPr name="TextBox 14" id="14"/>
          <p:cNvSpPr txBox="true"/>
          <p:nvPr/>
        </p:nvSpPr>
        <p:spPr>
          <a:xfrm rot="0">
            <a:off x="7648915" y="6030944"/>
            <a:ext cx="1273956" cy="247650"/>
          </a:xfrm>
          <a:prstGeom prst="rect">
            <a:avLst/>
          </a:prstGeom>
        </p:spPr>
        <p:txBody>
          <a:bodyPr anchor="t" rtlCol="false" tIns="0" lIns="0" bIns="0" rIns="0">
            <a:spAutoFit/>
          </a:bodyPr>
          <a:lstStyle/>
          <a:p>
            <a:pPr algn="ctr">
              <a:lnSpc>
                <a:spcPts val="2070"/>
              </a:lnSpc>
            </a:pPr>
            <a:r>
              <a:rPr lang="en-US" sz="1725">
                <a:solidFill>
                  <a:srgbClr val="53666E"/>
                </a:solidFill>
                <a:latin typeface="Noto Sans"/>
                <a:ea typeface="Noto Sans"/>
                <a:cs typeface="Noto Sans"/>
                <a:sym typeface="Noto Sans"/>
              </a:rPr>
              <a:t>화면 출력</a:t>
            </a:r>
          </a:p>
        </p:txBody>
      </p:sp>
      <p:sp>
        <p:nvSpPr>
          <p:cNvPr name="TextBox 15" id="15"/>
          <p:cNvSpPr txBox="true"/>
          <p:nvPr/>
        </p:nvSpPr>
        <p:spPr>
          <a:xfrm rot="0">
            <a:off x="13753076" y="4470749"/>
            <a:ext cx="975122" cy="247650"/>
          </a:xfrm>
          <a:prstGeom prst="rect">
            <a:avLst/>
          </a:prstGeom>
        </p:spPr>
        <p:txBody>
          <a:bodyPr anchor="t" rtlCol="false" tIns="0" lIns="0" bIns="0" rIns="0">
            <a:spAutoFit/>
          </a:bodyPr>
          <a:lstStyle/>
          <a:p>
            <a:pPr algn="ctr">
              <a:lnSpc>
                <a:spcPts val="2070"/>
              </a:lnSpc>
            </a:pPr>
            <a:r>
              <a:rPr lang="en-US" sz="1725">
                <a:solidFill>
                  <a:srgbClr val="53666E"/>
                </a:solidFill>
                <a:latin typeface="Noto Sans"/>
                <a:ea typeface="Noto Sans"/>
                <a:cs typeface="Noto Sans"/>
                <a:sym typeface="Noto Sans"/>
              </a:rPr>
              <a:t>외부망</a:t>
            </a:r>
          </a:p>
        </p:txBody>
      </p:sp>
      <p:sp>
        <p:nvSpPr>
          <p:cNvPr name="TextBox 16" id="16"/>
          <p:cNvSpPr txBox="true"/>
          <p:nvPr/>
        </p:nvSpPr>
        <p:spPr>
          <a:xfrm rot="0">
            <a:off x="2354291" y="4747260"/>
            <a:ext cx="1305883"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카메라</a:t>
            </a:r>
          </a:p>
        </p:txBody>
      </p:sp>
      <p:sp>
        <p:nvSpPr>
          <p:cNvPr name="TextBox 17" id="17"/>
          <p:cNvSpPr txBox="true"/>
          <p:nvPr/>
        </p:nvSpPr>
        <p:spPr>
          <a:xfrm rot="0">
            <a:off x="6823738" y="4747260"/>
            <a:ext cx="896057"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Pi 4</a:t>
            </a:r>
          </a:p>
        </p:txBody>
      </p:sp>
      <p:sp>
        <p:nvSpPr>
          <p:cNvPr name="TextBox 18" id="18"/>
          <p:cNvSpPr txBox="true"/>
          <p:nvPr/>
        </p:nvSpPr>
        <p:spPr>
          <a:xfrm rot="0">
            <a:off x="11339649" y="4691777"/>
            <a:ext cx="1433429" cy="457200"/>
          </a:xfrm>
          <a:prstGeom prst="rect">
            <a:avLst/>
          </a:prstGeom>
        </p:spPr>
        <p:txBody>
          <a:bodyPr anchor="t" rtlCol="false" tIns="0" lIns="0" bIns="0" rIns="0">
            <a:spAutoFit/>
          </a:bodyPr>
          <a:lstStyle/>
          <a:p>
            <a:pPr algn="ctr">
              <a:lnSpc>
                <a:spcPts val="3690"/>
              </a:lnSpc>
            </a:pPr>
            <a:r>
              <a:rPr lang="en-US" sz="3075" b="true">
                <a:solidFill>
                  <a:srgbClr val="FFFFFF"/>
                </a:solidFill>
                <a:latin typeface="Noto Sans Bold"/>
                <a:ea typeface="Noto Sans Bold"/>
                <a:cs typeface="Noto Sans Bold"/>
                <a:sym typeface="Noto Sans Bold"/>
              </a:rPr>
              <a:t>Jetson</a:t>
            </a:r>
          </a:p>
        </p:txBody>
      </p:sp>
      <p:sp>
        <p:nvSpPr>
          <p:cNvPr name="TextBox 19" id="19"/>
          <p:cNvSpPr txBox="true"/>
          <p:nvPr/>
        </p:nvSpPr>
        <p:spPr>
          <a:xfrm rot="0">
            <a:off x="6405533" y="6879526"/>
            <a:ext cx="1732467"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터치 화면</a:t>
            </a:r>
          </a:p>
        </p:txBody>
      </p:sp>
      <p:sp>
        <p:nvSpPr>
          <p:cNvPr name="TextBox 20" id="20"/>
          <p:cNvSpPr txBox="true"/>
          <p:nvPr/>
        </p:nvSpPr>
        <p:spPr>
          <a:xfrm rot="0">
            <a:off x="15092954" y="4747260"/>
            <a:ext cx="1623781"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클라우드</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22960" y="496062"/>
            <a:ext cx="4114800" cy="247650"/>
          </a:xfrm>
          <a:prstGeom prst="rect">
            <a:avLst/>
          </a:prstGeom>
        </p:spPr>
        <p:txBody>
          <a:bodyPr anchor="t" rtlCol="false" tIns="0" lIns="0" bIns="0" rIns="0">
            <a:spAutoFit/>
          </a:bodyPr>
          <a:lstStyle/>
          <a:p>
            <a:pPr algn="l">
              <a:lnSpc>
                <a:spcPts val="1800"/>
              </a:lnSpc>
            </a:pPr>
            <a:r>
              <a:rPr lang="en-US" sz="1500" b="true">
                <a:solidFill>
                  <a:srgbClr val="16796C"/>
                </a:solidFill>
                <a:latin typeface="Arimo Bold"/>
                <a:ea typeface="Arimo Bold"/>
                <a:cs typeface="Arimo Bold"/>
                <a:sym typeface="Arimo Bold"/>
              </a:rPr>
              <a:t>02  시스템 구성</a:t>
            </a:r>
          </a:p>
        </p:txBody>
      </p:sp>
      <p:sp>
        <p:nvSpPr>
          <p:cNvPr name="TextBox 3" id="3"/>
          <p:cNvSpPr txBox="true"/>
          <p:nvPr/>
        </p:nvSpPr>
        <p:spPr>
          <a:xfrm rot="0">
            <a:off x="822960" y="918210"/>
            <a:ext cx="16642080" cy="609600"/>
          </a:xfrm>
          <a:prstGeom prst="rect">
            <a:avLst/>
          </a:prstGeom>
        </p:spPr>
        <p:txBody>
          <a:bodyPr anchor="t" rtlCol="false" tIns="0" lIns="0" bIns="0" rIns="0">
            <a:spAutoFit/>
          </a:bodyPr>
          <a:lstStyle/>
          <a:p>
            <a:pPr algn="l" marL="0" indent="0" lvl="0">
              <a:lnSpc>
                <a:spcPts val="4500"/>
              </a:lnSpc>
              <a:spcBef>
                <a:spcPct val="0"/>
              </a:spcBef>
            </a:pPr>
            <a:r>
              <a:rPr lang="en-US" b="true" sz="3750" strike="noStrike" u="none">
                <a:solidFill>
                  <a:srgbClr val="203238"/>
                </a:solidFill>
                <a:latin typeface="Arimo Bold"/>
                <a:ea typeface="Arimo Bold"/>
                <a:cs typeface="Arimo Bold"/>
                <a:sym typeface="Arimo Bold"/>
              </a:rPr>
              <a:t>01-2  인터페이스</a:t>
            </a:r>
          </a:p>
        </p:txBody>
      </p:sp>
      <p:sp>
        <p:nvSpPr>
          <p:cNvPr name="TextBox 4" id="4"/>
          <p:cNvSpPr txBox="true"/>
          <p:nvPr/>
        </p:nvSpPr>
        <p:spPr>
          <a:xfrm rot="0">
            <a:off x="822960" y="1752600"/>
            <a:ext cx="16640175" cy="371475"/>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53666E"/>
                </a:solidFill>
                <a:latin typeface="Arimo"/>
                <a:ea typeface="Arimo"/>
                <a:cs typeface="Arimo"/>
                <a:sym typeface="Arimo"/>
              </a:rPr>
              <a:t>질의·Pi 분석 참고·답변·기록의 로컬 통신</a:t>
            </a:r>
          </a:p>
        </p:txBody>
      </p:sp>
      <p:sp>
        <p:nvSpPr>
          <p:cNvPr name="TextBox 5" id="5"/>
          <p:cNvSpPr txBox="true"/>
          <p:nvPr/>
        </p:nvSpPr>
        <p:spPr>
          <a:xfrm rot="0">
            <a:off x="822960" y="9684734"/>
            <a:ext cx="8229600" cy="219075"/>
          </a:xfrm>
          <a:prstGeom prst="rect">
            <a:avLst/>
          </a:prstGeom>
        </p:spPr>
        <p:txBody>
          <a:bodyPr anchor="t" rtlCol="false" tIns="0" lIns="0" bIns="0" rIns="0">
            <a:spAutoFit/>
          </a:bodyPr>
          <a:lstStyle/>
          <a:p>
            <a:pPr algn="l">
              <a:lnSpc>
                <a:spcPts val="1620"/>
              </a:lnSpc>
            </a:pPr>
            <a:r>
              <a:rPr lang="en-US" sz="1350">
                <a:solidFill>
                  <a:srgbClr val="6B787A"/>
                </a:solidFill>
                <a:latin typeface="Arimo"/>
                <a:ea typeface="Arimo"/>
                <a:cs typeface="Arimo"/>
                <a:sym typeface="Arimo"/>
              </a:rPr>
              <a:t>ShiftLink  |  현장 지식과 설비 상태를 잇는 온디바이스 AI 에이전트</a:t>
            </a:r>
          </a:p>
        </p:txBody>
      </p:sp>
      <p:sp>
        <p:nvSpPr>
          <p:cNvPr name="TextBox 6" id="6"/>
          <p:cNvSpPr txBox="true"/>
          <p:nvPr/>
        </p:nvSpPr>
        <p:spPr>
          <a:xfrm rot="0">
            <a:off x="16733063" y="9737598"/>
            <a:ext cx="640080" cy="209550"/>
          </a:xfrm>
          <a:prstGeom prst="rect">
            <a:avLst/>
          </a:prstGeom>
        </p:spPr>
        <p:txBody>
          <a:bodyPr anchor="t" rtlCol="false" tIns="0" lIns="0" bIns="0" rIns="0">
            <a:spAutoFit/>
          </a:bodyPr>
          <a:lstStyle/>
          <a:p>
            <a:pPr algn="r">
              <a:lnSpc>
                <a:spcPts val="1620"/>
              </a:lnSpc>
            </a:pPr>
            <a:r>
              <a:rPr lang="en-US" sz="1350">
                <a:solidFill>
                  <a:srgbClr val="6B787A"/>
                </a:solidFill>
                <a:latin typeface="Noto Sans"/>
                <a:ea typeface="Noto Sans"/>
                <a:cs typeface="Noto Sans"/>
                <a:sym typeface="Noto Sans"/>
              </a:rPr>
              <a:t>12</a:t>
            </a:r>
          </a:p>
        </p:txBody>
      </p:sp>
      <p:sp>
        <p:nvSpPr>
          <p:cNvPr name="Freeform 7" id="7" descr="KNDA 로고"/>
          <p:cNvSpPr/>
          <p:nvPr/>
        </p:nvSpPr>
        <p:spPr>
          <a:xfrm flipH="false" flipV="false" rot="0">
            <a:off x="5818346" y="9710928"/>
            <a:ext cx="1260634" cy="419671"/>
          </a:xfrm>
          <a:custGeom>
            <a:avLst/>
            <a:gdLst/>
            <a:ahLst/>
            <a:cxnLst/>
            <a:rect r="r" b="b" t="t" l="l"/>
            <a:pathLst>
              <a:path h="419671" w="1260634">
                <a:moveTo>
                  <a:pt x="0" y="0"/>
                </a:moveTo>
                <a:lnTo>
                  <a:pt x="1260634" y="0"/>
                </a:lnTo>
                <a:lnTo>
                  <a:pt x="1260634" y="419672"/>
                </a:lnTo>
                <a:lnTo>
                  <a:pt x="0" y="419672"/>
                </a:lnTo>
                <a:lnTo>
                  <a:pt x="0" y="0"/>
                </a:lnTo>
                <a:close/>
              </a:path>
            </a:pathLst>
          </a:custGeom>
          <a:blipFill>
            <a:blip r:embed="rId2"/>
            <a:stretch>
              <a:fillRect l="0" t="-927" r="0" b="-927"/>
            </a:stretch>
          </a:blipFill>
        </p:spPr>
      </p:sp>
      <p:sp>
        <p:nvSpPr>
          <p:cNvPr name="Freeform 8" id="8" descr="POSCO 로고"/>
          <p:cNvSpPr/>
          <p:nvPr/>
        </p:nvSpPr>
        <p:spPr>
          <a:xfrm flipH="false" flipV="false" rot="0">
            <a:off x="7370445" y="9804178"/>
            <a:ext cx="891826" cy="233172"/>
          </a:xfrm>
          <a:custGeom>
            <a:avLst/>
            <a:gdLst/>
            <a:ahLst/>
            <a:cxnLst/>
            <a:rect r="r" b="b" t="t" l="l"/>
            <a:pathLst>
              <a:path h="233172" w="891826">
                <a:moveTo>
                  <a:pt x="0" y="0"/>
                </a:moveTo>
                <a:lnTo>
                  <a:pt x="891826" y="0"/>
                </a:lnTo>
                <a:lnTo>
                  <a:pt x="891826" y="233172"/>
                </a:lnTo>
                <a:lnTo>
                  <a:pt x="0" y="233172"/>
                </a:lnTo>
                <a:lnTo>
                  <a:pt x="0" y="0"/>
                </a:lnTo>
                <a:close/>
              </a:path>
            </a:pathLst>
          </a:custGeom>
          <a:blipFill>
            <a:blip r:embed="rId3"/>
            <a:stretch>
              <a:fillRect l="0" t="-585" r="0" b="-585"/>
            </a:stretch>
          </a:blipFill>
        </p:spPr>
      </p:sp>
      <p:sp>
        <p:nvSpPr>
          <p:cNvPr name="Freeform 9" id="9" descr="Nextsurfer 로고"/>
          <p:cNvSpPr/>
          <p:nvPr/>
        </p:nvSpPr>
        <p:spPr>
          <a:xfrm flipH="false" flipV="false" rot="0">
            <a:off x="8553736" y="9804178"/>
            <a:ext cx="1335595" cy="233172"/>
          </a:xfrm>
          <a:custGeom>
            <a:avLst/>
            <a:gdLst/>
            <a:ahLst/>
            <a:cxnLst/>
            <a:rect r="r" b="b" t="t" l="l"/>
            <a:pathLst>
              <a:path h="233172" w="1335595">
                <a:moveTo>
                  <a:pt x="0" y="0"/>
                </a:moveTo>
                <a:lnTo>
                  <a:pt x="1335595" y="0"/>
                </a:lnTo>
                <a:lnTo>
                  <a:pt x="1335595" y="233172"/>
                </a:lnTo>
                <a:lnTo>
                  <a:pt x="0" y="233172"/>
                </a:lnTo>
                <a:lnTo>
                  <a:pt x="0" y="0"/>
                </a:lnTo>
                <a:close/>
              </a:path>
            </a:pathLst>
          </a:custGeom>
          <a:blipFill>
            <a:blip r:embed="rId4"/>
            <a:stretch>
              <a:fillRect l="0" t="-716" r="0" b="-716"/>
            </a:stretch>
          </a:blipFill>
        </p:spPr>
      </p:sp>
      <p:grpSp>
        <p:nvGrpSpPr>
          <p:cNvPr name="Group 10" id="10"/>
          <p:cNvGrpSpPr/>
          <p:nvPr/>
        </p:nvGrpSpPr>
        <p:grpSpPr>
          <a:xfrm rot="0">
            <a:off x="822960" y="2510980"/>
            <a:ext cx="16642080" cy="6136767"/>
            <a:chOff x="0" y="0"/>
            <a:chExt cx="22189440" cy="8182356"/>
          </a:xfrm>
        </p:grpSpPr>
        <p:sp>
          <p:nvSpPr>
            <p:cNvPr name="Freeform 11" id="11" descr="C:\Users\hyjuy\.codex\visualizations\2026\10\24\01a16de7-7758-7d42-a989-40469d57b039\system-diagrams\01-2-interfaces-shapes.png"/>
            <p:cNvSpPr/>
            <p:nvPr/>
          </p:nvSpPr>
          <p:spPr>
            <a:xfrm flipH="false" flipV="false" rot="0">
              <a:off x="0" y="0"/>
              <a:ext cx="22189439" cy="8182356"/>
            </a:xfrm>
            <a:custGeom>
              <a:avLst/>
              <a:gdLst/>
              <a:ahLst/>
              <a:cxnLst/>
              <a:rect r="r" b="b" t="t" l="l"/>
              <a:pathLst>
                <a:path h="8182356" w="22189439">
                  <a:moveTo>
                    <a:pt x="0" y="0"/>
                  </a:moveTo>
                  <a:lnTo>
                    <a:pt x="22189439" y="0"/>
                  </a:lnTo>
                  <a:lnTo>
                    <a:pt x="22189439" y="8182356"/>
                  </a:lnTo>
                  <a:lnTo>
                    <a:pt x="0" y="8182356"/>
                  </a:lnTo>
                  <a:lnTo>
                    <a:pt x="0" y="0"/>
                  </a:lnTo>
                  <a:close/>
                </a:path>
              </a:pathLst>
            </a:custGeom>
            <a:blipFill>
              <a:blip r:embed="rId5"/>
              <a:stretch>
                <a:fillRect l="0" t="0" r="0" b="0"/>
              </a:stretch>
            </a:blipFill>
          </p:spPr>
        </p:sp>
      </p:grpSp>
      <p:sp>
        <p:nvSpPr>
          <p:cNvPr name="TextBox 12" id="12"/>
          <p:cNvSpPr txBox="true"/>
          <p:nvPr/>
        </p:nvSpPr>
        <p:spPr>
          <a:xfrm rot="0">
            <a:off x="2175129" y="2510980"/>
            <a:ext cx="808653" cy="285750"/>
          </a:xfrm>
          <a:prstGeom prst="rect">
            <a:avLst/>
          </a:prstGeom>
        </p:spPr>
        <p:txBody>
          <a:bodyPr anchor="t" rtlCol="false" tIns="0" lIns="0" bIns="0" rIns="0">
            <a:spAutoFit/>
          </a:bodyPr>
          <a:lstStyle/>
          <a:p>
            <a:pPr algn="l">
              <a:lnSpc>
                <a:spcPts val="2250"/>
              </a:lnSpc>
            </a:pPr>
            <a:r>
              <a:rPr lang="en-US" sz="1875" b="true">
                <a:solidFill>
                  <a:srgbClr val="16796C"/>
                </a:solidFill>
                <a:latin typeface="Noto Sans Bold"/>
                <a:ea typeface="Noto Sans Bold"/>
                <a:cs typeface="Noto Sans Bold"/>
                <a:sym typeface="Noto Sans Bold"/>
              </a:rPr>
              <a:t>PDA</a:t>
            </a:r>
          </a:p>
        </p:txBody>
      </p:sp>
      <p:sp>
        <p:nvSpPr>
          <p:cNvPr name="TextBox 13" id="13"/>
          <p:cNvSpPr txBox="true"/>
          <p:nvPr/>
        </p:nvSpPr>
        <p:spPr>
          <a:xfrm rot="0">
            <a:off x="6855714" y="7988141"/>
            <a:ext cx="630255" cy="209550"/>
          </a:xfrm>
          <a:prstGeom prst="rect">
            <a:avLst/>
          </a:prstGeom>
        </p:spPr>
        <p:txBody>
          <a:bodyPr anchor="t" rtlCol="false" tIns="0" lIns="0" bIns="0" rIns="0">
            <a:spAutoFit/>
          </a:bodyPr>
          <a:lstStyle/>
          <a:p>
            <a:pPr algn="l">
              <a:lnSpc>
                <a:spcPts val="1620"/>
              </a:lnSpc>
            </a:pPr>
            <a:r>
              <a:rPr lang="en-US" sz="1350">
                <a:solidFill>
                  <a:srgbClr val="53666E"/>
                </a:solidFill>
                <a:latin typeface="Noto Sans"/>
                <a:ea typeface="Noto Sans"/>
                <a:cs typeface="Noto Sans"/>
                <a:sym typeface="Noto Sans"/>
              </a:rPr>
              <a:t>OPT</a:t>
            </a:r>
          </a:p>
        </p:txBody>
      </p:sp>
      <p:sp>
        <p:nvSpPr>
          <p:cNvPr name="TextBox 14" id="14"/>
          <p:cNvSpPr txBox="true"/>
          <p:nvPr/>
        </p:nvSpPr>
        <p:spPr>
          <a:xfrm rot="0">
            <a:off x="4180223" y="4054697"/>
            <a:ext cx="2022565" cy="247650"/>
          </a:xfrm>
          <a:prstGeom prst="rect">
            <a:avLst/>
          </a:prstGeom>
        </p:spPr>
        <p:txBody>
          <a:bodyPr anchor="t" rtlCol="false" tIns="0" lIns="0" bIns="0" rIns="0">
            <a:spAutoFit/>
          </a:bodyPr>
          <a:lstStyle/>
          <a:p>
            <a:pPr algn="ctr">
              <a:lnSpc>
                <a:spcPts val="2070"/>
              </a:lnSpc>
            </a:pPr>
            <a:r>
              <a:rPr lang="en-US" sz="1725">
                <a:solidFill>
                  <a:srgbClr val="53666E"/>
                </a:solidFill>
                <a:latin typeface="Noto Sans"/>
                <a:ea typeface="Noto Sans"/>
                <a:cs typeface="Noto Sans"/>
                <a:sym typeface="Noto Sans"/>
              </a:rPr>
              <a:t>질의·Pi 분석 참고</a:t>
            </a:r>
          </a:p>
        </p:txBody>
      </p:sp>
      <p:sp>
        <p:nvSpPr>
          <p:cNvPr name="TextBox 15" id="15"/>
          <p:cNvSpPr txBox="true"/>
          <p:nvPr/>
        </p:nvSpPr>
        <p:spPr>
          <a:xfrm rot="0">
            <a:off x="8053793" y="4678775"/>
            <a:ext cx="1764361" cy="247650"/>
          </a:xfrm>
          <a:prstGeom prst="rect">
            <a:avLst/>
          </a:prstGeom>
        </p:spPr>
        <p:txBody>
          <a:bodyPr anchor="t" rtlCol="false" tIns="0" lIns="0" bIns="0" rIns="0">
            <a:spAutoFit/>
          </a:bodyPr>
          <a:lstStyle/>
          <a:p>
            <a:pPr algn="ctr">
              <a:lnSpc>
                <a:spcPts val="2070"/>
              </a:lnSpc>
            </a:pPr>
            <a:r>
              <a:rPr lang="en-US" sz="1725">
                <a:solidFill>
                  <a:srgbClr val="53666E"/>
                </a:solidFill>
                <a:latin typeface="Noto Sans"/>
                <a:ea typeface="Noto Sans"/>
                <a:cs typeface="Noto Sans"/>
                <a:sym typeface="Noto Sans"/>
              </a:rPr>
              <a:t>상태·기록 조회</a:t>
            </a:r>
          </a:p>
        </p:txBody>
      </p:sp>
      <p:sp>
        <p:nvSpPr>
          <p:cNvPr name="TextBox 16" id="16"/>
          <p:cNvSpPr txBox="true"/>
          <p:nvPr/>
        </p:nvSpPr>
        <p:spPr>
          <a:xfrm rot="0">
            <a:off x="8298996" y="5302853"/>
            <a:ext cx="1273956" cy="247650"/>
          </a:xfrm>
          <a:prstGeom prst="rect">
            <a:avLst/>
          </a:prstGeom>
        </p:spPr>
        <p:txBody>
          <a:bodyPr anchor="t" rtlCol="false" tIns="0" lIns="0" bIns="0" rIns="0">
            <a:spAutoFit/>
          </a:bodyPr>
          <a:lstStyle/>
          <a:p>
            <a:pPr algn="ctr">
              <a:lnSpc>
                <a:spcPts val="2070"/>
              </a:lnSpc>
            </a:pPr>
            <a:r>
              <a:rPr lang="en-US" sz="1725">
                <a:solidFill>
                  <a:srgbClr val="53666E"/>
                </a:solidFill>
                <a:latin typeface="Noto Sans"/>
                <a:ea typeface="Noto Sans"/>
                <a:cs typeface="Noto Sans"/>
                <a:sym typeface="Noto Sans"/>
              </a:rPr>
              <a:t>조회 결과</a:t>
            </a:r>
          </a:p>
        </p:txBody>
      </p:sp>
      <p:sp>
        <p:nvSpPr>
          <p:cNvPr name="TextBox 17" id="17"/>
          <p:cNvSpPr txBox="true"/>
          <p:nvPr/>
        </p:nvSpPr>
        <p:spPr>
          <a:xfrm rot="0">
            <a:off x="4569256" y="5926931"/>
            <a:ext cx="1244499" cy="247650"/>
          </a:xfrm>
          <a:prstGeom prst="rect">
            <a:avLst/>
          </a:prstGeom>
        </p:spPr>
        <p:txBody>
          <a:bodyPr anchor="t" rtlCol="false" tIns="0" lIns="0" bIns="0" rIns="0">
            <a:spAutoFit/>
          </a:bodyPr>
          <a:lstStyle/>
          <a:p>
            <a:pPr algn="ctr">
              <a:lnSpc>
                <a:spcPts val="2070"/>
              </a:lnSpc>
            </a:pPr>
            <a:r>
              <a:rPr lang="en-US" sz="1725">
                <a:solidFill>
                  <a:srgbClr val="53666E"/>
                </a:solidFill>
                <a:latin typeface="Noto Sans"/>
                <a:ea typeface="Noto Sans"/>
                <a:cs typeface="Noto Sans"/>
                <a:sym typeface="Noto Sans"/>
              </a:rPr>
              <a:t>답변·근거</a:t>
            </a:r>
          </a:p>
        </p:txBody>
      </p:sp>
      <p:sp>
        <p:nvSpPr>
          <p:cNvPr name="TextBox 18" id="18"/>
          <p:cNvSpPr txBox="true"/>
          <p:nvPr/>
        </p:nvSpPr>
        <p:spPr>
          <a:xfrm rot="0">
            <a:off x="4309325" y="6551009"/>
            <a:ext cx="1764361" cy="247650"/>
          </a:xfrm>
          <a:prstGeom prst="rect">
            <a:avLst/>
          </a:prstGeom>
        </p:spPr>
        <p:txBody>
          <a:bodyPr anchor="t" rtlCol="false" tIns="0" lIns="0" bIns="0" rIns="0">
            <a:spAutoFit/>
          </a:bodyPr>
          <a:lstStyle/>
          <a:p>
            <a:pPr algn="ctr">
              <a:lnSpc>
                <a:spcPts val="2070"/>
              </a:lnSpc>
            </a:pPr>
            <a:r>
              <a:rPr lang="en-US" sz="1725">
                <a:solidFill>
                  <a:srgbClr val="53666E"/>
                </a:solidFill>
                <a:latin typeface="Noto Sans"/>
                <a:ea typeface="Noto Sans"/>
                <a:cs typeface="Noto Sans"/>
                <a:sym typeface="Noto Sans"/>
              </a:rPr>
              <a:t>조치·인계 기록</a:t>
            </a:r>
          </a:p>
        </p:txBody>
      </p:sp>
      <p:sp>
        <p:nvSpPr>
          <p:cNvPr name="TextBox 19" id="19"/>
          <p:cNvSpPr txBox="true"/>
          <p:nvPr/>
        </p:nvSpPr>
        <p:spPr>
          <a:xfrm rot="0">
            <a:off x="8298996" y="7175087"/>
            <a:ext cx="1273956" cy="247650"/>
          </a:xfrm>
          <a:prstGeom prst="rect">
            <a:avLst/>
          </a:prstGeom>
        </p:spPr>
        <p:txBody>
          <a:bodyPr anchor="t" rtlCol="false" tIns="0" lIns="0" bIns="0" rIns="0">
            <a:spAutoFit/>
          </a:bodyPr>
          <a:lstStyle/>
          <a:p>
            <a:pPr algn="ctr">
              <a:lnSpc>
                <a:spcPts val="2070"/>
              </a:lnSpc>
            </a:pPr>
            <a:r>
              <a:rPr lang="en-US" sz="1725">
                <a:solidFill>
                  <a:srgbClr val="53666E"/>
                </a:solidFill>
                <a:latin typeface="Noto Sans"/>
                <a:ea typeface="Noto Sans"/>
                <a:cs typeface="Noto Sans"/>
                <a:sym typeface="Noto Sans"/>
              </a:rPr>
              <a:t>기록 저장</a:t>
            </a:r>
          </a:p>
        </p:txBody>
      </p:sp>
      <p:sp>
        <p:nvSpPr>
          <p:cNvPr name="TextBox 20" id="20"/>
          <p:cNvSpPr txBox="true"/>
          <p:nvPr/>
        </p:nvSpPr>
        <p:spPr>
          <a:xfrm rot="0">
            <a:off x="10008913" y="7903178"/>
            <a:ext cx="2014642" cy="247650"/>
          </a:xfrm>
          <a:prstGeom prst="rect">
            <a:avLst/>
          </a:prstGeom>
        </p:spPr>
        <p:txBody>
          <a:bodyPr anchor="t" rtlCol="false" tIns="0" lIns="0" bIns="0" rIns="0">
            <a:spAutoFit/>
          </a:bodyPr>
          <a:lstStyle/>
          <a:p>
            <a:pPr algn="ctr">
              <a:lnSpc>
                <a:spcPts val="2070"/>
              </a:lnSpc>
            </a:pPr>
            <a:r>
              <a:rPr lang="en-US" sz="1725">
                <a:solidFill>
                  <a:srgbClr val="53666E"/>
                </a:solidFill>
                <a:latin typeface="Noto Sans"/>
                <a:ea typeface="Noto Sans"/>
                <a:cs typeface="Noto Sans"/>
                <a:sym typeface="Noto Sans"/>
              </a:rPr>
              <a:t>허용 기록 업로드</a:t>
            </a:r>
          </a:p>
        </p:txBody>
      </p:sp>
      <p:sp>
        <p:nvSpPr>
          <p:cNvPr name="TextBox 21" id="21"/>
          <p:cNvSpPr txBox="true"/>
          <p:nvPr/>
        </p:nvSpPr>
        <p:spPr>
          <a:xfrm rot="0">
            <a:off x="2871244" y="3187065"/>
            <a:ext cx="896056"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Pi 4</a:t>
            </a:r>
          </a:p>
        </p:txBody>
      </p:sp>
      <p:sp>
        <p:nvSpPr>
          <p:cNvPr name="TextBox 22" id="22"/>
          <p:cNvSpPr txBox="true"/>
          <p:nvPr/>
        </p:nvSpPr>
        <p:spPr>
          <a:xfrm rot="0">
            <a:off x="6421785" y="3187065"/>
            <a:ext cx="1283910" cy="400050"/>
          </a:xfrm>
          <a:prstGeom prst="rect">
            <a:avLst/>
          </a:prstGeom>
        </p:spPr>
        <p:txBody>
          <a:bodyPr anchor="t" rtlCol="false" tIns="0" lIns="0" bIns="0" rIns="0">
            <a:spAutoFit/>
          </a:bodyPr>
          <a:lstStyle/>
          <a:p>
            <a:pPr algn="ctr">
              <a:lnSpc>
                <a:spcPts val="3150"/>
              </a:lnSpc>
            </a:pPr>
            <a:r>
              <a:rPr lang="en-US" sz="2625" b="true">
                <a:solidFill>
                  <a:srgbClr val="FFFFFF"/>
                </a:solidFill>
                <a:latin typeface="Noto Sans Bold"/>
                <a:ea typeface="Noto Sans Bold"/>
                <a:cs typeface="Noto Sans Bold"/>
                <a:sym typeface="Noto Sans Bold"/>
              </a:rPr>
              <a:t>Jetson</a:t>
            </a:r>
          </a:p>
        </p:txBody>
      </p:sp>
      <p:sp>
        <p:nvSpPr>
          <p:cNvPr name="TextBox 23" id="23"/>
          <p:cNvSpPr txBox="true"/>
          <p:nvPr/>
        </p:nvSpPr>
        <p:spPr>
          <a:xfrm rot="0">
            <a:off x="10162492" y="3187065"/>
            <a:ext cx="1291432"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SQLite</a:t>
            </a:r>
          </a:p>
        </p:txBody>
      </p:sp>
      <p:sp>
        <p:nvSpPr>
          <p:cNvPr name="TextBox 24" id="24"/>
          <p:cNvSpPr txBox="true"/>
          <p:nvPr/>
        </p:nvSpPr>
        <p:spPr>
          <a:xfrm rot="0">
            <a:off x="14156837" y="3187065"/>
            <a:ext cx="1623781"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클라우드</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2784" r="0" b="-332782"/>
              </a:stretch>
            </a:blipFill>
          </p:spPr>
        </p:sp>
      </p:grpSp>
      <p:grpSp>
        <p:nvGrpSpPr>
          <p:cNvPr name="Group 6" id="6"/>
          <p:cNvGrpSpPr/>
          <p:nvPr/>
        </p:nvGrpSpPr>
        <p:grpSpPr>
          <a:xfrm rot="0">
            <a:off x="822960" y="9696640"/>
            <a:ext cx="8229600" cy="425768"/>
            <a:chOff x="0" y="0"/>
            <a:chExt cx="10972800" cy="567690"/>
          </a:xfrm>
        </p:grpSpPr>
        <p:sp>
          <p:nvSpPr>
            <p:cNvPr name="Freeform 7" id="7"/>
            <p:cNvSpPr/>
            <p:nvPr/>
          </p:nvSpPr>
          <p:spPr>
            <a:xfrm flipH="false" flipV="false" rot="0">
              <a:off x="0" y="0"/>
              <a:ext cx="10972800" cy="567690"/>
            </a:xfrm>
            <a:custGeom>
              <a:avLst/>
              <a:gdLst/>
              <a:ahLst/>
              <a:cxnLst/>
              <a:rect r="r" b="b" t="t" l="l"/>
              <a:pathLst>
                <a:path h="567690" w="10972800">
                  <a:moveTo>
                    <a:pt x="0" y="0"/>
                  </a:moveTo>
                  <a:lnTo>
                    <a:pt x="10972800" y="0"/>
                  </a:lnTo>
                  <a:lnTo>
                    <a:pt x="10972800" y="567690"/>
                  </a:lnTo>
                  <a:lnTo>
                    <a:pt x="0" y="567690"/>
                  </a:lnTo>
                  <a:close/>
                </a:path>
              </a:pathLst>
            </a:custGeom>
            <a:blipFill>
              <a:blip r:embed="rId5">
                <a:alphaModFix amt="0"/>
              </a:blip>
              <a:stretch>
                <a:fillRect l="0" t="-326623" r="0" b="-326623"/>
              </a:stretch>
            </a:blipFill>
          </p:spPr>
        </p:sp>
        <p:sp>
          <p:nvSpPr>
            <p:cNvPr name="TextBox 8" id="8"/>
            <p:cNvSpPr txBox="true"/>
            <p:nvPr/>
          </p:nvSpPr>
          <p:spPr>
            <a:xfrm>
              <a:off x="0" y="-9525"/>
              <a:ext cx="10972800" cy="577215"/>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9" id="9"/>
          <p:cNvGrpSpPr/>
          <p:nvPr/>
        </p:nvGrpSpPr>
        <p:grpSpPr>
          <a:xfrm rot="0">
            <a:off x="822960" y="438912"/>
            <a:ext cx="4114800" cy="384048"/>
            <a:chOff x="0" y="0"/>
            <a:chExt cx="5486400" cy="512064"/>
          </a:xfrm>
        </p:grpSpPr>
        <p:sp>
          <p:nvSpPr>
            <p:cNvPr name="Freeform 10" id="10"/>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5">
                <a:alphaModFix amt="0"/>
              </a:blip>
              <a:stretch>
                <a:fillRect l="0" t="-158768" r="0" b="-158768"/>
              </a:stretch>
            </a:blipFill>
          </p:spPr>
        </p:sp>
        <p:sp>
          <p:nvSpPr>
            <p:cNvPr name="TextBox 11" id="11"/>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02  시스템 구성</a:t>
              </a:r>
            </a:p>
          </p:txBody>
        </p:sp>
      </p:grpSp>
      <p:grpSp>
        <p:nvGrpSpPr>
          <p:cNvPr name="Group 12" id="12"/>
          <p:cNvGrpSpPr/>
          <p:nvPr/>
        </p:nvGrpSpPr>
        <p:grpSpPr>
          <a:xfrm rot="0">
            <a:off x="822960" y="822960"/>
            <a:ext cx="16642080" cy="850392"/>
            <a:chOff x="0" y="0"/>
            <a:chExt cx="22189440" cy="1133856"/>
          </a:xfrm>
        </p:grpSpPr>
        <p:sp>
          <p:nvSpPr>
            <p:cNvPr name="Freeform 13" id="13"/>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5">
                <a:alphaModFix amt="0"/>
              </a:blip>
              <a:stretch>
                <a:fillRect l="0" t="-331309" r="2" b="-331309"/>
              </a:stretch>
            </a:blipFill>
          </p:spPr>
        </p:sp>
        <p:sp>
          <p:nvSpPr>
            <p:cNvPr name="TextBox 14" id="14"/>
            <p:cNvSpPr txBox="true"/>
            <p:nvPr/>
          </p:nvSpPr>
          <p:spPr>
            <a:xfrm>
              <a:off x="0" y="-9525"/>
              <a:ext cx="22189440" cy="1143381"/>
            </a:xfrm>
            <a:prstGeom prst="rect">
              <a:avLst/>
            </a:prstGeom>
          </p:spPr>
          <p:txBody>
            <a:bodyPr anchor="ctr" rtlCol="false" tIns="0" lIns="0" bIns="0" rIns="0"/>
            <a:lstStyle/>
            <a:p>
              <a:pPr algn="l" marL="0" indent="0" lvl="0">
                <a:lnSpc>
                  <a:spcPts val="4500"/>
                </a:lnSpc>
                <a:spcBef>
                  <a:spcPct val="0"/>
                </a:spcBef>
              </a:pPr>
              <a:r>
                <a:rPr lang="en-US" b="true" sz="3750" strike="noStrike" u="none">
                  <a:solidFill>
                    <a:srgbClr val="203238"/>
                  </a:solidFill>
                  <a:latin typeface="Noto Sans Bold"/>
                  <a:ea typeface="Noto Sans Bold"/>
                  <a:cs typeface="Noto Sans Bold"/>
                  <a:sym typeface="Noto Sans Bold"/>
                </a:rPr>
                <a:t>02  </a:t>
              </a:r>
              <a:r>
                <a:rPr lang="en-US" b="true" sz="3750" strike="noStrike" u="none">
                  <a:solidFill>
                    <a:srgbClr val="203238"/>
                  </a:solidFill>
                  <a:latin typeface="Noto Sans Bold"/>
                  <a:ea typeface="Noto Sans Bold"/>
                  <a:cs typeface="Noto Sans Bold"/>
                  <a:sym typeface="Noto Sans Bold"/>
                </a:rPr>
                <a:t>Jetson Orin Nano</a:t>
              </a:r>
            </a:p>
          </p:txBody>
        </p:sp>
      </p:grpSp>
      <p:grpSp>
        <p:nvGrpSpPr>
          <p:cNvPr name="Group 15" id="15"/>
          <p:cNvGrpSpPr/>
          <p:nvPr/>
        </p:nvGrpSpPr>
        <p:grpSpPr>
          <a:xfrm rot="0">
            <a:off x="822960" y="1762125"/>
            <a:ext cx="16641623" cy="561784"/>
            <a:chOff x="0" y="0"/>
            <a:chExt cx="22188830" cy="749046"/>
          </a:xfrm>
        </p:grpSpPr>
        <p:sp>
          <p:nvSpPr>
            <p:cNvPr name="Freeform 16" id="16"/>
            <p:cNvSpPr/>
            <p:nvPr/>
          </p:nvSpPr>
          <p:spPr>
            <a:xfrm flipH="false" flipV="false" rot="0">
              <a:off x="0" y="0"/>
              <a:ext cx="22188830" cy="749045"/>
            </a:xfrm>
            <a:custGeom>
              <a:avLst/>
              <a:gdLst/>
              <a:ahLst/>
              <a:cxnLst/>
              <a:rect r="r" b="b" t="t" l="l"/>
              <a:pathLst>
                <a:path h="749045" w="22188830">
                  <a:moveTo>
                    <a:pt x="0" y="0"/>
                  </a:moveTo>
                  <a:lnTo>
                    <a:pt x="22188830" y="0"/>
                  </a:lnTo>
                  <a:lnTo>
                    <a:pt x="22188830" y="749045"/>
                  </a:lnTo>
                  <a:lnTo>
                    <a:pt x="0" y="749045"/>
                  </a:lnTo>
                  <a:close/>
                </a:path>
              </a:pathLst>
            </a:custGeom>
            <a:blipFill>
              <a:blip r:embed="rId5">
                <a:alphaModFix amt="0"/>
              </a:blip>
              <a:stretch>
                <a:fillRect l="0" t="-527201" r="0" b="-527201"/>
              </a:stretch>
            </a:blipFill>
          </p:spPr>
        </p:sp>
        <p:sp>
          <p:nvSpPr>
            <p:cNvPr name="TextBox 17" id="17"/>
            <p:cNvSpPr txBox="true"/>
            <p:nvPr/>
          </p:nvSpPr>
          <p:spPr>
            <a:xfrm>
              <a:off x="0" y="9525"/>
              <a:ext cx="22188830" cy="739521"/>
            </a:xfrm>
            <a:prstGeom prst="rect">
              <a:avLst/>
            </a:prstGeom>
          </p:spPr>
          <p:txBody>
            <a:bodyPr anchor="ctr" rtlCol="false" tIns="0" lIns="0" bIns="0" rIns="0"/>
            <a:lstStyle/>
            <a:p>
              <a:pPr algn="l" marL="0" indent="0" lvl="0">
                <a:lnSpc>
                  <a:spcPts val="2878"/>
                </a:lnSpc>
                <a:spcBef>
                  <a:spcPct val="0"/>
                </a:spcBef>
              </a:pPr>
              <a:r>
                <a:rPr lang="en-US" sz="2400" strike="noStrike" u="none">
                  <a:solidFill>
                    <a:srgbClr val="53666E"/>
                  </a:solidFill>
                  <a:latin typeface="Noto Sans"/>
                  <a:ea typeface="Noto Sans"/>
                  <a:cs typeface="Noto Sans"/>
                  <a:sym typeface="Noto Sans"/>
                </a:rPr>
                <a:t>근거 검색·현재 상태·로컬 추론·기록 저장</a:t>
              </a:r>
            </a:p>
          </p:txBody>
        </p:sp>
      </p:grpSp>
      <p:sp>
        <p:nvSpPr>
          <p:cNvPr name="TextBox 18" id="18"/>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a:solidFill>
                  <a:srgbClr val="6B787A"/>
                </a:solidFill>
                <a:latin typeface="Noto Sans"/>
                <a:ea typeface="Noto Sans"/>
                <a:cs typeface="Noto Sans"/>
                <a:sym typeface="Noto Sans"/>
              </a:rPr>
              <a:t>13</a:t>
            </a:r>
          </a:p>
        </p:txBody>
      </p:sp>
      <p:grpSp>
        <p:nvGrpSpPr>
          <p:cNvPr name="Group 19" id="19"/>
          <p:cNvGrpSpPr/>
          <p:nvPr/>
        </p:nvGrpSpPr>
        <p:grpSpPr>
          <a:xfrm rot="0">
            <a:off x="5818356" y="9710928"/>
            <a:ext cx="1260634" cy="419672"/>
            <a:chOff x="0" y="0"/>
            <a:chExt cx="1680845" cy="559562"/>
          </a:xfrm>
        </p:grpSpPr>
        <p:sp>
          <p:nvSpPr>
            <p:cNvPr name="Freeform 20" id="20"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6"/>
              <a:stretch>
                <a:fillRect l="0" t="-928" r="0" b="-926"/>
              </a:stretch>
            </a:blipFill>
          </p:spPr>
        </p:sp>
      </p:grpSp>
      <p:grpSp>
        <p:nvGrpSpPr>
          <p:cNvPr name="Group 21" id="21"/>
          <p:cNvGrpSpPr/>
          <p:nvPr/>
        </p:nvGrpSpPr>
        <p:grpSpPr>
          <a:xfrm rot="0">
            <a:off x="7370474" y="9804197"/>
            <a:ext cx="891826" cy="233172"/>
            <a:chOff x="0" y="0"/>
            <a:chExt cx="1189101" cy="310896"/>
          </a:xfrm>
        </p:grpSpPr>
        <p:sp>
          <p:nvSpPr>
            <p:cNvPr name="Freeform 22" id="22"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7"/>
              <a:stretch>
                <a:fillRect l="0" t="-584" r="0" b="-588"/>
              </a:stretch>
            </a:blipFill>
          </p:spPr>
        </p:sp>
      </p:grpSp>
      <p:grpSp>
        <p:nvGrpSpPr>
          <p:cNvPr name="Group 23" id="23"/>
          <p:cNvGrpSpPr/>
          <p:nvPr/>
        </p:nvGrpSpPr>
        <p:grpSpPr>
          <a:xfrm rot="0">
            <a:off x="8553745" y="9804197"/>
            <a:ext cx="1335596" cy="233172"/>
            <a:chOff x="0" y="0"/>
            <a:chExt cx="1780794" cy="310896"/>
          </a:xfrm>
        </p:grpSpPr>
        <p:sp>
          <p:nvSpPr>
            <p:cNvPr name="Freeform 24" id="24"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8"/>
              <a:stretch>
                <a:fillRect l="0" t="-714" r="0" b="-718"/>
              </a:stretch>
            </a:blipFill>
          </p:spPr>
        </p:sp>
      </p:grpSp>
      <p:grpSp>
        <p:nvGrpSpPr>
          <p:cNvPr name="Group 25" id="25"/>
          <p:cNvGrpSpPr/>
          <p:nvPr/>
        </p:nvGrpSpPr>
        <p:grpSpPr>
          <a:xfrm rot="0">
            <a:off x="822960" y="2510980"/>
            <a:ext cx="16642080" cy="6136767"/>
            <a:chOff x="0" y="0"/>
            <a:chExt cx="22189440" cy="8182356"/>
          </a:xfrm>
        </p:grpSpPr>
        <p:sp>
          <p:nvSpPr>
            <p:cNvPr name="Freeform 26" id="26" descr="C:\Users\hyjuy\.codex\visualizations\2026\10\24\01a16de7-7758-7d42-a989-40469d57b039\system-diagrams\02-jetson-shapes.png"/>
            <p:cNvSpPr/>
            <p:nvPr/>
          </p:nvSpPr>
          <p:spPr>
            <a:xfrm flipH="false" flipV="false" rot="0">
              <a:off x="0" y="0"/>
              <a:ext cx="22189439" cy="8182356"/>
            </a:xfrm>
            <a:custGeom>
              <a:avLst/>
              <a:gdLst/>
              <a:ahLst/>
              <a:cxnLst/>
              <a:rect r="r" b="b" t="t" l="l"/>
              <a:pathLst>
                <a:path h="8182356" w="22189439">
                  <a:moveTo>
                    <a:pt x="0" y="0"/>
                  </a:moveTo>
                  <a:lnTo>
                    <a:pt x="22189439" y="0"/>
                  </a:lnTo>
                  <a:lnTo>
                    <a:pt x="22189439" y="8182356"/>
                  </a:lnTo>
                  <a:lnTo>
                    <a:pt x="0" y="8182356"/>
                  </a:lnTo>
                  <a:lnTo>
                    <a:pt x="0" y="0"/>
                  </a:lnTo>
                  <a:close/>
                </a:path>
              </a:pathLst>
            </a:custGeom>
            <a:blipFill>
              <a:blip r:embed="rId9"/>
              <a:stretch>
                <a:fillRect l="0" t="0" r="0" b="0"/>
              </a:stretch>
            </a:blipFill>
          </p:spPr>
        </p:sp>
      </p:grpSp>
      <p:sp>
        <p:nvSpPr>
          <p:cNvPr name="TextBox 27" id="27"/>
          <p:cNvSpPr txBox="true"/>
          <p:nvPr/>
        </p:nvSpPr>
        <p:spPr>
          <a:xfrm rot="0">
            <a:off x="1759077" y="3135058"/>
            <a:ext cx="2282395" cy="285750"/>
          </a:xfrm>
          <a:prstGeom prst="rect">
            <a:avLst/>
          </a:prstGeom>
        </p:spPr>
        <p:txBody>
          <a:bodyPr anchor="t" rtlCol="false" tIns="0" lIns="0" bIns="0" rIns="0">
            <a:spAutoFit/>
          </a:bodyPr>
          <a:lstStyle/>
          <a:p>
            <a:pPr algn="l">
              <a:lnSpc>
                <a:spcPts val="2250"/>
              </a:lnSpc>
            </a:pPr>
            <a:r>
              <a:rPr lang="en-US" sz="1875" b="true">
                <a:solidFill>
                  <a:srgbClr val="16796C"/>
                </a:solidFill>
                <a:latin typeface="Noto Sans Bold"/>
                <a:ea typeface="Noto Sans Bold"/>
                <a:cs typeface="Noto Sans Bold"/>
                <a:sym typeface="Noto Sans Bold"/>
              </a:rPr>
              <a:t>PDA · Jetson 내부</a:t>
            </a:r>
          </a:p>
        </p:txBody>
      </p:sp>
      <p:sp>
        <p:nvSpPr>
          <p:cNvPr name="TextBox 28" id="28"/>
          <p:cNvSpPr txBox="true"/>
          <p:nvPr/>
        </p:nvSpPr>
        <p:spPr>
          <a:xfrm rot="0">
            <a:off x="9651165" y="3794665"/>
            <a:ext cx="1273956" cy="247650"/>
          </a:xfrm>
          <a:prstGeom prst="rect">
            <a:avLst/>
          </a:prstGeom>
        </p:spPr>
        <p:txBody>
          <a:bodyPr anchor="t" rtlCol="false" tIns="0" lIns="0" bIns="0" rIns="0">
            <a:spAutoFit/>
          </a:bodyPr>
          <a:lstStyle/>
          <a:p>
            <a:pPr algn="ctr">
              <a:lnSpc>
                <a:spcPts val="2070"/>
              </a:lnSpc>
            </a:pPr>
            <a:r>
              <a:rPr lang="en-US" sz="1725">
                <a:solidFill>
                  <a:srgbClr val="53666E"/>
                </a:solidFill>
                <a:latin typeface="Noto Sans"/>
                <a:ea typeface="Noto Sans"/>
                <a:cs typeface="Noto Sans"/>
                <a:sym typeface="Noto Sans"/>
              </a:rPr>
              <a:t>검색 근거</a:t>
            </a:r>
          </a:p>
        </p:txBody>
      </p:sp>
      <p:sp>
        <p:nvSpPr>
          <p:cNvPr name="TextBox 29" id="29"/>
          <p:cNvSpPr txBox="true"/>
          <p:nvPr/>
        </p:nvSpPr>
        <p:spPr>
          <a:xfrm rot="0">
            <a:off x="10431262" y="5614892"/>
            <a:ext cx="1273956" cy="247650"/>
          </a:xfrm>
          <a:prstGeom prst="rect">
            <a:avLst/>
          </a:prstGeom>
        </p:spPr>
        <p:txBody>
          <a:bodyPr anchor="t" rtlCol="false" tIns="0" lIns="0" bIns="0" rIns="0">
            <a:spAutoFit/>
          </a:bodyPr>
          <a:lstStyle/>
          <a:p>
            <a:pPr algn="ctr">
              <a:lnSpc>
                <a:spcPts val="2070"/>
              </a:lnSpc>
            </a:pPr>
            <a:r>
              <a:rPr lang="en-US" sz="1725">
                <a:solidFill>
                  <a:srgbClr val="53666E"/>
                </a:solidFill>
                <a:latin typeface="Noto Sans"/>
                <a:ea typeface="Noto Sans"/>
                <a:cs typeface="Noto Sans"/>
                <a:sym typeface="Noto Sans"/>
              </a:rPr>
              <a:t>현재 상태</a:t>
            </a:r>
          </a:p>
        </p:txBody>
      </p:sp>
      <p:sp>
        <p:nvSpPr>
          <p:cNvPr name="TextBox 30" id="30"/>
          <p:cNvSpPr txBox="true"/>
          <p:nvPr/>
        </p:nvSpPr>
        <p:spPr>
          <a:xfrm rot="0">
            <a:off x="15631912" y="6030944"/>
            <a:ext cx="1273956" cy="247650"/>
          </a:xfrm>
          <a:prstGeom prst="rect">
            <a:avLst/>
          </a:prstGeom>
        </p:spPr>
        <p:txBody>
          <a:bodyPr anchor="t" rtlCol="false" tIns="0" lIns="0" bIns="0" rIns="0">
            <a:spAutoFit/>
          </a:bodyPr>
          <a:lstStyle/>
          <a:p>
            <a:pPr algn="ctr">
              <a:lnSpc>
                <a:spcPts val="2070"/>
              </a:lnSpc>
            </a:pPr>
            <a:r>
              <a:rPr lang="en-US" sz="1725">
                <a:solidFill>
                  <a:srgbClr val="53666E"/>
                </a:solidFill>
                <a:latin typeface="Noto Sans"/>
                <a:ea typeface="Noto Sans"/>
                <a:cs typeface="Noto Sans"/>
                <a:sym typeface="Noto Sans"/>
              </a:rPr>
              <a:t>기록 저장</a:t>
            </a:r>
          </a:p>
        </p:txBody>
      </p:sp>
      <p:sp>
        <p:nvSpPr>
          <p:cNvPr name="TextBox 31" id="31"/>
          <p:cNvSpPr txBox="true"/>
          <p:nvPr/>
        </p:nvSpPr>
        <p:spPr>
          <a:xfrm rot="0">
            <a:off x="2364871" y="5163312"/>
            <a:ext cx="1596762"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질의 API</a:t>
            </a:r>
          </a:p>
        </p:txBody>
      </p:sp>
      <p:sp>
        <p:nvSpPr>
          <p:cNvPr name="TextBox 32" id="32"/>
          <p:cNvSpPr txBox="true"/>
          <p:nvPr/>
        </p:nvSpPr>
        <p:spPr>
          <a:xfrm rot="0">
            <a:off x="7029611" y="4071175"/>
            <a:ext cx="1732467"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근거 검색</a:t>
            </a:r>
          </a:p>
        </p:txBody>
      </p:sp>
      <p:sp>
        <p:nvSpPr>
          <p:cNvPr name="TextBox 33" id="33"/>
          <p:cNvSpPr txBox="true"/>
          <p:nvPr/>
        </p:nvSpPr>
        <p:spPr>
          <a:xfrm rot="0">
            <a:off x="7016175" y="6775513"/>
            <a:ext cx="1759338"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현재 MES</a:t>
            </a:r>
          </a:p>
        </p:txBody>
      </p:sp>
      <p:sp>
        <p:nvSpPr>
          <p:cNvPr name="TextBox 34" id="34"/>
          <p:cNvSpPr txBox="true"/>
          <p:nvPr/>
        </p:nvSpPr>
        <p:spPr>
          <a:xfrm rot="0">
            <a:off x="11814209" y="4071175"/>
            <a:ext cx="1732467" cy="400050"/>
          </a:xfrm>
          <a:prstGeom prst="rect">
            <a:avLst/>
          </a:prstGeom>
        </p:spPr>
        <p:txBody>
          <a:bodyPr anchor="t" rtlCol="false" tIns="0" lIns="0" bIns="0" rIns="0">
            <a:spAutoFit/>
          </a:bodyPr>
          <a:lstStyle/>
          <a:p>
            <a:pPr algn="ctr">
              <a:lnSpc>
                <a:spcPts val="3150"/>
              </a:lnSpc>
            </a:pPr>
            <a:r>
              <a:rPr lang="en-US" sz="2625" b="true">
                <a:solidFill>
                  <a:srgbClr val="FFFFFF"/>
                </a:solidFill>
                <a:latin typeface="Noto Sans Bold"/>
                <a:ea typeface="Noto Sans Bold"/>
                <a:cs typeface="Noto Sans Bold"/>
                <a:sym typeface="Noto Sans Bold"/>
              </a:rPr>
              <a:t>로컬 추론</a:t>
            </a:r>
          </a:p>
        </p:txBody>
      </p:sp>
      <p:sp>
        <p:nvSpPr>
          <p:cNvPr name="TextBox 35" id="35"/>
          <p:cNvSpPr txBox="true"/>
          <p:nvPr/>
        </p:nvSpPr>
        <p:spPr>
          <a:xfrm rot="0">
            <a:off x="15134092" y="3876151"/>
            <a:ext cx="917427" cy="371475"/>
          </a:xfrm>
          <a:prstGeom prst="rect">
            <a:avLst/>
          </a:prstGeom>
        </p:spPr>
        <p:txBody>
          <a:bodyPr anchor="t" rtlCol="false" tIns="0" lIns="0" bIns="0" rIns="0">
            <a:spAutoFit/>
          </a:bodyPr>
          <a:lstStyle/>
          <a:p>
            <a:pPr algn="ctr">
              <a:lnSpc>
                <a:spcPts val="2970"/>
              </a:lnSpc>
            </a:pPr>
            <a:r>
              <a:rPr lang="en-US" sz="2475" b="true">
                <a:solidFill>
                  <a:srgbClr val="203238"/>
                </a:solidFill>
                <a:latin typeface="Noto Sans Bold"/>
                <a:ea typeface="Noto Sans Bold"/>
                <a:cs typeface="Noto Sans Bold"/>
                <a:sym typeface="Noto Sans Bold"/>
              </a:rPr>
              <a:t>답변</a:t>
            </a:r>
          </a:p>
        </p:txBody>
      </p:sp>
      <p:sp>
        <p:nvSpPr>
          <p:cNvPr name="TextBox 36" id="36"/>
          <p:cNvSpPr txBox="true"/>
          <p:nvPr/>
        </p:nvSpPr>
        <p:spPr>
          <a:xfrm rot="0">
            <a:off x="15134092" y="4318206"/>
            <a:ext cx="917427" cy="371475"/>
          </a:xfrm>
          <a:prstGeom prst="rect">
            <a:avLst/>
          </a:prstGeom>
        </p:spPr>
        <p:txBody>
          <a:bodyPr anchor="t" rtlCol="false" tIns="0" lIns="0" bIns="0" rIns="0">
            <a:spAutoFit/>
          </a:bodyPr>
          <a:lstStyle/>
          <a:p>
            <a:pPr algn="ctr">
              <a:lnSpc>
                <a:spcPts val="2970"/>
              </a:lnSpc>
            </a:pPr>
            <a:r>
              <a:rPr lang="en-US" sz="2475" b="true">
                <a:solidFill>
                  <a:srgbClr val="203238"/>
                </a:solidFill>
                <a:latin typeface="Noto Sans Bold"/>
                <a:ea typeface="Noto Sans Bold"/>
                <a:cs typeface="Noto Sans Bold"/>
                <a:sym typeface="Noto Sans Bold"/>
              </a:rPr>
              <a:t>근거</a:t>
            </a:r>
          </a:p>
        </p:txBody>
      </p:sp>
      <p:sp>
        <p:nvSpPr>
          <p:cNvPr name="TextBox 37" id="37"/>
          <p:cNvSpPr txBox="true"/>
          <p:nvPr/>
        </p:nvSpPr>
        <p:spPr>
          <a:xfrm rot="0">
            <a:off x="12034726" y="6775513"/>
            <a:ext cx="1291432"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SQLite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3">
                <a:alphaModFix amt="0"/>
              </a:blip>
              <a:stretch>
                <a:fillRect l="0" t="-332784" r="0" b="-332782"/>
              </a:stretch>
            </a:blipFill>
          </p:spPr>
        </p:sp>
      </p:grpSp>
      <p:grpSp>
        <p:nvGrpSpPr>
          <p:cNvPr name="Group 6" id="6"/>
          <p:cNvGrpSpPr/>
          <p:nvPr/>
        </p:nvGrpSpPr>
        <p:grpSpPr>
          <a:xfrm rot="0">
            <a:off x="822960" y="9696640"/>
            <a:ext cx="8229600" cy="425768"/>
            <a:chOff x="0" y="0"/>
            <a:chExt cx="10972800" cy="567690"/>
          </a:xfrm>
        </p:grpSpPr>
        <p:sp>
          <p:nvSpPr>
            <p:cNvPr name="Freeform 7" id="7"/>
            <p:cNvSpPr/>
            <p:nvPr/>
          </p:nvSpPr>
          <p:spPr>
            <a:xfrm flipH="false" flipV="false" rot="0">
              <a:off x="0" y="0"/>
              <a:ext cx="10972800" cy="567690"/>
            </a:xfrm>
            <a:custGeom>
              <a:avLst/>
              <a:gdLst/>
              <a:ahLst/>
              <a:cxnLst/>
              <a:rect r="r" b="b" t="t" l="l"/>
              <a:pathLst>
                <a:path h="567690" w="10972800">
                  <a:moveTo>
                    <a:pt x="0" y="0"/>
                  </a:moveTo>
                  <a:lnTo>
                    <a:pt x="10972800" y="0"/>
                  </a:lnTo>
                  <a:lnTo>
                    <a:pt x="10972800" y="567690"/>
                  </a:lnTo>
                  <a:lnTo>
                    <a:pt x="0" y="567690"/>
                  </a:lnTo>
                  <a:close/>
                </a:path>
              </a:pathLst>
            </a:custGeom>
            <a:blipFill>
              <a:blip r:embed="rId4">
                <a:alphaModFix amt="0"/>
              </a:blip>
              <a:stretch>
                <a:fillRect l="0" t="-326623" r="0" b="-326623"/>
              </a:stretch>
            </a:blipFill>
          </p:spPr>
        </p:sp>
        <p:sp>
          <p:nvSpPr>
            <p:cNvPr name="TextBox 8" id="8"/>
            <p:cNvSpPr txBox="true"/>
            <p:nvPr/>
          </p:nvSpPr>
          <p:spPr>
            <a:xfrm>
              <a:off x="0" y="-9525"/>
              <a:ext cx="10972800" cy="577215"/>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9" id="9"/>
          <p:cNvGrpSpPr/>
          <p:nvPr/>
        </p:nvGrpSpPr>
        <p:grpSpPr>
          <a:xfrm rot="0">
            <a:off x="822960" y="438912"/>
            <a:ext cx="4114800" cy="384048"/>
            <a:chOff x="0" y="0"/>
            <a:chExt cx="5486400" cy="512064"/>
          </a:xfrm>
        </p:grpSpPr>
        <p:sp>
          <p:nvSpPr>
            <p:cNvPr name="Freeform 10" id="10"/>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4">
                <a:alphaModFix amt="0"/>
              </a:blip>
              <a:stretch>
                <a:fillRect l="0" t="-158768" r="0" b="-158768"/>
              </a:stretch>
            </a:blipFill>
          </p:spPr>
        </p:sp>
        <p:sp>
          <p:nvSpPr>
            <p:cNvPr name="TextBox 11" id="11"/>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02  시스템 구성</a:t>
              </a:r>
            </a:p>
          </p:txBody>
        </p:sp>
      </p:grpSp>
      <p:grpSp>
        <p:nvGrpSpPr>
          <p:cNvPr name="Group 12" id="12"/>
          <p:cNvGrpSpPr/>
          <p:nvPr/>
        </p:nvGrpSpPr>
        <p:grpSpPr>
          <a:xfrm rot="0">
            <a:off x="822960" y="822960"/>
            <a:ext cx="16642080" cy="850392"/>
            <a:chOff x="0" y="0"/>
            <a:chExt cx="22189440" cy="1133856"/>
          </a:xfrm>
        </p:grpSpPr>
        <p:sp>
          <p:nvSpPr>
            <p:cNvPr name="Freeform 13" id="13"/>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4">
                <a:alphaModFix amt="0"/>
              </a:blip>
              <a:stretch>
                <a:fillRect l="0" t="-331309" r="2" b="-331309"/>
              </a:stretch>
            </a:blipFill>
          </p:spPr>
        </p:sp>
        <p:sp>
          <p:nvSpPr>
            <p:cNvPr name="TextBox 14" id="14"/>
            <p:cNvSpPr txBox="true"/>
            <p:nvPr/>
          </p:nvSpPr>
          <p:spPr>
            <a:xfrm>
              <a:off x="0" y="-9525"/>
              <a:ext cx="22189440" cy="1143381"/>
            </a:xfrm>
            <a:prstGeom prst="rect">
              <a:avLst/>
            </a:prstGeom>
          </p:spPr>
          <p:txBody>
            <a:bodyPr anchor="ctr" rtlCol="false" tIns="0" lIns="0" bIns="0" rIns="0"/>
            <a:lstStyle/>
            <a:p>
              <a:pPr algn="l" marL="0" indent="0" lvl="0">
                <a:lnSpc>
                  <a:spcPts val="4500"/>
                </a:lnSpc>
                <a:spcBef>
                  <a:spcPct val="0"/>
                </a:spcBef>
              </a:pPr>
              <a:r>
                <a:rPr lang="en-US" b="true" sz="3750" strike="noStrike" u="none">
                  <a:solidFill>
                    <a:srgbClr val="203238"/>
                  </a:solidFill>
                  <a:latin typeface="Noto Sans Bold"/>
                  <a:ea typeface="Noto Sans Bold"/>
                  <a:cs typeface="Noto Sans Bold"/>
                  <a:sym typeface="Noto Sans Bold"/>
                </a:rPr>
                <a:t>02-1  </a:t>
              </a:r>
              <a:r>
                <a:rPr lang="en-US" b="true" sz="3750" strike="noStrike" u="none">
                  <a:solidFill>
                    <a:srgbClr val="203238"/>
                  </a:solidFill>
                  <a:latin typeface="Noto Sans Bold"/>
                  <a:ea typeface="Noto Sans Bold"/>
                  <a:cs typeface="Noto Sans Bold"/>
                  <a:sym typeface="Noto Sans Bold"/>
                </a:rPr>
                <a:t>MES 대시보드 · 지식카드 검토</a:t>
              </a:r>
            </a:p>
          </p:txBody>
        </p:sp>
      </p:grpSp>
      <p:grpSp>
        <p:nvGrpSpPr>
          <p:cNvPr name="Group 15" id="15"/>
          <p:cNvGrpSpPr/>
          <p:nvPr/>
        </p:nvGrpSpPr>
        <p:grpSpPr>
          <a:xfrm rot="0">
            <a:off x="822960" y="1762125"/>
            <a:ext cx="16641623" cy="561784"/>
            <a:chOff x="0" y="0"/>
            <a:chExt cx="22188830" cy="749046"/>
          </a:xfrm>
        </p:grpSpPr>
        <p:sp>
          <p:nvSpPr>
            <p:cNvPr name="Freeform 16" id="16"/>
            <p:cNvSpPr/>
            <p:nvPr/>
          </p:nvSpPr>
          <p:spPr>
            <a:xfrm flipH="false" flipV="false" rot="0">
              <a:off x="0" y="0"/>
              <a:ext cx="22188830" cy="749045"/>
            </a:xfrm>
            <a:custGeom>
              <a:avLst/>
              <a:gdLst/>
              <a:ahLst/>
              <a:cxnLst/>
              <a:rect r="r" b="b" t="t" l="l"/>
              <a:pathLst>
                <a:path h="749045" w="22188830">
                  <a:moveTo>
                    <a:pt x="0" y="0"/>
                  </a:moveTo>
                  <a:lnTo>
                    <a:pt x="22188830" y="0"/>
                  </a:lnTo>
                  <a:lnTo>
                    <a:pt x="22188830" y="749045"/>
                  </a:lnTo>
                  <a:lnTo>
                    <a:pt x="0" y="749045"/>
                  </a:lnTo>
                  <a:close/>
                </a:path>
              </a:pathLst>
            </a:custGeom>
            <a:blipFill>
              <a:blip r:embed="rId4">
                <a:alphaModFix amt="0"/>
              </a:blip>
              <a:stretch>
                <a:fillRect l="0" t="-527201" r="0" b="-527201"/>
              </a:stretch>
            </a:blipFill>
          </p:spPr>
        </p:sp>
        <p:sp>
          <p:nvSpPr>
            <p:cNvPr name="TextBox 17" id="17"/>
            <p:cNvSpPr txBox="true"/>
            <p:nvPr/>
          </p:nvSpPr>
          <p:spPr>
            <a:xfrm>
              <a:off x="0" y="9525"/>
              <a:ext cx="22188830" cy="739521"/>
            </a:xfrm>
            <a:prstGeom prst="rect">
              <a:avLst/>
            </a:prstGeom>
          </p:spPr>
          <p:txBody>
            <a:bodyPr anchor="ctr" rtlCol="false" tIns="0" lIns="0" bIns="0" rIns="0"/>
            <a:lstStyle/>
            <a:p>
              <a:pPr algn="l" marL="0" indent="0" lvl="0">
                <a:lnSpc>
                  <a:spcPts val="2878"/>
                </a:lnSpc>
                <a:spcBef>
                  <a:spcPct val="0"/>
                </a:spcBef>
              </a:pPr>
              <a:r>
                <a:rPr lang="en-US" sz="2400" strike="noStrike" u="none">
                  <a:solidFill>
                    <a:srgbClr val="53666E"/>
                  </a:solidFill>
                  <a:latin typeface="Noto Sans"/>
                  <a:ea typeface="Noto Sans"/>
                  <a:cs typeface="Noto Sans"/>
                  <a:sym typeface="Noto Sans"/>
                </a:rPr>
                <a:t>운영 상태 확인과 지식 게시 판단을 분리</a:t>
              </a:r>
            </a:p>
          </p:txBody>
        </p:sp>
      </p:grpSp>
      <p:sp>
        <p:nvSpPr>
          <p:cNvPr name="TextBox 18" id="18"/>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a:solidFill>
                  <a:srgbClr val="6B787A"/>
                </a:solidFill>
                <a:latin typeface="Noto Sans"/>
                <a:ea typeface="Noto Sans"/>
                <a:cs typeface="Noto Sans"/>
                <a:sym typeface="Noto Sans"/>
              </a:rPr>
              <a:t>14</a:t>
            </a:r>
          </a:p>
        </p:txBody>
      </p:sp>
      <p:grpSp>
        <p:nvGrpSpPr>
          <p:cNvPr name="Group 19" id="19"/>
          <p:cNvGrpSpPr/>
          <p:nvPr/>
        </p:nvGrpSpPr>
        <p:grpSpPr>
          <a:xfrm rot="0">
            <a:off x="5818356" y="9710928"/>
            <a:ext cx="1260634" cy="419672"/>
            <a:chOff x="0" y="0"/>
            <a:chExt cx="1680845" cy="559562"/>
          </a:xfrm>
        </p:grpSpPr>
        <p:sp>
          <p:nvSpPr>
            <p:cNvPr name="Freeform 20" id="20"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5"/>
              <a:stretch>
                <a:fillRect l="0" t="-928" r="0" b="-926"/>
              </a:stretch>
            </a:blipFill>
          </p:spPr>
        </p:sp>
      </p:grpSp>
      <p:grpSp>
        <p:nvGrpSpPr>
          <p:cNvPr name="Group 21" id="21"/>
          <p:cNvGrpSpPr/>
          <p:nvPr/>
        </p:nvGrpSpPr>
        <p:grpSpPr>
          <a:xfrm rot="0">
            <a:off x="7370474" y="9804197"/>
            <a:ext cx="891826" cy="233172"/>
            <a:chOff x="0" y="0"/>
            <a:chExt cx="1189101" cy="310896"/>
          </a:xfrm>
        </p:grpSpPr>
        <p:sp>
          <p:nvSpPr>
            <p:cNvPr name="Freeform 22" id="22"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6"/>
              <a:stretch>
                <a:fillRect l="0" t="-584" r="0" b="-588"/>
              </a:stretch>
            </a:blipFill>
          </p:spPr>
        </p:sp>
      </p:grpSp>
      <p:grpSp>
        <p:nvGrpSpPr>
          <p:cNvPr name="Group 23" id="23"/>
          <p:cNvGrpSpPr/>
          <p:nvPr/>
        </p:nvGrpSpPr>
        <p:grpSpPr>
          <a:xfrm rot="0">
            <a:off x="8553745" y="9804197"/>
            <a:ext cx="1335596" cy="233172"/>
            <a:chOff x="0" y="0"/>
            <a:chExt cx="1780794" cy="310896"/>
          </a:xfrm>
        </p:grpSpPr>
        <p:sp>
          <p:nvSpPr>
            <p:cNvPr name="Freeform 24" id="24"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7"/>
              <a:stretch>
                <a:fillRect l="0" t="-714" r="0" b="-718"/>
              </a:stretch>
            </a:blipFill>
          </p:spPr>
        </p:sp>
      </p:grpSp>
      <p:grpSp>
        <p:nvGrpSpPr>
          <p:cNvPr name="Group 25" id="25"/>
          <p:cNvGrpSpPr/>
          <p:nvPr/>
        </p:nvGrpSpPr>
        <p:grpSpPr>
          <a:xfrm rot="0">
            <a:off x="822960" y="2510980"/>
            <a:ext cx="16642080" cy="6136767"/>
            <a:chOff x="0" y="0"/>
            <a:chExt cx="22189440" cy="8182356"/>
          </a:xfrm>
        </p:grpSpPr>
        <p:sp>
          <p:nvSpPr>
            <p:cNvPr name="Freeform 26" id="26" descr="C:\Users\hyjuy\.codex\visualizations\2026\10\24\01a16de7-7758-7d42-a989-40469d57b039\system-diagrams\04-mes-review-shapes.png"/>
            <p:cNvSpPr/>
            <p:nvPr/>
          </p:nvSpPr>
          <p:spPr>
            <a:xfrm flipH="false" flipV="false" rot="0">
              <a:off x="0" y="0"/>
              <a:ext cx="22189439" cy="8182356"/>
            </a:xfrm>
            <a:custGeom>
              <a:avLst/>
              <a:gdLst/>
              <a:ahLst/>
              <a:cxnLst/>
              <a:rect r="r" b="b" t="t" l="l"/>
              <a:pathLst>
                <a:path h="8182356" w="22189439">
                  <a:moveTo>
                    <a:pt x="0" y="0"/>
                  </a:moveTo>
                  <a:lnTo>
                    <a:pt x="22189439" y="0"/>
                  </a:lnTo>
                  <a:lnTo>
                    <a:pt x="22189439" y="8182356"/>
                  </a:lnTo>
                  <a:lnTo>
                    <a:pt x="0" y="8182356"/>
                  </a:lnTo>
                  <a:lnTo>
                    <a:pt x="0" y="0"/>
                  </a:lnTo>
                  <a:close/>
                </a:path>
              </a:pathLst>
            </a:custGeom>
            <a:blipFill>
              <a:blip r:embed="rId8"/>
              <a:stretch>
                <a:fillRect l="0" t="0" r="0" b="0"/>
              </a:stretch>
            </a:blipFill>
          </p:spPr>
        </p:sp>
      </p:grpSp>
      <p:sp>
        <p:nvSpPr>
          <p:cNvPr name="TextBox 27" id="27"/>
          <p:cNvSpPr txBox="true"/>
          <p:nvPr/>
        </p:nvSpPr>
        <p:spPr>
          <a:xfrm rot="0">
            <a:off x="1655064" y="3291078"/>
            <a:ext cx="1330432" cy="285750"/>
          </a:xfrm>
          <a:prstGeom prst="rect">
            <a:avLst/>
          </a:prstGeom>
        </p:spPr>
        <p:txBody>
          <a:bodyPr anchor="t" rtlCol="false" tIns="0" lIns="0" bIns="0" rIns="0">
            <a:spAutoFit/>
          </a:bodyPr>
          <a:lstStyle/>
          <a:p>
            <a:pPr algn="l">
              <a:lnSpc>
                <a:spcPts val="2250"/>
              </a:lnSpc>
            </a:pPr>
            <a:r>
              <a:rPr lang="en-US" sz="1875" b="true">
                <a:solidFill>
                  <a:srgbClr val="53666E"/>
                </a:solidFill>
                <a:latin typeface="Noto Sans Bold"/>
                <a:ea typeface="Noto Sans Bold"/>
                <a:cs typeface="Noto Sans Bold"/>
                <a:sym typeface="Noto Sans Bold"/>
              </a:rPr>
              <a:t>설비 운영</a:t>
            </a:r>
          </a:p>
        </p:txBody>
      </p:sp>
      <p:sp>
        <p:nvSpPr>
          <p:cNvPr name="TextBox 28" id="28"/>
          <p:cNvSpPr txBox="true"/>
          <p:nvPr/>
        </p:nvSpPr>
        <p:spPr>
          <a:xfrm rot="0">
            <a:off x="1655064" y="6255448"/>
            <a:ext cx="1330432" cy="285750"/>
          </a:xfrm>
          <a:prstGeom prst="rect">
            <a:avLst/>
          </a:prstGeom>
        </p:spPr>
        <p:txBody>
          <a:bodyPr anchor="t" rtlCol="false" tIns="0" lIns="0" bIns="0" rIns="0">
            <a:spAutoFit/>
          </a:bodyPr>
          <a:lstStyle/>
          <a:p>
            <a:pPr algn="l">
              <a:lnSpc>
                <a:spcPts val="2250"/>
              </a:lnSpc>
            </a:pPr>
            <a:r>
              <a:rPr lang="en-US" sz="1875" b="true">
                <a:solidFill>
                  <a:srgbClr val="53666E"/>
                </a:solidFill>
                <a:latin typeface="Noto Sans Bold"/>
                <a:ea typeface="Noto Sans Bold"/>
                <a:cs typeface="Noto Sans Bold"/>
                <a:sym typeface="Noto Sans Bold"/>
              </a:rPr>
              <a:t>지식 검토</a:t>
            </a:r>
          </a:p>
        </p:txBody>
      </p:sp>
      <p:sp>
        <p:nvSpPr>
          <p:cNvPr name="TextBox 29" id="29"/>
          <p:cNvSpPr txBox="true"/>
          <p:nvPr/>
        </p:nvSpPr>
        <p:spPr>
          <a:xfrm rot="0">
            <a:off x="6218736" y="7071074"/>
            <a:ext cx="1273956" cy="247650"/>
          </a:xfrm>
          <a:prstGeom prst="rect">
            <a:avLst/>
          </a:prstGeom>
        </p:spPr>
        <p:txBody>
          <a:bodyPr anchor="t" rtlCol="false" tIns="0" lIns="0" bIns="0" rIns="0">
            <a:spAutoFit/>
          </a:bodyPr>
          <a:lstStyle/>
          <a:p>
            <a:pPr algn="ctr">
              <a:lnSpc>
                <a:spcPts val="2070"/>
              </a:lnSpc>
            </a:pPr>
            <a:r>
              <a:rPr lang="en-US" sz="1725">
                <a:solidFill>
                  <a:srgbClr val="53666E"/>
                </a:solidFill>
                <a:latin typeface="Noto Sans"/>
                <a:ea typeface="Noto Sans"/>
                <a:cs typeface="Noto Sans"/>
                <a:sym typeface="Noto Sans"/>
              </a:rPr>
              <a:t>후보 확인</a:t>
            </a:r>
          </a:p>
        </p:txBody>
      </p:sp>
      <p:sp>
        <p:nvSpPr>
          <p:cNvPr name="TextBox 30" id="30"/>
          <p:cNvSpPr txBox="true"/>
          <p:nvPr/>
        </p:nvSpPr>
        <p:spPr>
          <a:xfrm rot="0">
            <a:off x="11939349" y="7071074"/>
            <a:ext cx="754094" cy="247650"/>
          </a:xfrm>
          <a:prstGeom prst="rect">
            <a:avLst/>
          </a:prstGeom>
        </p:spPr>
        <p:txBody>
          <a:bodyPr anchor="t" rtlCol="false" tIns="0" lIns="0" bIns="0" rIns="0">
            <a:spAutoFit/>
          </a:bodyPr>
          <a:lstStyle/>
          <a:p>
            <a:pPr algn="ctr">
              <a:lnSpc>
                <a:spcPts val="2070"/>
              </a:lnSpc>
            </a:pPr>
            <a:r>
              <a:rPr lang="en-US" sz="1725">
                <a:solidFill>
                  <a:srgbClr val="53666E"/>
                </a:solidFill>
                <a:latin typeface="Noto Sans"/>
                <a:ea typeface="Noto Sans"/>
                <a:cs typeface="Noto Sans"/>
                <a:sym typeface="Noto Sans"/>
              </a:rPr>
              <a:t>승인</a:t>
            </a:r>
          </a:p>
        </p:txBody>
      </p:sp>
      <p:sp>
        <p:nvSpPr>
          <p:cNvPr name="TextBox 31" id="31"/>
          <p:cNvSpPr txBox="true"/>
          <p:nvPr/>
        </p:nvSpPr>
        <p:spPr>
          <a:xfrm rot="0">
            <a:off x="6270742" y="8163211"/>
            <a:ext cx="1273956" cy="247650"/>
          </a:xfrm>
          <a:prstGeom prst="rect">
            <a:avLst/>
          </a:prstGeom>
        </p:spPr>
        <p:txBody>
          <a:bodyPr anchor="t" rtlCol="false" tIns="0" lIns="0" bIns="0" rIns="0">
            <a:spAutoFit/>
          </a:bodyPr>
          <a:lstStyle/>
          <a:p>
            <a:pPr algn="ctr">
              <a:lnSpc>
                <a:spcPts val="2070"/>
              </a:lnSpc>
            </a:pPr>
            <a:r>
              <a:rPr lang="en-US" sz="1725">
                <a:solidFill>
                  <a:srgbClr val="53666E"/>
                </a:solidFill>
                <a:latin typeface="Noto Sans"/>
                <a:ea typeface="Noto Sans"/>
                <a:cs typeface="Noto Sans"/>
                <a:sym typeface="Noto Sans"/>
              </a:rPr>
              <a:t>보완 요청</a:t>
            </a:r>
          </a:p>
        </p:txBody>
      </p:sp>
      <p:sp>
        <p:nvSpPr>
          <p:cNvPr name="TextBox 32" id="32"/>
          <p:cNvSpPr txBox="true"/>
          <p:nvPr/>
        </p:nvSpPr>
        <p:spPr>
          <a:xfrm rot="0">
            <a:off x="2751642" y="4435221"/>
            <a:ext cx="1759338"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모의 MES</a:t>
            </a:r>
          </a:p>
        </p:txBody>
      </p:sp>
      <p:sp>
        <p:nvSpPr>
          <p:cNvPr name="TextBox 33" id="33"/>
          <p:cNvSpPr txBox="true"/>
          <p:nvPr/>
        </p:nvSpPr>
        <p:spPr>
          <a:xfrm rot="0">
            <a:off x="8118700" y="4435221"/>
            <a:ext cx="2466652"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라인·설비 상태</a:t>
            </a:r>
          </a:p>
        </p:txBody>
      </p:sp>
      <p:sp>
        <p:nvSpPr>
          <p:cNvPr name="TextBox 34" id="34"/>
          <p:cNvSpPr txBox="true"/>
          <p:nvPr/>
        </p:nvSpPr>
        <p:spPr>
          <a:xfrm rot="0">
            <a:off x="14414534" y="4435221"/>
            <a:ext cx="1732467"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알람 확인</a:t>
            </a:r>
          </a:p>
        </p:txBody>
      </p:sp>
      <p:sp>
        <p:nvSpPr>
          <p:cNvPr name="TextBox 35" id="35"/>
          <p:cNvSpPr txBox="true"/>
          <p:nvPr/>
        </p:nvSpPr>
        <p:spPr>
          <a:xfrm rot="0">
            <a:off x="2765078" y="7347585"/>
            <a:ext cx="1732467"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카드 후보</a:t>
            </a:r>
          </a:p>
        </p:txBody>
      </p:sp>
      <p:sp>
        <p:nvSpPr>
          <p:cNvPr name="TextBox 36" id="36"/>
          <p:cNvSpPr txBox="true"/>
          <p:nvPr/>
        </p:nvSpPr>
        <p:spPr>
          <a:xfrm rot="0">
            <a:off x="9076046" y="7347585"/>
            <a:ext cx="968012" cy="400050"/>
          </a:xfrm>
          <a:prstGeom prst="rect">
            <a:avLst/>
          </a:prstGeom>
        </p:spPr>
        <p:txBody>
          <a:bodyPr anchor="t" rtlCol="false" tIns="0" lIns="0" bIns="0" rIns="0">
            <a:spAutoFit/>
          </a:bodyPr>
          <a:lstStyle/>
          <a:p>
            <a:pPr algn="ctr">
              <a:lnSpc>
                <a:spcPts val="3150"/>
              </a:lnSpc>
            </a:pPr>
            <a:r>
              <a:rPr lang="en-US" sz="2625" b="true">
                <a:solidFill>
                  <a:srgbClr val="FFFFFF"/>
                </a:solidFill>
                <a:latin typeface="Noto Sans Bold"/>
                <a:ea typeface="Noto Sans Bold"/>
                <a:cs typeface="Noto Sans Bold"/>
                <a:sym typeface="Noto Sans Bold"/>
              </a:rPr>
              <a:t>검수</a:t>
            </a:r>
          </a:p>
        </p:txBody>
      </p:sp>
      <p:sp>
        <p:nvSpPr>
          <p:cNvPr name="TextBox 37" id="37"/>
          <p:cNvSpPr txBox="true"/>
          <p:nvPr/>
        </p:nvSpPr>
        <p:spPr>
          <a:xfrm rot="0">
            <a:off x="14414534" y="7347585"/>
            <a:ext cx="1732467"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지식 게시</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2784" r="0" b="-332782"/>
              </a:stretch>
            </a:blipFill>
          </p:spPr>
        </p:sp>
      </p:grpSp>
      <p:grpSp>
        <p:nvGrpSpPr>
          <p:cNvPr name="Group 6" id="6"/>
          <p:cNvGrpSpPr/>
          <p:nvPr/>
        </p:nvGrpSpPr>
        <p:grpSpPr>
          <a:xfrm rot="0">
            <a:off x="822960" y="9696640"/>
            <a:ext cx="8229600" cy="425768"/>
            <a:chOff x="0" y="0"/>
            <a:chExt cx="10972800" cy="567690"/>
          </a:xfrm>
        </p:grpSpPr>
        <p:sp>
          <p:nvSpPr>
            <p:cNvPr name="Freeform 7" id="7"/>
            <p:cNvSpPr/>
            <p:nvPr/>
          </p:nvSpPr>
          <p:spPr>
            <a:xfrm flipH="false" flipV="false" rot="0">
              <a:off x="0" y="0"/>
              <a:ext cx="10972800" cy="567690"/>
            </a:xfrm>
            <a:custGeom>
              <a:avLst/>
              <a:gdLst/>
              <a:ahLst/>
              <a:cxnLst/>
              <a:rect r="r" b="b" t="t" l="l"/>
              <a:pathLst>
                <a:path h="567690" w="10972800">
                  <a:moveTo>
                    <a:pt x="0" y="0"/>
                  </a:moveTo>
                  <a:lnTo>
                    <a:pt x="10972800" y="0"/>
                  </a:lnTo>
                  <a:lnTo>
                    <a:pt x="10972800" y="567690"/>
                  </a:lnTo>
                  <a:lnTo>
                    <a:pt x="0" y="567690"/>
                  </a:lnTo>
                  <a:close/>
                </a:path>
              </a:pathLst>
            </a:custGeom>
            <a:blipFill>
              <a:blip r:embed="rId5">
                <a:alphaModFix amt="0"/>
              </a:blip>
              <a:stretch>
                <a:fillRect l="0" t="-326623" r="0" b="-326623"/>
              </a:stretch>
            </a:blipFill>
          </p:spPr>
        </p:sp>
        <p:sp>
          <p:nvSpPr>
            <p:cNvPr name="TextBox 8" id="8"/>
            <p:cNvSpPr txBox="true"/>
            <p:nvPr/>
          </p:nvSpPr>
          <p:spPr>
            <a:xfrm>
              <a:off x="0" y="-9525"/>
              <a:ext cx="10972800" cy="577215"/>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9" id="9"/>
          <p:cNvGrpSpPr/>
          <p:nvPr/>
        </p:nvGrpSpPr>
        <p:grpSpPr>
          <a:xfrm rot="0">
            <a:off x="822960" y="438912"/>
            <a:ext cx="4114800" cy="384048"/>
            <a:chOff x="0" y="0"/>
            <a:chExt cx="5486400" cy="512064"/>
          </a:xfrm>
        </p:grpSpPr>
        <p:sp>
          <p:nvSpPr>
            <p:cNvPr name="Freeform 10" id="10"/>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5">
                <a:alphaModFix amt="0"/>
              </a:blip>
              <a:stretch>
                <a:fillRect l="0" t="-158768" r="0" b="-158768"/>
              </a:stretch>
            </a:blipFill>
          </p:spPr>
        </p:sp>
        <p:sp>
          <p:nvSpPr>
            <p:cNvPr name="TextBox 11" id="11"/>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02  시스템 구성</a:t>
              </a:r>
            </a:p>
          </p:txBody>
        </p:sp>
      </p:grpSp>
      <p:grpSp>
        <p:nvGrpSpPr>
          <p:cNvPr name="Group 12" id="12"/>
          <p:cNvGrpSpPr/>
          <p:nvPr/>
        </p:nvGrpSpPr>
        <p:grpSpPr>
          <a:xfrm rot="0">
            <a:off x="822960" y="822960"/>
            <a:ext cx="16642080" cy="850392"/>
            <a:chOff x="0" y="0"/>
            <a:chExt cx="22189440" cy="1133856"/>
          </a:xfrm>
        </p:grpSpPr>
        <p:sp>
          <p:nvSpPr>
            <p:cNvPr name="Freeform 13" id="13"/>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5">
                <a:alphaModFix amt="0"/>
              </a:blip>
              <a:stretch>
                <a:fillRect l="0" t="-331309" r="2" b="-331309"/>
              </a:stretch>
            </a:blipFill>
          </p:spPr>
        </p:sp>
        <p:sp>
          <p:nvSpPr>
            <p:cNvPr name="TextBox 14" id="14"/>
            <p:cNvSpPr txBox="true"/>
            <p:nvPr/>
          </p:nvSpPr>
          <p:spPr>
            <a:xfrm>
              <a:off x="0" y="-9525"/>
              <a:ext cx="22189440" cy="1143381"/>
            </a:xfrm>
            <a:prstGeom prst="rect">
              <a:avLst/>
            </a:prstGeom>
          </p:spPr>
          <p:txBody>
            <a:bodyPr anchor="ctr" rtlCol="false" tIns="0" lIns="0" bIns="0" rIns="0"/>
            <a:lstStyle/>
            <a:p>
              <a:pPr algn="l" marL="0" indent="0" lvl="0">
                <a:lnSpc>
                  <a:spcPts val="4500"/>
                </a:lnSpc>
                <a:spcBef>
                  <a:spcPct val="0"/>
                </a:spcBef>
              </a:pPr>
              <a:r>
                <a:rPr lang="en-US" b="true" sz="3750" strike="noStrike" u="none">
                  <a:solidFill>
                    <a:srgbClr val="203238"/>
                  </a:solidFill>
                  <a:latin typeface="Noto Sans Bold"/>
                  <a:ea typeface="Noto Sans Bold"/>
                  <a:cs typeface="Noto Sans Bold"/>
                  <a:sym typeface="Noto Sans Bold"/>
                </a:rPr>
                <a:t>03  </a:t>
              </a:r>
              <a:r>
                <a:rPr lang="en-US" b="true" sz="3750" strike="noStrike" u="none">
                  <a:solidFill>
                    <a:srgbClr val="203238"/>
                  </a:solidFill>
                  <a:latin typeface="Noto Sans Bold"/>
                  <a:ea typeface="Noto Sans Bold"/>
                  <a:cs typeface="Noto Sans Bold"/>
                  <a:sym typeface="Noto Sans Bold"/>
                </a:rPr>
                <a:t>Raspberry Pi 4</a:t>
              </a:r>
            </a:p>
          </p:txBody>
        </p:sp>
      </p:grpSp>
      <p:grpSp>
        <p:nvGrpSpPr>
          <p:cNvPr name="Group 15" id="15"/>
          <p:cNvGrpSpPr/>
          <p:nvPr/>
        </p:nvGrpSpPr>
        <p:grpSpPr>
          <a:xfrm rot="0">
            <a:off x="822960" y="1762125"/>
            <a:ext cx="16641623" cy="561784"/>
            <a:chOff x="0" y="0"/>
            <a:chExt cx="22188830" cy="749046"/>
          </a:xfrm>
        </p:grpSpPr>
        <p:sp>
          <p:nvSpPr>
            <p:cNvPr name="Freeform 16" id="16"/>
            <p:cNvSpPr/>
            <p:nvPr/>
          </p:nvSpPr>
          <p:spPr>
            <a:xfrm flipH="false" flipV="false" rot="0">
              <a:off x="0" y="0"/>
              <a:ext cx="22188830" cy="749045"/>
            </a:xfrm>
            <a:custGeom>
              <a:avLst/>
              <a:gdLst/>
              <a:ahLst/>
              <a:cxnLst/>
              <a:rect r="r" b="b" t="t" l="l"/>
              <a:pathLst>
                <a:path h="749045" w="22188830">
                  <a:moveTo>
                    <a:pt x="0" y="0"/>
                  </a:moveTo>
                  <a:lnTo>
                    <a:pt x="22188830" y="0"/>
                  </a:lnTo>
                  <a:lnTo>
                    <a:pt x="22188830" y="749045"/>
                  </a:lnTo>
                  <a:lnTo>
                    <a:pt x="0" y="749045"/>
                  </a:lnTo>
                  <a:close/>
                </a:path>
              </a:pathLst>
            </a:custGeom>
            <a:blipFill>
              <a:blip r:embed="rId5">
                <a:alphaModFix amt="0"/>
              </a:blip>
              <a:stretch>
                <a:fillRect l="0" t="-527201" r="0" b="-527201"/>
              </a:stretch>
            </a:blipFill>
          </p:spPr>
        </p:sp>
        <p:sp>
          <p:nvSpPr>
            <p:cNvPr name="TextBox 17" id="17"/>
            <p:cNvSpPr txBox="true"/>
            <p:nvPr/>
          </p:nvSpPr>
          <p:spPr>
            <a:xfrm>
              <a:off x="0" y="9525"/>
              <a:ext cx="22188830" cy="739521"/>
            </a:xfrm>
            <a:prstGeom prst="rect">
              <a:avLst/>
            </a:prstGeom>
          </p:spPr>
          <p:txBody>
            <a:bodyPr anchor="ctr" rtlCol="false" tIns="0" lIns="0" bIns="0" rIns="0"/>
            <a:lstStyle/>
            <a:p>
              <a:pPr algn="l" marL="0" indent="0" lvl="0">
                <a:lnSpc>
                  <a:spcPts val="2878"/>
                </a:lnSpc>
                <a:spcBef>
                  <a:spcPct val="0"/>
                </a:spcBef>
              </a:pPr>
              <a:r>
                <a:rPr lang="en-US" sz="2400" strike="noStrike" u="none">
                  <a:solidFill>
                    <a:srgbClr val="53666E"/>
                  </a:solidFill>
                  <a:latin typeface="Noto Sans"/>
                  <a:ea typeface="Noto Sans"/>
                  <a:cs typeface="Noto Sans"/>
                  <a:sym typeface="Noto Sans"/>
                </a:rPr>
                <a:t>화면·카메라 입력 / 설비 이상징후 분석</a:t>
              </a:r>
            </a:p>
          </p:txBody>
        </p:sp>
      </p:grpSp>
      <p:sp>
        <p:nvSpPr>
          <p:cNvPr name="TextBox 18" id="18"/>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a:solidFill>
                  <a:srgbClr val="6B787A"/>
                </a:solidFill>
                <a:latin typeface="Noto Sans"/>
                <a:ea typeface="Noto Sans"/>
                <a:cs typeface="Noto Sans"/>
                <a:sym typeface="Noto Sans"/>
              </a:rPr>
              <a:t>15</a:t>
            </a:r>
          </a:p>
        </p:txBody>
      </p:sp>
      <p:grpSp>
        <p:nvGrpSpPr>
          <p:cNvPr name="Group 19" id="19"/>
          <p:cNvGrpSpPr/>
          <p:nvPr/>
        </p:nvGrpSpPr>
        <p:grpSpPr>
          <a:xfrm rot="0">
            <a:off x="5818356" y="9710928"/>
            <a:ext cx="1260634" cy="419672"/>
            <a:chOff x="0" y="0"/>
            <a:chExt cx="1680845" cy="559562"/>
          </a:xfrm>
        </p:grpSpPr>
        <p:sp>
          <p:nvSpPr>
            <p:cNvPr name="Freeform 20" id="20"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6"/>
              <a:stretch>
                <a:fillRect l="0" t="-928" r="0" b="-926"/>
              </a:stretch>
            </a:blipFill>
          </p:spPr>
        </p:sp>
      </p:grpSp>
      <p:grpSp>
        <p:nvGrpSpPr>
          <p:cNvPr name="Group 21" id="21"/>
          <p:cNvGrpSpPr/>
          <p:nvPr/>
        </p:nvGrpSpPr>
        <p:grpSpPr>
          <a:xfrm rot="0">
            <a:off x="7370474" y="9804197"/>
            <a:ext cx="891826" cy="233172"/>
            <a:chOff x="0" y="0"/>
            <a:chExt cx="1189101" cy="310896"/>
          </a:xfrm>
        </p:grpSpPr>
        <p:sp>
          <p:nvSpPr>
            <p:cNvPr name="Freeform 22" id="22"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7"/>
              <a:stretch>
                <a:fillRect l="0" t="-584" r="0" b="-588"/>
              </a:stretch>
            </a:blipFill>
          </p:spPr>
        </p:sp>
      </p:grpSp>
      <p:grpSp>
        <p:nvGrpSpPr>
          <p:cNvPr name="Group 23" id="23"/>
          <p:cNvGrpSpPr/>
          <p:nvPr/>
        </p:nvGrpSpPr>
        <p:grpSpPr>
          <a:xfrm rot="0">
            <a:off x="8553745" y="9804197"/>
            <a:ext cx="1335596" cy="233172"/>
            <a:chOff x="0" y="0"/>
            <a:chExt cx="1780794" cy="310896"/>
          </a:xfrm>
        </p:grpSpPr>
        <p:sp>
          <p:nvSpPr>
            <p:cNvPr name="Freeform 24" id="24"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8"/>
              <a:stretch>
                <a:fillRect l="0" t="-714" r="0" b="-718"/>
              </a:stretch>
            </a:blipFill>
          </p:spPr>
        </p:sp>
      </p:grpSp>
      <p:grpSp>
        <p:nvGrpSpPr>
          <p:cNvPr name="Group 25" id="25"/>
          <p:cNvGrpSpPr/>
          <p:nvPr/>
        </p:nvGrpSpPr>
        <p:grpSpPr>
          <a:xfrm rot="0">
            <a:off x="822960" y="2510980"/>
            <a:ext cx="16642080" cy="6136767"/>
            <a:chOff x="0" y="0"/>
            <a:chExt cx="22189440" cy="8182356"/>
          </a:xfrm>
        </p:grpSpPr>
        <p:sp>
          <p:nvSpPr>
            <p:cNvPr name="Freeform 26" id="26" descr="C:\Users\hyjuy\.codex\visualizations\2026\10\24\01a16de7-7758-7d42-a989-40469d57b039\system-diagrams\03-raspberry-pi-shapes.png"/>
            <p:cNvSpPr/>
            <p:nvPr/>
          </p:nvSpPr>
          <p:spPr>
            <a:xfrm flipH="false" flipV="false" rot="0">
              <a:off x="0" y="0"/>
              <a:ext cx="22189439" cy="8182356"/>
            </a:xfrm>
            <a:custGeom>
              <a:avLst/>
              <a:gdLst/>
              <a:ahLst/>
              <a:cxnLst/>
              <a:rect r="r" b="b" t="t" l="l"/>
              <a:pathLst>
                <a:path h="8182356" w="22189439">
                  <a:moveTo>
                    <a:pt x="0" y="0"/>
                  </a:moveTo>
                  <a:lnTo>
                    <a:pt x="22189439" y="0"/>
                  </a:lnTo>
                  <a:lnTo>
                    <a:pt x="22189439" y="8182356"/>
                  </a:lnTo>
                  <a:lnTo>
                    <a:pt x="0" y="8182356"/>
                  </a:lnTo>
                  <a:lnTo>
                    <a:pt x="0" y="0"/>
                  </a:lnTo>
                  <a:close/>
                </a:path>
              </a:pathLst>
            </a:custGeom>
            <a:blipFill>
              <a:blip r:embed="rId9"/>
              <a:stretch>
                <a:fillRect l="0" t="0" r="0" b="0"/>
              </a:stretch>
            </a:blipFill>
          </p:spPr>
        </p:sp>
      </p:grpSp>
      <p:sp>
        <p:nvSpPr>
          <p:cNvPr name="TextBox 27" id="27"/>
          <p:cNvSpPr txBox="true"/>
          <p:nvPr/>
        </p:nvSpPr>
        <p:spPr>
          <a:xfrm rot="0">
            <a:off x="1655064" y="3239072"/>
            <a:ext cx="1330432" cy="285750"/>
          </a:xfrm>
          <a:prstGeom prst="rect">
            <a:avLst/>
          </a:prstGeom>
        </p:spPr>
        <p:txBody>
          <a:bodyPr anchor="t" rtlCol="false" tIns="0" lIns="0" bIns="0" rIns="0">
            <a:spAutoFit/>
          </a:bodyPr>
          <a:lstStyle/>
          <a:p>
            <a:pPr algn="l">
              <a:lnSpc>
                <a:spcPts val="2250"/>
              </a:lnSpc>
            </a:pPr>
            <a:r>
              <a:rPr lang="en-US" sz="1875" b="true">
                <a:solidFill>
                  <a:srgbClr val="53666E"/>
                </a:solidFill>
                <a:latin typeface="Noto Sans Bold"/>
                <a:ea typeface="Noto Sans Bold"/>
                <a:cs typeface="Noto Sans Bold"/>
                <a:sym typeface="Noto Sans Bold"/>
              </a:rPr>
              <a:t>작업 흐름</a:t>
            </a:r>
          </a:p>
        </p:txBody>
      </p:sp>
      <p:sp>
        <p:nvSpPr>
          <p:cNvPr name="TextBox 28" id="28"/>
          <p:cNvSpPr txBox="true"/>
          <p:nvPr/>
        </p:nvSpPr>
        <p:spPr>
          <a:xfrm rot="0">
            <a:off x="1655064" y="6515481"/>
            <a:ext cx="2088995" cy="285750"/>
          </a:xfrm>
          <a:prstGeom prst="rect">
            <a:avLst/>
          </a:prstGeom>
        </p:spPr>
        <p:txBody>
          <a:bodyPr anchor="t" rtlCol="false" tIns="0" lIns="0" bIns="0" rIns="0">
            <a:spAutoFit/>
          </a:bodyPr>
          <a:lstStyle/>
          <a:p>
            <a:pPr algn="l" marL="0" indent="0" lvl="0">
              <a:lnSpc>
                <a:spcPts val="2250"/>
              </a:lnSpc>
              <a:spcBef>
                <a:spcPct val="0"/>
              </a:spcBef>
            </a:pPr>
            <a:r>
              <a:rPr lang="en-US" b="true" sz="1875" strike="noStrike" u="none">
                <a:solidFill>
                  <a:srgbClr val="53666E"/>
                </a:solidFill>
                <a:latin typeface="Noto Sans Bold"/>
                <a:ea typeface="Noto Sans Bold"/>
                <a:cs typeface="Noto Sans Bold"/>
                <a:sym typeface="Noto Sans Bold"/>
              </a:rPr>
              <a:t>Pi 분석 연결</a:t>
            </a:r>
          </a:p>
        </p:txBody>
      </p:sp>
      <p:sp>
        <p:nvSpPr>
          <p:cNvPr name="TextBox 29" id="29"/>
          <p:cNvSpPr txBox="true"/>
          <p:nvPr/>
        </p:nvSpPr>
        <p:spPr>
          <a:xfrm rot="0">
            <a:off x="1863090" y="3931634"/>
            <a:ext cx="528394" cy="209550"/>
          </a:xfrm>
          <a:prstGeom prst="rect">
            <a:avLst/>
          </a:prstGeom>
        </p:spPr>
        <p:txBody>
          <a:bodyPr anchor="t" rtlCol="false" tIns="0" lIns="0" bIns="0" rIns="0">
            <a:spAutoFit/>
          </a:bodyPr>
          <a:lstStyle/>
          <a:p>
            <a:pPr algn="l">
              <a:lnSpc>
                <a:spcPts val="1620"/>
              </a:lnSpc>
            </a:pPr>
            <a:r>
              <a:rPr lang="en-US" sz="1350" b="true">
                <a:solidFill>
                  <a:srgbClr val="16796C"/>
                </a:solidFill>
                <a:latin typeface="Noto Sans Bold"/>
                <a:ea typeface="Noto Sans Bold"/>
                <a:cs typeface="Noto Sans Bold"/>
                <a:sym typeface="Noto Sans Bold"/>
              </a:rPr>
              <a:t>01</a:t>
            </a:r>
          </a:p>
        </p:txBody>
      </p:sp>
      <p:sp>
        <p:nvSpPr>
          <p:cNvPr name="TextBox 30" id="30"/>
          <p:cNvSpPr txBox="true"/>
          <p:nvPr/>
        </p:nvSpPr>
        <p:spPr>
          <a:xfrm rot="0">
            <a:off x="4983480" y="3931634"/>
            <a:ext cx="528394" cy="209550"/>
          </a:xfrm>
          <a:prstGeom prst="rect">
            <a:avLst/>
          </a:prstGeom>
        </p:spPr>
        <p:txBody>
          <a:bodyPr anchor="t" rtlCol="false" tIns="0" lIns="0" bIns="0" rIns="0">
            <a:spAutoFit/>
          </a:bodyPr>
          <a:lstStyle/>
          <a:p>
            <a:pPr algn="l">
              <a:lnSpc>
                <a:spcPts val="1620"/>
              </a:lnSpc>
            </a:pPr>
            <a:r>
              <a:rPr lang="en-US" sz="1350" b="true">
                <a:solidFill>
                  <a:srgbClr val="16796C"/>
                </a:solidFill>
                <a:latin typeface="Noto Sans Bold"/>
                <a:ea typeface="Noto Sans Bold"/>
                <a:cs typeface="Noto Sans Bold"/>
                <a:sym typeface="Noto Sans Bold"/>
              </a:rPr>
              <a:t>02</a:t>
            </a:r>
          </a:p>
        </p:txBody>
      </p:sp>
      <p:sp>
        <p:nvSpPr>
          <p:cNvPr name="TextBox 31" id="31"/>
          <p:cNvSpPr txBox="true"/>
          <p:nvPr/>
        </p:nvSpPr>
        <p:spPr>
          <a:xfrm rot="0">
            <a:off x="8103870" y="3931634"/>
            <a:ext cx="528394" cy="209550"/>
          </a:xfrm>
          <a:prstGeom prst="rect">
            <a:avLst/>
          </a:prstGeom>
        </p:spPr>
        <p:txBody>
          <a:bodyPr anchor="t" rtlCol="false" tIns="0" lIns="0" bIns="0" rIns="0">
            <a:spAutoFit/>
          </a:bodyPr>
          <a:lstStyle/>
          <a:p>
            <a:pPr algn="l">
              <a:lnSpc>
                <a:spcPts val="1620"/>
              </a:lnSpc>
            </a:pPr>
            <a:r>
              <a:rPr lang="en-US" sz="1350" b="true">
                <a:solidFill>
                  <a:srgbClr val="16796C"/>
                </a:solidFill>
                <a:latin typeface="Noto Sans Bold"/>
                <a:ea typeface="Noto Sans Bold"/>
                <a:cs typeface="Noto Sans Bold"/>
                <a:sym typeface="Noto Sans Bold"/>
              </a:rPr>
              <a:t>03</a:t>
            </a:r>
          </a:p>
        </p:txBody>
      </p:sp>
      <p:sp>
        <p:nvSpPr>
          <p:cNvPr name="TextBox 32" id="32"/>
          <p:cNvSpPr txBox="true"/>
          <p:nvPr/>
        </p:nvSpPr>
        <p:spPr>
          <a:xfrm rot="0">
            <a:off x="11224260" y="3931634"/>
            <a:ext cx="528394" cy="209550"/>
          </a:xfrm>
          <a:prstGeom prst="rect">
            <a:avLst/>
          </a:prstGeom>
        </p:spPr>
        <p:txBody>
          <a:bodyPr anchor="t" rtlCol="false" tIns="0" lIns="0" bIns="0" rIns="0">
            <a:spAutoFit/>
          </a:bodyPr>
          <a:lstStyle/>
          <a:p>
            <a:pPr algn="l">
              <a:lnSpc>
                <a:spcPts val="1620"/>
              </a:lnSpc>
            </a:pPr>
            <a:r>
              <a:rPr lang="en-US" sz="1350" b="true">
                <a:solidFill>
                  <a:srgbClr val="16796C"/>
                </a:solidFill>
                <a:latin typeface="Noto Sans Bold"/>
                <a:ea typeface="Noto Sans Bold"/>
                <a:cs typeface="Noto Sans Bold"/>
                <a:sym typeface="Noto Sans Bold"/>
              </a:rPr>
              <a:t>04</a:t>
            </a:r>
          </a:p>
        </p:txBody>
      </p:sp>
      <p:sp>
        <p:nvSpPr>
          <p:cNvPr name="TextBox 33" id="33"/>
          <p:cNvSpPr txBox="true"/>
          <p:nvPr/>
        </p:nvSpPr>
        <p:spPr>
          <a:xfrm rot="0">
            <a:off x="14344650" y="3931634"/>
            <a:ext cx="528394" cy="209550"/>
          </a:xfrm>
          <a:prstGeom prst="rect">
            <a:avLst/>
          </a:prstGeom>
        </p:spPr>
        <p:txBody>
          <a:bodyPr anchor="t" rtlCol="false" tIns="0" lIns="0" bIns="0" rIns="0">
            <a:spAutoFit/>
          </a:bodyPr>
          <a:lstStyle/>
          <a:p>
            <a:pPr algn="l">
              <a:lnSpc>
                <a:spcPts val="1620"/>
              </a:lnSpc>
            </a:pPr>
            <a:r>
              <a:rPr lang="en-US" sz="1350" b="true">
                <a:solidFill>
                  <a:srgbClr val="16796C"/>
                </a:solidFill>
                <a:latin typeface="Noto Sans Bold"/>
                <a:ea typeface="Noto Sans Bold"/>
                <a:cs typeface="Noto Sans Bold"/>
                <a:sym typeface="Noto Sans Bold"/>
              </a:rPr>
              <a:t>05</a:t>
            </a:r>
          </a:p>
        </p:txBody>
      </p:sp>
      <p:sp>
        <p:nvSpPr>
          <p:cNvPr name="TextBox 34" id="34"/>
          <p:cNvSpPr txBox="true"/>
          <p:nvPr/>
        </p:nvSpPr>
        <p:spPr>
          <a:xfrm rot="0">
            <a:off x="2036987" y="4851273"/>
            <a:ext cx="1732467"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설비 촬영</a:t>
            </a:r>
          </a:p>
        </p:txBody>
      </p:sp>
      <p:sp>
        <p:nvSpPr>
          <p:cNvPr name="TextBox 35" id="35"/>
          <p:cNvSpPr txBox="true"/>
          <p:nvPr/>
        </p:nvSpPr>
        <p:spPr>
          <a:xfrm rot="0">
            <a:off x="5157377" y="4851273"/>
            <a:ext cx="1732467"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증상 질의</a:t>
            </a:r>
          </a:p>
        </p:txBody>
      </p:sp>
      <p:sp>
        <p:nvSpPr>
          <p:cNvPr name="TextBox 36" id="36"/>
          <p:cNvSpPr txBox="true"/>
          <p:nvPr/>
        </p:nvSpPr>
        <p:spPr>
          <a:xfrm rot="0">
            <a:off x="8277767" y="4851273"/>
            <a:ext cx="1732467"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근거 확인</a:t>
            </a:r>
          </a:p>
        </p:txBody>
      </p:sp>
      <p:sp>
        <p:nvSpPr>
          <p:cNvPr name="TextBox 37" id="37"/>
          <p:cNvSpPr txBox="true"/>
          <p:nvPr/>
        </p:nvSpPr>
        <p:spPr>
          <a:xfrm rot="0">
            <a:off x="11398157" y="4851273"/>
            <a:ext cx="1732467"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조치 기록</a:t>
            </a:r>
          </a:p>
        </p:txBody>
      </p:sp>
      <p:sp>
        <p:nvSpPr>
          <p:cNvPr name="TextBox 38" id="38"/>
          <p:cNvSpPr txBox="true"/>
          <p:nvPr/>
        </p:nvSpPr>
        <p:spPr>
          <a:xfrm rot="0">
            <a:off x="14518547" y="4851273"/>
            <a:ext cx="1732467"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교대 인계</a:t>
            </a:r>
          </a:p>
        </p:txBody>
      </p:sp>
      <p:sp>
        <p:nvSpPr>
          <p:cNvPr name="TextBox 39" id="39"/>
          <p:cNvSpPr txBox="true"/>
          <p:nvPr/>
        </p:nvSpPr>
        <p:spPr>
          <a:xfrm rot="0">
            <a:off x="2134397" y="7347585"/>
            <a:ext cx="1745671"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MES 관측</a:t>
            </a:r>
          </a:p>
        </p:txBody>
      </p:sp>
      <p:sp>
        <p:nvSpPr>
          <p:cNvPr name="TextBox 40" id="40"/>
          <p:cNvSpPr txBox="true"/>
          <p:nvPr/>
        </p:nvSpPr>
        <p:spPr>
          <a:xfrm rot="0">
            <a:off x="6267831" y="7372350"/>
            <a:ext cx="3048000" cy="342900"/>
          </a:xfrm>
          <a:prstGeom prst="rect">
            <a:avLst/>
          </a:prstGeom>
        </p:spPr>
        <p:txBody>
          <a:bodyPr anchor="t" rtlCol="false" tIns="0" lIns="0" bIns="0" rIns="0">
            <a:spAutoFit/>
          </a:bodyPr>
          <a:lstStyle/>
          <a:p>
            <a:pPr algn="ctr" marL="0" indent="0" lvl="0">
              <a:lnSpc>
                <a:spcPts val="2700"/>
              </a:lnSpc>
              <a:spcBef>
                <a:spcPct val="0"/>
              </a:spcBef>
            </a:pPr>
            <a:r>
              <a:rPr lang="en-US" b="true" sz="2250" strike="noStrike" u="none">
                <a:solidFill>
                  <a:srgbClr val="FFFFFF"/>
                </a:solidFill>
                <a:latin typeface="Noto Sans Bold"/>
                <a:ea typeface="Noto Sans Bold"/>
                <a:cs typeface="Noto Sans Bold"/>
                <a:sym typeface="Noto Sans Bold"/>
              </a:rPr>
              <a:t>설비 이상징후 분석</a:t>
            </a:r>
          </a:p>
        </p:txBody>
      </p:sp>
      <p:sp>
        <p:nvSpPr>
          <p:cNvPr name="TextBox 41" id="41"/>
          <p:cNvSpPr txBox="true"/>
          <p:nvPr/>
        </p:nvSpPr>
        <p:spPr>
          <a:xfrm rot="0">
            <a:off x="11771446" y="6801517"/>
            <a:ext cx="2234045" cy="371475"/>
          </a:xfrm>
          <a:prstGeom prst="rect">
            <a:avLst/>
          </a:prstGeom>
        </p:spPr>
        <p:txBody>
          <a:bodyPr anchor="t" rtlCol="false" tIns="0" lIns="0" bIns="0" rIns="0">
            <a:spAutoFit/>
          </a:bodyPr>
          <a:lstStyle/>
          <a:p>
            <a:pPr algn="ctr">
              <a:lnSpc>
                <a:spcPts val="2970"/>
              </a:lnSpc>
            </a:pPr>
            <a:r>
              <a:rPr lang="en-US" sz="2475" b="true">
                <a:solidFill>
                  <a:srgbClr val="203238"/>
                </a:solidFill>
                <a:latin typeface="Noto Sans Bold"/>
                <a:ea typeface="Noto Sans Bold"/>
                <a:cs typeface="Noto Sans Bold"/>
                <a:sym typeface="Noto Sans Bold"/>
              </a:rPr>
              <a:t>PDA 대시보드</a:t>
            </a:r>
          </a:p>
        </p:txBody>
      </p:sp>
      <p:sp>
        <p:nvSpPr>
          <p:cNvPr name="TextBox 42" id="42"/>
          <p:cNvSpPr txBox="true"/>
          <p:nvPr/>
        </p:nvSpPr>
        <p:spPr>
          <a:xfrm rot="0">
            <a:off x="13966587" y="7958661"/>
            <a:ext cx="2524347" cy="352425"/>
          </a:xfrm>
          <a:prstGeom prst="rect">
            <a:avLst/>
          </a:prstGeom>
        </p:spPr>
        <p:txBody>
          <a:bodyPr anchor="t" rtlCol="false" tIns="0" lIns="0" bIns="0" rIns="0">
            <a:spAutoFit/>
          </a:bodyPr>
          <a:lstStyle/>
          <a:p>
            <a:pPr algn="ctr">
              <a:lnSpc>
                <a:spcPts val="2790"/>
              </a:lnSpc>
            </a:pPr>
            <a:r>
              <a:rPr lang="en-US" sz="2325" b="true">
                <a:solidFill>
                  <a:srgbClr val="203238"/>
                </a:solidFill>
                <a:latin typeface="Noto Sans Bold"/>
                <a:ea typeface="Noto Sans Bold"/>
                <a:cs typeface="Noto Sans Bold"/>
                <a:sym typeface="Noto Sans Bold"/>
              </a:rPr>
              <a:t>Jetson 질의 참고</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2784" r="0" b="-332782"/>
              </a:stretch>
            </a:blipFill>
          </p:spPr>
        </p:sp>
      </p:grpSp>
      <p:grpSp>
        <p:nvGrpSpPr>
          <p:cNvPr name="Group 6" id="6"/>
          <p:cNvGrpSpPr/>
          <p:nvPr/>
        </p:nvGrpSpPr>
        <p:grpSpPr>
          <a:xfrm rot="0">
            <a:off x="822960" y="9696640"/>
            <a:ext cx="8229600" cy="425768"/>
            <a:chOff x="0" y="0"/>
            <a:chExt cx="10972800" cy="567690"/>
          </a:xfrm>
        </p:grpSpPr>
        <p:sp>
          <p:nvSpPr>
            <p:cNvPr name="Freeform 7" id="7"/>
            <p:cNvSpPr/>
            <p:nvPr/>
          </p:nvSpPr>
          <p:spPr>
            <a:xfrm flipH="false" flipV="false" rot="0">
              <a:off x="0" y="0"/>
              <a:ext cx="10972800" cy="567690"/>
            </a:xfrm>
            <a:custGeom>
              <a:avLst/>
              <a:gdLst/>
              <a:ahLst/>
              <a:cxnLst/>
              <a:rect r="r" b="b" t="t" l="l"/>
              <a:pathLst>
                <a:path h="567690" w="10972800">
                  <a:moveTo>
                    <a:pt x="0" y="0"/>
                  </a:moveTo>
                  <a:lnTo>
                    <a:pt x="10972800" y="0"/>
                  </a:lnTo>
                  <a:lnTo>
                    <a:pt x="10972800" y="567690"/>
                  </a:lnTo>
                  <a:lnTo>
                    <a:pt x="0" y="567690"/>
                  </a:lnTo>
                  <a:close/>
                </a:path>
              </a:pathLst>
            </a:custGeom>
            <a:blipFill>
              <a:blip r:embed="rId5">
                <a:alphaModFix amt="0"/>
              </a:blip>
              <a:stretch>
                <a:fillRect l="0" t="-326623" r="0" b="-326623"/>
              </a:stretch>
            </a:blipFill>
          </p:spPr>
        </p:sp>
        <p:sp>
          <p:nvSpPr>
            <p:cNvPr name="TextBox 8" id="8"/>
            <p:cNvSpPr txBox="true"/>
            <p:nvPr/>
          </p:nvSpPr>
          <p:spPr>
            <a:xfrm>
              <a:off x="0" y="-9525"/>
              <a:ext cx="10972800" cy="577215"/>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9" id="9"/>
          <p:cNvGrpSpPr/>
          <p:nvPr/>
        </p:nvGrpSpPr>
        <p:grpSpPr>
          <a:xfrm rot="0">
            <a:off x="822960" y="438912"/>
            <a:ext cx="4114800" cy="384048"/>
            <a:chOff x="0" y="0"/>
            <a:chExt cx="5486400" cy="512064"/>
          </a:xfrm>
        </p:grpSpPr>
        <p:sp>
          <p:nvSpPr>
            <p:cNvPr name="Freeform 10" id="10"/>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5">
                <a:alphaModFix amt="0"/>
              </a:blip>
              <a:stretch>
                <a:fillRect l="0" t="-158768" r="0" b="-158768"/>
              </a:stretch>
            </a:blipFill>
          </p:spPr>
        </p:sp>
        <p:sp>
          <p:nvSpPr>
            <p:cNvPr name="TextBox 11" id="11"/>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02  시스템 구성</a:t>
              </a:r>
            </a:p>
          </p:txBody>
        </p:sp>
      </p:grpSp>
      <p:grpSp>
        <p:nvGrpSpPr>
          <p:cNvPr name="Group 12" id="12"/>
          <p:cNvGrpSpPr/>
          <p:nvPr/>
        </p:nvGrpSpPr>
        <p:grpSpPr>
          <a:xfrm rot="0">
            <a:off x="822960" y="822960"/>
            <a:ext cx="16642080" cy="850392"/>
            <a:chOff x="0" y="0"/>
            <a:chExt cx="22189440" cy="1133856"/>
          </a:xfrm>
        </p:grpSpPr>
        <p:sp>
          <p:nvSpPr>
            <p:cNvPr name="Freeform 13" id="13"/>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5">
                <a:alphaModFix amt="0"/>
              </a:blip>
              <a:stretch>
                <a:fillRect l="0" t="-331309" r="2" b="-331309"/>
              </a:stretch>
            </a:blipFill>
          </p:spPr>
        </p:sp>
        <p:sp>
          <p:nvSpPr>
            <p:cNvPr name="TextBox 14" id="14"/>
            <p:cNvSpPr txBox="true"/>
            <p:nvPr/>
          </p:nvSpPr>
          <p:spPr>
            <a:xfrm>
              <a:off x="0" y="-9525"/>
              <a:ext cx="22189440" cy="1143381"/>
            </a:xfrm>
            <a:prstGeom prst="rect">
              <a:avLst/>
            </a:prstGeom>
          </p:spPr>
          <p:txBody>
            <a:bodyPr anchor="ctr" rtlCol="false" tIns="0" lIns="0" bIns="0" rIns="0"/>
            <a:lstStyle/>
            <a:p>
              <a:pPr algn="l" marL="0" indent="0" lvl="0">
                <a:lnSpc>
                  <a:spcPts val="4500"/>
                </a:lnSpc>
                <a:spcBef>
                  <a:spcPct val="0"/>
                </a:spcBef>
              </a:pPr>
              <a:r>
                <a:rPr lang="en-US" b="true" sz="3750" strike="noStrike" u="none">
                  <a:solidFill>
                    <a:srgbClr val="203238"/>
                  </a:solidFill>
                  <a:latin typeface="Noto Sans Bold"/>
                  <a:ea typeface="Noto Sans Bold"/>
                  <a:cs typeface="Noto Sans Bold"/>
                  <a:sym typeface="Noto Sans Bold"/>
                </a:rPr>
                <a:t>04  </a:t>
              </a:r>
              <a:r>
                <a:rPr lang="en-US" b="true" sz="3750" strike="noStrike" u="none">
                  <a:solidFill>
                    <a:srgbClr val="203238"/>
                  </a:solidFill>
                  <a:latin typeface="Noto Sans Bold"/>
                  <a:ea typeface="Noto Sans Bold"/>
                  <a:cs typeface="Noto Sans Bold"/>
                  <a:sym typeface="Noto Sans Bold"/>
                </a:rPr>
                <a:t>합성 데이터 · 가상 공장</a:t>
              </a:r>
            </a:p>
          </p:txBody>
        </p:sp>
      </p:grpSp>
      <p:grpSp>
        <p:nvGrpSpPr>
          <p:cNvPr name="Group 15" id="15"/>
          <p:cNvGrpSpPr/>
          <p:nvPr/>
        </p:nvGrpSpPr>
        <p:grpSpPr>
          <a:xfrm rot="0">
            <a:off x="822960" y="1762125"/>
            <a:ext cx="16641623" cy="561784"/>
            <a:chOff x="0" y="0"/>
            <a:chExt cx="22188830" cy="749046"/>
          </a:xfrm>
        </p:grpSpPr>
        <p:sp>
          <p:nvSpPr>
            <p:cNvPr name="Freeform 16" id="16"/>
            <p:cNvSpPr/>
            <p:nvPr/>
          </p:nvSpPr>
          <p:spPr>
            <a:xfrm flipH="false" flipV="false" rot="0">
              <a:off x="0" y="0"/>
              <a:ext cx="22188830" cy="749045"/>
            </a:xfrm>
            <a:custGeom>
              <a:avLst/>
              <a:gdLst/>
              <a:ahLst/>
              <a:cxnLst/>
              <a:rect r="r" b="b" t="t" l="l"/>
              <a:pathLst>
                <a:path h="749045" w="22188830">
                  <a:moveTo>
                    <a:pt x="0" y="0"/>
                  </a:moveTo>
                  <a:lnTo>
                    <a:pt x="22188830" y="0"/>
                  </a:lnTo>
                  <a:lnTo>
                    <a:pt x="22188830" y="749045"/>
                  </a:lnTo>
                  <a:lnTo>
                    <a:pt x="0" y="749045"/>
                  </a:lnTo>
                  <a:close/>
                </a:path>
              </a:pathLst>
            </a:custGeom>
            <a:blipFill>
              <a:blip r:embed="rId5">
                <a:alphaModFix amt="0"/>
              </a:blip>
              <a:stretch>
                <a:fillRect l="0" t="-527201" r="0" b="-527201"/>
              </a:stretch>
            </a:blipFill>
          </p:spPr>
        </p:sp>
        <p:sp>
          <p:nvSpPr>
            <p:cNvPr name="TextBox 17" id="17"/>
            <p:cNvSpPr txBox="true"/>
            <p:nvPr/>
          </p:nvSpPr>
          <p:spPr>
            <a:xfrm>
              <a:off x="0" y="9525"/>
              <a:ext cx="22188830" cy="739521"/>
            </a:xfrm>
            <a:prstGeom prst="rect">
              <a:avLst/>
            </a:prstGeom>
          </p:spPr>
          <p:txBody>
            <a:bodyPr anchor="ctr" rtlCol="false" tIns="0" lIns="0" bIns="0" rIns="0"/>
            <a:lstStyle/>
            <a:p>
              <a:pPr algn="l" marL="0" indent="0" lvl="0">
                <a:lnSpc>
                  <a:spcPts val="2878"/>
                </a:lnSpc>
                <a:spcBef>
                  <a:spcPct val="0"/>
                </a:spcBef>
              </a:pPr>
              <a:r>
                <a:rPr lang="en-US" b="true" sz="2400" strike="noStrike" u="none">
                  <a:solidFill>
                    <a:srgbClr val="53666E"/>
                  </a:solidFill>
                  <a:latin typeface="Noto Sans Bold"/>
                  <a:ea typeface="Noto Sans Bold"/>
                  <a:cs typeface="Noto Sans Bold"/>
                  <a:sym typeface="Noto Sans Bold"/>
                </a:rPr>
                <a:t>Unity 이미지와 모의 MES 상태값의 검증 경로를 구분</a:t>
              </a:r>
            </a:p>
          </p:txBody>
        </p:sp>
      </p:grpSp>
      <p:grpSp>
        <p:nvGrpSpPr>
          <p:cNvPr name="Group 18" id="18"/>
          <p:cNvGrpSpPr/>
          <p:nvPr/>
        </p:nvGrpSpPr>
        <p:grpSpPr>
          <a:xfrm rot="0">
            <a:off x="1228725" y="8991600"/>
            <a:ext cx="15906750" cy="419100"/>
            <a:chOff x="0" y="0"/>
            <a:chExt cx="21209000" cy="558800"/>
          </a:xfrm>
        </p:grpSpPr>
        <p:sp>
          <p:nvSpPr>
            <p:cNvPr name="Freeform 19" id="19"/>
            <p:cNvSpPr/>
            <p:nvPr/>
          </p:nvSpPr>
          <p:spPr>
            <a:xfrm flipH="false" flipV="false" rot="0">
              <a:off x="0" y="0"/>
              <a:ext cx="21209000" cy="558800"/>
            </a:xfrm>
            <a:custGeom>
              <a:avLst/>
              <a:gdLst/>
              <a:ahLst/>
              <a:cxnLst/>
              <a:rect r="r" b="b" t="t" l="l"/>
              <a:pathLst>
                <a:path h="558800" w="21209000">
                  <a:moveTo>
                    <a:pt x="0" y="0"/>
                  </a:moveTo>
                  <a:lnTo>
                    <a:pt x="21209000" y="0"/>
                  </a:lnTo>
                  <a:lnTo>
                    <a:pt x="21209000" y="558800"/>
                  </a:lnTo>
                  <a:lnTo>
                    <a:pt x="0" y="558800"/>
                  </a:lnTo>
                  <a:close/>
                </a:path>
              </a:pathLst>
            </a:custGeom>
            <a:blipFill>
              <a:blip r:embed="rId5">
                <a:alphaModFix amt="0"/>
              </a:blip>
              <a:stretch>
                <a:fillRect l="-3127" t="0" r="77902" b="-273090"/>
              </a:stretch>
            </a:blipFill>
          </p:spPr>
        </p:sp>
        <p:sp>
          <p:nvSpPr>
            <p:cNvPr name="TextBox 20" id="20"/>
            <p:cNvSpPr txBox="true"/>
            <p:nvPr/>
          </p:nvSpPr>
          <p:spPr>
            <a:xfrm>
              <a:off x="0" y="0"/>
              <a:ext cx="21209000" cy="558800"/>
            </a:xfrm>
            <a:prstGeom prst="rect">
              <a:avLst/>
            </a:prstGeom>
          </p:spPr>
          <p:txBody>
            <a:bodyPr anchor="ctr" rtlCol="false" tIns="0" lIns="0" bIns="0" rIns="0"/>
            <a:lstStyle/>
            <a:p>
              <a:pPr algn="l" marL="0" indent="0" lvl="0">
                <a:lnSpc>
                  <a:spcPts val="2250"/>
                </a:lnSpc>
                <a:spcBef>
                  <a:spcPct val="0"/>
                </a:spcBef>
              </a:pPr>
              <a:r>
                <a:rPr lang="en-US" sz="1875" strike="noStrike" u="none">
                  <a:solidFill>
                    <a:srgbClr val="53666E"/>
                  </a:solidFill>
                  <a:latin typeface="Noto Sans"/>
                  <a:ea typeface="Noto Sans"/>
                  <a:cs typeface="Noto Sans"/>
                  <a:sym typeface="Noto Sans"/>
                </a:rPr>
                <a:t>가상 설비 10대·6종  |  MES 69개 측정점·48종 신호  |  설비 이미지 8,951장</a:t>
              </a:r>
            </a:p>
          </p:txBody>
        </p:sp>
      </p:grpSp>
      <p:sp>
        <p:nvSpPr>
          <p:cNvPr name="TextBox 21" id="21"/>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a:solidFill>
                  <a:srgbClr val="6B787A"/>
                </a:solidFill>
                <a:latin typeface="Noto Sans"/>
                <a:ea typeface="Noto Sans"/>
                <a:cs typeface="Noto Sans"/>
                <a:sym typeface="Noto Sans"/>
              </a:rPr>
              <a:t>16</a:t>
            </a:r>
          </a:p>
        </p:txBody>
      </p:sp>
      <p:grpSp>
        <p:nvGrpSpPr>
          <p:cNvPr name="Group 22" id="22"/>
          <p:cNvGrpSpPr/>
          <p:nvPr/>
        </p:nvGrpSpPr>
        <p:grpSpPr>
          <a:xfrm rot="0">
            <a:off x="5818356" y="9710928"/>
            <a:ext cx="1260634" cy="419672"/>
            <a:chOff x="0" y="0"/>
            <a:chExt cx="1680845" cy="559562"/>
          </a:xfrm>
        </p:grpSpPr>
        <p:sp>
          <p:nvSpPr>
            <p:cNvPr name="Freeform 23" id="23"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6"/>
              <a:stretch>
                <a:fillRect l="0" t="-928" r="0" b="-926"/>
              </a:stretch>
            </a:blipFill>
          </p:spPr>
        </p:sp>
      </p:grpSp>
      <p:grpSp>
        <p:nvGrpSpPr>
          <p:cNvPr name="Group 24" id="24"/>
          <p:cNvGrpSpPr/>
          <p:nvPr/>
        </p:nvGrpSpPr>
        <p:grpSpPr>
          <a:xfrm rot="0">
            <a:off x="7370474" y="9804197"/>
            <a:ext cx="891826" cy="233172"/>
            <a:chOff x="0" y="0"/>
            <a:chExt cx="1189101" cy="310896"/>
          </a:xfrm>
        </p:grpSpPr>
        <p:sp>
          <p:nvSpPr>
            <p:cNvPr name="Freeform 25" id="25"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7"/>
              <a:stretch>
                <a:fillRect l="0" t="-584" r="0" b="-588"/>
              </a:stretch>
            </a:blipFill>
          </p:spPr>
        </p:sp>
      </p:grpSp>
      <p:grpSp>
        <p:nvGrpSpPr>
          <p:cNvPr name="Group 26" id="26"/>
          <p:cNvGrpSpPr/>
          <p:nvPr/>
        </p:nvGrpSpPr>
        <p:grpSpPr>
          <a:xfrm rot="0">
            <a:off x="8553745" y="9804197"/>
            <a:ext cx="1335596" cy="233172"/>
            <a:chOff x="0" y="0"/>
            <a:chExt cx="1780794" cy="310896"/>
          </a:xfrm>
        </p:grpSpPr>
        <p:sp>
          <p:nvSpPr>
            <p:cNvPr name="Freeform 27" id="27"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8"/>
              <a:stretch>
                <a:fillRect l="0" t="-714" r="0" b="-718"/>
              </a:stretch>
            </a:blipFill>
          </p:spPr>
        </p:sp>
      </p:grpSp>
      <p:grpSp>
        <p:nvGrpSpPr>
          <p:cNvPr name="Group 28" id="28"/>
          <p:cNvGrpSpPr/>
          <p:nvPr/>
        </p:nvGrpSpPr>
        <p:grpSpPr>
          <a:xfrm rot="0">
            <a:off x="822960" y="2510980"/>
            <a:ext cx="16642080" cy="6136767"/>
            <a:chOff x="0" y="0"/>
            <a:chExt cx="22189440" cy="8182356"/>
          </a:xfrm>
        </p:grpSpPr>
        <p:sp>
          <p:nvSpPr>
            <p:cNvPr name="Freeform 29" id="29" descr="C:\Users\hyjuy\.codex\visualizations\2026\10\24\01a16de7-7758-7d42-a989-40469d57b039\system-diagrams\06-synthetic-factory-shapes.png"/>
            <p:cNvSpPr/>
            <p:nvPr/>
          </p:nvSpPr>
          <p:spPr>
            <a:xfrm flipH="false" flipV="false" rot="0">
              <a:off x="0" y="0"/>
              <a:ext cx="22189439" cy="8182356"/>
            </a:xfrm>
            <a:custGeom>
              <a:avLst/>
              <a:gdLst/>
              <a:ahLst/>
              <a:cxnLst/>
              <a:rect r="r" b="b" t="t" l="l"/>
              <a:pathLst>
                <a:path h="8182356" w="22189439">
                  <a:moveTo>
                    <a:pt x="0" y="0"/>
                  </a:moveTo>
                  <a:lnTo>
                    <a:pt x="22189439" y="0"/>
                  </a:lnTo>
                  <a:lnTo>
                    <a:pt x="22189439" y="8182356"/>
                  </a:lnTo>
                  <a:lnTo>
                    <a:pt x="0" y="8182356"/>
                  </a:lnTo>
                  <a:lnTo>
                    <a:pt x="0" y="0"/>
                  </a:lnTo>
                  <a:close/>
                </a:path>
              </a:pathLst>
            </a:custGeom>
            <a:blipFill>
              <a:blip r:embed="rId9"/>
              <a:stretch>
                <a:fillRect l="0" t="0" r="0" b="0"/>
              </a:stretch>
            </a:blipFill>
          </p:spPr>
        </p:sp>
      </p:grpSp>
      <p:sp>
        <p:nvSpPr>
          <p:cNvPr name="TextBox 30" id="30"/>
          <p:cNvSpPr txBox="true"/>
          <p:nvPr/>
        </p:nvSpPr>
        <p:spPr>
          <a:xfrm rot="0">
            <a:off x="1655064" y="3343084"/>
            <a:ext cx="1918146" cy="285750"/>
          </a:xfrm>
          <a:prstGeom prst="rect">
            <a:avLst/>
          </a:prstGeom>
        </p:spPr>
        <p:txBody>
          <a:bodyPr anchor="t" rtlCol="false" tIns="0" lIns="0" bIns="0" rIns="0">
            <a:spAutoFit/>
          </a:bodyPr>
          <a:lstStyle/>
          <a:p>
            <a:pPr algn="l">
              <a:lnSpc>
                <a:spcPts val="2250"/>
              </a:lnSpc>
            </a:pPr>
            <a:r>
              <a:rPr lang="en-US" sz="1875" b="true">
                <a:solidFill>
                  <a:srgbClr val="53666E"/>
                </a:solidFill>
                <a:latin typeface="Noto Sans Bold"/>
                <a:ea typeface="Noto Sans Bold"/>
                <a:cs typeface="Noto Sans Bold"/>
                <a:sym typeface="Noto Sans Bold"/>
              </a:rPr>
              <a:t>01  이미지 경로</a:t>
            </a:r>
          </a:p>
        </p:txBody>
      </p:sp>
      <p:sp>
        <p:nvSpPr>
          <p:cNvPr name="TextBox 31" id="31"/>
          <p:cNvSpPr txBox="true"/>
          <p:nvPr/>
        </p:nvSpPr>
        <p:spPr>
          <a:xfrm rot="0">
            <a:off x="1655064" y="6203442"/>
            <a:ext cx="1684117" cy="285750"/>
          </a:xfrm>
          <a:prstGeom prst="rect">
            <a:avLst/>
          </a:prstGeom>
        </p:spPr>
        <p:txBody>
          <a:bodyPr anchor="t" rtlCol="false" tIns="0" lIns="0" bIns="0" rIns="0">
            <a:spAutoFit/>
          </a:bodyPr>
          <a:lstStyle/>
          <a:p>
            <a:pPr algn="l">
              <a:lnSpc>
                <a:spcPts val="2250"/>
              </a:lnSpc>
            </a:pPr>
            <a:r>
              <a:rPr lang="en-US" sz="1875" b="true">
                <a:solidFill>
                  <a:srgbClr val="53666E"/>
                </a:solidFill>
                <a:latin typeface="Noto Sans Bold"/>
                <a:ea typeface="Noto Sans Bold"/>
                <a:cs typeface="Noto Sans Bold"/>
                <a:sym typeface="Noto Sans Bold"/>
              </a:rPr>
              <a:t>02  상태 경로</a:t>
            </a:r>
          </a:p>
        </p:txBody>
      </p:sp>
      <p:sp>
        <p:nvSpPr>
          <p:cNvPr name="TextBox 32" id="32"/>
          <p:cNvSpPr txBox="true"/>
          <p:nvPr/>
        </p:nvSpPr>
        <p:spPr>
          <a:xfrm rot="0">
            <a:off x="2094797" y="4487228"/>
            <a:ext cx="2656976" cy="400050"/>
          </a:xfrm>
          <a:prstGeom prst="rect">
            <a:avLst/>
          </a:prstGeom>
        </p:spPr>
        <p:txBody>
          <a:bodyPr anchor="t" rtlCol="false" tIns="0" lIns="0" bIns="0" rIns="0">
            <a:spAutoFit/>
          </a:bodyPr>
          <a:lstStyle/>
          <a:p>
            <a:pPr algn="ctr">
              <a:lnSpc>
                <a:spcPts val="3150"/>
              </a:lnSpc>
            </a:pPr>
            <a:r>
              <a:rPr lang="en-US" sz="2625" b="true">
                <a:solidFill>
                  <a:srgbClr val="FFFFFF"/>
                </a:solidFill>
                <a:latin typeface="Noto Sans Bold"/>
                <a:ea typeface="Noto Sans Bold"/>
                <a:cs typeface="Noto Sans Bold"/>
                <a:sym typeface="Noto Sans Bold"/>
              </a:rPr>
              <a:t>Unity 가상 공장</a:t>
            </a:r>
          </a:p>
        </p:txBody>
      </p:sp>
      <p:sp>
        <p:nvSpPr>
          <p:cNvPr name="TextBox 33" id="33"/>
          <p:cNvSpPr txBox="true"/>
          <p:nvPr/>
        </p:nvSpPr>
        <p:spPr>
          <a:xfrm rot="0">
            <a:off x="8113824" y="4487228"/>
            <a:ext cx="2060351"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설비 이미지</a:t>
            </a:r>
          </a:p>
        </p:txBody>
      </p:sp>
      <p:sp>
        <p:nvSpPr>
          <p:cNvPr name="TextBox 34" id="34"/>
          <p:cNvSpPr txBox="true"/>
          <p:nvPr/>
        </p:nvSpPr>
        <p:spPr>
          <a:xfrm rot="0">
            <a:off x="13616254" y="4487228"/>
            <a:ext cx="2496921"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설비 분류 검증</a:t>
            </a:r>
          </a:p>
        </p:txBody>
      </p:sp>
      <p:sp>
        <p:nvSpPr>
          <p:cNvPr name="TextBox 35" id="35"/>
          <p:cNvSpPr txBox="true"/>
          <p:nvPr/>
        </p:nvSpPr>
        <p:spPr>
          <a:xfrm rot="0">
            <a:off x="2543616" y="7347585"/>
            <a:ext cx="1759338"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모의 MES</a:t>
            </a:r>
          </a:p>
        </p:txBody>
      </p:sp>
      <p:sp>
        <p:nvSpPr>
          <p:cNvPr name="TextBox 36" id="36"/>
          <p:cNvSpPr txBox="true"/>
          <p:nvPr/>
        </p:nvSpPr>
        <p:spPr>
          <a:xfrm rot="0">
            <a:off x="7746732" y="7347585"/>
            <a:ext cx="2794537"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상태값·기준 범위</a:t>
            </a:r>
          </a:p>
        </p:txBody>
      </p:sp>
      <p:sp>
        <p:nvSpPr>
          <p:cNvPr name="TextBox 37" id="37"/>
          <p:cNvSpPr txBox="true"/>
          <p:nvPr/>
        </p:nvSpPr>
        <p:spPr>
          <a:xfrm rot="0">
            <a:off x="13361402" y="7373588"/>
            <a:ext cx="3006626" cy="371475"/>
          </a:xfrm>
          <a:prstGeom prst="rect">
            <a:avLst/>
          </a:prstGeom>
        </p:spPr>
        <p:txBody>
          <a:bodyPr anchor="t" rtlCol="false" tIns="0" lIns="0" bIns="0" rIns="0">
            <a:spAutoFit/>
          </a:bodyPr>
          <a:lstStyle/>
          <a:p>
            <a:pPr algn="ctr">
              <a:lnSpc>
                <a:spcPts val="2970"/>
              </a:lnSpc>
            </a:pPr>
            <a:r>
              <a:rPr lang="en-US" sz="2475" b="true">
                <a:solidFill>
                  <a:srgbClr val="203238"/>
                </a:solidFill>
                <a:latin typeface="Noto Sans Bold"/>
                <a:ea typeface="Noto Sans Bold"/>
                <a:cs typeface="Noto Sans Bold"/>
                <a:sym typeface="Noto Sans Bold"/>
              </a:rPr>
              <a:t>질의·상태 판단 검증</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2784" r="0" b="-332782"/>
              </a:stretch>
            </a:blipFill>
          </p:spPr>
        </p:sp>
      </p:grpSp>
      <p:grpSp>
        <p:nvGrpSpPr>
          <p:cNvPr name="Group 6" id="6"/>
          <p:cNvGrpSpPr/>
          <p:nvPr/>
        </p:nvGrpSpPr>
        <p:grpSpPr>
          <a:xfrm rot="0">
            <a:off x="822960" y="9696640"/>
            <a:ext cx="8229600" cy="425768"/>
            <a:chOff x="0" y="0"/>
            <a:chExt cx="10972800" cy="567690"/>
          </a:xfrm>
        </p:grpSpPr>
        <p:sp>
          <p:nvSpPr>
            <p:cNvPr name="Freeform 7" id="7"/>
            <p:cNvSpPr/>
            <p:nvPr/>
          </p:nvSpPr>
          <p:spPr>
            <a:xfrm flipH="false" flipV="false" rot="0">
              <a:off x="0" y="0"/>
              <a:ext cx="10972800" cy="567690"/>
            </a:xfrm>
            <a:custGeom>
              <a:avLst/>
              <a:gdLst/>
              <a:ahLst/>
              <a:cxnLst/>
              <a:rect r="r" b="b" t="t" l="l"/>
              <a:pathLst>
                <a:path h="567690" w="10972800">
                  <a:moveTo>
                    <a:pt x="0" y="0"/>
                  </a:moveTo>
                  <a:lnTo>
                    <a:pt x="10972800" y="0"/>
                  </a:lnTo>
                  <a:lnTo>
                    <a:pt x="10972800" y="567690"/>
                  </a:lnTo>
                  <a:lnTo>
                    <a:pt x="0" y="567690"/>
                  </a:lnTo>
                  <a:close/>
                </a:path>
              </a:pathLst>
            </a:custGeom>
            <a:blipFill>
              <a:blip r:embed="rId5">
                <a:alphaModFix amt="0"/>
              </a:blip>
              <a:stretch>
                <a:fillRect l="0" t="-326623" r="0" b="-326623"/>
              </a:stretch>
            </a:blipFill>
          </p:spPr>
        </p:sp>
        <p:sp>
          <p:nvSpPr>
            <p:cNvPr name="TextBox 8" id="8"/>
            <p:cNvSpPr txBox="true"/>
            <p:nvPr/>
          </p:nvSpPr>
          <p:spPr>
            <a:xfrm>
              <a:off x="0" y="-9525"/>
              <a:ext cx="10972800" cy="577215"/>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9" id="9"/>
          <p:cNvGrpSpPr/>
          <p:nvPr/>
        </p:nvGrpSpPr>
        <p:grpSpPr>
          <a:xfrm rot="0">
            <a:off x="822960" y="438912"/>
            <a:ext cx="4114800" cy="384048"/>
            <a:chOff x="0" y="0"/>
            <a:chExt cx="5486400" cy="512064"/>
          </a:xfrm>
        </p:grpSpPr>
        <p:sp>
          <p:nvSpPr>
            <p:cNvPr name="Freeform 10" id="10"/>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5">
                <a:alphaModFix amt="0"/>
              </a:blip>
              <a:stretch>
                <a:fillRect l="0" t="-158768" r="0" b="-158768"/>
              </a:stretch>
            </a:blipFill>
          </p:spPr>
        </p:sp>
        <p:sp>
          <p:nvSpPr>
            <p:cNvPr name="TextBox 11" id="11"/>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02  시스템 구성</a:t>
              </a:r>
            </a:p>
          </p:txBody>
        </p:sp>
      </p:grpSp>
      <p:grpSp>
        <p:nvGrpSpPr>
          <p:cNvPr name="Group 12" id="12"/>
          <p:cNvGrpSpPr/>
          <p:nvPr/>
        </p:nvGrpSpPr>
        <p:grpSpPr>
          <a:xfrm rot="0">
            <a:off x="822960" y="822960"/>
            <a:ext cx="16642080" cy="850392"/>
            <a:chOff x="0" y="0"/>
            <a:chExt cx="22189440" cy="1133856"/>
          </a:xfrm>
        </p:grpSpPr>
        <p:sp>
          <p:nvSpPr>
            <p:cNvPr name="Freeform 13" id="13"/>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5">
                <a:alphaModFix amt="0"/>
              </a:blip>
              <a:stretch>
                <a:fillRect l="0" t="-331309" r="2" b="-331309"/>
              </a:stretch>
            </a:blipFill>
          </p:spPr>
        </p:sp>
        <p:sp>
          <p:nvSpPr>
            <p:cNvPr name="TextBox 14" id="14"/>
            <p:cNvSpPr txBox="true"/>
            <p:nvPr/>
          </p:nvSpPr>
          <p:spPr>
            <a:xfrm>
              <a:off x="0" y="-9525"/>
              <a:ext cx="22189440" cy="1143381"/>
            </a:xfrm>
            <a:prstGeom prst="rect">
              <a:avLst/>
            </a:prstGeom>
          </p:spPr>
          <p:txBody>
            <a:bodyPr anchor="ctr" rtlCol="false" tIns="0" lIns="0" bIns="0" rIns="0"/>
            <a:lstStyle/>
            <a:p>
              <a:pPr algn="l" marL="0" indent="0" lvl="0">
                <a:lnSpc>
                  <a:spcPts val="4500"/>
                </a:lnSpc>
                <a:spcBef>
                  <a:spcPct val="0"/>
                </a:spcBef>
              </a:pPr>
              <a:r>
                <a:rPr lang="en-US" b="true" sz="3750" strike="noStrike" u="none">
                  <a:solidFill>
                    <a:srgbClr val="203238"/>
                  </a:solidFill>
                  <a:latin typeface="Noto Sans Bold"/>
                  <a:ea typeface="Noto Sans Bold"/>
                  <a:cs typeface="Noto Sans Bold"/>
                  <a:sym typeface="Noto Sans Bold"/>
                </a:rPr>
                <a:t>05  </a:t>
              </a:r>
              <a:r>
                <a:rPr lang="en-US" b="true" sz="3750" strike="noStrike" u="none">
                  <a:solidFill>
                    <a:srgbClr val="203238"/>
                  </a:solidFill>
                  <a:latin typeface="Noto Sans Bold"/>
                  <a:ea typeface="Noto Sans Bold"/>
                  <a:cs typeface="Noto Sans Bold"/>
                  <a:sym typeface="Noto Sans Bold"/>
                </a:rPr>
                <a:t>지식 재사용 루프</a:t>
              </a:r>
            </a:p>
          </p:txBody>
        </p:sp>
      </p:grpSp>
      <p:grpSp>
        <p:nvGrpSpPr>
          <p:cNvPr name="Group 15" id="15"/>
          <p:cNvGrpSpPr/>
          <p:nvPr/>
        </p:nvGrpSpPr>
        <p:grpSpPr>
          <a:xfrm rot="0">
            <a:off x="822960" y="1762125"/>
            <a:ext cx="16641623" cy="561784"/>
            <a:chOff x="0" y="0"/>
            <a:chExt cx="22188830" cy="749046"/>
          </a:xfrm>
        </p:grpSpPr>
        <p:sp>
          <p:nvSpPr>
            <p:cNvPr name="Freeform 16" id="16"/>
            <p:cNvSpPr/>
            <p:nvPr/>
          </p:nvSpPr>
          <p:spPr>
            <a:xfrm flipH="false" flipV="false" rot="0">
              <a:off x="0" y="0"/>
              <a:ext cx="22188830" cy="749045"/>
            </a:xfrm>
            <a:custGeom>
              <a:avLst/>
              <a:gdLst/>
              <a:ahLst/>
              <a:cxnLst/>
              <a:rect r="r" b="b" t="t" l="l"/>
              <a:pathLst>
                <a:path h="749045" w="22188830">
                  <a:moveTo>
                    <a:pt x="0" y="0"/>
                  </a:moveTo>
                  <a:lnTo>
                    <a:pt x="22188830" y="0"/>
                  </a:lnTo>
                  <a:lnTo>
                    <a:pt x="22188830" y="749045"/>
                  </a:lnTo>
                  <a:lnTo>
                    <a:pt x="0" y="749045"/>
                  </a:lnTo>
                  <a:close/>
                </a:path>
              </a:pathLst>
            </a:custGeom>
            <a:blipFill>
              <a:blip r:embed="rId5">
                <a:alphaModFix amt="0"/>
              </a:blip>
              <a:stretch>
                <a:fillRect l="0" t="-527201" r="0" b="-527201"/>
              </a:stretch>
            </a:blipFill>
          </p:spPr>
        </p:sp>
        <p:sp>
          <p:nvSpPr>
            <p:cNvPr name="TextBox 17" id="17"/>
            <p:cNvSpPr txBox="true"/>
            <p:nvPr/>
          </p:nvSpPr>
          <p:spPr>
            <a:xfrm>
              <a:off x="0" y="9525"/>
              <a:ext cx="22188830" cy="739521"/>
            </a:xfrm>
            <a:prstGeom prst="rect">
              <a:avLst/>
            </a:prstGeom>
          </p:spPr>
          <p:txBody>
            <a:bodyPr anchor="ctr" rtlCol="false" tIns="0" lIns="0" bIns="0" rIns="0"/>
            <a:lstStyle/>
            <a:p>
              <a:pPr algn="l" marL="0" indent="0" lvl="0">
                <a:lnSpc>
                  <a:spcPts val="2878"/>
                </a:lnSpc>
                <a:spcBef>
                  <a:spcPct val="0"/>
                </a:spcBef>
              </a:pPr>
              <a:r>
                <a:rPr lang="en-US" sz="2400" strike="noStrike" u="none">
                  <a:solidFill>
                    <a:srgbClr val="53666E"/>
                  </a:solidFill>
                  <a:latin typeface="Noto Sans"/>
                  <a:ea typeface="Noto Sans"/>
                  <a:cs typeface="Noto Sans"/>
                  <a:sym typeface="Noto Sans"/>
                </a:rPr>
                <a:t>관리자 검수 후 다음 질의의 검색 근거로 재사용</a:t>
              </a:r>
            </a:p>
          </p:txBody>
        </p:sp>
      </p:grpSp>
      <p:sp>
        <p:nvSpPr>
          <p:cNvPr name="TextBox 18" id="18"/>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a:solidFill>
                  <a:srgbClr val="6B787A"/>
                </a:solidFill>
                <a:latin typeface="Noto Sans"/>
                <a:ea typeface="Noto Sans"/>
                <a:cs typeface="Noto Sans"/>
                <a:sym typeface="Noto Sans"/>
              </a:rPr>
              <a:t>17</a:t>
            </a:r>
          </a:p>
        </p:txBody>
      </p:sp>
      <p:grpSp>
        <p:nvGrpSpPr>
          <p:cNvPr name="Group 19" id="19"/>
          <p:cNvGrpSpPr/>
          <p:nvPr/>
        </p:nvGrpSpPr>
        <p:grpSpPr>
          <a:xfrm rot="0">
            <a:off x="5818356" y="9710928"/>
            <a:ext cx="1260634" cy="419672"/>
            <a:chOff x="0" y="0"/>
            <a:chExt cx="1680845" cy="559562"/>
          </a:xfrm>
        </p:grpSpPr>
        <p:sp>
          <p:nvSpPr>
            <p:cNvPr name="Freeform 20" id="20"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6"/>
              <a:stretch>
                <a:fillRect l="0" t="-928" r="0" b="-926"/>
              </a:stretch>
            </a:blipFill>
          </p:spPr>
        </p:sp>
      </p:grpSp>
      <p:grpSp>
        <p:nvGrpSpPr>
          <p:cNvPr name="Group 21" id="21"/>
          <p:cNvGrpSpPr/>
          <p:nvPr/>
        </p:nvGrpSpPr>
        <p:grpSpPr>
          <a:xfrm rot="0">
            <a:off x="7370474" y="9804197"/>
            <a:ext cx="891826" cy="233172"/>
            <a:chOff x="0" y="0"/>
            <a:chExt cx="1189101" cy="310896"/>
          </a:xfrm>
        </p:grpSpPr>
        <p:sp>
          <p:nvSpPr>
            <p:cNvPr name="Freeform 22" id="22"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7"/>
              <a:stretch>
                <a:fillRect l="0" t="-584" r="0" b="-588"/>
              </a:stretch>
            </a:blipFill>
          </p:spPr>
        </p:sp>
      </p:grpSp>
      <p:grpSp>
        <p:nvGrpSpPr>
          <p:cNvPr name="Group 23" id="23"/>
          <p:cNvGrpSpPr/>
          <p:nvPr/>
        </p:nvGrpSpPr>
        <p:grpSpPr>
          <a:xfrm rot="0">
            <a:off x="8553745" y="9804197"/>
            <a:ext cx="1335596" cy="233172"/>
            <a:chOff x="0" y="0"/>
            <a:chExt cx="1780794" cy="310896"/>
          </a:xfrm>
        </p:grpSpPr>
        <p:sp>
          <p:nvSpPr>
            <p:cNvPr name="Freeform 24" id="24"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8"/>
              <a:stretch>
                <a:fillRect l="0" t="-714" r="0" b="-718"/>
              </a:stretch>
            </a:blipFill>
          </p:spPr>
        </p:sp>
      </p:grpSp>
      <p:grpSp>
        <p:nvGrpSpPr>
          <p:cNvPr name="Group 25" id="25"/>
          <p:cNvGrpSpPr/>
          <p:nvPr/>
        </p:nvGrpSpPr>
        <p:grpSpPr>
          <a:xfrm rot="0">
            <a:off x="822960" y="2510980"/>
            <a:ext cx="16642080" cy="6136767"/>
            <a:chOff x="0" y="0"/>
            <a:chExt cx="22189440" cy="8182356"/>
          </a:xfrm>
        </p:grpSpPr>
        <p:sp>
          <p:nvSpPr>
            <p:cNvPr name="Freeform 26" id="26" descr="C:\Users\hyjuy\.codex\visualizations\2026\10\24\01a16de7-7758-7d42-a989-40469d57b039\system-diagrams\05-knowledge-reuse-shapes.png"/>
            <p:cNvSpPr/>
            <p:nvPr/>
          </p:nvSpPr>
          <p:spPr>
            <a:xfrm flipH="false" flipV="false" rot="0">
              <a:off x="0" y="0"/>
              <a:ext cx="22189439" cy="8182356"/>
            </a:xfrm>
            <a:custGeom>
              <a:avLst/>
              <a:gdLst/>
              <a:ahLst/>
              <a:cxnLst/>
              <a:rect r="r" b="b" t="t" l="l"/>
              <a:pathLst>
                <a:path h="8182356" w="22189439">
                  <a:moveTo>
                    <a:pt x="0" y="0"/>
                  </a:moveTo>
                  <a:lnTo>
                    <a:pt x="22189439" y="0"/>
                  </a:lnTo>
                  <a:lnTo>
                    <a:pt x="22189439" y="8182356"/>
                  </a:lnTo>
                  <a:lnTo>
                    <a:pt x="0" y="8182356"/>
                  </a:lnTo>
                  <a:lnTo>
                    <a:pt x="0" y="0"/>
                  </a:lnTo>
                  <a:close/>
                </a:path>
              </a:pathLst>
            </a:custGeom>
            <a:blipFill>
              <a:blip r:embed="rId9"/>
              <a:stretch>
                <a:fillRect l="0" t="0" r="0" b="0"/>
              </a:stretch>
            </a:blipFill>
          </p:spPr>
        </p:sp>
      </p:grpSp>
      <p:sp>
        <p:nvSpPr>
          <p:cNvPr name="TextBox 27" id="27"/>
          <p:cNvSpPr txBox="true"/>
          <p:nvPr/>
        </p:nvSpPr>
        <p:spPr>
          <a:xfrm rot="0">
            <a:off x="12823460" y="4158710"/>
            <a:ext cx="754094" cy="247650"/>
          </a:xfrm>
          <a:prstGeom prst="rect">
            <a:avLst/>
          </a:prstGeom>
        </p:spPr>
        <p:txBody>
          <a:bodyPr anchor="t" rtlCol="false" tIns="0" lIns="0" bIns="0" rIns="0">
            <a:spAutoFit/>
          </a:bodyPr>
          <a:lstStyle/>
          <a:p>
            <a:pPr algn="ctr">
              <a:lnSpc>
                <a:spcPts val="2070"/>
              </a:lnSpc>
            </a:pPr>
            <a:r>
              <a:rPr lang="en-US" sz="1725">
                <a:solidFill>
                  <a:srgbClr val="53666E"/>
                </a:solidFill>
                <a:latin typeface="Noto Sans"/>
                <a:ea typeface="Noto Sans"/>
                <a:cs typeface="Noto Sans"/>
                <a:sym typeface="Noto Sans"/>
              </a:rPr>
              <a:t>승인</a:t>
            </a:r>
          </a:p>
        </p:txBody>
      </p:sp>
      <p:sp>
        <p:nvSpPr>
          <p:cNvPr name="TextBox 28" id="28"/>
          <p:cNvSpPr txBox="true"/>
          <p:nvPr/>
        </p:nvSpPr>
        <p:spPr>
          <a:xfrm rot="0">
            <a:off x="11367278" y="5978938"/>
            <a:ext cx="754094" cy="247650"/>
          </a:xfrm>
          <a:prstGeom prst="rect">
            <a:avLst/>
          </a:prstGeom>
        </p:spPr>
        <p:txBody>
          <a:bodyPr anchor="t" rtlCol="false" tIns="0" lIns="0" bIns="0" rIns="0">
            <a:spAutoFit/>
          </a:bodyPr>
          <a:lstStyle/>
          <a:p>
            <a:pPr algn="ctr">
              <a:lnSpc>
                <a:spcPts val="2070"/>
              </a:lnSpc>
            </a:pPr>
            <a:r>
              <a:rPr lang="en-US" sz="1725">
                <a:solidFill>
                  <a:srgbClr val="53666E"/>
                </a:solidFill>
                <a:latin typeface="Noto Sans"/>
                <a:ea typeface="Noto Sans"/>
                <a:cs typeface="Noto Sans"/>
                <a:sym typeface="Noto Sans"/>
              </a:rPr>
              <a:t>보완</a:t>
            </a:r>
          </a:p>
        </p:txBody>
      </p:sp>
      <p:sp>
        <p:nvSpPr>
          <p:cNvPr name="TextBox 29" id="29"/>
          <p:cNvSpPr txBox="true"/>
          <p:nvPr/>
        </p:nvSpPr>
        <p:spPr>
          <a:xfrm rot="0">
            <a:off x="2036987" y="4435221"/>
            <a:ext cx="1732467"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조치 기록</a:t>
            </a:r>
          </a:p>
        </p:txBody>
      </p:sp>
      <p:sp>
        <p:nvSpPr>
          <p:cNvPr name="TextBox 30" id="30"/>
          <p:cNvSpPr txBox="true"/>
          <p:nvPr/>
        </p:nvSpPr>
        <p:spPr>
          <a:xfrm rot="0">
            <a:off x="5989481" y="4435221"/>
            <a:ext cx="1732467"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카드 후보</a:t>
            </a:r>
          </a:p>
        </p:txBody>
      </p:sp>
      <p:sp>
        <p:nvSpPr>
          <p:cNvPr name="TextBox 31" id="31"/>
          <p:cNvSpPr txBox="true"/>
          <p:nvPr/>
        </p:nvSpPr>
        <p:spPr>
          <a:xfrm rot="0">
            <a:off x="10532228" y="4435221"/>
            <a:ext cx="968012" cy="400050"/>
          </a:xfrm>
          <a:prstGeom prst="rect">
            <a:avLst/>
          </a:prstGeom>
        </p:spPr>
        <p:txBody>
          <a:bodyPr anchor="t" rtlCol="false" tIns="0" lIns="0" bIns="0" rIns="0">
            <a:spAutoFit/>
          </a:bodyPr>
          <a:lstStyle/>
          <a:p>
            <a:pPr algn="ctr">
              <a:lnSpc>
                <a:spcPts val="3150"/>
              </a:lnSpc>
            </a:pPr>
            <a:r>
              <a:rPr lang="en-US" sz="2625" b="true">
                <a:solidFill>
                  <a:srgbClr val="FFFFFF"/>
                </a:solidFill>
                <a:latin typeface="Noto Sans Bold"/>
                <a:ea typeface="Noto Sans Bold"/>
                <a:cs typeface="Noto Sans Bold"/>
                <a:sym typeface="Noto Sans Bold"/>
              </a:rPr>
              <a:t>검수</a:t>
            </a:r>
          </a:p>
        </p:txBody>
      </p:sp>
      <p:sp>
        <p:nvSpPr>
          <p:cNvPr name="TextBox 32" id="32"/>
          <p:cNvSpPr txBox="true"/>
          <p:nvPr/>
        </p:nvSpPr>
        <p:spPr>
          <a:xfrm rot="0">
            <a:off x="14562630" y="4435221"/>
            <a:ext cx="2060351"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임베딩 게시</a:t>
            </a:r>
          </a:p>
        </p:txBody>
      </p:sp>
      <p:sp>
        <p:nvSpPr>
          <p:cNvPr name="TextBox 33" id="33"/>
          <p:cNvSpPr txBox="true"/>
          <p:nvPr/>
        </p:nvSpPr>
        <p:spPr>
          <a:xfrm rot="0">
            <a:off x="14726573" y="7139559"/>
            <a:ext cx="1732467"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검색 색인</a:t>
            </a:r>
          </a:p>
        </p:txBody>
      </p:sp>
      <p:sp>
        <p:nvSpPr>
          <p:cNvPr name="TextBox 34" id="34"/>
          <p:cNvSpPr txBox="true"/>
          <p:nvPr/>
        </p:nvSpPr>
        <p:spPr>
          <a:xfrm rot="0">
            <a:off x="5989481" y="7139559"/>
            <a:ext cx="1732467"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다음 질의</a:t>
            </a:r>
          </a:p>
        </p:txBody>
      </p:sp>
      <p:sp>
        <p:nvSpPr>
          <p:cNvPr name="TextBox 35" id="35"/>
          <p:cNvSpPr txBox="true"/>
          <p:nvPr/>
        </p:nvSpPr>
        <p:spPr>
          <a:xfrm rot="0">
            <a:off x="10144991" y="7139559"/>
            <a:ext cx="1742486" cy="400050"/>
          </a:xfrm>
          <a:prstGeom prst="rect">
            <a:avLst/>
          </a:prstGeom>
        </p:spPr>
        <p:txBody>
          <a:bodyPr anchor="t" rtlCol="false" tIns="0" lIns="0" bIns="0" rIns="0">
            <a:spAutoFit/>
          </a:bodyPr>
          <a:lstStyle/>
          <a:p>
            <a:pPr algn="ctr">
              <a:lnSpc>
                <a:spcPts val="3150"/>
              </a:lnSpc>
            </a:pPr>
            <a:r>
              <a:rPr lang="en-US" sz="2625" b="true">
                <a:solidFill>
                  <a:srgbClr val="203238"/>
                </a:solidFill>
                <a:latin typeface="Noto Sans Bold"/>
                <a:ea typeface="Noto Sans Bold"/>
                <a:cs typeface="Noto Sans Bold"/>
                <a:sym typeface="Noto Sans Bold"/>
              </a:rPr>
              <a:t>후보 보완</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2784" r="0" b="-332782"/>
              </a:stretch>
            </a:blipFill>
          </p:spPr>
        </p:sp>
      </p:grpSp>
      <p:grpSp>
        <p:nvGrpSpPr>
          <p:cNvPr name="Group 6" id="6"/>
          <p:cNvGrpSpPr/>
          <p:nvPr/>
        </p:nvGrpSpPr>
        <p:grpSpPr>
          <a:xfrm rot="0">
            <a:off x="822960" y="9696640"/>
            <a:ext cx="8229600" cy="425768"/>
            <a:chOff x="0" y="0"/>
            <a:chExt cx="10972800" cy="567690"/>
          </a:xfrm>
        </p:grpSpPr>
        <p:sp>
          <p:nvSpPr>
            <p:cNvPr name="Freeform 7" id="7"/>
            <p:cNvSpPr/>
            <p:nvPr/>
          </p:nvSpPr>
          <p:spPr>
            <a:xfrm flipH="false" flipV="false" rot="0">
              <a:off x="0" y="0"/>
              <a:ext cx="10972800" cy="567690"/>
            </a:xfrm>
            <a:custGeom>
              <a:avLst/>
              <a:gdLst/>
              <a:ahLst/>
              <a:cxnLst/>
              <a:rect r="r" b="b" t="t" l="l"/>
              <a:pathLst>
                <a:path h="567690" w="10972800">
                  <a:moveTo>
                    <a:pt x="0" y="0"/>
                  </a:moveTo>
                  <a:lnTo>
                    <a:pt x="10972800" y="0"/>
                  </a:lnTo>
                  <a:lnTo>
                    <a:pt x="10972800" y="567690"/>
                  </a:lnTo>
                  <a:lnTo>
                    <a:pt x="0" y="567690"/>
                  </a:lnTo>
                  <a:close/>
                </a:path>
              </a:pathLst>
            </a:custGeom>
            <a:blipFill>
              <a:blip r:embed="rId5">
                <a:alphaModFix amt="0"/>
              </a:blip>
              <a:stretch>
                <a:fillRect l="0" t="-326623" r="0" b="-326623"/>
              </a:stretch>
            </a:blipFill>
          </p:spPr>
        </p:sp>
        <p:sp>
          <p:nvSpPr>
            <p:cNvPr name="TextBox 8" id="8"/>
            <p:cNvSpPr txBox="true"/>
            <p:nvPr/>
          </p:nvSpPr>
          <p:spPr>
            <a:xfrm>
              <a:off x="0" y="-9525"/>
              <a:ext cx="10972800" cy="577215"/>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9" id="9"/>
          <p:cNvGrpSpPr/>
          <p:nvPr/>
        </p:nvGrpSpPr>
        <p:grpSpPr>
          <a:xfrm rot="0">
            <a:off x="822960" y="438912"/>
            <a:ext cx="4114800" cy="384048"/>
            <a:chOff x="0" y="0"/>
            <a:chExt cx="5486400" cy="512064"/>
          </a:xfrm>
        </p:grpSpPr>
        <p:sp>
          <p:nvSpPr>
            <p:cNvPr name="Freeform 10" id="10"/>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3">
                <a:alphaModFix amt="0"/>
              </a:blip>
              <a:stretch>
                <a:fillRect l="0" t="-158623" r="0" b="-158623"/>
              </a:stretch>
            </a:blipFill>
          </p:spPr>
        </p:sp>
      </p:grpSp>
      <p:grpSp>
        <p:nvGrpSpPr>
          <p:cNvPr name="Group 11" id="11"/>
          <p:cNvGrpSpPr/>
          <p:nvPr/>
        </p:nvGrpSpPr>
        <p:grpSpPr>
          <a:xfrm rot="0">
            <a:off x="822960" y="438912"/>
            <a:ext cx="4114800" cy="384048"/>
            <a:chOff x="0" y="0"/>
            <a:chExt cx="5486400" cy="512064"/>
          </a:xfrm>
        </p:grpSpPr>
        <p:sp>
          <p:nvSpPr>
            <p:cNvPr name="Freeform 12" id="12"/>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4">
                <a:alphaModFix amt="0"/>
              </a:blip>
              <a:stretch>
                <a:fillRect l="0" t="-158623" r="0" b="-158623"/>
              </a:stretch>
            </a:blipFill>
          </p:spPr>
        </p:sp>
      </p:grpSp>
      <p:grpSp>
        <p:nvGrpSpPr>
          <p:cNvPr name="Group 13" id="13"/>
          <p:cNvGrpSpPr/>
          <p:nvPr/>
        </p:nvGrpSpPr>
        <p:grpSpPr>
          <a:xfrm rot="0">
            <a:off x="822960" y="438912"/>
            <a:ext cx="4114800" cy="384048"/>
            <a:chOff x="0" y="0"/>
            <a:chExt cx="5486400" cy="512064"/>
          </a:xfrm>
        </p:grpSpPr>
        <p:sp>
          <p:nvSpPr>
            <p:cNvPr name="Freeform 14" id="14"/>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5">
                <a:alphaModFix amt="0"/>
              </a:blip>
              <a:stretch>
                <a:fillRect l="0" t="-158768" r="0" b="-158768"/>
              </a:stretch>
            </a:blipFill>
          </p:spPr>
        </p:sp>
        <p:sp>
          <p:nvSpPr>
            <p:cNvPr name="TextBox 15" id="15"/>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02  시스템 구성</a:t>
              </a:r>
            </a:p>
          </p:txBody>
        </p:sp>
      </p:grpSp>
      <p:grpSp>
        <p:nvGrpSpPr>
          <p:cNvPr name="Group 16" id="16"/>
          <p:cNvGrpSpPr/>
          <p:nvPr/>
        </p:nvGrpSpPr>
        <p:grpSpPr>
          <a:xfrm rot="0">
            <a:off x="822960" y="822960"/>
            <a:ext cx="16641604" cy="850392"/>
            <a:chOff x="0" y="0"/>
            <a:chExt cx="22188805" cy="1133856"/>
          </a:xfrm>
        </p:grpSpPr>
        <p:sp>
          <p:nvSpPr>
            <p:cNvPr name="Freeform 17" id="17"/>
            <p:cNvSpPr/>
            <p:nvPr/>
          </p:nvSpPr>
          <p:spPr>
            <a:xfrm flipH="false" flipV="false" rot="0">
              <a:off x="0" y="0"/>
              <a:ext cx="22188805" cy="1133856"/>
            </a:xfrm>
            <a:custGeom>
              <a:avLst/>
              <a:gdLst/>
              <a:ahLst/>
              <a:cxnLst/>
              <a:rect r="r" b="b" t="t" l="l"/>
              <a:pathLst>
                <a:path h="1133856" w="22188805">
                  <a:moveTo>
                    <a:pt x="0" y="0"/>
                  </a:moveTo>
                  <a:lnTo>
                    <a:pt x="22188805" y="0"/>
                  </a:lnTo>
                  <a:lnTo>
                    <a:pt x="22188805" y="1133856"/>
                  </a:lnTo>
                  <a:lnTo>
                    <a:pt x="0" y="1133856"/>
                  </a:lnTo>
                  <a:close/>
                </a:path>
              </a:pathLst>
            </a:custGeom>
            <a:blipFill>
              <a:blip r:embed="rId3">
                <a:alphaModFix amt="0"/>
              </a:blip>
              <a:stretch>
                <a:fillRect l="0" t="-331043" r="0" b="-331043"/>
              </a:stretch>
            </a:blipFill>
          </p:spPr>
        </p:sp>
      </p:grpSp>
      <p:grpSp>
        <p:nvGrpSpPr>
          <p:cNvPr name="Group 18" id="18"/>
          <p:cNvGrpSpPr/>
          <p:nvPr/>
        </p:nvGrpSpPr>
        <p:grpSpPr>
          <a:xfrm rot="0">
            <a:off x="822960" y="822960"/>
            <a:ext cx="16641623" cy="850392"/>
            <a:chOff x="0" y="0"/>
            <a:chExt cx="22188830" cy="1133856"/>
          </a:xfrm>
        </p:grpSpPr>
        <p:sp>
          <p:nvSpPr>
            <p:cNvPr name="Freeform 19" id="19"/>
            <p:cNvSpPr/>
            <p:nvPr/>
          </p:nvSpPr>
          <p:spPr>
            <a:xfrm flipH="false" flipV="false" rot="0">
              <a:off x="0" y="0"/>
              <a:ext cx="22188805" cy="1133856"/>
            </a:xfrm>
            <a:custGeom>
              <a:avLst/>
              <a:gdLst/>
              <a:ahLst/>
              <a:cxnLst/>
              <a:rect r="r" b="b" t="t" l="l"/>
              <a:pathLst>
                <a:path h="1133856" w="22188805">
                  <a:moveTo>
                    <a:pt x="0" y="0"/>
                  </a:moveTo>
                  <a:lnTo>
                    <a:pt x="22188805" y="0"/>
                  </a:lnTo>
                  <a:lnTo>
                    <a:pt x="22188805" y="1133856"/>
                  </a:lnTo>
                  <a:lnTo>
                    <a:pt x="0" y="1133856"/>
                  </a:lnTo>
                  <a:close/>
                </a:path>
              </a:pathLst>
            </a:custGeom>
            <a:blipFill>
              <a:blip r:embed="rId4">
                <a:alphaModFix amt="0"/>
              </a:blip>
              <a:stretch>
                <a:fillRect l="0" t="-331043" r="0" b="-331045"/>
              </a:stretch>
            </a:blipFill>
          </p:spPr>
        </p:sp>
      </p:grpSp>
      <p:grpSp>
        <p:nvGrpSpPr>
          <p:cNvPr name="Group 20" id="20"/>
          <p:cNvGrpSpPr/>
          <p:nvPr/>
        </p:nvGrpSpPr>
        <p:grpSpPr>
          <a:xfrm rot="0">
            <a:off x="822960" y="822960"/>
            <a:ext cx="16642080" cy="850392"/>
            <a:chOff x="0" y="0"/>
            <a:chExt cx="22189440" cy="1133856"/>
          </a:xfrm>
        </p:grpSpPr>
        <p:sp>
          <p:nvSpPr>
            <p:cNvPr name="Freeform 21" id="21"/>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5">
                <a:alphaModFix amt="0"/>
              </a:blip>
              <a:stretch>
                <a:fillRect l="0" t="-331309" r="2" b="-331309"/>
              </a:stretch>
            </a:blipFill>
          </p:spPr>
        </p:sp>
        <p:sp>
          <p:nvSpPr>
            <p:cNvPr name="TextBox 22" id="22"/>
            <p:cNvSpPr txBox="true"/>
            <p:nvPr/>
          </p:nvSpPr>
          <p:spPr>
            <a:xfrm>
              <a:off x="0" y="-9525"/>
              <a:ext cx="22189440" cy="1143381"/>
            </a:xfrm>
            <a:prstGeom prst="rect">
              <a:avLst/>
            </a:prstGeom>
          </p:spPr>
          <p:txBody>
            <a:bodyPr anchor="ctr" rtlCol="false" tIns="0" lIns="0" bIns="0" rIns="0"/>
            <a:lstStyle/>
            <a:p>
              <a:pPr algn="l">
                <a:lnSpc>
                  <a:spcPts val="4500"/>
                </a:lnSpc>
              </a:pPr>
              <a:r>
                <a:rPr lang="en-US" sz="3750" b="true">
                  <a:solidFill>
                    <a:srgbClr val="203238"/>
                  </a:solidFill>
                  <a:latin typeface="Noto Sans Bold"/>
                  <a:ea typeface="Noto Sans Bold"/>
                  <a:cs typeface="Noto Sans Bold"/>
                  <a:sym typeface="Noto Sans Bold"/>
                </a:rPr>
                <a:t>06  PDA UI</a:t>
              </a:r>
            </a:p>
          </p:txBody>
        </p:sp>
      </p:grpSp>
      <p:grpSp>
        <p:nvGrpSpPr>
          <p:cNvPr name="Group 23" id="23"/>
          <p:cNvGrpSpPr/>
          <p:nvPr/>
        </p:nvGrpSpPr>
        <p:grpSpPr>
          <a:xfrm rot="0">
            <a:off x="822960" y="1755648"/>
            <a:ext cx="16641604" cy="576072"/>
            <a:chOff x="0" y="0"/>
            <a:chExt cx="22188805" cy="768096"/>
          </a:xfrm>
        </p:grpSpPr>
        <p:sp>
          <p:nvSpPr>
            <p:cNvPr name="Freeform 24" id="24"/>
            <p:cNvSpPr/>
            <p:nvPr/>
          </p:nvSpPr>
          <p:spPr>
            <a:xfrm flipH="false" flipV="false" rot="0">
              <a:off x="0" y="0"/>
              <a:ext cx="22188805" cy="768096"/>
            </a:xfrm>
            <a:custGeom>
              <a:avLst/>
              <a:gdLst/>
              <a:ahLst/>
              <a:cxnLst/>
              <a:rect r="r" b="b" t="t" l="l"/>
              <a:pathLst>
                <a:path h="768096" w="22188805">
                  <a:moveTo>
                    <a:pt x="0" y="0"/>
                  </a:moveTo>
                  <a:lnTo>
                    <a:pt x="22188805" y="0"/>
                  </a:lnTo>
                  <a:lnTo>
                    <a:pt x="22188805" y="768096"/>
                  </a:lnTo>
                  <a:lnTo>
                    <a:pt x="0" y="768096"/>
                  </a:lnTo>
                  <a:close/>
                </a:path>
              </a:pathLst>
            </a:custGeom>
            <a:blipFill>
              <a:blip r:embed="rId3">
                <a:alphaModFix amt="0"/>
              </a:blip>
              <a:stretch>
                <a:fillRect l="0" t="-512493" r="0" b="-512493"/>
              </a:stretch>
            </a:blipFill>
          </p:spPr>
        </p:sp>
      </p:grpSp>
      <p:grpSp>
        <p:nvGrpSpPr>
          <p:cNvPr name="Group 25" id="25"/>
          <p:cNvGrpSpPr/>
          <p:nvPr/>
        </p:nvGrpSpPr>
        <p:grpSpPr>
          <a:xfrm rot="0">
            <a:off x="822960" y="1762792"/>
            <a:ext cx="16641623" cy="568928"/>
            <a:chOff x="0" y="0"/>
            <a:chExt cx="22188830" cy="758571"/>
          </a:xfrm>
        </p:grpSpPr>
        <p:sp>
          <p:nvSpPr>
            <p:cNvPr name="Freeform 26" id="26"/>
            <p:cNvSpPr/>
            <p:nvPr/>
          </p:nvSpPr>
          <p:spPr>
            <a:xfrm flipH="false" flipV="false" rot="0">
              <a:off x="0" y="0"/>
              <a:ext cx="22188805" cy="758571"/>
            </a:xfrm>
            <a:custGeom>
              <a:avLst/>
              <a:gdLst/>
              <a:ahLst/>
              <a:cxnLst/>
              <a:rect r="r" b="b" t="t" l="l"/>
              <a:pathLst>
                <a:path h="758571" w="22188805">
                  <a:moveTo>
                    <a:pt x="0" y="0"/>
                  </a:moveTo>
                  <a:lnTo>
                    <a:pt x="22188805" y="0"/>
                  </a:lnTo>
                  <a:lnTo>
                    <a:pt x="22188805" y="758571"/>
                  </a:lnTo>
                  <a:lnTo>
                    <a:pt x="0" y="758571"/>
                  </a:lnTo>
                  <a:close/>
                </a:path>
              </a:pathLst>
            </a:custGeom>
            <a:blipFill>
              <a:blip r:embed="rId4">
                <a:alphaModFix amt="0"/>
              </a:blip>
              <a:stretch>
                <a:fillRect l="0" t="-519558" r="0" b="-519556"/>
              </a:stretch>
            </a:blipFill>
          </p:spPr>
        </p:sp>
      </p:grpSp>
      <p:grpSp>
        <p:nvGrpSpPr>
          <p:cNvPr name="Group 27" id="27"/>
          <p:cNvGrpSpPr/>
          <p:nvPr/>
        </p:nvGrpSpPr>
        <p:grpSpPr>
          <a:xfrm rot="0">
            <a:off x="822960" y="1762125"/>
            <a:ext cx="16641623" cy="561784"/>
            <a:chOff x="0" y="0"/>
            <a:chExt cx="22188830" cy="749046"/>
          </a:xfrm>
        </p:grpSpPr>
        <p:sp>
          <p:nvSpPr>
            <p:cNvPr name="Freeform 28" id="28"/>
            <p:cNvSpPr/>
            <p:nvPr/>
          </p:nvSpPr>
          <p:spPr>
            <a:xfrm flipH="false" flipV="false" rot="0">
              <a:off x="0" y="0"/>
              <a:ext cx="22188830" cy="749045"/>
            </a:xfrm>
            <a:custGeom>
              <a:avLst/>
              <a:gdLst/>
              <a:ahLst/>
              <a:cxnLst/>
              <a:rect r="r" b="b" t="t" l="l"/>
              <a:pathLst>
                <a:path h="749045" w="22188830">
                  <a:moveTo>
                    <a:pt x="0" y="0"/>
                  </a:moveTo>
                  <a:lnTo>
                    <a:pt x="22188830" y="0"/>
                  </a:lnTo>
                  <a:lnTo>
                    <a:pt x="22188830" y="749045"/>
                  </a:lnTo>
                  <a:lnTo>
                    <a:pt x="0" y="749045"/>
                  </a:lnTo>
                  <a:close/>
                </a:path>
              </a:pathLst>
            </a:custGeom>
            <a:blipFill>
              <a:blip r:embed="rId5">
                <a:alphaModFix amt="0"/>
              </a:blip>
              <a:stretch>
                <a:fillRect l="0" t="-527201" r="0" b="-527201"/>
              </a:stretch>
            </a:blipFill>
          </p:spPr>
        </p:sp>
        <p:sp>
          <p:nvSpPr>
            <p:cNvPr name="TextBox 29" id="29"/>
            <p:cNvSpPr txBox="true"/>
            <p:nvPr/>
          </p:nvSpPr>
          <p:spPr>
            <a:xfrm>
              <a:off x="0" y="9525"/>
              <a:ext cx="22188830" cy="739521"/>
            </a:xfrm>
            <a:prstGeom prst="rect">
              <a:avLst/>
            </a:prstGeom>
          </p:spPr>
          <p:txBody>
            <a:bodyPr anchor="ctr" rtlCol="false" tIns="0" lIns="0" bIns="0" rIns="0"/>
            <a:lstStyle/>
            <a:p>
              <a:pPr algn="l">
                <a:lnSpc>
                  <a:spcPts val="2878"/>
                </a:lnSpc>
              </a:pPr>
              <a:r>
                <a:rPr lang="en-US" sz="2400">
                  <a:solidFill>
                    <a:srgbClr val="53666E"/>
                  </a:solidFill>
                  <a:latin typeface="Noto Sans"/>
                  <a:ea typeface="Noto Sans"/>
                  <a:cs typeface="Noto Sans"/>
                  <a:sym typeface="Noto Sans"/>
                </a:rPr>
                <a:t>작업자는 </a:t>
              </a:r>
              <a:r>
                <a:rPr lang="en-US" sz="2400" b="true">
                  <a:solidFill>
                    <a:srgbClr val="53666E"/>
                  </a:solidFill>
                  <a:latin typeface="Noto Sans Bold"/>
                  <a:ea typeface="Noto Sans Bold"/>
                  <a:cs typeface="Noto Sans Bold"/>
                  <a:sym typeface="Noto Sans Bold"/>
                </a:rPr>
                <a:t>설비 촬영 → 질문 → 근거 확인 → 조치 기록</a:t>
              </a:r>
              <a:r>
                <a:rPr lang="en-US" sz="2400">
                  <a:solidFill>
                    <a:srgbClr val="53666E"/>
                  </a:solidFill>
                  <a:latin typeface="Noto Sans"/>
                  <a:ea typeface="Noto Sans"/>
                  <a:cs typeface="Noto Sans"/>
                  <a:sym typeface="Noto Sans"/>
                </a:rPr>
                <a:t>, 라인 상태와 지식 카드 현황 확인</a:t>
              </a:r>
            </a:p>
          </p:txBody>
        </p:sp>
      </p:grpSp>
      <p:grpSp>
        <p:nvGrpSpPr>
          <p:cNvPr name="Group 30" id="30"/>
          <p:cNvGrpSpPr/>
          <p:nvPr/>
        </p:nvGrpSpPr>
        <p:grpSpPr>
          <a:xfrm rot="0">
            <a:off x="822960" y="2743200"/>
            <a:ext cx="8092440" cy="4950714"/>
            <a:chOff x="0" y="0"/>
            <a:chExt cx="10789920" cy="6600952"/>
          </a:xfrm>
        </p:grpSpPr>
        <p:sp>
          <p:nvSpPr>
            <p:cNvPr name="Freeform 31" id="31" descr="PDA 질의 화면: HPU-01 유온 경보 질문에 근거 카드 K-1002를 인용해 답하고 설비 센서값을 함께 표시"/>
            <p:cNvSpPr/>
            <p:nvPr/>
          </p:nvSpPr>
          <p:spPr>
            <a:xfrm flipH="false" flipV="false" rot="0">
              <a:off x="0" y="0"/>
              <a:ext cx="10789920" cy="6600952"/>
            </a:xfrm>
            <a:custGeom>
              <a:avLst/>
              <a:gdLst/>
              <a:ahLst/>
              <a:cxnLst/>
              <a:rect r="r" b="b" t="t" l="l"/>
              <a:pathLst>
                <a:path h="6600952" w="10789920">
                  <a:moveTo>
                    <a:pt x="0" y="0"/>
                  </a:moveTo>
                  <a:lnTo>
                    <a:pt x="10789920" y="0"/>
                  </a:lnTo>
                  <a:lnTo>
                    <a:pt x="10789920" y="6600952"/>
                  </a:lnTo>
                  <a:lnTo>
                    <a:pt x="0" y="6600952"/>
                  </a:lnTo>
                  <a:lnTo>
                    <a:pt x="0" y="0"/>
                  </a:lnTo>
                  <a:close/>
                </a:path>
              </a:pathLst>
            </a:custGeom>
            <a:blipFill>
              <a:blip r:embed="rId6"/>
              <a:stretch>
                <a:fillRect l="0" t="0" r="0" b="0"/>
              </a:stretch>
            </a:blipFill>
          </p:spPr>
        </p:sp>
      </p:grpSp>
      <p:grpSp>
        <p:nvGrpSpPr>
          <p:cNvPr name="Group 32" id="32"/>
          <p:cNvGrpSpPr/>
          <p:nvPr/>
        </p:nvGrpSpPr>
        <p:grpSpPr>
          <a:xfrm rot="0">
            <a:off x="9368028" y="2743200"/>
            <a:ext cx="8092440" cy="4950714"/>
            <a:chOff x="0" y="0"/>
            <a:chExt cx="10789920" cy="6600952"/>
          </a:xfrm>
        </p:grpSpPr>
        <p:sp>
          <p:nvSpPr>
            <p:cNvPr name="Freeform 33" id="33" descr="라즈베리파이 PDA 대시보드 실제 화면: 이상 설비, 지식카드 관리, 생산 현황, 정지 손실, 반복 증상"/>
            <p:cNvSpPr/>
            <p:nvPr/>
          </p:nvSpPr>
          <p:spPr>
            <a:xfrm flipH="false" flipV="false" rot="0">
              <a:off x="0" y="0"/>
              <a:ext cx="10789920" cy="6600952"/>
            </a:xfrm>
            <a:custGeom>
              <a:avLst/>
              <a:gdLst/>
              <a:ahLst/>
              <a:cxnLst/>
              <a:rect r="r" b="b" t="t" l="l"/>
              <a:pathLst>
                <a:path h="6600952" w="10789920">
                  <a:moveTo>
                    <a:pt x="0" y="0"/>
                  </a:moveTo>
                  <a:lnTo>
                    <a:pt x="10789920" y="0"/>
                  </a:lnTo>
                  <a:lnTo>
                    <a:pt x="10789920" y="6600952"/>
                  </a:lnTo>
                  <a:lnTo>
                    <a:pt x="0" y="6600952"/>
                  </a:lnTo>
                  <a:lnTo>
                    <a:pt x="0" y="0"/>
                  </a:lnTo>
                  <a:close/>
                </a:path>
              </a:pathLst>
            </a:custGeom>
            <a:blipFill>
              <a:blip r:embed="rId7"/>
              <a:stretch>
                <a:fillRect l="0" t="0" r="0" b="0"/>
              </a:stretch>
            </a:blipFill>
          </p:spPr>
        </p:sp>
      </p:grpSp>
      <p:sp>
        <p:nvSpPr>
          <p:cNvPr name="Freeform 34" id="34"/>
          <p:cNvSpPr/>
          <p:nvPr/>
        </p:nvSpPr>
        <p:spPr>
          <a:xfrm flipH="false" flipV="false" rot="0">
            <a:off x="806291" y="7870031"/>
            <a:ext cx="8125778" cy="1240345"/>
          </a:xfrm>
          <a:custGeom>
            <a:avLst/>
            <a:gdLst/>
            <a:ahLst/>
            <a:cxnLst/>
            <a:rect r="r" b="b" t="t" l="l"/>
            <a:pathLst>
              <a:path h="1240345" w="8125778">
                <a:moveTo>
                  <a:pt x="0" y="0"/>
                </a:moveTo>
                <a:lnTo>
                  <a:pt x="8125778" y="0"/>
                </a:lnTo>
                <a:lnTo>
                  <a:pt x="8125778" y="1240346"/>
                </a:lnTo>
                <a:lnTo>
                  <a:pt x="0" y="1240346"/>
                </a:lnTo>
                <a:lnTo>
                  <a:pt x="0" y="0"/>
                </a:lnTo>
                <a:close/>
              </a:path>
            </a:pathLst>
          </a:custGeom>
          <a:blipFill>
            <a:blip r:embed="rId8">
              <a:extLst>
                <a:ext uri="{96DAC541-7B7A-43D3-8B79-37D633B846F1}">
                  <asvg:svgBlip xmlns:asvg="http://schemas.microsoft.com/office/drawing/2016/SVG/main" r:embed="rId9"/>
                </a:ext>
              </a:extLst>
            </a:blip>
            <a:stretch>
              <a:fillRect l="0" t="-246" r="0" b="-246"/>
            </a:stretch>
          </a:blipFill>
        </p:spPr>
      </p:sp>
      <p:sp>
        <p:nvSpPr>
          <p:cNvPr name="TextBox 35" id="35"/>
          <p:cNvSpPr txBox="true"/>
          <p:nvPr/>
        </p:nvSpPr>
        <p:spPr>
          <a:xfrm rot="0">
            <a:off x="1097280" y="7982712"/>
            <a:ext cx="7543800" cy="342900"/>
          </a:xfrm>
          <a:prstGeom prst="rect">
            <a:avLst/>
          </a:prstGeom>
        </p:spPr>
        <p:txBody>
          <a:bodyPr anchor="t" rtlCol="false" tIns="0" lIns="0" bIns="0" rIns="0">
            <a:spAutoFit/>
          </a:bodyPr>
          <a:lstStyle/>
          <a:p>
            <a:pPr algn="l">
              <a:lnSpc>
                <a:spcPts val="2700"/>
              </a:lnSpc>
            </a:pPr>
            <a:r>
              <a:rPr lang="en-US" sz="2250" b="true">
                <a:solidFill>
                  <a:srgbClr val="1F6F63"/>
                </a:solidFill>
                <a:latin typeface="Noto Sans Bold"/>
                <a:ea typeface="Noto Sans Bold"/>
                <a:cs typeface="Noto Sans Bold"/>
                <a:sym typeface="Noto Sans Bold"/>
              </a:rPr>
              <a:t>설비 상태 확인 및 챗봇 기능 활용</a:t>
            </a:r>
          </a:p>
        </p:txBody>
      </p:sp>
      <p:sp>
        <p:nvSpPr>
          <p:cNvPr name="TextBox 36" id="36"/>
          <p:cNvSpPr txBox="true"/>
          <p:nvPr/>
        </p:nvSpPr>
        <p:spPr>
          <a:xfrm rot="0">
            <a:off x="1097280" y="8475345"/>
            <a:ext cx="7543800" cy="304800"/>
          </a:xfrm>
          <a:prstGeom prst="rect">
            <a:avLst/>
          </a:prstGeom>
        </p:spPr>
        <p:txBody>
          <a:bodyPr anchor="t" rtlCol="false" tIns="0" lIns="0" bIns="0" rIns="0">
            <a:spAutoFit/>
          </a:bodyPr>
          <a:lstStyle/>
          <a:p>
            <a:pPr algn="l" marL="0" indent="0" lvl="0">
              <a:lnSpc>
                <a:spcPts val="2340"/>
              </a:lnSpc>
              <a:spcBef>
                <a:spcPct val="0"/>
              </a:spcBef>
            </a:pPr>
            <a:r>
              <a:rPr lang="en-US" sz="1950" strike="noStrike" u="none">
                <a:solidFill>
                  <a:srgbClr val="1B2B2E"/>
                </a:solidFill>
                <a:latin typeface="Noto Sans"/>
                <a:ea typeface="Noto Sans"/>
                <a:cs typeface="Noto Sans"/>
                <a:sym typeface="Noto Sans"/>
              </a:rPr>
              <a:t>증상을 질문하면 근거 카드를 인용해 답하고 센서값을 함께 표시</a:t>
            </a:r>
          </a:p>
        </p:txBody>
      </p:sp>
      <p:sp>
        <p:nvSpPr>
          <p:cNvPr name="Freeform 37" id="37"/>
          <p:cNvSpPr/>
          <p:nvPr/>
        </p:nvSpPr>
        <p:spPr>
          <a:xfrm flipH="false" flipV="false" rot="0">
            <a:off x="9351359" y="7870031"/>
            <a:ext cx="8125778" cy="1240345"/>
          </a:xfrm>
          <a:custGeom>
            <a:avLst/>
            <a:gdLst/>
            <a:ahLst/>
            <a:cxnLst/>
            <a:rect r="r" b="b" t="t" l="l"/>
            <a:pathLst>
              <a:path h="1240345" w="8125778">
                <a:moveTo>
                  <a:pt x="0" y="0"/>
                </a:moveTo>
                <a:lnTo>
                  <a:pt x="8125778" y="0"/>
                </a:lnTo>
                <a:lnTo>
                  <a:pt x="8125778" y="1240346"/>
                </a:lnTo>
                <a:lnTo>
                  <a:pt x="0" y="1240346"/>
                </a:lnTo>
                <a:lnTo>
                  <a:pt x="0" y="0"/>
                </a:lnTo>
                <a:close/>
              </a:path>
            </a:pathLst>
          </a:custGeom>
          <a:blipFill>
            <a:blip r:embed="rId8">
              <a:extLst>
                <a:ext uri="{96DAC541-7B7A-43D3-8B79-37D633B846F1}">
                  <asvg:svgBlip xmlns:asvg="http://schemas.microsoft.com/office/drawing/2016/SVG/main" r:embed="rId9"/>
                </a:ext>
              </a:extLst>
            </a:blip>
            <a:stretch>
              <a:fillRect l="0" t="-246" r="0" b="-246"/>
            </a:stretch>
          </a:blipFill>
        </p:spPr>
      </p:sp>
      <p:sp>
        <p:nvSpPr>
          <p:cNvPr name="TextBox 38" id="38"/>
          <p:cNvSpPr txBox="true"/>
          <p:nvPr/>
        </p:nvSpPr>
        <p:spPr>
          <a:xfrm rot="0">
            <a:off x="9642348" y="7982712"/>
            <a:ext cx="7543800" cy="342900"/>
          </a:xfrm>
          <a:prstGeom prst="rect">
            <a:avLst/>
          </a:prstGeom>
        </p:spPr>
        <p:txBody>
          <a:bodyPr anchor="t" rtlCol="false" tIns="0" lIns="0" bIns="0" rIns="0">
            <a:spAutoFit/>
          </a:bodyPr>
          <a:lstStyle/>
          <a:p>
            <a:pPr algn="l" marL="0" indent="0" lvl="0">
              <a:lnSpc>
                <a:spcPts val="2700"/>
              </a:lnSpc>
              <a:spcBef>
                <a:spcPct val="0"/>
              </a:spcBef>
            </a:pPr>
            <a:r>
              <a:rPr lang="en-US" b="true" sz="2250" strike="noStrike" u="none">
                <a:solidFill>
                  <a:srgbClr val="1F6F63"/>
                </a:solidFill>
                <a:latin typeface="Noto Sans Bold"/>
                <a:ea typeface="Noto Sans Bold"/>
                <a:cs typeface="Noto Sans Bold"/>
                <a:sym typeface="Noto Sans Bold"/>
              </a:rPr>
              <a:t>대시보드</a:t>
            </a:r>
          </a:p>
        </p:txBody>
      </p:sp>
      <p:sp>
        <p:nvSpPr>
          <p:cNvPr name="TextBox 39" id="39"/>
          <p:cNvSpPr txBox="true"/>
          <p:nvPr/>
        </p:nvSpPr>
        <p:spPr>
          <a:xfrm rot="0">
            <a:off x="9642348" y="8475345"/>
            <a:ext cx="7543800" cy="304800"/>
          </a:xfrm>
          <a:prstGeom prst="rect">
            <a:avLst/>
          </a:prstGeom>
        </p:spPr>
        <p:txBody>
          <a:bodyPr anchor="t" rtlCol="false" tIns="0" lIns="0" bIns="0" rIns="0">
            <a:spAutoFit/>
          </a:bodyPr>
          <a:lstStyle/>
          <a:p>
            <a:pPr algn="l" marL="0" indent="0" lvl="0">
              <a:lnSpc>
                <a:spcPts val="2340"/>
              </a:lnSpc>
              <a:spcBef>
                <a:spcPct val="0"/>
              </a:spcBef>
            </a:pPr>
            <a:r>
              <a:rPr lang="en-US" sz="1950" strike="noStrike" u="none">
                <a:solidFill>
                  <a:srgbClr val="1B2B2E"/>
                </a:solidFill>
                <a:latin typeface="Noto Sans"/>
                <a:ea typeface="Noto Sans"/>
                <a:cs typeface="Noto Sans"/>
                <a:sym typeface="Noto Sans"/>
              </a:rPr>
              <a:t>이상 설비 · 지식카드 현황 · 생산 현황 · 반복 증상 확인</a:t>
            </a:r>
          </a:p>
        </p:txBody>
      </p:sp>
      <p:sp>
        <p:nvSpPr>
          <p:cNvPr name="TextBox 40" id="40"/>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strike="noStrike" u="none">
                <a:solidFill>
                  <a:srgbClr val="6B787A"/>
                </a:solidFill>
                <a:latin typeface="Noto Sans"/>
                <a:ea typeface="Noto Sans"/>
                <a:cs typeface="Noto Sans"/>
                <a:sym typeface="Noto Sans"/>
              </a:rPr>
              <a:t>18</a:t>
            </a:r>
          </a:p>
        </p:txBody>
      </p:sp>
      <p:grpSp>
        <p:nvGrpSpPr>
          <p:cNvPr name="Group 41" id="41"/>
          <p:cNvGrpSpPr/>
          <p:nvPr/>
        </p:nvGrpSpPr>
        <p:grpSpPr>
          <a:xfrm rot="0">
            <a:off x="5818356" y="9710928"/>
            <a:ext cx="1260634" cy="419672"/>
            <a:chOff x="0" y="0"/>
            <a:chExt cx="1680845" cy="559562"/>
          </a:xfrm>
        </p:grpSpPr>
        <p:sp>
          <p:nvSpPr>
            <p:cNvPr name="Freeform 42" id="42"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10"/>
              <a:stretch>
                <a:fillRect l="0" t="-928" r="0" b="-926"/>
              </a:stretch>
            </a:blipFill>
          </p:spPr>
        </p:sp>
      </p:grpSp>
      <p:grpSp>
        <p:nvGrpSpPr>
          <p:cNvPr name="Group 43" id="43"/>
          <p:cNvGrpSpPr/>
          <p:nvPr/>
        </p:nvGrpSpPr>
        <p:grpSpPr>
          <a:xfrm rot="0">
            <a:off x="7370474" y="9804197"/>
            <a:ext cx="891826" cy="233172"/>
            <a:chOff x="0" y="0"/>
            <a:chExt cx="1189101" cy="310896"/>
          </a:xfrm>
        </p:grpSpPr>
        <p:sp>
          <p:nvSpPr>
            <p:cNvPr name="Freeform 44" id="44"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11"/>
              <a:stretch>
                <a:fillRect l="0" t="-584" r="0" b="-588"/>
              </a:stretch>
            </a:blipFill>
          </p:spPr>
        </p:sp>
      </p:grpSp>
      <p:grpSp>
        <p:nvGrpSpPr>
          <p:cNvPr name="Group 45" id="45"/>
          <p:cNvGrpSpPr/>
          <p:nvPr/>
        </p:nvGrpSpPr>
        <p:grpSpPr>
          <a:xfrm rot="0">
            <a:off x="8553745" y="9804197"/>
            <a:ext cx="1335596" cy="233172"/>
            <a:chOff x="0" y="0"/>
            <a:chExt cx="1780794" cy="310896"/>
          </a:xfrm>
        </p:grpSpPr>
        <p:sp>
          <p:nvSpPr>
            <p:cNvPr name="Freeform 46" id="46"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12"/>
              <a:stretch>
                <a:fillRect l="0" t="-714" r="0" b="-718"/>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3">
                <a:alphaModFix amt="0"/>
              </a:blip>
              <a:stretch>
                <a:fillRect l="0" t="-332784" r="0" b="-332782"/>
              </a:stretch>
            </a:blipFill>
          </p:spPr>
        </p:sp>
      </p:grpSp>
      <p:grpSp>
        <p:nvGrpSpPr>
          <p:cNvPr name="Group 6" id="6"/>
          <p:cNvGrpSpPr/>
          <p:nvPr/>
        </p:nvGrpSpPr>
        <p:grpSpPr>
          <a:xfrm rot="0">
            <a:off x="822960" y="9696640"/>
            <a:ext cx="8229600" cy="425768"/>
            <a:chOff x="0" y="0"/>
            <a:chExt cx="10972800" cy="567690"/>
          </a:xfrm>
        </p:grpSpPr>
        <p:sp>
          <p:nvSpPr>
            <p:cNvPr name="Freeform 7" id="7"/>
            <p:cNvSpPr/>
            <p:nvPr/>
          </p:nvSpPr>
          <p:spPr>
            <a:xfrm flipH="false" flipV="false" rot="0">
              <a:off x="0" y="0"/>
              <a:ext cx="10972800" cy="567690"/>
            </a:xfrm>
            <a:custGeom>
              <a:avLst/>
              <a:gdLst/>
              <a:ahLst/>
              <a:cxnLst/>
              <a:rect r="r" b="b" t="t" l="l"/>
              <a:pathLst>
                <a:path h="567690" w="10972800">
                  <a:moveTo>
                    <a:pt x="0" y="0"/>
                  </a:moveTo>
                  <a:lnTo>
                    <a:pt x="10972800" y="0"/>
                  </a:lnTo>
                  <a:lnTo>
                    <a:pt x="10972800" y="567690"/>
                  </a:lnTo>
                  <a:lnTo>
                    <a:pt x="0" y="567690"/>
                  </a:lnTo>
                  <a:close/>
                </a:path>
              </a:pathLst>
            </a:custGeom>
            <a:blipFill>
              <a:blip r:embed="rId4">
                <a:alphaModFix amt="0"/>
              </a:blip>
              <a:stretch>
                <a:fillRect l="0" t="-326623" r="0" b="-326623"/>
              </a:stretch>
            </a:blipFill>
          </p:spPr>
        </p:sp>
        <p:sp>
          <p:nvSpPr>
            <p:cNvPr name="TextBox 8" id="8"/>
            <p:cNvSpPr txBox="true"/>
            <p:nvPr/>
          </p:nvSpPr>
          <p:spPr>
            <a:xfrm>
              <a:off x="0" y="-9525"/>
              <a:ext cx="10972800" cy="577215"/>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9" id="9"/>
          <p:cNvGrpSpPr/>
          <p:nvPr/>
        </p:nvGrpSpPr>
        <p:grpSpPr>
          <a:xfrm rot="0">
            <a:off x="822960" y="438912"/>
            <a:ext cx="4114800" cy="384048"/>
            <a:chOff x="0" y="0"/>
            <a:chExt cx="5486400" cy="512064"/>
          </a:xfrm>
        </p:grpSpPr>
        <p:sp>
          <p:nvSpPr>
            <p:cNvPr name="Freeform 10" id="10"/>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2">
                <a:alphaModFix amt="0"/>
              </a:blip>
              <a:stretch>
                <a:fillRect l="0" t="-158623" r="0" b="-158623"/>
              </a:stretch>
            </a:blipFill>
          </p:spPr>
        </p:sp>
      </p:grpSp>
      <p:grpSp>
        <p:nvGrpSpPr>
          <p:cNvPr name="Group 11" id="11"/>
          <p:cNvGrpSpPr/>
          <p:nvPr/>
        </p:nvGrpSpPr>
        <p:grpSpPr>
          <a:xfrm rot="0">
            <a:off x="822960" y="438912"/>
            <a:ext cx="4114800" cy="384048"/>
            <a:chOff x="0" y="0"/>
            <a:chExt cx="5486400" cy="512064"/>
          </a:xfrm>
        </p:grpSpPr>
        <p:sp>
          <p:nvSpPr>
            <p:cNvPr name="Freeform 12" id="12"/>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3">
                <a:alphaModFix amt="0"/>
              </a:blip>
              <a:stretch>
                <a:fillRect l="0" t="-158623" r="0" b="-158623"/>
              </a:stretch>
            </a:blipFill>
          </p:spPr>
        </p:sp>
      </p:grpSp>
      <p:grpSp>
        <p:nvGrpSpPr>
          <p:cNvPr name="Group 13" id="13"/>
          <p:cNvGrpSpPr/>
          <p:nvPr/>
        </p:nvGrpSpPr>
        <p:grpSpPr>
          <a:xfrm rot="0">
            <a:off x="822960" y="438912"/>
            <a:ext cx="4114800" cy="384048"/>
            <a:chOff x="0" y="0"/>
            <a:chExt cx="5486400" cy="512064"/>
          </a:xfrm>
        </p:grpSpPr>
        <p:sp>
          <p:nvSpPr>
            <p:cNvPr name="Freeform 14" id="14"/>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4">
                <a:alphaModFix amt="0"/>
              </a:blip>
              <a:stretch>
                <a:fillRect l="0" t="-158768" r="0" b="-158768"/>
              </a:stretch>
            </a:blipFill>
          </p:spPr>
        </p:sp>
        <p:sp>
          <p:nvSpPr>
            <p:cNvPr name="TextBox 15" id="15"/>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02  시스템 구성</a:t>
              </a:r>
            </a:p>
          </p:txBody>
        </p:sp>
      </p:grpSp>
      <p:grpSp>
        <p:nvGrpSpPr>
          <p:cNvPr name="Group 16" id="16"/>
          <p:cNvGrpSpPr/>
          <p:nvPr/>
        </p:nvGrpSpPr>
        <p:grpSpPr>
          <a:xfrm rot="0">
            <a:off x="822960" y="822960"/>
            <a:ext cx="16641604" cy="850392"/>
            <a:chOff x="0" y="0"/>
            <a:chExt cx="22188805" cy="1133856"/>
          </a:xfrm>
        </p:grpSpPr>
        <p:sp>
          <p:nvSpPr>
            <p:cNvPr name="Freeform 17" id="17"/>
            <p:cNvSpPr/>
            <p:nvPr/>
          </p:nvSpPr>
          <p:spPr>
            <a:xfrm flipH="false" flipV="false" rot="0">
              <a:off x="0" y="0"/>
              <a:ext cx="22188805" cy="1133856"/>
            </a:xfrm>
            <a:custGeom>
              <a:avLst/>
              <a:gdLst/>
              <a:ahLst/>
              <a:cxnLst/>
              <a:rect r="r" b="b" t="t" l="l"/>
              <a:pathLst>
                <a:path h="1133856" w="22188805">
                  <a:moveTo>
                    <a:pt x="0" y="0"/>
                  </a:moveTo>
                  <a:lnTo>
                    <a:pt x="22188805" y="0"/>
                  </a:lnTo>
                  <a:lnTo>
                    <a:pt x="22188805" y="1133856"/>
                  </a:lnTo>
                  <a:lnTo>
                    <a:pt x="0" y="1133856"/>
                  </a:lnTo>
                  <a:close/>
                </a:path>
              </a:pathLst>
            </a:custGeom>
            <a:blipFill>
              <a:blip r:embed="rId2">
                <a:alphaModFix amt="0"/>
              </a:blip>
              <a:stretch>
                <a:fillRect l="0" t="-331043" r="0" b="-331043"/>
              </a:stretch>
            </a:blipFill>
          </p:spPr>
        </p:sp>
      </p:grpSp>
      <p:grpSp>
        <p:nvGrpSpPr>
          <p:cNvPr name="Group 18" id="18"/>
          <p:cNvGrpSpPr/>
          <p:nvPr/>
        </p:nvGrpSpPr>
        <p:grpSpPr>
          <a:xfrm rot="0">
            <a:off x="822960" y="822960"/>
            <a:ext cx="16641623" cy="850392"/>
            <a:chOff x="0" y="0"/>
            <a:chExt cx="22188830" cy="1133856"/>
          </a:xfrm>
        </p:grpSpPr>
        <p:sp>
          <p:nvSpPr>
            <p:cNvPr name="Freeform 19" id="19"/>
            <p:cNvSpPr/>
            <p:nvPr/>
          </p:nvSpPr>
          <p:spPr>
            <a:xfrm flipH="false" flipV="false" rot="0">
              <a:off x="0" y="0"/>
              <a:ext cx="22188805" cy="1133856"/>
            </a:xfrm>
            <a:custGeom>
              <a:avLst/>
              <a:gdLst/>
              <a:ahLst/>
              <a:cxnLst/>
              <a:rect r="r" b="b" t="t" l="l"/>
              <a:pathLst>
                <a:path h="1133856" w="22188805">
                  <a:moveTo>
                    <a:pt x="0" y="0"/>
                  </a:moveTo>
                  <a:lnTo>
                    <a:pt x="22188805" y="0"/>
                  </a:lnTo>
                  <a:lnTo>
                    <a:pt x="22188805" y="1133856"/>
                  </a:lnTo>
                  <a:lnTo>
                    <a:pt x="0" y="1133856"/>
                  </a:lnTo>
                  <a:close/>
                </a:path>
              </a:pathLst>
            </a:custGeom>
            <a:blipFill>
              <a:blip r:embed="rId3">
                <a:alphaModFix amt="0"/>
              </a:blip>
              <a:stretch>
                <a:fillRect l="0" t="-331043" r="0" b="-331045"/>
              </a:stretch>
            </a:blipFill>
          </p:spPr>
        </p:sp>
      </p:grpSp>
      <p:grpSp>
        <p:nvGrpSpPr>
          <p:cNvPr name="Group 20" id="20"/>
          <p:cNvGrpSpPr/>
          <p:nvPr/>
        </p:nvGrpSpPr>
        <p:grpSpPr>
          <a:xfrm rot="0">
            <a:off x="822960" y="822960"/>
            <a:ext cx="16642080" cy="850392"/>
            <a:chOff x="0" y="0"/>
            <a:chExt cx="22189440" cy="1133856"/>
          </a:xfrm>
        </p:grpSpPr>
        <p:sp>
          <p:nvSpPr>
            <p:cNvPr name="Freeform 21" id="21"/>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4">
                <a:alphaModFix amt="0"/>
              </a:blip>
              <a:stretch>
                <a:fillRect l="0" t="-331309" r="2" b="-331309"/>
              </a:stretch>
            </a:blipFill>
          </p:spPr>
        </p:sp>
        <p:sp>
          <p:nvSpPr>
            <p:cNvPr name="TextBox 22" id="22"/>
            <p:cNvSpPr txBox="true"/>
            <p:nvPr/>
          </p:nvSpPr>
          <p:spPr>
            <a:xfrm>
              <a:off x="0" y="-9525"/>
              <a:ext cx="22189440" cy="1143381"/>
            </a:xfrm>
            <a:prstGeom prst="rect">
              <a:avLst/>
            </a:prstGeom>
          </p:spPr>
          <p:txBody>
            <a:bodyPr anchor="ctr" rtlCol="false" tIns="0" lIns="0" bIns="0" rIns="0"/>
            <a:lstStyle/>
            <a:p>
              <a:pPr algn="l">
                <a:lnSpc>
                  <a:spcPts val="4500"/>
                </a:lnSpc>
              </a:pPr>
              <a:r>
                <a:rPr lang="en-US" sz="3750" b="true">
                  <a:solidFill>
                    <a:srgbClr val="203238"/>
                  </a:solidFill>
                  <a:latin typeface="Noto Sans Bold"/>
                  <a:ea typeface="Noto Sans Bold"/>
                  <a:cs typeface="Noto Sans Bold"/>
                  <a:sym typeface="Noto Sans Bold"/>
                </a:rPr>
                <a:t>07  MES UI</a:t>
              </a:r>
            </a:p>
          </p:txBody>
        </p:sp>
      </p:grpSp>
      <p:grpSp>
        <p:nvGrpSpPr>
          <p:cNvPr name="Group 23" id="23"/>
          <p:cNvGrpSpPr/>
          <p:nvPr/>
        </p:nvGrpSpPr>
        <p:grpSpPr>
          <a:xfrm rot="0">
            <a:off x="822960" y="1755648"/>
            <a:ext cx="16641604" cy="576072"/>
            <a:chOff x="0" y="0"/>
            <a:chExt cx="22188805" cy="768096"/>
          </a:xfrm>
        </p:grpSpPr>
        <p:sp>
          <p:nvSpPr>
            <p:cNvPr name="Freeform 24" id="24"/>
            <p:cNvSpPr/>
            <p:nvPr/>
          </p:nvSpPr>
          <p:spPr>
            <a:xfrm flipH="false" flipV="false" rot="0">
              <a:off x="0" y="0"/>
              <a:ext cx="22188805" cy="768096"/>
            </a:xfrm>
            <a:custGeom>
              <a:avLst/>
              <a:gdLst/>
              <a:ahLst/>
              <a:cxnLst/>
              <a:rect r="r" b="b" t="t" l="l"/>
              <a:pathLst>
                <a:path h="768096" w="22188805">
                  <a:moveTo>
                    <a:pt x="0" y="0"/>
                  </a:moveTo>
                  <a:lnTo>
                    <a:pt x="22188805" y="0"/>
                  </a:lnTo>
                  <a:lnTo>
                    <a:pt x="22188805" y="768096"/>
                  </a:lnTo>
                  <a:lnTo>
                    <a:pt x="0" y="768096"/>
                  </a:lnTo>
                  <a:close/>
                </a:path>
              </a:pathLst>
            </a:custGeom>
            <a:blipFill>
              <a:blip r:embed="rId2">
                <a:alphaModFix amt="0"/>
              </a:blip>
              <a:stretch>
                <a:fillRect l="0" t="-512493" r="0" b="-512493"/>
              </a:stretch>
            </a:blipFill>
          </p:spPr>
        </p:sp>
      </p:grpSp>
      <p:grpSp>
        <p:nvGrpSpPr>
          <p:cNvPr name="Group 25" id="25"/>
          <p:cNvGrpSpPr/>
          <p:nvPr/>
        </p:nvGrpSpPr>
        <p:grpSpPr>
          <a:xfrm rot="0">
            <a:off x="822960" y="1762792"/>
            <a:ext cx="16641623" cy="568928"/>
            <a:chOff x="0" y="0"/>
            <a:chExt cx="22188830" cy="758571"/>
          </a:xfrm>
        </p:grpSpPr>
        <p:sp>
          <p:nvSpPr>
            <p:cNvPr name="Freeform 26" id="26"/>
            <p:cNvSpPr/>
            <p:nvPr/>
          </p:nvSpPr>
          <p:spPr>
            <a:xfrm flipH="false" flipV="false" rot="0">
              <a:off x="0" y="0"/>
              <a:ext cx="22188805" cy="758571"/>
            </a:xfrm>
            <a:custGeom>
              <a:avLst/>
              <a:gdLst/>
              <a:ahLst/>
              <a:cxnLst/>
              <a:rect r="r" b="b" t="t" l="l"/>
              <a:pathLst>
                <a:path h="758571" w="22188805">
                  <a:moveTo>
                    <a:pt x="0" y="0"/>
                  </a:moveTo>
                  <a:lnTo>
                    <a:pt x="22188805" y="0"/>
                  </a:lnTo>
                  <a:lnTo>
                    <a:pt x="22188805" y="758571"/>
                  </a:lnTo>
                  <a:lnTo>
                    <a:pt x="0" y="758571"/>
                  </a:lnTo>
                  <a:close/>
                </a:path>
              </a:pathLst>
            </a:custGeom>
            <a:blipFill>
              <a:blip r:embed="rId3">
                <a:alphaModFix amt="0"/>
              </a:blip>
              <a:stretch>
                <a:fillRect l="0" t="-519558" r="0" b="-519556"/>
              </a:stretch>
            </a:blipFill>
          </p:spPr>
        </p:sp>
      </p:grpSp>
      <p:grpSp>
        <p:nvGrpSpPr>
          <p:cNvPr name="Group 27" id="27"/>
          <p:cNvGrpSpPr/>
          <p:nvPr/>
        </p:nvGrpSpPr>
        <p:grpSpPr>
          <a:xfrm rot="0">
            <a:off x="822960" y="1762125"/>
            <a:ext cx="16641623" cy="561784"/>
            <a:chOff x="0" y="0"/>
            <a:chExt cx="22188830" cy="749046"/>
          </a:xfrm>
        </p:grpSpPr>
        <p:sp>
          <p:nvSpPr>
            <p:cNvPr name="Freeform 28" id="28"/>
            <p:cNvSpPr/>
            <p:nvPr/>
          </p:nvSpPr>
          <p:spPr>
            <a:xfrm flipH="false" flipV="false" rot="0">
              <a:off x="0" y="0"/>
              <a:ext cx="22188830" cy="749045"/>
            </a:xfrm>
            <a:custGeom>
              <a:avLst/>
              <a:gdLst/>
              <a:ahLst/>
              <a:cxnLst/>
              <a:rect r="r" b="b" t="t" l="l"/>
              <a:pathLst>
                <a:path h="749045" w="22188830">
                  <a:moveTo>
                    <a:pt x="0" y="0"/>
                  </a:moveTo>
                  <a:lnTo>
                    <a:pt x="22188830" y="0"/>
                  </a:lnTo>
                  <a:lnTo>
                    <a:pt x="22188830" y="749045"/>
                  </a:lnTo>
                  <a:lnTo>
                    <a:pt x="0" y="749045"/>
                  </a:lnTo>
                  <a:close/>
                </a:path>
              </a:pathLst>
            </a:custGeom>
            <a:blipFill>
              <a:blip r:embed="rId4">
                <a:alphaModFix amt="0"/>
              </a:blip>
              <a:stretch>
                <a:fillRect l="0" t="-527201" r="0" b="-527201"/>
              </a:stretch>
            </a:blipFill>
          </p:spPr>
        </p:sp>
        <p:sp>
          <p:nvSpPr>
            <p:cNvPr name="TextBox 29" id="29"/>
            <p:cNvSpPr txBox="true"/>
            <p:nvPr/>
          </p:nvSpPr>
          <p:spPr>
            <a:xfrm>
              <a:off x="0" y="9525"/>
              <a:ext cx="22188830" cy="739521"/>
            </a:xfrm>
            <a:prstGeom prst="rect">
              <a:avLst/>
            </a:prstGeom>
          </p:spPr>
          <p:txBody>
            <a:bodyPr anchor="ctr" rtlCol="false" tIns="0" lIns="0" bIns="0" rIns="0"/>
            <a:lstStyle/>
            <a:p>
              <a:pPr algn="l">
                <a:lnSpc>
                  <a:spcPts val="2878"/>
                </a:lnSpc>
              </a:pPr>
              <a:r>
                <a:rPr lang="en-US" sz="2400">
                  <a:solidFill>
                    <a:srgbClr val="53666E"/>
                  </a:solidFill>
                  <a:latin typeface="Noto Sans"/>
                  <a:ea typeface="Noto Sans"/>
                  <a:cs typeface="Noto Sans"/>
                  <a:sym typeface="Noto Sans"/>
                </a:rPr>
                <a:t>Jetson의 모의 MES가 제공 – </a:t>
              </a:r>
              <a:r>
                <a:rPr lang="en-US" sz="2400" b="true">
                  <a:solidFill>
                    <a:srgbClr val="53666E"/>
                  </a:solidFill>
                  <a:latin typeface="Noto Sans Bold"/>
                  <a:ea typeface="Noto Sans Bold"/>
                  <a:cs typeface="Noto Sans Bold"/>
                  <a:sym typeface="Noto Sans Bold"/>
                </a:rPr>
                <a:t>설비 흐름·알람 확인과 지식카드 후보 검토</a:t>
              </a:r>
            </a:p>
          </p:txBody>
        </p:sp>
      </p:grpSp>
      <p:grpSp>
        <p:nvGrpSpPr>
          <p:cNvPr name="Group 30" id="30"/>
          <p:cNvGrpSpPr/>
          <p:nvPr/>
        </p:nvGrpSpPr>
        <p:grpSpPr>
          <a:xfrm rot="0">
            <a:off x="816607" y="2736847"/>
            <a:ext cx="8105137" cy="4963411"/>
            <a:chOff x="0" y="0"/>
            <a:chExt cx="10806849" cy="6617881"/>
          </a:xfrm>
        </p:grpSpPr>
        <p:sp>
          <p:nvSpPr>
            <p:cNvPr name="Freeform 31" id="31" descr="MES Line Overview: 소재 흐름·상태·알람과 시연 제어"/>
            <p:cNvSpPr/>
            <p:nvPr/>
          </p:nvSpPr>
          <p:spPr>
            <a:xfrm flipH="false" flipV="false" rot="0">
              <a:off x="0" y="0"/>
              <a:ext cx="10806811" cy="6617843"/>
            </a:xfrm>
            <a:custGeom>
              <a:avLst/>
              <a:gdLst/>
              <a:ahLst/>
              <a:cxnLst/>
              <a:rect r="r" b="b" t="t" l="l"/>
              <a:pathLst>
                <a:path h="6617843" w="10806811">
                  <a:moveTo>
                    <a:pt x="0" y="0"/>
                  </a:moveTo>
                  <a:lnTo>
                    <a:pt x="10806811" y="0"/>
                  </a:lnTo>
                  <a:lnTo>
                    <a:pt x="10806811" y="6617843"/>
                  </a:lnTo>
                  <a:lnTo>
                    <a:pt x="0" y="6617843"/>
                  </a:lnTo>
                  <a:lnTo>
                    <a:pt x="0" y="0"/>
                  </a:lnTo>
                  <a:close/>
                </a:path>
              </a:pathLst>
            </a:custGeom>
            <a:blipFill>
              <a:blip r:embed="rId5"/>
              <a:stretch>
                <a:fillRect l="0" t="0" r="0" b="0"/>
              </a:stretch>
            </a:blipFill>
          </p:spPr>
        </p:sp>
      </p:grpSp>
      <p:grpSp>
        <p:nvGrpSpPr>
          <p:cNvPr name="Group 32" id="32"/>
          <p:cNvGrpSpPr/>
          <p:nvPr/>
        </p:nvGrpSpPr>
        <p:grpSpPr>
          <a:xfrm rot="0">
            <a:off x="9361675" y="2736847"/>
            <a:ext cx="8105137" cy="4963411"/>
            <a:chOff x="0" y="0"/>
            <a:chExt cx="10806849" cy="6617881"/>
          </a:xfrm>
        </p:grpSpPr>
        <p:sp>
          <p:nvSpPr>
            <p:cNvPr name="Freeform 33" id="33" descr="MES 지식카드 후보 검토 화면: 근무일지에서 만든 카드 후보를 관리자가 검토"/>
            <p:cNvSpPr/>
            <p:nvPr/>
          </p:nvSpPr>
          <p:spPr>
            <a:xfrm flipH="false" flipV="false" rot="0">
              <a:off x="0" y="0"/>
              <a:ext cx="10806811" cy="6617843"/>
            </a:xfrm>
            <a:custGeom>
              <a:avLst/>
              <a:gdLst/>
              <a:ahLst/>
              <a:cxnLst/>
              <a:rect r="r" b="b" t="t" l="l"/>
              <a:pathLst>
                <a:path h="6617843" w="10806811">
                  <a:moveTo>
                    <a:pt x="0" y="0"/>
                  </a:moveTo>
                  <a:lnTo>
                    <a:pt x="10806811" y="0"/>
                  </a:lnTo>
                  <a:lnTo>
                    <a:pt x="10806811" y="6617843"/>
                  </a:lnTo>
                  <a:lnTo>
                    <a:pt x="0" y="6617843"/>
                  </a:lnTo>
                  <a:lnTo>
                    <a:pt x="0" y="0"/>
                  </a:lnTo>
                  <a:close/>
                </a:path>
              </a:pathLst>
            </a:custGeom>
            <a:blipFill>
              <a:blip r:embed="rId6"/>
              <a:stretch>
                <a:fillRect l="0" t="0" r="0" b="0"/>
              </a:stretch>
            </a:blipFill>
          </p:spPr>
        </p:sp>
      </p:grpSp>
      <p:sp>
        <p:nvSpPr>
          <p:cNvPr name="Freeform 34" id="34"/>
          <p:cNvSpPr/>
          <p:nvPr/>
        </p:nvSpPr>
        <p:spPr>
          <a:xfrm flipH="false" flipV="false" rot="0">
            <a:off x="806291" y="7870031"/>
            <a:ext cx="8125778" cy="1240345"/>
          </a:xfrm>
          <a:custGeom>
            <a:avLst/>
            <a:gdLst/>
            <a:ahLst/>
            <a:cxnLst/>
            <a:rect r="r" b="b" t="t" l="l"/>
            <a:pathLst>
              <a:path h="1240345" w="8125778">
                <a:moveTo>
                  <a:pt x="0" y="0"/>
                </a:moveTo>
                <a:lnTo>
                  <a:pt x="8125778" y="0"/>
                </a:lnTo>
                <a:lnTo>
                  <a:pt x="8125778" y="1240346"/>
                </a:lnTo>
                <a:lnTo>
                  <a:pt x="0" y="1240346"/>
                </a:lnTo>
                <a:lnTo>
                  <a:pt x="0" y="0"/>
                </a:lnTo>
                <a:close/>
              </a:path>
            </a:pathLst>
          </a:custGeom>
          <a:blipFill>
            <a:blip r:embed="rId7">
              <a:extLst>
                <a:ext uri="{96DAC541-7B7A-43D3-8B79-37D633B846F1}">
                  <asvg:svgBlip xmlns:asvg="http://schemas.microsoft.com/office/drawing/2016/SVG/main" r:embed="rId8"/>
                </a:ext>
              </a:extLst>
            </a:blip>
            <a:stretch>
              <a:fillRect l="0" t="-246" r="0" b="-246"/>
            </a:stretch>
          </a:blipFill>
        </p:spPr>
      </p:sp>
      <p:sp>
        <p:nvSpPr>
          <p:cNvPr name="TextBox 35" id="35"/>
          <p:cNvSpPr txBox="true"/>
          <p:nvPr/>
        </p:nvSpPr>
        <p:spPr>
          <a:xfrm rot="0">
            <a:off x="1097280" y="7982712"/>
            <a:ext cx="7543800" cy="342900"/>
          </a:xfrm>
          <a:prstGeom prst="rect">
            <a:avLst/>
          </a:prstGeom>
        </p:spPr>
        <p:txBody>
          <a:bodyPr anchor="t" rtlCol="false" tIns="0" lIns="0" bIns="0" rIns="0">
            <a:spAutoFit/>
          </a:bodyPr>
          <a:lstStyle/>
          <a:p>
            <a:pPr algn="l" marL="0" indent="0" lvl="0">
              <a:lnSpc>
                <a:spcPts val="2700"/>
              </a:lnSpc>
              <a:spcBef>
                <a:spcPct val="0"/>
              </a:spcBef>
            </a:pPr>
            <a:r>
              <a:rPr lang="en-US" b="true" sz="2250" strike="noStrike" u="none">
                <a:solidFill>
                  <a:srgbClr val="1F6F63"/>
                </a:solidFill>
                <a:latin typeface="Noto Sans Bold"/>
                <a:ea typeface="Noto Sans Bold"/>
                <a:cs typeface="Noto Sans Bold"/>
                <a:sym typeface="Noto Sans Bold"/>
              </a:rPr>
              <a:t>Line Overview · 설비 흐름도</a:t>
            </a:r>
          </a:p>
        </p:txBody>
      </p:sp>
      <p:sp>
        <p:nvSpPr>
          <p:cNvPr name="TextBox 36" id="36"/>
          <p:cNvSpPr txBox="true"/>
          <p:nvPr/>
        </p:nvSpPr>
        <p:spPr>
          <a:xfrm rot="0">
            <a:off x="1097280" y="8475345"/>
            <a:ext cx="7543800" cy="304800"/>
          </a:xfrm>
          <a:prstGeom prst="rect">
            <a:avLst/>
          </a:prstGeom>
        </p:spPr>
        <p:txBody>
          <a:bodyPr anchor="t" rtlCol="false" tIns="0" lIns="0" bIns="0" rIns="0">
            <a:spAutoFit/>
          </a:bodyPr>
          <a:lstStyle/>
          <a:p>
            <a:pPr algn="l" marL="0" indent="0" lvl="0">
              <a:lnSpc>
                <a:spcPts val="2340"/>
              </a:lnSpc>
              <a:spcBef>
                <a:spcPct val="0"/>
              </a:spcBef>
            </a:pPr>
            <a:r>
              <a:rPr lang="en-US" sz="1950" strike="noStrike" u="none">
                <a:solidFill>
                  <a:srgbClr val="1B2B2E"/>
                </a:solidFill>
                <a:latin typeface="Noto Sans"/>
                <a:ea typeface="Noto Sans"/>
                <a:cs typeface="Noto Sans"/>
                <a:sym typeface="Noto Sans"/>
              </a:rPr>
              <a:t>소재 흐름 · 상태 · 알람과 시연 제어</a:t>
            </a:r>
          </a:p>
        </p:txBody>
      </p:sp>
      <p:sp>
        <p:nvSpPr>
          <p:cNvPr name="Freeform 37" id="37"/>
          <p:cNvSpPr/>
          <p:nvPr/>
        </p:nvSpPr>
        <p:spPr>
          <a:xfrm flipH="false" flipV="false" rot="0">
            <a:off x="9351359" y="7870031"/>
            <a:ext cx="8125778" cy="1240345"/>
          </a:xfrm>
          <a:custGeom>
            <a:avLst/>
            <a:gdLst/>
            <a:ahLst/>
            <a:cxnLst/>
            <a:rect r="r" b="b" t="t" l="l"/>
            <a:pathLst>
              <a:path h="1240345" w="8125778">
                <a:moveTo>
                  <a:pt x="0" y="0"/>
                </a:moveTo>
                <a:lnTo>
                  <a:pt x="8125778" y="0"/>
                </a:lnTo>
                <a:lnTo>
                  <a:pt x="8125778" y="1240346"/>
                </a:lnTo>
                <a:lnTo>
                  <a:pt x="0" y="1240346"/>
                </a:lnTo>
                <a:lnTo>
                  <a:pt x="0" y="0"/>
                </a:lnTo>
                <a:close/>
              </a:path>
            </a:pathLst>
          </a:custGeom>
          <a:blipFill>
            <a:blip r:embed="rId7">
              <a:extLst>
                <a:ext uri="{96DAC541-7B7A-43D3-8B79-37D633B846F1}">
                  <asvg:svgBlip xmlns:asvg="http://schemas.microsoft.com/office/drawing/2016/SVG/main" r:embed="rId8"/>
                </a:ext>
              </a:extLst>
            </a:blip>
            <a:stretch>
              <a:fillRect l="0" t="-246" r="0" b="-246"/>
            </a:stretch>
          </a:blipFill>
        </p:spPr>
      </p:sp>
      <p:sp>
        <p:nvSpPr>
          <p:cNvPr name="TextBox 38" id="38"/>
          <p:cNvSpPr txBox="true"/>
          <p:nvPr/>
        </p:nvSpPr>
        <p:spPr>
          <a:xfrm rot="0">
            <a:off x="9642348" y="7982712"/>
            <a:ext cx="7543800" cy="342900"/>
          </a:xfrm>
          <a:prstGeom prst="rect">
            <a:avLst/>
          </a:prstGeom>
        </p:spPr>
        <p:txBody>
          <a:bodyPr anchor="t" rtlCol="false" tIns="0" lIns="0" bIns="0" rIns="0">
            <a:spAutoFit/>
          </a:bodyPr>
          <a:lstStyle/>
          <a:p>
            <a:pPr algn="l" marL="0" indent="0" lvl="0">
              <a:lnSpc>
                <a:spcPts val="2700"/>
              </a:lnSpc>
              <a:spcBef>
                <a:spcPct val="0"/>
              </a:spcBef>
            </a:pPr>
            <a:r>
              <a:rPr lang="en-US" b="true" sz="2250" strike="noStrike" u="none">
                <a:solidFill>
                  <a:srgbClr val="1F6F63"/>
                </a:solidFill>
                <a:latin typeface="Noto Sans Bold"/>
                <a:ea typeface="Noto Sans Bold"/>
                <a:cs typeface="Noto Sans Bold"/>
                <a:sym typeface="Noto Sans Bold"/>
              </a:rPr>
              <a:t>지식카드 후보 검토</a:t>
            </a:r>
          </a:p>
        </p:txBody>
      </p:sp>
      <p:sp>
        <p:nvSpPr>
          <p:cNvPr name="TextBox 39" id="39"/>
          <p:cNvSpPr txBox="true"/>
          <p:nvPr/>
        </p:nvSpPr>
        <p:spPr>
          <a:xfrm rot="0">
            <a:off x="9642348" y="8475345"/>
            <a:ext cx="7543800" cy="304800"/>
          </a:xfrm>
          <a:prstGeom prst="rect">
            <a:avLst/>
          </a:prstGeom>
        </p:spPr>
        <p:txBody>
          <a:bodyPr anchor="t" rtlCol="false" tIns="0" lIns="0" bIns="0" rIns="0">
            <a:spAutoFit/>
          </a:bodyPr>
          <a:lstStyle/>
          <a:p>
            <a:pPr algn="l" marL="0" indent="0" lvl="0">
              <a:lnSpc>
                <a:spcPts val="2340"/>
              </a:lnSpc>
              <a:spcBef>
                <a:spcPct val="0"/>
              </a:spcBef>
            </a:pPr>
            <a:r>
              <a:rPr lang="en-US" sz="1950" strike="noStrike" u="none">
                <a:solidFill>
                  <a:srgbClr val="1B2B2E"/>
                </a:solidFill>
                <a:latin typeface="Noto Sans"/>
                <a:ea typeface="Noto Sans"/>
                <a:cs typeface="Noto Sans"/>
                <a:sym typeface="Noto Sans"/>
              </a:rPr>
              <a:t>현장 조치 기록에서 만든 카드 후보를 관리자가 검토</a:t>
            </a:r>
          </a:p>
        </p:txBody>
      </p:sp>
      <p:sp>
        <p:nvSpPr>
          <p:cNvPr name="TextBox 40" id="40"/>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strike="noStrike" u="none">
                <a:solidFill>
                  <a:srgbClr val="6B787A"/>
                </a:solidFill>
                <a:latin typeface="Noto Sans"/>
                <a:ea typeface="Noto Sans"/>
                <a:cs typeface="Noto Sans"/>
                <a:sym typeface="Noto Sans"/>
              </a:rPr>
              <a:t>19</a:t>
            </a:r>
          </a:p>
        </p:txBody>
      </p:sp>
      <p:grpSp>
        <p:nvGrpSpPr>
          <p:cNvPr name="Group 41" id="41"/>
          <p:cNvGrpSpPr/>
          <p:nvPr/>
        </p:nvGrpSpPr>
        <p:grpSpPr>
          <a:xfrm rot="0">
            <a:off x="5818356" y="9710928"/>
            <a:ext cx="1260634" cy="419672"/>
            <a:chOff x="0" y="0"/>
            <a:chExt cx="1680845" cy="559562"/>
          </a:xfrm>
        </p:grpSpPr>
        <p:sp>
          <p:nvSpPr>
            <p:cNvPr name="Freeform 42" id="42"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9"/>
              <a:stretch>
                <a:fillRect l="0" t="-928" r="0" b="-926"/>
              </a:stretch>
            </a:blipFill>
          </p:spPr>
        </p:sp>
      </p:grpSp>
      <p:grpSp>
        <p:nvGrpSpPr>
          <p:cNvPr name="Group 43" id="43"/>
          <p:cNvGrpSpPr/>
          <p:nvPr/>
        </p:nvGrpSpPr>
        <p:grpSpPr>
          <a:xfrm rot="0">
            <a:off x="7370474" y="9804197"/>
            <a:ext cx="891826" cy="233172"/>
            <a:chOff x="0" y="0"/>
            <a:chExt cx="1189101" cy="310896"/>
          </a:xfrm>
        </p:grpSpPr>
        <p:sp>
          <p:nvSpPr>
            <p:cNvPr name="Freeform 44" id="44"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10"/>
              <a:stretch>
                <a:fillRect l="0" t="-584" r="0" b="-588"/>
              </a:stretch>
            </a:blipFill>
          </p:spPr>
        </p:sp>
      </p:grpSp>
      <p:grpSp>
        <p:nvGrpSpPr>
          <p:cNvPr name="Group 45" id="45"/>
          <p:cNvGrpSpPr/>
          <p:nvPr/>
        </p:nvGrpSpPr>
        <p:grpSpPr>
          <a:xfrm rot="0">
            <a:off x="8553745" y="9804197"/>
            <a:ext cx="1335596" cy="233172"/>
            <a:chOff x="0" y="0"/>
            <a:chExt cx="1780794" cy="310896"/>
          </a:xfrm>
        </p:grpSpPr>
        <p:sp>
          <p:nvSpPr>
            <p:cNvPr name="Freeform 46" id="46"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11"/>
              <a:stretch>
                <a:fillRect l="0" t="-714" r="0" b="-718"/>
              </a:stretch>
            </a:blipFill>
          </p:spPr>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2784" r="0" b="-332782"/>
              </a:stretch>
            </a:blipFill>
          </p:spPr>
        </p:sp>
      </p:grpSp>
      <p:grpSp>
        <p:nvGrpSpPr>
          <p:cNvPr name="Group 6" id="6"/>
          <p:cNvGrpSpPr/>
          <p:nvPr/>
        </p:nvGrpSpPr>
        <p:grpSpPr>
          <a:xfrm rot="0">
            <a:off x="822960" y="9696640"/>
            <a:ext cx="8229600" cy="425768"/>
            <a:chOff x="0" y="0"/>
            <a:chExt cx="10972800" cy="567690"/>
          </a:xfrm>
        </p:grpSpPr>
        <p:sp>
          <p:nvSpPr>
            <p:cNvPr name="Freeform 7" id="7"/>
            <p:cNvSpPr/>
            <p:nvPr/>
          </p:nvSpPr>
          <p:spPr>
            <a:xfrm flipH="false" flipV="false" rot="0">
              <a:off x="0" y="0"/>
              <a:ext cx="10972800" cy="567690"/>
            </a:xfrm>
            <a:custGeom>
              <a:avLst/>
              <a:gdLst/>
              <a:ahLst/>
              <a:cxnLst/>
              <a:rect r="r" b="b" t="t" l="l"/>
              <a:pathLst>
                <a:path h="567690" w="10972800">
                  <a:moveTo>
                    <a:pt x="0" y="0"/>
                  </a:moveTo>
                  <a:lnTo>
                    <a:pt x="10972800" y="0"/>
                  </a:lnTo>
                  <a:lnTo>
                    <a:pt x="10972800" y="567690"/>
                  </a:lnTo>
                  <a:lnTo>
                    <a:pt x="0" y="567690"/>
                  </a:lnTo>
                  <a:close/>
                </a:path>
              </a:pathLst>
            </a:custGeom>
            <a:blipFill>
              <a:blip r:embed="rId5">
                <a:alphaModFix amt="0"/>
              </a:blip>
              <a:stretch>
                <a:fillRect l="0" t="-326623" r="0" b="-326623"/>
              </a:stretch>
            </a:blipFill>
          </p:spPr>
        </p:sp>
        <p:sp>
          <p:nvSpPr>
            <p:cNvPr name="TextBox 8" id="8"/>
            <p:cNvSpPr txBox="true"/>
            <p:nvPr/>
          </p:nvSpPr>
          <p:spPr>
            <a:xfrm>
              <a:off x="0" y="-9525"/>
              <a:ext cx="10972800" cy="577215"/>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9" id="9"/>
          <p:cNvGrpSpPr/>
          <p:nvPr/>
        </p:nvGrpSpPr>
        <p:grpSpPr>
          <a:xfrm rot="0">
            <a:off x="822960" y="438912"/>
            <a:ext cx="4114800" cy="384048"/>
            <a:chOff x="0" y="0"/>
            <a:chExt cx="5486400" cy="512064"/>
          </a:xfrm>
        </p:grpSpPr>
        <p:sp>
          <p:nvSpPr>
            <p:cNvPr name="Freeform 10" id="10"/>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3">
                <a:alphaModFix amt="0"/>
              </a:blip>
              <a:stretch>
                <a:fillRect l="0" t="-158623" r="0" b="-158623"/>
              </a:stretch>
            </a:blipFill>
          </p:spPr>
        </p:sp>
      </p:grpSp>
      <p:grpSp>
        <p:nvGrpSpPr>
          <p:cNvPr name="Group 11" id="11"/>
          <p:cNvGrpSpPr/>
          <p:nvPr/>
        </p:nvGrpSpPr>
        <p:grpSpPr>
          <a:xfrm rot="0">
            <a:off x="822960" y="438912"/>
            <a:ext cx="4114800" cy="384048"/>
            <a:chOff x="0" y="0"/>
            <a:chExt cx="5486400" cy="512064"/>
          </a:xfrm>
        </p:grpSpPr>
        <p:sp>
          <p:nvSpPr>
            <p:cNvPr name="Freeform 12" id="12"/>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4">
                <a:alphaModFix amt="0"/>
              </a:blip>
              <a:stretch>
                <a:fillRect l="0" t="-158623" r="0" b="-158623"/>
              </a:stretch>
            </a:blipFill>
          </p:spPr>
        </p:sp>
      </p:grpSp>
      <p:grpSp>
        <p:nvGrpSpPr>
          <p:cNvPr name="Group 13" id="13"/>
          <p:cNvGrpSpPr/>
          <p:nvPr/>
        </p:nvGrpSpPr>
        <p:grpSpPr>
          <a:xfrm rot="0">
            <a:off x="822960" y="438912"/>
            <a:ext cx="4114800" cy="384048"/>
            <a:chOff x="0" y="0"/>
            <a:chExt cx="5486400" cy="512064"/>
          </a:xfrm>
        </p:grpSpPr>
        <p:sp>
          <p:nvSpPr>
            <p:cNvPr name="Freeform 14" id="14"/>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5">
                <a:alphaModFix amt="0"/>
              </a:blip>
              <a:stretch>
                <a:fillRect l="0" t="-158768" r="0" b="-158768"/>
              </a:stretch>
            </a:blipFill>
          </p:spPr>
        </p:sp>
        <p:sp>
          <p:nvSpPr>
            <p:cNvPr name="TextBox 15" id="15"/>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02  시스템 구성</a:t>
              </a:r>
            </a:p>
          </p:txBody>
        </p:sp>
      </p:grpSp>
      <p:grpSp>
        <p:nvGrpSpPr>
          <p:cNvPr name="Group 16" id="16"/>
          <p:cNvGrpSpPr/>
          <p:nvPr/>
        </p:nvGrpSpPr>
        <p:grpSpPr>
          <a:xfrm rot="0">
            <a:off x="822960" y="822960"/>
            <a:ext cx="16641604" cy="850392"/>
            <a:chOff x="0" y="0"/>
            <a:chExt cx="22188805" cy="1133856"/>
          </a:xfrm>
        </p:grpSpPr>
        <p:sp>
          <p:nvSpPr>
            <p:cNvPr name="Freeform 17" id="17"/>
            <p:cNvSpPr/>
            <p:nvPr/>
          </p:nvSpPr>
          <p:spPr>
            <a:xfrm flipH="false" flipV="false" rot="0">
              <a:off x="0" y="0"/>
              <a:ext cx="22188805" cy="1133856"/>
            </a:xfrm>
            <a:custGeom>
              <a:avLst/>
              <a:gdLst/>
              <a:ahLst/>
              <a:cxnLst/>
              <a:rect r="r" b="b" t="t" l="l"/>
              <a:pathLst>
                <a:path h="1133856" w="22188805">
                  <a:moveTo>
                    <a:pt x="0" y="0"/>
                  </a:moveTo>
                  <a:lnTo>
                    <a:pt x="22188805" y="0"/>
                  </a:lnTo>
                  <a:lnTo>
                    <a:pt x="22188805" y="1133856"/>
                  </a:lnTo>
                  <a:lnTo>
                    <a:pt x="0" y="1133856"/>
                  </a:lnTo>
                  <a:close/>
                </a:path>
              </a:pathLst>
            </a:custGeom>
            <a:blipFill>
              <a:blip r:embed="rId3">
                <a:alphaModFix amt="0"/>
              </a:blip>
              <a:stretch>
                <a:fillRect l="0" t="-331043" r="0" b="-331043"/>
              </a:stretch>
            </a:blipFill>
          </p:spPr>
        </p:sp>
      </p:grpSp>
      <p:grpSp>
        <p:nvGrpSpPr>
          <p:cNvPr name="Group 18" id="18"/>
          <p:cNvGrpSpPr/>
          <p:nvPr/>
        </p:nvGrpSpPr>
        <p:grpSpPr>
          <a:xfrm rot="0">
            <a:off x="822960" y="822960"/>
            <a:ext cx="16641623" cy="850392"/>
            <a:chOff x="0" y="0"/>
            <a:chExt cx="22188830" cy="1133856"/>
          </a:xfrm>
        </p:grpSpPr>
        <p:sp>
          <p:nvSpPr>
            <p:cNvPr name="Freeform 19" id="19"/>
            <p:cNvSpPr/>
            <p:nvPr/>
          </p:nvSpPr>
          <p:spPr>
            <a:xfrm flipH="false" flipV="false" rot="0">
              <a:off x="0" y="0"/>
              <a:ext cx="22188805" cy="1133856"/>
            </a:xfrm>
            <a:custGeom>
              <a:avLst/>
              <a:gdLst/>
              <a:ahLst/>
              <a:cxnLst/>
              <a:rect r="r" b="b" t="t" l="l"/>
              <a:pathLst>
                <a:path h="1133856" w="22188805">
                  <a:moveTo>
                    <a:pt x="0" y="0"/>
                  </a:moveTo>
                  <a:lnTo>
                    <a:pt x="22188805" y="0"/>
                  </a:lnTo>
                  <a:lnTo>
                    <a:pt x="22188805" y="1133856"/>
                  </a:lnTo>
                  <a:lnTo>
                    <a:pt x="0" y="1133856"/>
                  </a:lnTo>
                  <a:close/>
                </a:path>
              </a:pathLst>
            </a:custGeom>
            <a:blipFill>
              <a:blip r:embed="rId4">
                <a:alphaModFix amt="0"/>
              </a:blip>
              <a:stretch>
                <a:fillRect l="0" t="-331043" r="0" b="-331045"/>
              </a:stretch>
            </a:blipFill>
          </p:spPr>
        </p:sp>
      </p:grpSp>
      <p:grpSp>
        <p:nvGrpSpPr>
          <p:cNvPr name="Group 20" id="20"/>
          <p:cNvGrpSpPr/>
          <p:nvPr/>
        </p:nvGrpSpPr>
        <p:grpSpPr>
          <a:xfrm rot="0">
            <a:off x="822960" y="822960"/>
            <a:ext cx="16642080" cy="850392"/>
            <a:chOff x="0" y="0"/>
            <a:chExt cx="22189440" cy="1133856"/>
          </a:xfrm>
        </p:grpSpPr>
        <p:sp>
          <p:nvSpPr>
            <p:cNvPr name="Freeform 21" id="21"/>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5">
                <a:alphaModFix amt="0"/>
              </a:blip>
              <a:stretch>
                <a:fillRect l="0" t="-331309" r="2" b="-331309"/>
              </a:stretch>
            </a:blipFill>
          </p:spPr>
        </p:sp>
        <p:sp>
          <p:nvSpPr>
            <p:cNvPr name="TextBox 22" id="22"/>
            <p:cNvSpPr txBox="true"/>
            <p:nvPr/>
          </p:nvSpPr>
          <p:spPr>
            <a:xfrm>
              <a:off x="0" y="-9525"/>
              <a:ext cx="22189440" cy="1143381"/>
            </a:xfrm>
            <a:prstGeom prst="rect">
              <a:avLst/>
            </a:prstGeom>
          </p:spPr>
          <p:txBody>
            <a:bodyPr anchor="ctr" rtlCol="false" tIns="0" lIns="0" bIns="0" rIns="0"/>
            <a:lstStyle/>
            <a:p>
              <a:pPr algn="l">
                <a:lnSpc>
                  <a:spcPts val="4500"/>
                </a:lnSpc>
              </a:pPr>
              <a:r>
                <a:rPr lang="en-US" sz="3750" b="true">
                  <a:solidFill>
                    <a:srgbClr val="203238"/>
                  </a:solidFill>
                  <a:latin typeface="Noto Sans Bold"/>
                  <a:ea typeface="Noto Sans Bold"/>
                  <a:cs typeface="Noto Sans Bold"/>
                  <a:sym typeface="Noto Sans Bold"/>
                </a:rPr>
                <a:t>08  Unity 가상 냉연 코일 라인</a:t>
              </a:r>
            </a:p>
          </p:txBody>
        </p:sp>
      </p:grpSp>
      <p:grpSp>
        <p:nvGrpSpPr>
          <p:cNvPr name="Group 23" id="23"/>
          <p:cNvGrpSpPr/>
          <p:nvPr/>
        </p:nvGrpSpPr>
        <p:grpSpPr>
          <a:xfrm rot="0">
            <a:off x="822960" y="1755648"/>
            <a:ext cx="16641604" cy="576072"/>
            <a:chOff x="0" y="0"/>
            <a:chExt cx="22188805" cy="768096"/>
          </a:xfrm>
        </p:grpSpPr>
        <p:sp>
          <p:nvSpPr>
            <p:cNvPr name="Freeform 24" id="24"/>
            <p:cNvSpPr/>
            <p:nvPr/>
          </p:nvSpPr>
          <p:spPr>
            <a:xfrm flipH="false" flipV="false" rot="0">
              <a:off x="0" y="0"/>
              <a:ext cx="22188805" cy="768096"/>
            </a:xfrm>
            <a:custGeom>
              <a:avLst/>
              <a:gdLst/>
              <a:ahLst/>
              <a:cxnLst/>
              <a:rect r="r" b="b" t="t" l="l"/>
              <a:pathLst>
                <a:path h="768096" w="22188805">
                  <a:moveTo>
                    <a:pt x="0" y="0"/>
                  </a:moveTo>
                  <a:lnTo>
                    <a:pt x="22188805" y="0"/>
                  </a:lnTo>
                  <a:lnTo>
                    <a:pt x="22188805" y="768096"/>
                  </a:lnTo>
                  <a:lnTo>
                    <a:pt x="0" y="768096"/>
                  </a:lnTo>
                  <a:close/>
                </a:path>
              </a:pathLst>
            </a:custGeom>
            <a:blipFill>
              <a:blip r:embed="rId3">
                <a:alphaModFix amt="0"/>
              </a:blip>
              <a:stretch>
                <a:fillRect l="0" t="-512493" r="0" b="-512493"/>
              </a:stretch>
            </a:blipFill>
          </p:spPr>
        </p:sp>
      </p:grpSp>
      <p:grpSp>
        <p:nvGrpSpPr>
          <p:cNvPr name="Group 25" id="25"/>
          <p:cNvGrpSpPr/>
          <p:nvPr/>
        </p:nvGrpSpPr>
        <p:grpSpPr>
          <a:xfrm rot="0">
            <a:off x="822960" y="1762792"/>
            <a:ext cx="16641623" cy="568928"/>
            <a:chOff x="0" y="0"/>
            <a:chExt cx="22188830" cy="758571"/>
          </a:xfrm>
        </p:grpSpPr>
        <p:sp>
          <p:nvSpPr>
            <p:cNvPr name="Freeform 26" id="26"/>
            <p:cNvSpPr/>
            <p:nvPr/>
          </p:nvSpPr>
          <p:spPr>
            <a:xfrm flipH="false" flipV="false" rot="0">
              <a:off x="0" y="0"/>
              <a:ext cx="22188805" cy="758571"/>
            </a:xfrm>
            <a:custGeom>
              <a:avLst/>
              <a:gdLst/>
              <a:ahLst/>
              <a:cxnLst/>
              <a:rect r="r" b="b" t="t" l="l"/>
              <a:pathLst>
                <a:path h="758571" w="22188805">
                  <a:moveTo>
                    <a:pt x="0" y="0"/>
                  </a:moveTo>
                  <a:lnTo>
                    <a:pt x="22188805" y="0"/>
                  </a:lnTo>
                  <a:lnTo>
                    <a:pt x="22188805" y="758571"/>
                  </a:lnTo>
                  <a:lnTo>
                    <a:pt x="0" y="758571"/>
                  </a:lnTo>
                  <a:close/>
                </a:path>
              </a:pathLst>
            </a:custGeom>
            <a:blipFill>
              <a:blip r:embed="rId4">
                <a:alphaModFix amt="0"/>
              </a:blip>
              <a:stretch>
                <a:fillRect l="0" t="-519558" r="0" b="-519556"/>
              </a:stretch>
            </a:blipFill>
          </p:spPr>
        </p:sp>
      </p:grpSp>
      <p:grpSp>
        <p:nvGrpSpPr>
          <p:cNvPr name="Group 27" id="27"/>
          <p:cNvGrpSpPr/>
          <p:nvPr/>
        </p:nvGrpSpPr>
        <p:grpSpPr>
          <a:xfrm rot="0">
            <a:off x="822960" y="1762125"/>
            <a:ext cx="16641623" cy="561784"/>
            <a:chOff x="0" y="0"/>
            <a:chExt cx="22188830" cy="749046"/>
          </a:xfrm>
        </p:grpSpPr>
        <p:sp>
          <p:nvSpPr>
            <p:cNvPr name="Freeform 28" id="28"/>
            <p:cNvSpPr/>
            <p:nvPr/>
          </p:nvSpPr>
          <p:spPr>
            <a:xfrm flipH="false" flipV="false" rot="0">
              <a:off x="0" y="0"/>
              <a:ext cx="22188830" cy="749045"/>
            </a:xfrm>
            <a:custGeom>
              <a:avLst/>
              <a:gdLst/>
              <a:ahLst/>
              <a:cxnLst/>
              <a:rect r="r" b="b" t="t" l="l"/>
              <a:pathLst>
                <a:path h="749045" w="22188830">
                  <a:moveTo>
                    <a:pt x="0" y="0"/>
                  </a:moveTo>
                  <a:lnTo>
                    <a:pt x="22188830" y="0"/>
                  </a:lnTo>
                  <a:lnTo>
                    <a:pt x="22188830" y="749045"/>
                  </a:lnTo>
                  <a:lnTo>
                    <a:pt x="0" y="749045"/>
                  </a:lnTo>
                  <a:close/>
                </a:path>
              </a:pathLst>
            </a:custGeom>
            <a:blipFill>
              <a:blip r:embed="rId5">
                <a:alphaModFix amt="0"/>
              </a:blip>
              <a:stretch>
                <a:fillRect l="0" t="-527201" r="0" b="-527201"/>
              </a:stretch>
            </a:blipFill>
          </p:spPr>
        </p:sp>
        <p:sp>
          <p:nvSpPr>
            <p:cNvPr name="TextBox 29" id="29"/>
            <p:cNvSpPr txBox="true"/>
            <p:nvPr/>
          </p:nvSpPr>
          <p:spPr>
            <a:xfrm>
              <a:off x="0" y="9525"/>
              <a:ext cx="22188830" cy="739521"/>
            </a:xfrm>
            <a:prstGeom prst="rect">
              <a:avLst/>
            </a:prstGeom>
          </p:spPr>
          <p:txBody>
            <a:bodyPr anchor="ctr" rtlCol="false" tIns="0" lIns="0" bIns="0" rIns="0"/>
            <a:lstStyle/>
            <a:p>
              <a:pPr algn="l">
                <a:lnSpc>
                  <a:spcPts val="2878"/>
                </a:lnSpc>
              </a:pPr>
              <a:r>
                <a:rPr lang="en-US" sz="2400" b="true">
                  <a:solidFill>
                    <a:srgbClr val="53666E"/>
                  </a:solidFill>
                  <a:latin typeface="Noto Sans Bold"/>
                  <a:ea typeface="Noto Sans Bold"/>
                  <a:cs typeface="Noto Sans Bold"/>
                  <a:sym typeface="Noto Sans Bold"/>
                </a:rPr>
                <a:t>가상 공장과 모의 MES</a:t>
              </a:r>
              <a:r>
                <a:rPr lang="en-US" sz="2400">
                  <a:solidFill>
                    <a:srgbClr val="53666E"/>
                  </a:solidFill>
                  <a:latin typeface="Noto Sans"/>
                  <a:ea typeface="Noto Sans"/>
                  <a:cs typeface="Noto Sans"/>
                  <a:sym typeface="Noto Sans"/>
                </a:rPr>
                <a:t>로 기능 검증</a:t>
              </a:r>
            </a:p>
          </p:txBody>
        </p:sp>
      </p:grpSp>
      <p:grpSp>
        <p:nvGrpSpPr>
          <p:cNvPr name="Group 30" id="30"/>
          <p:cNvGrpSpPr/>
          <p:nvPr/>
        </p:nvGrpSpPr>
        <p:grpSpPr>
          <a:xfrm rot="0">
            <a:off x="822960" y="2743200"/>
            <a:ext cx="4114800" cy="2194560"/>
            <a:chOff x="0" y="0"/>
            <a:chExt cx="5486400" cy="2926080"/>
          </a:xfrm>
        </p:grpSpPr>
        <p:sp>
          <p:nvSpPr>
            <p:cNvPr name="Freeform 31" id="31" descr="C:\Users\abab9\AppData\Local\Temp\claude\C--Users-abab9-Desktop-Shiftlink\03368683-632b-4bf6-b41d-988cf517f7bf\scratchpad\deck\media\image14.png"/>
            <p:cNvSpPr/>
            <p:nvPr/>
          </p:nvSpPr>
          <p:spPr>
            <a:xfrm flipH="false" flipV="false" rot="0">
              <a:off x="0" y="0"/>
              <a:ext cx="5486400" cy="2926080"/>
            </a:xfrm>
            <a:custGeom>
              <a:avLst/>
              <a:gdLst/>
              <a:ahLst/>
              <a:cxnLst/>
              <a:rect r="r" b="b" t="t" l="l"/>
              <a:pathLst>
                <a:path h="2926080" w="5486400">
                  <a:moveTo>
                    <a:pt x="0" y="0"/>
                  </a:moveTo>
                  <a:lnTo>
                    <a:pt x="5486400" y="0"/>
                  </a:lnTo>
                  <a:lnTo>
                    <a:pt x="5486400" y="2926080"/>
                  </a:lnTo>
                  <a:lnTo>
                    <a:pt x="0" y="2926080"/>
                  </a:lnTo>
                  <a:lnTo>
                    <a:pt x="0" y="0"/>
                  </a:lnTo>
                  <a:close/>
                </a:path>
              </a:pathLst>
            </a:custGeom>
            <a:blipFill>
              <a:blip r:embed="rId6"/>
              <a:stretch>
                <a:fillRect l="0" t="-85" r="0" b="-85"/>
              </a:stretch>
            </a:blipFill>
          </p:spPr>
        </p:sp>
      </p:grpSp>
      <p:sp>
        <p:nvSpPr>
          <p:cNvPr name="TextBox 32" id="32"/>
          <p:cNvSpPr txBox="true"/>
          <p:nvPr/>
        </p:nvSpPr>
        <p:spPr>
          <a:xfrm rot="0">
            <a:off x="822960" y="4964049"/>
            <a:ext cx="4114800" cy="440055"/>
          </a:xfrm>
          <a:prstGeom prst="rect">
            <a:avLst/>
          </a:prstGeom>
        </p:spPr>
        <p:txBody>
          <a:bodyPr anchor="t" rtlCol="false" tIns="0" lIns="0" bIns="0" rIns="0">
            <a:spAutoFit/>
          </a:bodyPr>
          <a:lstStyle/>
          <a:p>
            <a:pPr algn="l">
              <a:lnSpc>
                <a:spcPts val="2340"/>
              </a:lnSpc>
            </a:pPr>
            <a:r>
              <a:rPr lang="en-US" sz="1950" b="true">
                <a:solidFill>
                  <a:srgbClr val="1B2B2E"/>
                </a:solidFill>
                <a:latin typeface="Noto Sans Bold"/>
                <a:ea typeface="Noto Sans Bold"/>
                <a:cs typeface="Noto Sans Bold"/>
                <a:sym typeface="Noto Sans Bold"/>
              </a:rPr>
              <a:t>유압 유닛 (HPU)</a:t>
            </a:r>
          </a:p>
        </p:txBody>
      </p:sp>
      <p:grpSp>
        <p:nvGrpSpPr>
          <p:cNvPr name="Group 33" id="33"/>
          <p:cNvGrpSpPr/>
          <p:nvPr/>
        </p:nvGrpSpPr>
        <p:grpSpPr>
          <a:xfrm rot="0">
            <a:off x="5143500" y="2743200"/>
            <a:ext cx="4114800" cy="2194560"/>
            <a:chOff x="0" y="0"/>
            <a:chExt cx="5486400" cy="2926080"/>
          </a:xfrm>
        </p:grpSpPr>
        <p:sp>
          <p:nvSpPr>
            <p:cNvPr name="Freeform 34" id="34" descr="C:\Users\abab9\AppData\Local\Temp\claude\C--Users-abab9-Desktop-Shiftlink\03368683-632b-4bf6-b41d-988cf517f7bf\scratchpad\deck\media\image15.png"/>
            <p:cNvSpPr/>
            <p:nvPr/>
          </p:nvSpPr>
          <p:spPr>
            <a:xfrm flipH="false" flipV="false" rot="0">
              <a:off x="0" y="0"/>
              <a:ext cx="5486400" cy="2926080"/>
            </a:xfrm>
            <a:custGeom>
              <a:avLst/>
              <a:gdLst/>
              <a:ahLst/>
              <a:cxnLst/>
              <a:rect r="r" b="b" t="t" l="l"/>
              <a:pathLst>
                <a:path h="2926080" w="5486400">
                  <a:moveTo>
                    <a:pt x="0" y="0"/>
                  </a:moveTo>
                  <a:lnTo>
                    <a:pt x="5486400" y="0"/>
                  </a:lnTo>
                  <a:lnTo>
                    <a:pt x="5486400" y="2926080"/>
                  </a:lnTo>
                  <a:lnTo>
                    <a:pt x="0" y="2926080"/>
                  </a:lnTo>
                  <a:lnTo>
                    <a:pt x="0" y="0"/>
                  </a:lnTo>
                  <a:close/>
                </a:path>
              </a:pathLst>
            </a:custGeom>
            <a:blipFill>
              <a:blip r:embed="rId7"/>
              <a:stretch>
                <a:fillRect l="0" t="-85" r="0" b="-85"/>
              </a:stretch>
            </a:blipFill>
          </p:spPr>
        </p:sp>
      </p:grpSp>
      <p:sp>
        <p:nvSpPr>
          <p:cNvPr name="TextBox 35" id="35"/>
          <p:cNvSpPr txBox="true"/>
          <p:nvPr/>
        </p:nvSpPr>
        <p:spPr>
          <a:xfrm rot="0">
            <a:off x="5143500" y="4964049"/>
            <a:ext cx="4114800" cy="440055"/>
          </a:xfrm>
          <a:prstGeom prst="rect">
            <a:avLst/>
          </a:prstGeom>
        </p:spPr>
        <p:txBody>
          <a:bodyPr anchor="t" rtlCol="false" tIns="0" lIns="0" bIns="0" rIns="0">
            <a:spAutoFit/>
          </a:bodyPr>
          <a:lstStyle/>
          <a:p>
            <a:pPr algn="l">
              <a:lnSpc>
                <a:spcPts val="2340"/>
              </a:lnSpc>
            </a:pPr>
            <a:r>
              <a:rPr lang="en-US" sz="1950" b="true">
                <a:solidFill>
                  <a:srgbClr val="1B2B2E"/>
                </a:solidFill>
                <a:latin typeface="Noto Sans Bold"/>
                <a:ea typeface="Noto Sans Bold"/>
                <a:cs typeface="Noto Sans Bold"/>
                <a:sym typeface="Noto Sans Bold"/>
              </a:rPr>
              <a:t>감속기 (GR)</a:t>
            </a:r>
          </a:p>
        </p:txBody>
      </p:sp>
      <p:grpSp>
        <p:nvGrpSpPr>
          <p:cNvPr name="Group 36" id="36"/>
          <p:cNvGrpSpPr/>
          <p:nvPr/>
        </p:nvGrpSpPr>
        <p:grpSpPr>
          <a:xfrm rot="0">
            <a:off x="822960" y="5486400"/>
            <a:ext cx="4114800" cy="2194560"/>
            <a:chOff x="0" y="0"/>
            <a:chExt cx="5486400" cy="2926080"/>
          </a:xfrm>
        </p:grpSpPr>
        <p:sp>
          <p:nvSpPr>
            <p:cNvPr name="Freeform 37" id="37" descr="C:\Users\abab9\AppData\Local\Temp\claude\C--Users-abab9-Desktop-Shiftlink\03368683-632b-4bf6-b41d-988cf517f7bf\scratchpad\deck\media\image16.png"/>
            <p:cNvSpPr/>
            <p:nvPr/>
          </p:nvSpPr>
          <p:spPr>
            <a:xfrm flipH="false" flipV="false" rot="0">
              <a:off x="0" y="0"/>
              <a:ext cx="5486400" cy="2926080"/>
            </a:xfrm>
            <a:custGeom>
              <a:avLst/>
              <a:gdLst/>
              <a:ahLst/>
              <a:cxnLst/>
              <a:rect r="r" b="b" t="t" l="l"/>
              <a:pathLst>
                <a:path h="2926080" w="5486400">
                  <a:moveTo>
                    <a:pt x="0" y="0"/>
                  </a:moveTo>
                  <a:lnTo>
                    <a:pt x="5486400" y="0"/>
                  </a:lnTo>
                  <a:lnTo>
                    <a:pt x="5486400" y="2926080"/>
                  </a:lnTo>
                  <a:lnTo>
                    <a:pt x="0" y="2926080"/>
                  </a:lnTo>
                  <a:lnTo>
                    <a:pt x="0" y="0"/>
                  </a:lnTo>
                  <a:close/>
                </a:path>
              </a:pathLst>
            </a:custGeom>
            <a:blipFill>
              <a:blip r:embed="rId8"/>
              <a:stretch>
                <a:fillRect l="0" t="-85" r="0" b="-85"/>
              </a:stretch>
            </a:blipFill>
          </p:spPr>
        </p:sp>
      </p:grpSp>
      <p:sp>
        <p:nvSpPr>
          <p:cNvPr name="TextBox 38" id="38"/>
          <p:cNvSpPr txBox="true"/>
          <p:nvPr/>
        </p:nvSpPr>
        <p:spPr>
          <a:xfrm rot="0">
            <a:off x="822960" y="7707249"/>
            <a:ext cx="4114800" cy="440055"/>
          </a:xfrm>
          <a:prstGeom prst="rect">
            <a:avLst/>
          </a:prstGeom>
        </p:spPr>
        <p:txBody>
          <a:bodyPr anchor="t" rtlCol="false" tIns="0" lIns="0" bIns="0" rIns="0">
            <a:spAutoFit/>
          </a:bodyPr>
          <a:lstStyle/>
          <a:p>
            <a:pPr algn="l">
              <a:lnSpc>
                <a:spcPts val="2340"/>
              </a:lnSpc>
            </a:pPr>
            <a:r>
              <a:rPr lang="en-US" sz="1950" b="true">
                <a:solidFill>
                  <a:srgbClr val="1B2B2E"/>
                </a:solidFill>
                <a:latin typeface="Noto Sans Bold"/>
                <a:ea typeface="Noto Sans Bold"/>
                <a:cs typeface="Noto Sans Bold"/>
                <a:sym typeface="Noto Sans Bold"/>
              </a:rPr>
              <a:t>롤러 테이블 (RT)</a:t>
            </a:r>
          </a:p>
        </p:txBody>
      </p:sp>
      <p:grpSp>
        <p:nvGrpSpPr>
          <p:cNvPr name="Group 39" id="39"/>
          <p:cNvGrpSpPr/>
          <p:nvPr/>
        </p:nvGrpSpPr>
        <p:grpSpPr>
          <a:xfrm rot="0">
            <a:off x="5143500" y="5486400"/>
            <a:ext cx="4114800" cy="2194560"/>
            <a:chOff x="0" y="0"/>
            <a:chExt cx="5486400" cy="2926080"/>
          </a:xfrm>
        </p:grpSpPr>
        <p:sp>
          <p:nvSpPr>
            <p:cNvPr name="Freeform 40" id="40" descr="C:\Users\abab9\AppData\Local\Temp\claude\C--Users-abab9-Desktop-Shiftlink\03368683-632b-4bf6-b41d-988cf517f7bf\scratchpad\deck\media\image17.png"/>
            <p:cNvSpPr/>
            <p:nvPr/>
          </p:nvSpPr>
          <p:spPr>
            <a:xfrm flipH="false" flipV="false" rot="0">
              <a:off x="0" y="0"/>
              <a:ext cx="5486400" cy="2926080"/>
            </a:xfrm>
            <a:custGeom>
              <a:avLst/>
              <a:gdLst/>
              <a:ahLst/>
              <a:cxnLst/>
              <a:rect r="r" b="b" t="t" l="l"/>
              <a:pathLst>
                <a:path h="2926080" w="5486400">
                  <a:moveTo>
                    <a:pt x="0" y="0"/>
                  </a:moveTo>
                  <a:lnTo>
                    <a:pt x="5486400" y="0"/>
                  </a:lnTo>
                  <a:lnTo>
                    <a:pt x="5486400" y="2926080"/>
                  </a:lnTo>
                  <a:lnTo>
                    <a:pt x="0" y="2926080"/>
                  </a:lnTo>
                  <a:lnTo>
                    <a:pt x="0" y="0"/>
                  </a:lnTo>
                  <a:close/>
                </a:path>
              </a:pathLst>
            </a:custGeom>
            <a:blipFill>
              <a:blip r:embed="rId9"/>
              <a:stretch>
                <a:fillRect l="0" t="-85" r="0" b="-85"/>
              </a:stretch>
            </a:blipFill>
          </p:spPr>
        </p:sp>
      </p:grpSp>
      <p:sp>
        <p:nvSpPr>
          <p:cNvPr name="TextBox 41" id="41"/>
          <p:cNvSpPr txBox="true"/>
          <p:nvPr/>
        </p:nvSpPr>
        <p:spPr>
          <a:xfrm rot="0">
            <a:off x="5143500" y="7707249"/>
            <a:ext cx="4114800" cy="440055"/>
          </a:xfrm>
          <a:prstGeom prst="rect">
            <a:avLst/>
          </a:prstGeom>
        </p:spPr>
        <p:txBody>
          <a:bodyPr anchor="t" rtlCol="false" tIns="0" lIns="0" bIns="0" rIns="0">
            <a:spAutoFit/>
          </a:bodyPr>
          <a:lstStyle/>
          <a:p>
            <a:pPr algn="l">
              <a:lnSpc>
                <a:spcPts val="2340"/>
              </a:lnSpc>
            </a:pPr>
            <a:r>
              <a:rPr lang="en-US" sz="1950" b="true">
                <a:solidFill>
                  <a:srgbClr val="1B2B2E"/>
                </a:solidFill>
                <a:latin typeface="Noto Sans Bold"/>
                <a:ea typeface="Noto Sans Bold"/>
                <a:cs typeface="Noto Sans Bold"/>
                <a:sym typeface="Noto Sans Bold"/>
              </a:rPr>
              <a:t>컨베이어 (CV)</a:t>
            </a:r>
          </a:p>
        </p:txBody>
      </p:sp>
      <p:sp>
        <p:nvSpPr>
          <p:cNvPr name="Freeform 42" id="42"/>
          <p:cNvSpPr/>
          <p:nvPr/>
        </p:nvSpPr>
        <p:spPr>
          <a:xfrm flipH="false" flipV="false" rot="0">
            <a:off x="9858851" y="2726531"/>
            <a:ext cx="7618286" cy="1596962"/>
          </a:xfrm>
          <a:custGeom>
            <a:avLst/>
            <a:gdLst/>
            <a:ahLst/>
            <a:cxnLst/>
            <a:rect r="r" b="b" t="t" l="l"/>
            <a:pathLst>
              <a:path h="1596962" w="7618286">
                <a:moveTo>
                  <a:pt x="0" y="0"/>
                </a:moveTo>
                <a:lnTo>
                  <a:pt x="7618286" y="0"/>
                </a:lnTo>
                <a:lnTo>
                  <a:pt x="7618286" y="1596962"/>
                </a:lnTo>
                <a:lnTo>
                  <a:pt x="0" y="1596962"/>
                </a:lnTo>
                <a:lnTo>
                  <a:pt x="0" y="0"/>
                </a:lnTo>
                <a:close/>
              </a:path>
            </a:pathLst>
          </a:custGeom>
          <a:blipFill>
            <a:blip r:embed="rId10">
              <a:extLst>
                <a:ext uri="{96DAC541-7B7A-43D3-8B79-37D633B846F1}">
                  <asvg:svgBlip xmlns:asvg="http://schemas.microsoft.com/office/drawing/2016/SVG/main" r:embed="rId11"/>
                </a:ext>
              </a:extLst>
            </a:blip>
            <a:stretch>
              <a:fillRect l="0" t="-90" r="0" b="-90"/>
            </a:stretch>
          </a:blipFill>
        </p:spPr>
      </p:sp>
      <p:grpSp>
        <p:nvGrpSpPr>
          <p:cNvPr name="Group 43" id="43"/>
          <p:cNvGrpSpPr/>
          <p:nvPr/>
        </p:nvGrpSpPr>
        <p:grpSpPr>
          <a:xfrm rot="0">
            <a:off x="10218420" y="2743200"/>
            <a:ext cx="3017520" cy="1563624"/>
            <a:chOff x="0" y="0"/>
            <a:chExt cx="4023360" cy="2084832"/>
          </a:xfrm>
        </p:grpSpPr>
        <p:sp>
          <p:nvSpPr>
            <p:cNvPr name="Freeform 44" id="44"/>
            <p:cNvSpPr/>
            <p:nvPr/>
          </p:nvSpPr>
          <p:spPr>
            <a:xfrm flipH="false" flipV="false" rot="0">
              <a:off x="0" y="0"/>
              <a:ext cx="4023360" cy="2084832"/>
            </a:xfrm>
            <a:custGeom>
              <a:avLst/>
              <a:gdLst/>
              <a:ahLst/>
              <a:cxnLst/>
              <a:rect r="r" b="b" t="t" l="l"/>
              <a:pathLst>
                <a:path h="2084832" w="4023360">
                  <a:moveTo>
                    <a:pt x="0" y="0"/>
                  </a:moveTo>
                  <a:lnTo>
                    <a:pt x="4023360" y="0"/>
                  </a:lnTo>
                  <a:lnTo>
                    <a:pt x="4023360" y="2084832"/>
                  </a:lnTo>
                  <a:lnTo>
                    <a:pt x="0" y="2084832"/>
                  </a:lnTo>
                  <a:close/>
                </a:path>
              </a:pathLst>
            </a:custGeom>
            <a:blipFill>
              <a:blip r:embed="rId3">
                <a:alphaModFix amt="0"/>
              </a:blip>
              <a:stretch>
                <a:fillRect l="-16530" t="0" r="-16530" b="0"/>
              </a:stretch>
            </a:blipFill>
          </p:spPr>
        </p:sp>
      </p:grpSp>
      <p:grpSp>
        <p:nvGrpSpPr>
          <p:cNvPr name="Group 45" id="45"/>
          <p:cNvGrpSpPr/>
          <p:nvPr/>
        </p:nvGrpSpPr>
        <p:grpSpPr>
          <a:xfrm rot="0">
            <a:off x="10218420" y="2743200"/>
            <a:ext cx="3017520" cy="1563624"/>
            <a:chOff x="0" y="0"/>
            <a:chExt cx="4023360" cy="2084832"/>
          </a:xfrm>
        </p:grpSpPr>
        <p:sp>
          <p:nvSpPr>
            <p:cNvPr name="Freeform 46" id="46"/>
            <p:cNvSpPr/>
            <p:nvPr/>
          </p:nvSpPr>
          <p:spPr>
            <a:xfrm flipH="false" flipV="false" rot="0">
              <a:off x="0" y="0"/>
              <a:ext cx="4023360" cy="2084832"/>
            </a:xfrm>
            <a:custGeom>
              <a:avLst/>
              <a:gdLst/>
              <a:ahLst/>
              <a:cxnLst/>
              <a:rect r="r" b="b" t="t" l="l"/>
              <a:pathLst>
                <a:path h="2084832" w="4023360">
                  <a:moveTo>
                    <a:pt x="0" y="0"/>
                  </a:moveTo>
                  <a:lnTo>
                    <a:pt x="4023360" y="0"/>
                  </a:lnTo>
                  <a:lnTo>
                    <a:pt x="4023360" y="2084832"/>
                  </a:lnTo>
                  <a:lnTo>
                    <a:pt x="0" y="2084832"/>
                  </a:lnTo>
                  <a:close/>
                </a:path>
              </a:pathLst>
            </a:custGeom>
            <a:blipFill>
              <a:blip r:embed="rId4">
                <a:alphaModFix amt="0"/>
              </a:blip>
              <a:stretch>
                <a:fillRect l="-16530" t="0" r="-16530" b="0"/>
              </a:stretch>
            </a:blipFill>
          </p:spPr>
        </p:sp>
      </p:grpSp>
      <p:grpSp>
        <p:nvGrpSpPr>
          <p:cNvPr name="Group 47" id="47"/>
          <p:cNvGrpSpPr/>
          <p:nvPr/>
        </p:nvGrpSpPr>
        <p:grpSpPr>
          <a:xfrm rot="0">
            <a:off x="10218420" y="2743200"/>
            <a:ext cx="3017520" cy="1563624"/>
            <a:chOff x="0" y="0"/>
            <a:chExt cx="4023360" cy="2084832"/>
          </a:xfrm>
        </p:grpSpPr>
        <p:sp>
          <p:nvSpPr>
            <p:cNvPr name="Freeform 48" id="48"/>
            <p:cNvSpPr/>
            <p:nvPr/>
          </p:nvSpPr>
          <p:spPr>
            <a:xfrm flipH="false" flipV="false" rot="0">
              <a:off x="0" y="0"/>
              <a:ext cx="4023360" cy="2084832"/>
            </a:xfrm>
            <a:custGeom>
              <a:avLst/>
              <a:gdLst/>
              <a:ahLst/>
              <a:cxnLst/>
              <a:rect r="r" b="b" t="t" l="l"/>
              <a:pathLst>
                <a:path h="2084832" w="4023360">
                  <a:moveTo>
                    <a:pt x="0" y="0"/>
                  </a:moveTo>
                  <a:lnTo>
                    <a:pt x="4023360" y="0"/>
                  </a:lnTo>
                  <a:lnTo>
                    <a:pt x="4023360" y="2084832"/>
                  </a:lnTo>
                  <a:lnTo>
                    <a:pt x="0" y="2084832"/>
                  </a:lnTo>
                  <a:close/>
                </a:path>
              </a:pathLst>
            </a:custGeom>
            <a:blipFill>
              <a:blip r:embed="rId5">
                <a:alphaModFix amt="0"/>
              </a:blip>
              <a:stretch>
                <a:fillRect l="-16484" t="0" r="-16484" b="0"/>
              </a:stretch>
            </a:blipFill>
          </p:spPr>
        </p:sp>
        <p:sp>
          <p:nvSpPr>
            <p:cNvPr name="TextBox 49" id="49"/>
            <p:cNvSpPr txBox="true"/>
            <p:nvPr/>
          </p:nvSpPr>
          <p:spPr>
            <a:xfrm>
              <a:off x="0" y="0"/>
              <a:ext cx="4023360" cy="2084832"/>
            </a:xfrm>
            <a:prstGeom prst="rect">
              <a:avLst/>
            </a:prstGeom>
          </p:spPr>
          <p:txBody>
            <a:bodyPr anchor="ctr" rtlCol="false" tIns="0" lIns="0" bIns="0" rIns="0"/>
            <a:lstStyle/>
            <a:p>
              <a:pPr algn="l">
                <a:lnSpc>
                  <a:spcPts val="4680"/>
                </a:lnSpc>
              </a:pPr>
              <a:r>
                <a:rPr lang="en-US" sz="3900" b="true">
                  <a:solidFill>
                    <a:srgbClr val="1F6F63"/>
                  </a:solidFill>
                  <a:latin typeface="Noto Sans Bold"/>
                  <a:ea typeface="Noto Sans Bold"/>
                  <a:cs typeface="Noto Sans Bold"/>
                  <a:sym typeface="Noto Sans Bold"/>
                </a:rPr>
                <a:t>10대 · 6종</a:t>
              </a:r>
            </a:p>
          </p:txBody>
        </p:sp>
      </p:grpSp>
      <p:grpSp>
        <p:nvGrpSpPr>
          <p:cNvPr name="Group 50" id="50"/>
          <p:cNvGrpSpPr/>
          <p:nvPr/>
        </p:nvGrpSpPr>
        <p:grpSpPr>
          <a:xfrm rot="0">
            <a:off x="13167360" y="2743200"/>
            <a:ext cx="4114800" cy="1563624"/>
            <a:chOff x="0" y="0"/>
            <a:chExt cx="5486400" cy="2084832"/>
          </a:xfrm>
        </p:grpSpPr>
        <p:sp>
          <p:nvSpPr>
            <p:cNvPr name="Freeform 51" id="51"/>
            <p:cNvSpPr/>
            <p:nvPr/>
          </p:nvSpPr>
          <p:spPr>
            <a:xfrm flipH="false" flipV="false" rot="0">
              <a:off x="0" y="0"/>
              <a:ext cx="5486400" cy="2084832"/>
            </a:xfrm>
            <a:custGeom>
              <a:avLst/>
              <a:gdLst/>
              <a:ahLst/>
              <a:cxnLst/>
              <a:rect r="r" b="b" t="t" l="l"/>
              <a:pathLst>
                <a:path h="2084832" w="5486400">
                  <a:moveTo>
                    <a:pt x="0" y="0"/>
                  </a:moveTo>
                  <a:lnTo>
                    <a:pt x="5486400" y="0"/>
                  </a:lnTo>
                  <a:lnTo>
                    <a:pt x="5486400" y="2084832"/>
                  </a:lnTo>
                  <a:lnTo>
                    <a:pt x="0" y="2084832"/>
                  </a:lnTo>
                  <a:close/>
                </a:path>
              </a:pathLst>
            </a:custGeom>
            <a:blipFill>
              <a:blip r:embed="rId3">
                <a:alphaModFix amt="0"/>
              </a:blip>
              <a:stretch>
                <a:fillRect l="0" t="-1240" r="0" b="-1240"/>
              </a:stretch>
            </a:blipFill>
          </p:spPr>
        </p:sp>
      </p:grpSp>
      <p:grpSp>
        <p:nvGrpSpPr>
          <p:cNvPr name="Group 52" id="52"/>
          <p:cNvGrpSpPr/>
          <p:nvPr/>
        </p:nvGrpSpPr>
        <p:grpSpPr>
          <a:xfrm rot="0">
            <a:off x="13167360" y="2743200"/>
            <a:ext cx="4114800" cy="1563624"/>
            <a:chOff x="0" y="0"/>
            <a:chExt cx="5486400" cy="2084832"/>
          </a:xfrm>
        </p:grpSpPr>
        <p:sp>
          <p:nvSpPr>
            <p:cNvPr name="Freeform 53" id="53"/>
            <p:cNvSpPr/>
            <p:nvPr/>
          </p:nvSpPr>
          <p:spPr>
            <a:xfrm flipH="false" flipV="false" rot="0">
              <a:off x="0" y="0"/>
              <a:ext cx="5486400" cy="2084832"/>
            </a:xfrm>
            <a:custGeom>
              <a:avLst/>
              <a:gdLst/>
              <a:ahLst/>
              <a:cxnLst/>
              <a:rect r="r" b="b" t="t" l="l"/>
              <a:pathLst>
                <a:path h="2084832" w="5486400">
                  <a:moveTo>
                    <a:pt x="0" y="0"/>
                  </a:moveTo>
                  <a:lnTo>
                    <a:pt x="5486400" y="0"/>
                  </a:lnTo>
                  <a:lnTo>
                    <a:pt x="5486400" y="2084832"/>
                  </a:lnTo>
                  <a:lnTo>
                    <a:pt x="0" y="2084832"/>
                  </a:lnTo>
                  <a:close/>
                </a:path>
              </a:pathLst>
            </a:custGeom>
            <a:blipFill>
              <a:blip r:embed="rId4">
                <a:alphaModFix amt="0"/>
              </a:blip>
              <a:stretch>
                <a:fillRect l="0" t="-1240" r="0" b="-1240"/>
              </a:stretch>
            </a:blipFill>
          </p:spPr>
        </p:sp>
      </p:grpSp>
      <p:grpSp>
        <p:nvGrpSpPr>
          <p:cNvPr name="Group 54" id="54"/>
          <p:cNvGrpSpPr/>
          <p:nvPr/>
        </p:nvGrpSpPr>
        <p:grpSpPr>
          <a:xfrm rot="0">
            <a:off x="13167360" y="2743200"/>
            <a:ext cx="4114800" cy="1563624"/>
            <a:chOff x="0" y="0"/>
            <a:chExt cx="5486400" cy="2084832"/>
          </a:xfrm>
        </p:grpSpPr>
        <p:sp>
          <p:nvSpPr>
            <p:cNvPr name="Freeform 55" id="55"/>
            <p:cNvSpPr/>
            <p:nvPr/>
          </p:nvSpPr>
          <p:spPr>
            <a:xfrm flipH="false" flipV="false" rot="0">
              <a:off x="0" y="0"/>
              <a:ext cx="5486400" cy="2084832"/>
            </a:xfrm>
            <a:custGeom>
              <a:avLst/>
              <a:gdLst/>
              <a:ahLst/>
              <a:cxnLst/>
              <a:rect r="r" b="b" t="t" l="l"/>
              <a:pathLst>
                <a:path h="2084832" w="5486400">
                  <a:moveTo>
                    <a:pt x="0" y="0"/>
                  </a:moveTo>
                  <a:lnTo>
                    <a:pt x="5486400" y="0"/>
                  </a:lnTo>
                  <a:lnTo>
                    <a:pt x="5486400" y="2084832"/>
                  </a:lnTo>
                  <a:lnTo>
                    <a:pt x="0" y="2084832"/>
                  </a:lnTo>
                  <a:close/>
                </a:path>
              </a:pathLst>
            </a:custGeom>
            <a:blipFill>
              <a:blip r:embed="rId5">
                <a:alphaModFix amt="0"/>
              </a:blip>
              <a:stretch>
                <a:fillRect l="0" t="-1276" r="0" b="-1276"/>
              </a:stretch>
            </a:blipFill>
          </p:spPr>
        </p:sp>
        <p:sp>
          <p:nvSpPr>
            <p:cNvPr name="TextBox 56" id="56"/>
            <p:cNvSpPr txBox="true"/>
            <p:nvPr/>
          </p:nvSpPr>
          <p:spPr>
            <a:xfrm>
              <a:off x="0" y="0"/>
              <a:ext cx="5486400" cy="2084832"/>
            </a:xfrm>
            <a:prstGeom prst="rect">
              <a:avLst/>
            </a:prstGeom>
          </p:spPr>
          <p:txBody>
            <a:bodyPr anchor="ctr" rtlCol="false" tIns="0" lIns="0" bIns="0" rIns="0"/>
            <a:lstStyle/>
            <a:p>
              <a:pPr algn="l">
                <a:lnSpc>
                  <a:spcPts val="2520"/>
                </a:lnSpc>
              </a:pPr>
              <a:r>
                <a:rPr lang="en-US" sz="2100">
                  <a:solidFill>
                    <a:srgbClr val="1B2B2E"/>
                  </a:solidFill>
                  <a:latin typeface="Noto Sans"/>
                  <a:ea typeface="Noto Sans"/>
                  <a:cs typeface="Noto Sans"/>
                  <a:sym typeface="Noto Sans"/>
                </a:rPr>
                <a:t>가상 설비</a:t>
              </a:r>
            </a:p>
            <a:p>
              <a:pPr algn="l">
                <a:lnSpc>
                  <a:spcPts val="2520"/>
                </a:lnSpc>
              </a:pPr>
              <a:r>
                <a:rPr lang="en-US" sz="2100">
                  <a:solidFill>
                    <a:srgbClr val="1B2B2E"/>
                  </a:solidFill>
                  <a:latin typeface="Noto Sans"/>
                  <a:ea typeface="Noto Sans"/>
                  <a:cs typeface="Noto Sans"/>
                  <a:sym typeface="Noto Sans"/>
                </a:rPr>
                <a:t>HPU·PDP·CAU·GR·RT·CV</a:t>
              </a:r>
            </a:p>
          </p:txBody>
        </p:sp>
      </p:grpSp>
      <p:sp>
        <p:nvSpPr>
          <p:cNvPr name="Freeform 57" id="57"/>
          <p:cNvSpPr/>
          <p:nvPr/>
        </p:nvSpPr>
        <p:spPr>
          <a:xfrm flipH="false" flipV="false" rot="0">
            <a:off x="9858851" y="4537043"/>
            <a:ext cx="7618286" cy="1596962"/>
          </a:xfrm>
          <a:custGeom>
            <a:avLst/>
            <a:gdLst/>
            <a:ahLst/>
            <a:cxnLst/>
            <a:rect r="r" b="b" t="t" l="l"/>
            <a:pathLst>
              <a:path h="1596962" w="7618286">
                <a:moveTo>
                  <a:pt x="0" y="0"/>
                </a:moveTo>
                <a:lnTo>
                  <a:pt x="7618286" y="0"/>
                </a:lnTo>
                <a:lnTo>
                  <a:pt x="7618286" y="1596962"/>
                </a:lnTo>
                <a:lnTo>
                  <a:pt x="0" y="1596962"/>
                </a:lnTo>
                <a:lnTo>
                  <a:pt x="0" y="0"/>
                </a:lnTo>
                <a:close/>
              </a:path>
            </a:pathLst>
          </a:custGeom>
          <a:blipFill>
            <a:blip r:embed="rId10">
              <a:extLst>
                <a:ext uri="{96DAC541-7B7A-43D3-8B79-37D633B846F1}">
                  <asvg:svgBlip xmlns:asvg="http://schemas.microsoft.com/office/drawing/2016/SVG/main" r:embed="rId11"/>
                </a:ext>
              </a:extLst>
            </a:blip>
            <a:stretch>
              <a:fillRect l="0" t="-90" r="0" b="-90"/>
            </a:stretch>
          </a:blipFill>
        </p:spPr>
      </p:sp>
      <p:grpSp>
        <p:nvGrpSpPr>
          <p:cNvPr name="Group 58" id="58"/>
          <p:cNvGrpSpPr/>
          <p:nvPr/>
        </p:nvGrpSpPr>
        <p:grpSpPr>
          <a:xfrm rot="0">
            <a:off x="10218420" y="4553712"/>
            <a:ext cx="3017520" cy="1563624"/>
            <a:chOff x="0" y="0"/>
            <a:chExt cx="4023360" cy="2084832"/>
          </a:xfrm>
        </p:grpSpPr>
        <p:sp>
          <p:nvSpPr>
            <p:cNvPr name="Freeform 59" id="59"/>
            <p:cNvSpPr/>
            <p:nvPr/>
          </p:nvSpPr>
          <p:spPr>
            <a:xfrm flipH="false" flipV="false" rot="0">
              <a:off x="0" y="0"/>
              <a:ext cx="4023360" cy="2084832"/>
            </a:xfrm>
            <a:custGeom>
              <a:avLst/>
              <a:gdLst/>
              <a:ahLst/>
              <a:cxnLst/>
              <a:rect r="r" b="b" t="t" l="l"/>
              <a:pathLst>
                <a:path h="2084832" w="4023360">
                  <a:moveTo>
                    <a:pt x="0" y="0"/>
                  </a:moveTo>
                  <a:lnTo>
                    <a:pt x="4023360" y="0"/>
                  </a:lnTo>
                  <a:lnTo>
                    <a:pt x="4023360" y="2084832"/>
                  </a:lnTo>
                  <a:lnTo>
                    <a:pt x="0" y="2084832"/>
                  </a:lnTo>
                  <a:close/>
                </a:path>
              </a:pathLst>
            </a:custGeom>
            <a:blipFill>
              <a:blip r:embed="rId3">
                <a:alphaModFix amt="0"/>
              </a:blip>
              <a:stretch>
                <a:fillRect l="-16530" t="0" r="-16530" b="0"/>
              </a:stretch>
            </a:blipFill>
          </p:spPr>
        </p:sp>
      </p:grpSp>
      <p:grpSp>
        <p:nvGrpSpPr>
          <p:cNvPr name="Group 60" id="60"/>
          <p:cNvGrpSpPr/>
          <p:nvPr/>
        </p:nvGrpSpPr>
        <p:grpSpPr>
          <a:xfrm rot="0">
            <a:off x="10218420" y="4553712"/>
            <a:ext cx="3017520" cy="1563624"/>
            <a:chOff x="0" y="0"/>
            <a:chExt cx="4023360" cy="2084832"/>
          </a:xfrm>
        </p:grpSpPr>
        <p:sp>
          <p:nvSpPr>
            <p:cNvPr name="Freeform 61" id="61"/>
            <p:cNvSpPr/>
            <p:nvPr/>
          </p:nvSpPr>
          <p:spPr>
            <a:xfrm flipH="false" flipV="false" rot="0">
              <a:off x="0" y="0"/>
              <a:ext cx="4023360" cy="2084832"/>
            </a:xfrm>
            <a:custGeom>
              <a:avLst/>
              <a:gdLst/>
              <a:ahLst/>
              <a:cxnLst/>
              <a:rect r="r" b="b" t="t" l="l"/>
              <a:pathLst>
                <a:path h="2084832" w="4023360">
                  <a:moveTo>
                    <a:pt x="0" y="0"/>
                  </a:moveTo>
                  <a:lnTo>
                    <a:pt x="4023360" y="0"/>
                  </a:lnTo>
                  <a:lnTo>
                    <a:pt x="4023360" y="2084832"/>
                  </a:lnTo>
                  <a:lnTo>
                    <a:pt x="0" y="2084832"/>
                  </a:lnTo>
                  <a:close/>
                </a:path>
              </a:pathLst>
            </a:custGeom>
            <a:blipFill>
              <a:blip r:embed="rId4">
                <a:alphaModFix amt="0"/>
              </a:blip>
              <a:stretch>
                <a:fillRect l="-16530" t="0" r="-16530" b="0"/>
              </a:stretch>
            </a:blipFill>
          </p:spPr>
        </p:sp>
      </p:grpSp>
      <p:grpSp>
        <p:nvGrpSpPr>
          <p:cNvPr name="Group 62" id="62"/>
          <p:cNvGrpSpPr/>
          <p:nvPr/>
        </p:nvGrpSpPr>
        <p:grpSpPr>
          <a:xfrm rot="0">
            <a:off x="10218420" y="4553712"/>
            <a:ext cx="3017520" cy="1563624"/>
            <a:chOff x="0" y="0"/>
            <a:chExt cx="4023360" cy="2084832"/>
          </a:xfrm>
        </p:grpSpPr>
        <p:sp>
          <p:nvSpPr>
            <p:cNvPr name="Freeform 63" id="63"/>
            <p:cNvSpPr/>
            <p:nvPr/>
          </p:nvSpPr>
          <p:spPr>
            <a:xfrm flipH="false" flipV="false" rot="0">
              <a:off x="0" y="0"/>
              <a:ext cx="4023360" cy="2084832"/>
            </a:xfrm>
            <a:custGeom>
              <a:avLst/>
              <a:gdLst/>
              <a:ahLst/>
              <a:cxnLst/>
              <a:rect r="r" b="b" t="t" l="l"/>
              <a:pathLst>
                <a:path h="2084832" w="4023360">
                  <a:moveTo>
                    <a:pt x="0" y="0"/>
                  </a:moveTo>
                  <a:lnTo>
                    <a:pt x="4023360" y="0"/>
                  </a:lnTo>
                  <a:lnTo>
                    <a:pt x="4023360" y="2084832"/>
                  </a:lnTo>
                  <a:lnTo>
                    <a:pt x="0" y="2084832"/>
                  </a:lnTo>
                  <a:close/>
                </a:path>
              </a:pathLst>
            </a:custGeom>
            <a:blipFill>
              <a:blip r:embed="rId5">
                <a:alphaModFix amt="0"/>
              </a:blip>
              <a:stretch>
                <a:fillRect l="-16484" t="0" r="-16484" b="0"/>
              </a:stretch>
            </a:blipFill>
          </p:spPr>
        </p:sp>
        <p:sp>
          <p:nvSpPr>
            <p:cNvPr name="TextBox 64" id="64"/>
            <p:cNvSpPr txBox="true"/>
            <p:nvPr/>
          </p:nvSpPr>
          <p:spPr>
            <a:xfrm>
              <a:off x="0" y="0"/>
              <a:ext cx="4023360" cy="2084832"/>
            </a:xfrm>
            <a:prstGeom prst="rect">
              <a:avLst/>
            </a:prstGeom>
          </p:spPr>
          <p:txBody>
            <a:bodyPr anchor="ctr" rtlCol="false" tIns="0" lIns="0" bIns="0" rIns="0"/>
            <a:lstStyle/>
            <a:p>
              <a:pPr algn="l">
                <a:lnSpc>
                  <a:spcPts val="4680"/>
                </a:lnSpc>
              </a:pPr>
              <a:r>
                <a:rPr lang="en-US" sz="3900" b="true">
                  <a:solidFill>
                    <a:srgbClr val="1F6F63"/>
                  </a:solidFill>
                  <a:latin typeface="Noto Sans Bold"/>
                  <a:ea typeface="Noto Sans Bold"/>
                  <a:cs typeface="Noto Sans Bold"/>
                  <a:sym typeface="Noto Sans Bold"/>
                </a:rPr>
                <a:t>69 / 48</a:t>
              </a:r>
            </a:p>
          </p:txBody>
        </p:sp>
      </p:grpSp>
      <p:grpSp>
        <p:nvGrpSpPr>
          <p:cNvPr name="Group 65" id="65"/>
          <p:cNvGrpSpPr/>
          <p:nvPr/>
        </p:nvGrpSpPr>
        <p:grpSpPr>
          <a:xfrm rot="0">
            <a:off x="13167360" y="4553712"/>
            <a:ext cx="4114800" cy="1563624"/>
            <a:chOff x="0" y="0"/>
            <a:chExt cx="5486400" cy="2084832"/>
          </a:xfrm>
        </p:grpSpPr>
        <p:sp>
          <p:nvSpPr>
            <p:cNvPr name="Freeform 66" id="66"/>
            <p:cNvSpPr/>
            <p:nvPr/>
          </p:nvSpPr>
          <p:spPr>
            <a:xfrm flipH="false" flipV="false" rot="0">
              <a:off x="0" y="0"/>
              <a:ext cx="5486400" cy="2084832"/>
            </a:xfrm>
            <a:custGeom>
              <a:avLst/>
              <a:gdLst/>
              <a:ahLst/>
              <a:cxnLst/>
              <a:rect r="r" b="b" t="t" l="l"/>
              <a:pathLst>
                <a:path h="2084832" w="5486400">
                  <a:moveTo>
                    <a:pt x="0" y="0"/>
                  </a:moveTo>
                  <a:lnTo>
                    <a:pt x="5486400" y="0"/>
                  </a:lnTo>
                  <a:lnTo>
                    <a:pt x="5486400" y="2084832"/>
                  </a:lnTo>
                  <a:lnTo>
                    <a:pt x="0" y="2084832"/>
                  </a:lnTo>
                  <a:close/>
                </a:path>
              </a:pathLst>
            </a:custGeom>
            <a:blipFill>
              <a:blip r:embed="rId3">
                <a:alphaModFix amt="0"/>
              </a:blip>
              <a:stretch>
                <a:fillRect l="0" t="-1240" r="0" b="-1240"/>
              </a:stretch>
            </a:blipFill>
          </p:spPr>
        </p:sp>
      </p:grpSp>
      <p:grpSp>
        <p:nvGrpSpPr>
          <p:cNvPr name="Group 67" id="67"/>
          <p:cNvGrpSpPr/>
          <p:nvPr/>
        </p:nvGrpSpPr>
        <p:grpSpPr>
          <a:xfrm rot="0">
            <a:off x="13167360" y="4553712"/>
            <a:ext cx="4114800" cy="1563624"/>
            <a:chOff x="0" y="0"/>
            <a:chExt cx="5486400" cy="2084832"/>
          </a:xfrm>
        </p:grpSpPr>
        <p:sp>
          <p:nvSpPr>
            <p:cNvPr name="Freeform 68" id="68"/>
            <p:cNvSpPr/>
            <p:nvPr/>
          </p:nvSpPr>
          <p:spPr>
            <a:xfrm flipH="false" flipV="false" rot="0">
              <a:off x="0" y="0"/>
              <a:ext cx="5486400" cy="2084832"/>
            </a:xfrm>
            <a:custGeom>
              <a:avLst/>
              <a:gdLst/>
              <a:ahLst/>
              <a:cxnLst/>
              <a:rect r="r" b="b" t="t" l="l"/>
              <a:pathLst>
                <a:path h="2084832" w="5486400">
                  <a:moveTo>
                    <a:pt x="0" y="0"/>
                  </a:moveTo>
                  <a:lnTo>
                    <a:pt x="5486400" y="0"/>
                  </a:lnTo>
                  <a:lnTo>
                    <a:pt x="5486400" y="2084832"/>
                  </a:lnTo>
                  <a:lnTo>
                    <a:pt x="0" y="2084832"/>
                  </a:lnTo>
                  <a:close/>
                </a:path>
              </a:pathLst>
            </a:custGeom>
            <a:blipFill>
              <a:blip r:embed="rId4">
                <a:alphaModFix amt="0"/>
              </a:blip>
              <a:stretch>
                <a:fillRect l="0" t="-1240" r="0" b="-1240"/>
              </a:stretch>
            </a:blipFill>
          </p:spPr>
        </p:sp>
      </p:grpSp>
      <p:grpSp>
        <p:nvGrpSpPr>
          <p:cNvPr name="Group 69" id="69"/>
          <p:cNvGrpSpPr/>
          <p:nvPr/>
        </p:nvGrpSpPr>
        <p:grpSpPr>
          <a:xfrm rot="0">
            <a:off x="13167360" y="4553712"/>
            <a:ext cx="4114800" cy="1563624"/>
            <a:chOff x="0" y="0"/>
            <a:chExt cx="5486400" cy="2084832"/>
          </a:xfrm>
        </p:grpSpPr>
        <p:sp>
          <p:nvSpPr>
            <p:cNvPr name="Freeform 70" id="70"/>
            <p:cNvSpPr/>
            <p:nvPr/>
          </p:nvSpPr>
          <p:spPr>
            <a:xfrm flipH="false" flipV="false" rot="0">
              <a:off x="0" y="0"/>
              <a:ext cx="5486400" cy="2084832"/>
            </a:xfrm>
            <a:custGeom>
              <a:avLst/>
              <a:gdLst/>
              <a:ahLst/>
              <a:cxnLst/>
              <a:rect r="r" b="b" t="t" l="l"/>
              <a:pathLst>
                <a:path h="2084832" w="5486400">
                  <a:moveTo>
                    <a:pt x="0" y="0"/>
                  </a:moveTo>
                  <a:lnTo>
                    <a:pt x="5486400" y="0"/>
                  </a:lnTo>
                  <a:lnTo>
                    <a:pt x="5486400" y="2084832"/>
                  </a:lnTo>
                  <a:lnTo>
                    <a:pt x="0" y="2084832"/>
                  </a:lnTo>
                  <a:close/>
                </a:path>
              </a:pathLst>
            </a:custGeom>
            <a:blipFill>
              <a:blip r:embed="rId5">
                <a:alphaModFix amt="0"/>
              </a:blip>
              <a:stretch>
                <a:fillRect l="0" t="-1276" r="0" b="-1276"/>
              </a:stretch>
            </a:blipFill>
          </p:spPr>
        </p:sp>
        <p:sp>
          <p:nvSpPr>
            <p:cNvPr name="TextBox 71" id="71"/>
            <p:cNvSpPr txBox="true"/>
            <p:nvPr/>
          </p:nvSpPr>
          <p:spPr>
            <a:xfrm>
              <a:off x="0" y="0"/>
              <a:ext cx="5486400" cy="2084832"/>
            </a:xfrm>
            <a:prstGeom prst="rect">
              <a:avLst/>
            </a:prstGeom>
          </p:spPr>
          <p:txBody>
            <a:bodyPr anchor="ctr" rtlCol="false" tIns="0" lIns="0" bIns="0" rIns="0"/>
            <a:lstStyle/>
            <a:p>
              <a:pPr algn="l">
                <a:lnSpc>
                  <a:spcPts val="2520"/>
                </a:lnSpc>
              </a:pPr>
              <a:r>
                <a:rPr lang="en-US" sz="2100">
                  <a:solidFill>
                    <a:srgbClr val="1B2B2E"/>
                  </a:solidFill>
                  <a:latin typeface="Noto Sans"/>
                  <a:ea typeface="Noto Sans"/>
                  <a:cs typeface="Noto Sans"/>
                  <a:sym typeface="Noto Sans"/>
                </a:rPr>
                <a:t>MES 센서 / 신호 종류</a:t>
              </a:r>
            </a:p>
          </p:txBody>
        </p:sp>
      </p:grpSp>
      <p:sp>
        <p:nvSpPr>
          <p:cNvPr name="Freeform 72" id="72"/>
          <p:cNvSpPr/>
          <p:nvPr/>
        </p:nvSpPr>
        <p:spPr>
          <a:xfrm flipH="false" flipV="false" rot="0">
            <a:off x="9858851" y="6347555"/>
            <a:ext cx="7618286" cy="1596962"/>
          </a:xfrm>
          <a:custGeom>
            <a:avLst/>
            <a:gdLst/>
            <a:ahLst/>
            <a:cxnLst/>
            <a:rect r="r" b="b" t="t" l="l"/>
            <a:pathLst>
              <a:path h="1596962" w="7618286">
                <a:moveTo>
                  <a:pt x="0" y="0"/>
                </a:moveTo>
                <a:lnTo>
                  <a:pt x="7618286" y="0"/>
                </a:lnTo>
                <a:lnTo>
                  <a:pt x="7618286" y="1596962"/>
                </a:lnTo>
                <a:lnTo>
                  <a:pt x="0" y="1596962"/>
                </a:lnTo>
                <a:lnTo>
                  <a:pt x="0" y="0"/>
                </a:lnTo>
                <a:close/>
              </a:path>
            </a:pathLst>
          </a:custGeom>
          <a:blipFill>
            <a:blip r:embed="rId10">
              <a:extLst>
                <a:ext uri="{96DAC541-7B7A-43D3-8B79-37D633B846F1}">
                  <asvg:svgBlip xmlns:asvg="http://schemas.microsoft.com/office/drawing/2016/SVG/main" r:embed="rId11"/>
                </a:ext>
              </a:extLst>
            </a:blip>
            <a:stretch>
              <a:fillRect l="0" t="-90" r="0" b="-90"/>
            </a:stretch>
          </a:blipFill>
        </p:spPr>
      </p:sp>
      <p:grpSp>
        <p:nvGrpSpPr>
          <p:cNvPr name="Group 73" id="73"/>
          <p:cNvGrpSpPr/>
          <p:nvPr/>
        </p:nvGrpSpPr>
        <p:grpSpPr>
          <a:xfrm rot="0">
            <a:off x="10218420" y="6364224"/>
            <a:ext cx="3017520" cy="1563624"/>
            <a:chOff x="0" y="0"/>
            <a:chExt cx="4023360" cy="2084832"/>
          </a:xfrm>
        </p:grpSpPr>
        <p:sp>
          <p:nvSpPr>
            <p:cNvPr name="Freeform 74" id="74"/>
            <p:cNvSpPr/>
            <p:nvPr/>
          </p:nvSpPr>
          <p:spPr>
            <a:xfrm flipH="false" flipV="false" rot="0">
              <a:off x="0" y="0"/>
              <a:ext cx="4023360" cy="2084832"/>
            </a:xfrm>
            <a:custGeom>
              <a:avLst/>
              <a:gdLst/>
              <a:ahLst/>
              <a:cxnLst/>
              <a:rect r="r" b="b" t="t" l="l"/>
              <a:pathLst>
                <a:path h="2084832" w="4023360">
                  <a:moveTo>
                    <a:pt x="0" y="0"/>
                  </a:moveTo>
                  <a:lnTo>
                    <a:pt x="4023360" y="0"/>
                  </a:lnTo>
                  <a:lnTo>
                    <a:pt x="4023360" y="2084832"/>
                  </a:lnTo>
                  <a:lnTo>
                    <a:pt x="0" y="2084832"/>
                  </a:lnTo>
                  <a:close/>
                </a:path>
              </a:pathLst>
            </a:custGeom>
            <a:blipFill>
              <a:blip r:embed="rId3">
                <a:alphaModFix amt="0"/>
              </a:blip>
              <a:stretch>
                <a:fillRect l="-16530" t="0" r="-16530" b="0"/>
              </a:stretch>
            </a:blipFill>
          </p:spPr>
        </p:sp>
      </p:grpSp>
      <p:grpSp>
        <p:nvGrpSpPr>
          <p:cNvPr name="Group 75" id="75"/>
          <p:cNvGrpSpPr/>
          <p:nvPr/>
        </p:nvGrpSpPr>
        <p:grpSpPr>
          <a:xfrm rot="0">
            <a:off x="10218420" y="6364224"/>
            <a:ext cx="3017520" cy="1563624"/>
            <a:chOff x="0" y="0"/>
            <a:chExt cx="4023360" cy="2084832"/>
          </a:xfrm>
        </p:grpSpPr>
        <p:sp>
          <p:nvSpPr>
            <p:cNvPr name="Freeform 76" id="76"/>
            <p:cNvSpPr/>
            <p:nvPr/>
          </p:nvSpPr>
          <p:spPr>
            <a:xfrm flipH="false" flipV="false" rot="0">
              <a:off x="0" y="0"/>
              <a:ext cx="4023360" cy="2084832"/>
            </a:xfrm>
            <a:custGeom>
              <a:avLst/>
              <a:gdLst/>
              <a:ahLst/>
              <a:cxnLst/>
              <a:rect r="r" b="b" t="t" l="l"/>
              <a:pathLst>
                <a:path h="2084832" w="4023360">
                  <a:moveTo>
                    <a:pt x="0" y="0"/>
                  </a:moveTo>
                  <a:lnTo>
                    <a:pt x="4023360" y="0"/>
                  </a:lnTo>
                  <a:lnTo>
                    <a:pt x="4023360" y="2084832"/>
                  </a:lnTo>
                  <a:lnTo>
                    <a:pt x="0" y="2084832"/>
                  </a:lnTo>
                  <a:close/>
                </a:path>
              </a:pathLst>
            </a:custGeom>
            <a:blipFill>
              <a:blip r:embed="rId4">
                <a:alphaModFix amt="0"/>
              </a:blip>
              <a:stretch>
                <a:fillRect l="-16530" t="0" r="-16530" b="0"/>
              </a:stretch>
            </a:blipFill>
          </p:spPr>
        </p:sp>
      </p:grpSp>
      <p:grpSp>
        <p:nvGrpSpPr>
          <p:cNvPr name="Group 77" id="77"/>
          <p:cNvGrpSpPr/>
          <p:nvPr/>
        </p:nvGrpSpPr>
        <p:grpSpPr>
          <a:xfrm rot="0">
            <a:off x="10218420" y="6364224"/>
            <a:ext cx="3017520" cy="1563624"/>
            <a:chOff x="0" y="0"/>
            <a:chExt cx="4023360" cy="2084832"/>
          </a:xfrm>
        </p:grpSpPr>
        <p:sp>
          <p:nvSpPr>
            <p:cNvPr name="Freeform 78" id="78"/>
            <p:cNvSpPr/>
            <p:nvPr/>
          </p:nvSpPr>
          <p:spPr>
            <a:xfrm flipH="false" flipV="false" rot="0">
              <a:off x="0" y="0"/>
              <a:ext cx="4023360" cy="2084832"/>
            </a:xfrm>
            <a:custGeom>
              <a:avLst/>
              <a:gdLst/>
              <a:ahLst/>
              <a:cxnLst/>
              <a:rect r="r" b="b" t="t" l="l"/>
              <a:pathLst>
                <a:path h="2084832" w="4023360">
                  <a:moveTo>
                    <a:pt x="0" y="0"/>
                  </a:moveTo>
                  <a:lnTo>
                    <a:pt x="4023360" y="0"/>
                  </a:lnTo>
                  <a:lnTo>
                    <a:pt x="4023360" y="2084832"/>
                  </a:lnTo>
                  <a:lnTo>
                    <a:pt x="0" y="2084832"/>
                  </a:lnTo>
                  <a:close/>
                </a:path>
              </a:pathLst>
            </a:custGeom>
            <a:blipFill>
              <a:blip r:embed="rId5">
                <a:alphaModFix amt="0"/>
              </a:blip>
              <a:stretch>
                <a:fillRect l="-16484" t="0" r="-16484" b="0"/>
              </a:stretch>
            </a:blipFill>
          </p:spPr>
        </p:sp>
        <p:sp>
          <p:nvSpPr>
            <p:cNvPr name="TextBox 79" id="79"/>
            <p:cNvSpPr txBox="true"/>
            <p:nvPr/>
          </p:nvSpPr>
          <p:spPr>
            <a:xfrm>
              <a:off x="0" y="0"/>
              <a:ext cx="4023360" cy="2084832"/>
            </a:xfrm>
            <a:prstGeom prst="rect">
              <a:avLst/>
            </a:prstGeom>
          </p:spPr>
          <p:txBody>
            <a:bodyPr anchor="ctr" rtlCol="false" tIns="0" lIns="0" bIns="0" rIns="0"/>
            <a:lstStyle/>
            <a:p>
              <a:pPr algn="l">
                <a:lnSpc>
                  <a:spcPts val="4680"/>
                </a:lnSpc>
              </a:pPr>
              <a:r>
                <a:rPr lang="en-US" sz="3900" b="true">
                  <a:solidFill>
                    <a:srgbClr val="1F6F63"/>
                  </a:solidFill>
                  <a:latin typeface="Noto Sans Bold"/>
                  <a:ea typeface="Noto Sans Bold"/>
                  <a:cs typeface="Noto Sans Bold"/>
                  <a:sym typeface="Noto Sans Bold"/>
                </a:rPr>
                <a:t>8,951장</a:t>
              </a:r>
            </a:p>
          </p:txBody>
        </p:sp>
      </p:grpSp>
      <p:grpSp>
        <p:nvGrpSpPr>
          <p:cNvPr name="Group 80" id="80"/>
          <p:cNvGrpSpPr/>
          <p:nvPr/>
        </p:nvGrpSpPr>
        <p:grpSpPr>
          <a:xfrm rot="0">
            <a:off x="13167360" y="6364224"/>
            <a:ext cx="4114800" cy="1563624"/>
            <a:chOff x="0" y="0"/>
            <a:chExt cx="5486400" cy="2084832"/>
          </a:xfrm>
        </p:grpSpPr>
        <p:sp>
          <p:nvSpPr>
            <p:cNvPr name="Freeform 81" id="81"/>
            <p:cNvSpPr/>
            <p:nvPr/>
          </p:nvSpPr>
          <p:spPr>
            <a:xfrm flipH="false" flipV="false" rot="0">
              <a:off x="0" y="0"/>
              <a:ext cx="5486400" cy="2084832"/>
            </a:xfrm>
            <a:custGeom>
              <a:avLst/>
              <a:gdLst/>
              <a:ahLst/>
              <a:cxnLst/>
              <a:rect r="r" b="b" t="t" l="l"/>
              <a:pathLst>
                <a:path h="2084832" w="5486400">
                  <a:moveTo>
                    <a:pt x="0" y="0"/>
                  </a:moveTo>
                  <a:lnTo>
                    <a:pt x="5486400" y="0"/>
                  </a:lnTo>
                  <a:lnTo>
                    <a:pt x="5486400" y="2084832"/>
                  </a:lnTo>
                  <a:lnTo>
                    <a:pt x="0" y="2084832"/>
                  </a:lnTo>
                  <a:close/>
                </a:path>
              </a:pathLst>
            </a:custGeom>
            <a:blipFill>
              <a:blip r:embed="rId3">
                <a:alphaModFix amt="0"/>
              </a:blip>
              <a:stretch>
                <a:fillRect l="0" t="-1240" r="0" b="-1240"/>
              </a:stretch>
            </a:blipFill>
          </p:spPr>
        </p:sp>
      </p:grpSp>
      <p:grpSp>
        <p:nvGrpSpPr>
          <p:cNvPr name="Group 82" id="82"/>
          <p:cNvGrpSpPr/>
          <p:nvPr/>
        </p:nvGrpSpPr>
        <p:grpSpPr>
          <a:xfrm rot="0">
            <a:off x="13167360" y="6364224"/>
            <a:ext cx="4114800" cy="1563624"/>
            <a:chOff x="0" y="0"/>
            <a:chExt cx="5486400" cy="2084832"/>
          </a:xfrm>
        </p:grpSpPr>
        <p:sp>
          <p:nvSpPr>
            <p:cNvPr name="Freeform 83" id="83"/>
            <p:cNvSpPr/>
            <p:nvPr/>
          </p:nvSpPr>
          <p:spPr>
            <a:xfrm flipH="false" flipV="false" rot="0">
              <a:off x="0" y="0"/>
              <a:ext cx="5486400" cy="2084832"/>
            </a:xfrm>
            <a:custGeom>
              <a:avLst/>
              <a:gdLst/>
              <a:ahLst/>
              <a:cxnLst/>
              <a:rect r="r" b="b" t="t" l="l"/>
              <a:pathLst>
                <a:path h="2084832" w="5486400">
                  <a:moveTo>
                    <a:pt x="0" y="0"/>
                  </a:moveTo>
                  <a:lnTo>
                    <a:pt x="5486400" y="0"/>
                  </a:lnTo>
                  <a:lnTo>
                    <a:pt x="5486400" y="2084832"/>
                  </a:lnTo>
                  <a:lnTo>
                    <a:pt x="0" y="2084832"/>
                  </a:lnTo>
                  <a:close/>
                </a:path>
              </a:pathLst>
            </a:custGeom>
            <a:blipFill>
              <a:blip r:embed="rId4">
                <a:alphaModFix amt="0"/>
              </a:blip>
              <a:stretch>
                <a:fillRect l="0" t="-1240" r="0" b="-1240"/>
              </a:stretch>
            </a:blipFill>
          </p:spPr>
        </p:sp>
      </p:grpSp>
      <p:grpSp>
        <p:nvGrpSpPr>
          <p:cNvPr name="Group 84" id="84"/>
          <p:cNvGrpSpPr/>
          <p:nvPr/>
        </p:nvGrpSpPr>
        <p:grpSpPr>
          <a:xfrm rot="0">
            <a:off x="13167360" y="6364224"/>
            <a:ext cx="4114800" cy="1563624"/>
            <a:chOff x="0" y="0"/>
            <a:chExt cx="5486400" cy="2084832"/>
          </a:xfrm>
        </p:grpSpPr>
        <p:sp>
          <p:nvSpPr>
            <p:cNvPr name="Freeform 85" id="85"/>
            <p:cNvSpPr/>
            <p:nvPr/>
          </p:nvSpPr>
          <p:spPr>
            <a:xfrm flipH="false" flipV="false" rot="0">
              <a:off x="0" y="0"/>
              <a:ext cx="5486400" cy="2084832"/>
            </a:xfrm>
            <a:custGeom>
              <a:avLst/>
              <a:gdLst/>
              <a:ahLst/>
              <a:cxnLst/>
              <a:rect r="r" b="b" t="t" l="l"/>
              <a:pathLst>
                <a:path h="2084832" w="5486400">
                  <a:moveTo>
                    <a:pt x="0" y="0"/>
                  </a:moveTo>
                  <a:lnTo>
                    <a:pt x="5486400" y="0"/>
                  </a:lnTo>
                  <a:lnTo>
                    <a:pt x="5486400" y="2084832"/>
                  </a:lnTo>
                  <a:lnTo>
                    <a:pt x="0" y="2084832"/>
                  </a:lnTo>
                  <a:close/>
                </a:path>
              </a:pathLst>
            </a:custGeom>
            <a:blipFill>
              <a:blip r:embed="rId5">
                <a:alphaModFix amt="0"/>
              </a:blip>
              <a:stretch>
                <a:fillRect l="0" t="-1276" r="0" b="-1276"/>
              </a:stretch>
            </a:blipFill>
          </p:spPr>
        </p:sp>
        <p:sp>
          <p:nvSpPr>
            <p:cNvPr name="TextBox 86" id="86"/>
            <p:cNvSpPr txBox="true"/>
            <p:nvPr/>
          </p:nvSpPr>
          <p:spPr>
            <a:xfrm>
              <a:off x="0" y="0"/>
              <a:ext cx="5486400" cy="2084832"/>
            </a:xfrm>
            <a:prstGeom prst="rect">
              <a:avLst/>
            </a:prstGeom>
          </p:spPr>
          <p:txBody>
            <a:bodyPr anchor="ctr" rtlCol="false" tIns="0" lIns="0" bIns="0" rIns="0"/>
            <a:lstStyle/>
            <a:p>
              <a:pPr algn="l">
                <a:lnSpc>
                  <a:spcPts val="2520"/>
                </a:lnSpc>
              </a:pPr>
              <a:r>
                <a:rPr lang="en-US" sz="2100">
                  <a:solidFill>
                    <a:srgbClr val="1B2B2E"/>
                  </a:solidFill>
                  <a:latin typeface="Noto Sans"/>
                  <a:ea typeface="Noto Sans"/>
                  <a:cs typeface="Noto Sans"/>
                  <a:sym typeface="Noto Sans"/>
                </a:rPr>
                <a:t>설비 이미지</a:t>
              </a:r>
            </a:p>
            <a:p>
              <a:pPr algn="l">
                <a:lnSpc>
                  <a:spcPts val="2520"/>
                </a:lnSpc>
              </a:pPr>
              <a:r>
                <a:rPr lang="en-US" sz="2100">
                  <a:solidFill>
                    <a:srgbClr val="1B2B2E"/>
                  </a:solidFill>
                  <a:latin typeface="Noto Sans"/>
                  <a:ea typeface="Noto Sans"/>
                  <a:cs typeface="Noto Sans"/>
                  <a:sym typeface="Noto Sans"/>
                </a:rPr>
                <a:t>학습 7,178 · 검증 893 · 시험 880</a:t>
              </a:r>
            </a:p>
          </p:txBody>
        </p:sp>
      </p:grpSp>
      <p:sp>
        <p:nvSpPr>
          <p:cNvPr name="TextBox 87" id="87"/>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strike="noStrike" u="none">
                <a:solidFill>
                  <a:srgbClr val="6B787A"/>
                </a:solidFill>
                <a:latin typeface="Noto Sans"/>
                <a:ea typeface="Noto Sans"/>
                <a:cs typeface="Noto Sans"/>
                <a:sym typeface="Noto Sans"/>
              </a:rPr>
              <a:t>20</a:t>
            </a:r>
          </a:p>
        </p:txBody>
      </p:sp>
      <p:grpSp>
        <p:nvGrpSpPr>
          <p:cNvPr name="Group 88" id="88"/>
          <p:cNvGrpSpPr/>
          <p:nvPr/>
        </p:nvGrpSpPr>
        <p:grpSpPr>
          <a:xfrm rot="0">
            <a:off x="5818356" y="9710928"/>
            <a:ext cx="1260634" cy="419672"/>
            <a:chOff x="0" y="0"/>
            <a:chExt cx="1680845" cy="559562"/>
          </a:xfrm>
        </p:grpSpPr>
        <p:sp>
          <p:nvSpPr>
            <p:cNvPr name="Freeform 89" id="89"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12"/>
              <a:stretch>
                <a:fillRect l="0" t="-928" r="0" b="-926"/>
              </a:stretch>
            </a:blipFill>
          </p:spPr>
        </p:sp>
      </p:grpSp>
      <p:grpSp>
        <p:nvGrpSpPr>
          <p:cNvPr name="Group 90" id="90"/>
          <p:cNvGrpSpPr/>
          <p:nvPr/>
        </p:nvGrpSpPr>
        <p:grpSpPr>
          <a:xfrm rot="0">
            <a:off x="7370474" y="9804197"/>
            <a:ext cx="891826" cy="233172"/>
            <a:chOff x="0" y="0"/>
            <a:chExt cx="1189101" cy="310896"/>
          </a:xfrm>
        </p:grpSpPr>
        <p:sp>
          <p:nvSpPr>
            <p:cNvPr name="Freeform 91" id="91"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13"/>
              <a:stretch>
                <a:fillRect l="0" t="-584" r="0" b="-588"/>
              </a:stretch>
            </a:blipFill>
          </p:spPr>
        </p:sp>
      </p:grpSp>
      <p:grpSp>
        <p:nvGrpSpPr>
          <p:cNvPr name="Group 92" id="92"/>
          <p:cNvGrpSpPr/>
          <p:nvPr/>
        </p:nvGrpSpPr>
        <p:grpSpPr>
          <a:xfrm rot="0">
            <a:off x="8553745" y="9804197"/>
            <a:ext cx="1335596" cy="233172"/>
            <a:chOff x="0" y="0"/>
            <a:chExt cx="1780794" cy="310896"/>
          </a:xfrm>
        </p:grpSpPr>
        <p:sp>
          <p:nvSpPr>
            <p:cNvPr name="Freeform 93" id="93"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14"/>
              <a:stretch>
                <a:fillRect l="0" t="-714" r="0" b="-718"/>
              </a:stretch>
            </a:blipFill>
          </p:spPr>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519047" y="-16669"/>
            <a:ext cx="8811387" cy="10320338"/>
            <a:chOff x="0" y="0"/>
            <a:chExt cx="11748516" cy="13760450"/>
          </a:xfrm>
        </p:grpSpPr>
        <p:sp>
          <p:nvSpPr>
            <p:cNvPr name="Freeform 3" id="3"/>
            <p:cNvSpPr/>
            <p:nvPr/>
          </p:nvSpPr>
          <p:spPr>
            <a:xfrm flipH="false" flipV="false" rot="0">
              <a:off x="0" y="0"/>
              <a:ext cx="11748516" cy="13760450"/>
            </a:xfrm>
            <a:custGeom>
              <a:avLst/>
              <a:gdLst/>
              <a:ahLst/>
              <a:cxnLst/>
              <a:rect r="r" b="b" t="t" l="l"/>
              <a:pathLst>
                <a:path h="13760450" w="11748516">
                  <a:moveTo>
                    <a:pt x="0" y="0"/>
                  </a:moveTo>
                  <a:lnTo>
                    <a:pt x="11748516" y="0"/>
                  </a:lnTo>
                  <a:lnTo>
                    <a:pt x="11748516" y="13760450"/>
                  </a:lnTo>
                  <a:lnTo>
                    <a:pt x="0" y="13760450"/>
                  </a:lnTo>
                  <a:close/>
                </a:path>
              </a:pathLst>
            </a:custGeom>
            <a:solidFill>
              <a:srgbClr val="0E3B38"/>
            </a:solidFill>
            <a:ln w="19050" cap="sq">
              <a:solidFill>
                <a:srgbClr val="0E3B38"/>
              </a:solidFill>
              <a:prstDash val="solid"/>
              <a:miter/>
            </a:ln>
          </p:spPr>
        </p:sp>
      </p:grpSp>
      <p:grpSp>
        <p:nvGrpSpPr>
          <p:cNvPr name="Group 4" id="4"/>
          <p:cNvGrpSpPr/>
          <p:nvPr/>
        </p:nvGrpSpPr>
        <p:grpSpPr>
          <a:xfrm rot="0">
            <a:off x="9509522" y="4937760"/>
            <a:ext cx="8092221" cy="4937760"/>
            <a:chOff x="0" y="0"/>
            <a:chExt cx="10789628" cy="6583680"/>
          </a:xfrm>
        </p:grpSpPr>
        <p:sp>
          <p:nvSpPr>
            <p:cNvPr name="Freeform 5" id="5"/>
            <p:cNvSpPr/>
            <p:nvPr/>
          </p:nvSpPr>
          <p:spPr>
            <a:xfrm flipH="false" flipV="false" rot="0">
              <a:off x="0" y="0"/>
              <a:ext cx="10789666" cy="6583680"/>
            </a:xfrm>
            <a:custGeom>
              <a:avLst/>
              <a:gdLst/>
              <a:ahLst/>
              <a:cxnLst/>
              <a:rect r="r" b="b" t="t" l="l"/>
              <a:pathLst>
                <a:path h="6583680" w="10789666">
                  <a:moveTo>
                    <a:pt x="0" y="0"/>
                  </a:moveTo>
                  <a:lnTo>
                    <a:pt x="10789666" y="0"/>
                  </a:lnTo>
                  <a:lnTo>
                    <a:pt x="10789666" y="6583680"/>
                  </a:lnTo>
                  <a:lnTo>
                    <a:pt x="0" y="6583680"/>
                  </a:lnTo>
                  <a:close/>
                </a:path>
              </a:pathLst>
            </a:custGeom>
            <a:blipFill>
              <a:blip r:embed="rId3">
                <a:alphaModFix amt="0"/>
              </a:blip>
              <a:stretch>
                <a:fillRect l="-28343" t="0" r="-28343" b="0"/>
              </a:stretch>
            </a:blipFill>
          </p:spPr>
        </p:sp>
      </p:grpSp>
      <p:grpSp>
        <p:nvGrpSpPr>
          <p:cNvPr name="Group 6" id="6"/>
          <p:cNvGrpSpPr/>
          <p:nvPr/>
        </p:nvGrpSpPr>
        <p:grpSpPr>
          <a:xfrm rot="0">
            <a:off x="9509522" y="4930616"/>
            <a:ext cx="8092221" cy="4944904"/>
            <a:chOff x="0" y="0"/>
            <a:chExt cx="10789628" cy="6593205"/>
          </a:xfrm>
        </p:grpSpPr>
        <p:sp>
          <p:nvSpPr>
            <p:cNvPr name="Freeform 7" id="7"/>
            <p:cNvSpPr/>
            <p:nvPr/>
          </p:nvSpPr>
          <p:spPr>
            <a:xfrm flipH="false" flipV="false" rot="0">
              <a:off x="0" y="0"/>
              <a:ext cx="10789628" cy="6593205"/>
            </a:xfrm>
            <a:custGeom>
              <a:avLst/>
              <a:gdLst/>
              <a:ahLst/>
              <a:cxnLst/>
              <a:rect r="r" b="b" t="t" l="l"/>
              <a:pathLst>
                <a:path h="6593205" w="10789628">
                  <a:moveTo>
                    <a:pt x="0" y="0"/>
                  </a:moveTo>
                  <a:lnTo>
                    <a:pt x="10789628" y="0"/>
                  </a:lnTo>
                  <a:lnTo>
                    <a:pt x="10789628" y="6593205"/>
                  </a:lnTo>
                  <a:lnTo>
                    <a:pt x="0" y="6593205"/>
                  </a:lnTo>
                  <a:close/>
                </a:path>
              </a:pathLst>
            </a:custGeom>
            <a:blipFill>
              <a:blip r:embed="rId4">
                <a:alphaModFix amt="0"/>
              </a:blip>
              <a:stretch>
                <a:fillRect l="-28402" t="0" r="-28402" b="0"/>
              </a:stretch>
            </a:blipFill>
          </p:spPr>
        </p:sp>
        <p:sp>
          <p:nvSpPr>
            <p:cNvPr name="TextBox 8" id="8"/>
            <p:cNvSpPr txBox="true"/>
            <p:nvPr/>
          </p:nvSpPr>
          <p:spPr>
            <a:xfrm>
              <a:off x="0" y="-9525"/>
              <a:ext cx="10789628" cy="6602730"/>
            </a:xfrm>
            <a:prstGeom prst="rect">
              <a:avLst/>
            </a:prstGeom>
          </p:spPr>
          <p:txBody>
            <a:bodyPr anchor="b" rtlCol="false" tIns="0" lIns="0" bIns="0" rIns="0"/>
            <a:lstStyle/>
            <a:p>
              <a:pPr algn="r">
                <a:lnSpc>
                  <a:spcPts val="36000"/>
                </a:lnSpc>
              </a:pPr>
              <a:r>
                <a:rPr lang="en-US" sz="30000" b="true">
                  <a:solidFill>
                    <a:srgbClr val="FFFFFF"/>
                  </a:solidFill>
                  <a:latin typeface="Noto Sans Bold"/>
                  <a:ea typeface="Noto Sans Bold"/>
                  <a:cs typeface="Noto Sans Bold"/>
                  <a:sym typeface="Noto Sans Bold"/>
                </a:rPr>
                <a:t>03</a:t>
              </a:r>
            </a:p>
          </p:txBody>
        </p:sp>
      </p:grpSp>
      <p:sp>
        <p:nvSpPr>
          <p:cNvPr name="TextBox 9" id="9"/>
          <p:cNvSpPr txBox="true"/>
          <p:nvPr/>
        </p:nvSpPr>
        <p:spPr>
          <a:xfrm rot="0">
            <a:off x="1234440" y="1518285"/>
            <a:ext cx="7955280" cy="314325"/>
          </a:xfrm>
          <a:prstGeom prst="rect">
            <a:avLst/>
          </a:prstGeom>
        </p:spPr>
        <p:txBody>
          <a:bodyPr anchor="t" rtlCol="false" tIns="0" lIns="0" bIns="0" rIns="0">
            <a:spAutoFit/>
          </a:bodyPr>
          <a:lstStyle/>
          <a:p>
            <a:pPr algn="l">
              <a:lnSpc>
                <a:spcPts val="2520"/>
              </a:lnSpc>
            </a:pPr>
            <a:r>
              <a:rPr lang="en-US" sz="2100">
                <a:solidFill>
                  <a:srgbClr val="16796C"/>
                </a:solidFill>
                <a:latin typeface="Noto Sans"/>
                <a:ea typeface="Noto Sans"/>
                <a:cs typeface="Noto Sans"/>
                <a:sym typeface="Noto Sans"/>
              </a:rPr>
              <a:t>ShiftLink 최종 발표</a:t>
            </a:r>
          </a:p>
        </p:txBody>
      </p:sp>
      <p:sp>
        <p:nvSpPr>
          <p:cNvPr name="TextBox 10" id="10"/>
          <p:cNvSpPr txBox="true"/>
          <p:nvPr/>
        </p:nvSpPr>
        <p:spPr>
          <a:xfrm rot="0">
            <a:off x="1234440" y="2047875"/>
            <a:ext cx="7955280" cy="819150"/>
          </a:xfrm>
          <a:prstGeom prst="rect">
            <a:avLst/>
          </a:prstGeom>
        </p:spPr>
        <p:txBody>
          <a:bodyPr anchor="t" rtlCol="false" tIns="0" lIns="0" bIns="0" rIns="0">
            <a:spAutoFit/>
          </a:bodyPr>
          <a:lstStyle/>
          <a:p>
            <a:pPr algn="l">
              <a:lnSpc>
                <a:spcPts val="6480"/>
              </a:lnSpc>
            </a:pPr>
            <a:r>
              <a:rPr lang="en-US" sz="5400" b="true">
                <a:solidFill>
                  <a:srgbClr val="203238"/>
                </a:solidFill>
                <a:latin typeface="Noto Sans Bold"/>
                <a:ea typeface="Noto Sans Bold"/>
                <a:cs typeface="Noto Sans Bold"/>
                <a:sym typeface="Noto Sans Bold"/>
              </a:rPr>
              <a:t>AI 모델</a:t>
            </a:r>
          </a:p>
        </p:txBody>
      </p:sp>
      <p:sp>
        <p:nvSpPr>
          <p:cNvPr name="TextBox 11" id="11"/>
          <p:cNvSpPr txBox="true"/>
          <p:nvPr/>
        </p:nvSpPr>
        <p:spPr>
          <a:xfrm rot="0">
            <a:off x="1234440" y="3499485"/>
            <a:ext cx="7955280" cy="4547235"/>
          </a:xfrm>
          <a:prstGeom prst="rect">
            <a:avLst/>
          </a:prstGeom>
        </p:spPr>
        <p:txBody>
          <a:bodyPr anchor="t" rtlCol="false" tIns="0" lIns="0" bIns="0" rIns="0">
            <a:spAutoFit/>
          </a:bodyPr>
          <a:lstStyle/>
          <a:p>
            <a:pPr algn="l">
              <a:lnSpc>
                <a:spcPts val="3600"/>
              </a:lnSpc>
              <a:spcBef>
                <a:spcPct val="0"/>
              </a:spcBef>
            </a:pPr>
            <a:r>
              <a:rPr lang="en-US" sz="2400" strike="noStrike" u="none">
                <a:solidFill>
                  <a:srgbClr val="45545A"/>
                </a:solidFill>
                <a:latin typeface="Noto Sans"/>
                <a:ea typeface="Noto Sans"/>
                <a:cs typeface="Noto Sans"/>
                <a:sym typeface="Noto Sans"/>
              </a:rPr>
              <a:t>01  지식 데이터와 검색 색인</a:t>
            </a:r>
          </a:p>
          <a:p>
            <a:pPr algn="l">
              <a:lnSpc>
                <a:spcPts val="3600"/>
              </a:lnSpc>
              <a:spcBef>
                <a:spcPct val="0"/>
              </a:spcBef>
            </a:pPr>
            <a:r>
              <a:rPr lang="en-US" sz="2400" strike="noStrike" u="none">
                <a:solidFill>
                  <a:srgbClr val="45545A"/>
                </a:solidFill>
                <a:latin typeface="Noto Sans"/>
                <a:ea typeface="Noto Sans"/>
                <a:cs typeface="Noto Sans"/>
                <a:sym typeface="Noto Sans"/>
              </a:rPr>
              <a:t>02  기반 모델과 검색 방식 선택</a:t>
            </a:r>
          </a:p>
          <a:p>
            <a:pPr algn="l">
              <a:lnSpc>
                <a:spcPts val="3600"/>
              </a:lnSpc>
              <a:spcBef>
                <a:spcPct val="0"/>
              </a:spcBef>
            </a:pPr>
            <a:r>
              <a:rPr lang="en-US" sz="2400" strike="noStrike" u="none">
                <a:solidFill>
                  <a:srgbClr val="45545A"/>
                </a:solidFill>
                <a:latin typeface="Noto Sans"/>
                <a:ea typeface="Noto Sans"/>
                <a:cs typeface="Noto Sans"/>
                <a:sym typeface="Noto Sans"/>
              </a:rPr>
              <a:t>03  판정 라우팅</a:t>
            </a:r>
          </a:p>
          <a:p>
            <a:pPr algn="l">
              <a:lnSpc>
                <a:spcPts val="3600"/>
              </a:lnSpc>
              <a:spcBef>
                <a:spcPct val="0"/>
              </a:spcBef>
            </a:pPr>
            <a:r>
              <a:rPr lang="en-US" sz="2400" strike="noStrike" u="none">
                <a:solidFill>
                  <a:srgbClr val="45545A"/>
                </a:solidFill>
                <a:latin typeface="Noto Sans"/>
                <a:ea typeface="Noto Sans"/>
                <a:cs typeface="Noto Sans"/>
                <a:sym typeface="Noto Sans"/>
              </a:rPr>
              <a:t>04  MES 상황 인식</a:t>
            </a:r>
          </a:p>
          <a:p>
            <a:pPr algn="l">
              <a:lnSpc>
                <a:spcPts val="3600"/>
              </a:lnSpc>
              <a:spcBef>
                <a:spcPct val="0"/>
              </a:spcBef>
            </a:pPr>
            <a:r>
              <a:rPr lang="en-US" sz="2400" strike="noStrike" u="none">
                <a:solidFill>
                  <a:srgbClr val="45545A"/>
                </a:solidFill>
                <a:latin typeface="Noto Sans"/>
                <a:ea typeface="Noto Sans"/>
                <a:cs typeface="Noto Sans"/>
                <a:sym typeface="Noto Sans"/>
              </a:rPr>
              <a:t>05  코드 규칙</a:t>
            </a:r>
          </a:p>
          <a:p>
            <a:pPr algn="l">
              <a:lnSpc>
                <a:spcPts val="3600"/>
              </a:lnSpc>
              <a:spcBef>
                <a:spcPct val="0"/>
              </a:spcBef>
            </a:pPr>
            <a:r>
              <a:rPr lang="en-US" sz="2400" strike="noStrike" u="none">
                <a:solidFill>
                  <a:srgbClr val="45545A"/>
                </a:solidFill>
                <a:latin typeface="Noto Sans"/>
                <a:ea typeface="Noto Sans"/>
                <a:cs typeface="Noto Sans"/>
                <a:sym typeface="Noto Sans"/>
              </a:rPr>
              <a:t>06  최종 배포 구성의 성능 비교</a:t>
            </a:r>
          </a:p>
          <a:p>
            <a:pPr algn="l">
              <a:lnSpc>
                <a:spcPts val="3600"/>
              </a:lnSpc>
              <a:spcBef>
                <a:spcPct val="0"/>
              </a:spcBef>
            </a:pPr>
            <a:r>
              <a:rPr lang="en-US" sz="2400" strike="noStrike" u="none">
                <a:solidFill>
                  <a:srgbClr val="45545A"/>
                </a:solidFill>
                <a:latin typeface="Noto Sans"/>
                <a:ea typeface="Noto Sans"/>
                <a:cs typeface="Noto Sans"/>
                <a:sym typeface="Noto Sans"/>
              </a:rPr>
              <a:t>07  설비 분류와 얼굴 확인</a:t>
            </a:r>
          </a:p>
          <a:p>
            <a:pPr algn="l">
              <a:lnSpc>
                <a:spcPts val="3600"/>
              </a:lnSpc>
              <a:spcBef>
                <a:spcPct val="0"/>
              </a:spcBef>
            </a:pPr>
            <a:r>
              <a:rPr lang="en-US" sz="2400" strike="noStrike" u="none">
                <a:solidFill>
                  <a:srgbClr val="45545A"/>
                </a:solidFill>
                <a:latin typeface="Noto Sans"/>
                <a:ea typeface="Noto Sans"/>
                <a:cs typeface="Noto Sans"/>
                <a:sym typeface="Noto Sans"/>
              </a:rPr>
              <a:t>08  센서 데이터와 평가 분리</a:t>
            </a:r>
          </a:p>
          <a:p>
            <a:pPr algn="l">
              <a:lnSpc>
                <a:spcPts val="3600"/>
              </a:lnSpc>
              <a:spcBef>
                <a:spcPct val="0"/>
              </a:spcBef>
            </a:pPr>
            <a:r>
              <a:rPr lang="en-US" sz="2400" strike="noStrike" u="none">
                <a:solidFill>
                  <a:srgbClr val="45545A"/>
                </a:solidFill>
                <a:latin typeface="Noto Sans"/>
                <a:ea typeface="Noto Sans"/>
                <a:cs typeface="Noto Sans"/>
                <a:sym typeface="Noto Sans"/>
              </a:rPr>
              <a:t>09  탐지 방법 선택과 오류 분석</a:t>
            </a:r>
          </a:p>
          <a:p>
            <a:pPr algn="l">
              <a:lnSpc>
                <a:spcPts val="3600"/>
              </a:lnSpc>
              <a:spcBef>
                <a:spcPct val="0"/>
              </a:spcBef>
            </a:pPr>
            <a:r>
              <a:rPr lang="en-US" sz="2400" strike="noStrike" u="none">
                <a:solidFill>
                  <a:srgbClr val="45545A"/>
                </a:solidFill>
                <a:latin typeface="Noto Sans"/>
                <a:ea typeface="Noto Sans"/>
                <a:cs typeface="Noto Sans"/>
                <a:sym typeface="Noto Sans"/>
              </a:rPr>
              <a:t>10  Pi 검증 결과와 범위</a:t>
            </a:r>
          </a:p>
        </p:txBody>
      </p:sp>
      <p:grpSp>
        <p:nvGrpSpPr>
          <p:cNvPr name="Group 12" id="12"/>
          <p:cNvGrpSpPr/>
          <p:nvPr/>
        </p:nvGrpSpPr>
        <p:grpSpPr>
          <a:xfrm rot="0">
            <a:off x="12384195" y="9200483"/>
            <a:ext cx="5508498" cy="856298"/>
            <a:chOff x="0" y="0"/>
            <a:chExt cx="7344664" cy="1141730"/>
          </a:xfrm>
        </p:grpSpPr>
        <p:sp>
          <p:nvSpPr>
            <p:cNvPr name="Freeform 13" id="13"/>
            <p:cNvSpPr/>
            <p:nvPr/>
          </p:nvSpPr>
          <p:spPr>
            <a:xfrm flipH="false" flipV="false" rot="0">
              <a:off x="0" y="0"/>
              <a:ext cx="7344664" cy="1141730"/>
            </a:xfrm>
            <a:custGeom>
              <a:avLst/>
              <a:gdLst/>
              <a:ahLst/>
              <a:cxnLst/>
              <a:rect r="r" b="b" t="t" l="l"/>
              <a:pathLst>
                <a:path h="1141730" w="7344664">
                  <a:moveTo>
                    <a:pt x="0" y="0"/>
                  </a:moveTo>
                  <a:lnTo>
                    <a:pt x="7344664" y="0"/>
                  </a:lnTo>
                  <a:lnTo>
                    <a:pt x="7344664" y="1141730"/>
                  </a:lnTo>
                  <a:lnTo>
                    <a:pt x="0" y="11417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479425" y="241681"/>
              <a:ext cx="1977517" cy="658368"/>
              <a:chOff x="0" y="0"/>
              <a:chExt cx="1977517" cy="658368"/>
            </a:xfrm>
          </p:grpSpPr>
          <p:sp>
            <p:nvSpPr>
              <p:cNvPr name="Freeform 15" id="15" descr="C:\Users\abab9\AppData\Local\Temp\claude\C--Users-abab9-Desktop-Shiftlink\03368683-632b-4bf6-b41d-988cf517f7bf\scratchpad\build\logos\knda.png"/>
              <p:cNvSpPr/>
              <p:nvPr/>
            </p:nvSpPr>
            <p:spPr>
              <a:xfrm flipH="false" flipV="false" rot="0">
                <a:off x="0" y="0"/>
                <a:ext cx="1977517" cy="658368"/>
              </a:xfrm>
              <a:custGeom>
                <a:avLst/>
                <a:gdLst/>
                <a:ahLst/>
                <a:cxnLst/>
                <a:rect r="r" b="b" t="t" l="l"/>
                <a:pathLst>
                  <a:path h="658368" w="1977517">
                    <a:moveTo>
                      <a:pt x="0" y="0"/>
                    </a:moveTo>
                    <a:lnTo>
                      <a:pt x="1977517" y="0"/>
                    </a:lnTo>
                    <a:lnTo>
                      <a:pt x="1977517" y="658368"/>
                    </a:lnTo>
                    <a:lnTo>
                      <a:pt x="0" y="658368"/>
                    </a:lnTo>
                    <a:lnTo>
                      <a:pt x="0" y="0"/>
                    </a:lnTo>
                    <a:close/>
                  </a:path>
                </a:pathLst>
              </a:custGeom>
              <a:blipFill>
                <a:blip r:embed="rId7"/>
                <a:stretch>
                  <a:fillRect l="0" t="-262" r="0" b="-264"/>
                </a:stretch>
              </a:blipFill>
            </p:spPr>
          </p:sp>
        </p:grpSp>
        <p:grpSp>
          <p:nvGrpSpPr>
            <p:cNvPr name="Group 16" id="16"/>
            <p:cNvGrpSpPr/>
            <p:nvPr/>
          </p:nvGrpSpPr>
          <p:grpSpPr>
            <a:xfrm rot="0">
              <a:off x="2914129" y="387985"/>
              <a:ext cx="1398905" cy="365760"/>
              <a:chOff x="0" y="0"/>
              <a:chExt cx="1398905" cy="365760"/>
            </a:xfrm>
          </p:grpSpPr>
          <p:sp>
            <p:nvSpPr>
              <p:cNvPr name="Freeform 17" id="17" descr="C:\Users\abab9\AppData\Local\Temp\claude\C--Users-abab9-Desktop-Shiftlink\03368683-632b-4bf6-b41d-988cf517f7bf\scratchpad\build\logos\posco.png"/>
              <p:cNvSpPr/>
              <p:nvPr/>
            </p:nvSpPr>
            <p:spPr>
              <a:xfrm flipH="false" flipV="false" rot="0">
                <a:off x="0" y="0"/>
                <a:ext cx="1398905" cy="365760"/>
              </a:xfrm>
              <a:custGeom>
                <a:avLst/>
                <a:gdLst/>
                <a:ahLst/>
                <a:cxnLst/>
                <a:rect r="r" b="b" t="t" l="l"/>
                <a:pathLst>
                  <a:path h="365760" w="1398905">
                    <a:moveTo>
                      <a:pt x="0" y="0"/>
                    </a:moveTo>
                    <a:lnTo>
                      <a:pt x="1398905" y="0"/>
                    </a:lnTo>
                    <a:lnTo>
                      <a:pt x="1398905" y="365760"/>
                    </a:lnTo>
                    <a:lnTo>
                      <a:pt x="0" y="365760"/>
                    </a:lnTo>
                    <a:lnTo>
                      <a:pt x="0" y="0"/>
                    </a:lnTo>
                    <a:close/>
                  </a:path>
                </a:pathLst>
              </a:custGeom>
              <a:blipFill>
                <a:blip r:embed="rId8"/>
                <a:stretch>
                  <a:fillRect l="-32" t="0" r="-32" b="0"/>
                </a:stretch>
              </a:blipFill>
            </p:spPr>
          </p:sp>
        </p:grpSp>
        <p:grpSp>
          <p:nvGrpSpPr>
            <p:cNvPr name="Group 18" id="18"/>
            <p:cNvGrpSpPr/>
            <p:nvPr/>
          </p:nvGrpSpPr>
          <p:grpSpPr>
            <a:xfrm rot="0">
              <a:off x="4770247" y="387985"/>
              <a:ext cx="2094992" cy="365760"/>
              <a:chOff x="0" y="0"/>
              <a:chExt cx="2094992" cy="365760"/>
            </a:xfrm>
          </p:grpSpPr>
          <p:sp>
            <p:nvSpPr>
              <p:cNvPr name="Freeform 19" id="19" descr="C:\Users\abab9\AppData\Local\Temp\claude\C--Users-abab9-Desktop-Shiftlink\03368683-632b-4bf6-b41d-988cf517f7bf\scratchpad\build\logos\nextsurfer.png"/>
              <p:cNvSpPr/>
              <p:nvPr/>
            </p:nvSpPr>
            <p:spPr>
              <a:xfrm flipH="false" flipV="false" rot="0">
                <a:off x="0" y="0"/>
                <a:ext cx="2094992" cy="365760"/>
              </a:xfrm>
              <a:custGeom>
                <a:avLst/>
                <a:gdLst/>
                <a:ahLst/>
                <a:cxnLst/>
                <a:rect r="r" b="b" t="t" l="l"/>
                <a:pathLst>
                  <a:path h="365760" w="2094992">
                    <a:moveTo>
                      <a:pt x="0" y="0"/>
                    </a:moveTo>
                    <a:lnTo>
                      <a:pt x="2094992" y="0"/>
                    </a:lnTo>
                    <a:lnTo>
                      <a:pt x="2094992" y="365760"/>
                    </a:lnTo>
                    <a:lnTo>
                      <a:pt x="0" y="365760"/>
                    </a:lnTo>
                    <a:lnTo>
                      <a:pt x="0" y="0"/>
                    </a:lnTo>
                    <a:close/>
                  </a:path>
                </a:pathLst>
              </a:custGeom>
              <a:blipFill>
                <a:blip r:embed="rId9"/>
                <a:stretch>
                  <a:fillRect l="0" t="-118" r="0" b="-118"/>
                </a:stretch>
              </a:blipFill>
            </p:spPr>
          </p:sp>
        </p:gr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3050" r="0" b="-333050"/>
              </a:stretch>
            </a:blipFill>
          </p:spPr>
        </p:sp>
        <p:sp>
          <p:nvSpPr>
            <p:cNvPr name="TextBox 6" id="6"/>
            <p:cNvSpPr txBox="true"/>
            <p:nvPr/>
          </p:nvSpPr>
          <p:spPr>
            <a:xfrm>
              <a:off x="0" y="-9525"/>
              <a:ext cx="10972800" cy="567690"/>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7" id="7"/>
          <p:cNvGrpSpPr/>
          <p:nvPr/>
        </p:nvGrpSpPr>
        <p:grpSpPr>
          <a:xfrm rot="0">
            <a:off x="822960" y="438912"/>
            <a:ext cx="4114800" cy="384048"/>
            <a:chOff x="0" y="0"/>
            <a:chExt cx="5486400" cy="512064"/>
          </a:xfrm>
        </p:grpSpPr>
        <p:sp>
          <p:nvSpPr>
            <p:cNvPr name="Freeform 8" id="8"/>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3">
                <a:alphaModFix amt="0"/>
              </a:blip>
              <a:stretch>
                <a:fillRect l="0" t="-158623" r="0" b="-158623"/>
              </a:stretch>
            </a:blipFill>
          </p:spPr>
        </p:sp>
      </p:grpSp>
      <p:grpSp>
        <p:nvGrpSpPr>
          <p:cNvPr name="Group 9" id="9"/>
          <p:cNvGrpSpPr/>
          <p:nvPr/>
        </p:nvGrpSpPr>
        <p:grpSpPr>
          <a:xfrm rot="0">
            <a:off x="822960" y="438912"/>
            <a:ext cx="4114800" cy="384048"/>
            <a:chOff x="0" y="0"/>
            <a:chExt cx="5486400" cy="512064"/>
          </a:xfrm>
        </p:grpSpPr>
        <p:sp>
          <p:nvSpPr>
            <p:cNvPr name="Freeform 10" id="10"/>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4">
                <a:alphaModFix amt="0"/>
              </a:blip>
              <a:stretch>
                <a:fillRect l="0" t="-158768" r="0" b="-158768"/>
              </a:stretch>
            </a:blipFill>
          </p:spPr>
        </p:sp>
        <p:sp>
          <p:nvSpPr>
            <p:cNvPr name="TextBox 11" id="11"/>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03  AI 모델</a:t>
              </a:r>
            </a:p>
          </p:txBody>
        </p:sp>
      </p:grpSp>
      <p:grpSp>
        <p:nvGrpSpPr>
          <p:cNvPr name="Group 12" id="12"/>
          <p:cNvGrpSpPr/>
          <p:nvPr/>
        </p:nvGrpSpPr>
        <p:grpSpPr>
          <a:xfrm rot="0">
            <a:off x="822960" y="822960"/>
            <a:ext cx="16641623" cy="850392"/>
            <a:chOff x="0" y="0"/>
            <a:chExt cx="22188830" cy="1133856"/>
          </a:xfrm>
        </p:grpSpPr>
        <p:sp>
          <p:nvSpPr>
            <p:cNvPr name="Freeform 13" id="13"/>
            <p:cNvSpPr/>
            <p:nvPr/>
          </p:nvSpPr>
          <p:spPr>
            <a:xfrm flipH="false" flipV="false" rot="0">
              <a:off x="0" y="0"/>
              <a:ext cx="22188805" cy="1133856"/>
            </a:xfrm>
            <a:custGeom>
              <a:avLst/>
              <a:gdLst/>
              <a:ahLst/>
              <a:cxnLst/>
              <a:rect r="r" b="b" t="t" l="l"/>
              <a:pathLst>
                <a:path h="1133856" w="22188805">
                  <a:moveTo>
                    <a:pt x="0" y="0"/>
                  </a:moveTo>
                  <a:lnTo>
                    <a:pt x="22188805" y="0"/>
                  </a:lnTo>
                  <a:lnTo>
                    <a:pt x="22188805" y="1133856"/>
                  </a:lnTo>
                  <a:lnTo>
                    <a:pt x="0" y="1133856"/>
                  </a:lnTo>
                  <a:close/>
                </a:path>
              </a:pathLst>
            </a:custGeom>
            <a:blipFill>
              <a:blip r:embed="rId3">
                <a:alphaModFix amt="0"/>
              </a:blip>
              <a:stretch>
                <a:fillRect l="0" t="-331043" r="0" b="-331045"/>
              </a:stretch>
            </a:blipFill>
          </p:spPr>
        </p:sp>
      </p:grpSp>
      <p:grpSp>
        <p:nvGrpSpPr>
          <p:cNvPr name="Group 14" id="14"/>
          <p:cNvGrpSpPr/>
          <p:nvPr/>
        </p:nvGrpSpPr>
        <p:grpSpPr>
          <a:xfrm rot="0">
            <a:off x="822960" y="822960"/>
            <a:ext cx="16642080" cy="850392"/>
            <a:chOff x="0" y="0"/>
            <a:chExt cx="22189440" cy="1133856"/>
          </a:xfrm>
        </p:grpSpPr>
        <p:sp>
          <p:nvSpPr>
            <p:cNvPr name="Freeform 15" id="15"/>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4">
                <a:alphaModFix amt="0"/>
              </a:blip>
              <a:stretch>
                <a:fillRect l="0" t="-331309" r="2" b="-331309"/>
              </a:stretch>
            </a:blipFill>
          </p:spPr>
        </p:sp>
        <p:sp>
          <p:nvSpPr>
            <p:cNvPr name="TextBox 16" id="16"/>
            <p:cNvSpPr txBox="true"/>
            <p:nvPr/>
          </p:nvSpPr>
          <p:spPr>
            <a:xfrm>
              <a:off x="0" y="-9525"/>
              <a:ext cx="22189440" cy="1143381"/>
            </a:xfrm>
            <a:prstGeom prst="rect">
              <a:avLst/>
            </a:prstGeom>
          </p:spPr>
          <p:txBody>
            <a:bodyPr anchor="ctr" rtlCol="false" tIns="0" lIns="0" bIns="0" rIns="0"/>
            <a:lstStyle/>
            <a:p>
              <a:pPr algn="l">
                <a:lnSpc>
                  <a:spcPts val="4500"/>
                </a:lnSpc>
              </a:pPr>
              <a:r>
                <a:rPr lang="en-US" sz="3750" b="true">
                  <a:solidFill>
                    <a:srgbClr val="203238"/>
                  </a:solidFill>
                  <a:latin typeface="Noto Sans Bold"/>
                  <a:ea typeface="Noto Sans Bold"/>
                  <a:cs typeface="Noto Sans Bold"/>
                  <a:sym typeface="Noto Sans Bold"/>
                </a:rPr>
                <a:t>01  지식 데이터 – 원문에서 검색 색인까지</a:t>
              </a:r>
            </a:p>
          </p:txBody>
        </p:sp>
      </p:grpSp>
      <p:grpSp>
        <p:nvGrpSpPr>
          <p:cNvPr name="Group 17" id="17"/>
          <p:cNvGrpSpPr/>
          <p:nvPr/>
        </p:nvGrpSpPr>
        <p:grpSpPr>
          <a:xfrm rot="0">
            <a:off x="822960" y="1755648"/>
            <a:ext cx="16641623" cy="576072"/>
            <a:chOff x="0" y="0"/>
            <a:chExt cx="22188830" cy="768096"/>
          </a:xfrm>
        </p:grpSpPr>
        <p:sp>
          <p:nvSpPr>
            <p:cNvPr name="Freeform 18" id="18"/>
            <p:cNvSpPr/>
            <p:nvPr/>
          </p:nvSpPr>
          <p:spPr>
            <a:xfrm flipH="false" flipV="false" rot="0">
              <a:off x="0" y="0"/>
              <a:ext cx="22188805" cy="768096"/>
            </a:xfrm>
            <a:custGeom>
              <a:avLst/>
              <a:gdLst/>
              <a:ahLst/>
              <a:cxnLst/>
              <a:rect r="r" b="b" t="t" l="l"/>
              <a:pathLst>
                <a:path h="768096" w="22188805">
                  <a:moveTo>
                    <a:pt x="0" y="0"/>
                  </a:moveTo>
                  <a:lnTo>
                    <a:pt x="22188805" y="0"/>
                  </a:lnTo>
                  <a:lnTo>
                    <a:pt x="22188805" y="768096"/>
                  </a:lnTo>
                  <a:lnTo>
                    <a:pt x="0" y="768096"/>
                  </a:lnTo>
                  <a:close/>
                </a:path>
              </a:pathLst>
            </a:custGeom>
            <a:blipFill>
              <a:blip r:embed="rId3">
                <a:alphaModFix amt="0"/>
              </a:blip>
              <a:stretch>
                <a:fillRect l="0" t="-512493" r="0" b="-512495"/>
              </a:stretch>
            </a:blipFill>
          </p:spPr>
        </p:sp>
      </p:grpSp>
      <p:grpSp>
        <p:nvGrpSpPr>
          <p:cNvPr name="Group 19" id="19"/>
          <p:cNvGrpSpPr/>
          <p:nvPr/>
        </p:nvGrpSpPr>
        <p:grpSpPr>
          <a:xfrm rot="0">
            <a:off x="822960" y="1762125"/>
            <a:ext cx="16641623" cy="568928"/>
            <a:chOff x="0" y="0"/>
            <a:chExt cx="22188830" cy="758571"/>
          </a:xfrm>
        </p:grpSpPr>
        <p:sp>
          <p:nvSpPr>
            <p:cNvPr name="Freeform 20" id="20"/>
            <p:cNvSpPr/>
            <p:nvPr/>
          </p:nvSpPr>
          <p:spPr>
            <a:xfrm flipH="false" flipV="false" rot="0">
              <a:off x="0" y="0"/>
              <a:ext cx="22188830" cy="758571"/>
            </a:xfrm>
            <a:custGeom>
              <a:avLst/>
              <a:gdLst/>
              <a:ahLst/>
              <a:cxnLst/>
              <a:rect r="r" b="b" t="t" l="l"/>
              <a:pathLst>
                <a:path h="758571" w="22188830">
                  <a:moveTo>
                    <a:pt x="0" y="0"/>
                  </a:moveTo>
                  <a:lnTo>
                    <a:pt x="22188830" y="0"/>
                  </a:lnTo>
                  <a:lnTo>
                    <a:pt x="22188830" y="758571"/>
                  </a:lnTo>
                  <a:lnTo>
                    <a:pt x="0" y="758571"/>
                  </a:lnTo>
                  <a:close/>
                </a:path>
              </a:pathLst>
            </a:custGeom>
            <a:blipFill>
              <a:blip r:embed="rId4">
                <a:alphaModFix amt="0"/>
              </a:blip>
              <a:stretch>
                <a:fillRect l="0" t="-519953" r="0" b="-519953"/>
              </a:stretch>
            </a:blipFill>
          </p:spPr>
        </p:sp>
        <p:sp>
          <p:nvSpPr>
            <p:cNvPr name="TextBox 21" id="21"/>
            <p:cNvSpPr txBox="true"/>
            <p:nvPr/>
          </p:nvSpPr>
          <p:spPr>
            <a:xfrm>
              <a:off x="0" y="9525"/>
              <a:ext cx="22188830" cy="749046"/>
            </a:xfrm>
            <a:prstGeom prst="rect">
              <a:avLst/>
            </a:prstGeom>
          </p:spPr>
          <p:txBody>
            <a:bodyPr anchor="ctr" rtlCol="false" tIns="0" lIns="0" bIns="0" rIns="0"/>
            <a:lstStyle/>
            <a:p>
              <a:pPr algn="l">
                <a:lnSpc>
                  <a:spcPts val="2878"/>
                </a:lnSpc>
              </a:pPr>
              <a:r>
                <a:rPr lang="en-US" sz="2400">
                  <a:solidFill>
                    <a:srgbClr val="53666E"/>
                  </a:solidFill>
                  <a:latin typeface="Noto Sans"/>
                  <a:ea typeface="Noto Sans"/>
                  <a:cs typeface="Noto Sans"/>
                  <a:sym typeface="Noto Sans"/>
                </a:rPr>
                <a:t>원문 58개 · 2,459쪽, 지식 카드, 인계 기록을 </a:t>
              </a:r>
              <a:r>
                <a:rPr lang="en-US" sz="2400" b="true">
                  <a:solidFill>
                    <a:srgbClr val="53666E"/>
                  </a:solidFill>
                  <a:latin typeface="Noto Sans Bold"/>
                  <a:ea typeface="Noto Sans Bold"/>
                  <a:cs typeface="Noto Sans Bold"/>
                  <a:sym typeface="Noto Sans Bold"/>
                </a:rPr>
                <a:t>3,950개 조각</a:t>
              </a:r>
              <a:r>
                <a:rPr lang="en-US" sz="2400">
                  <a:solidFill>
                    <a:srgbClr val="53666E"/>
                  </a:solidFill>
                  <a:latin typeface="Noto Sans"/>
                  <a:ea typeface="Noto Sans"/>
                  <a:cs typeface="Noto Sans"/>
                  <a:sym typeface="Noto Sans"/>
                </a:rPr>
                <a:t>으로 분할해 검색</a:t>
              </a:r>
            </a:p>
          </p:txBody>
        </p:sp>
      </p:grpSp>
      <p:sp>
        <p:nvSpPr>
          <p:cNvPr name="Freeform 22" id="22"/>
          <p:cNvSpPr/>
          <p:nvPr/>
        </p:nvSpPr>
        <p:spPr>
          <a:xfrm flipH="false" flipV="false" rot="0">
            <a:off x="806291" y="2726531"/>
            <a:ext cx="4422458" cy="1377506"/>
          </a:xfrm>
          <a:custGeom>
            <a:avLst/>
            <a:gdLst/>
            <a:ahLst/>
            <a:cxnLst/>
            <a:rect r="r" b="b" t="t" l="l"/>
            <a:pathLst>
              <a:path h="1377506" w="4422458">
                <a:moveTo>
                  <a:pt x="0" y="0"/>
                </a:moveTo>
                <a:lnTo>
                  <a:pt x="4422458" y="0"/>
                </a:lnTo>
                <a:lnTo>
                  <a:pt x="4422458" y="1377506"/>
                </a:lnTo>
                <a:lnTo>
                  <a:pt x="0" y="13775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3" id="23"/>
          <p:cNvSpPr txBox="true"/>
          <p:nvPr/>
        </p:nvSpPr>
        <p:spPr>
          <a:xfrm rot="0">
            <a:off x="1097280" y="2852928"/>
            <a:ext cx="2057400" cy="411480"/>
          </a:xfrm>
          <a:prstGeom prst="rect">
            <a:avLst/>
          </a:prstGeom>
        </p:spPr>
        <p:txBody>
          <a:bodyPr anchor="t" rtlCol="false" tIns="0" lIns="0" bIns="0" rIns="0">
            <a:spAutoFit/>
          </a:bodyPr>
          <a:lstStyle/>
          <a:p>
            <a:pPr algn="l">
              <a:lnSpc>
                <a:spcPts val="2250"/>
              </a:lnSpc>
            </a:pPr>
            <a:r>
              <a:rPr lang="en-US" sz="1875" b="true">
                <a:solidFill>
                  <a:srgbClr val="45545A"/>
                </a:solidFill>
                <a:latin typeface="Noto Sans Bold"/>
                <a:ea typeface="Noto Sans Bold"/>
                <a:cs typeface="Noto Sans Bold"/>
                <a:sym typeface="Noto Sans Bold"/>
              </a:rPr>
              <a:t>원문 문서</a:t>
            </a:r>
          </a:p>
        </p:txBody>
      </p:sp>
      <p:sp>
        <p:nvSpPr>
          <p:cNvPr name="TextBox 24" id="24"/>
          <p:cNvSpPr txBox="true"/>
          <p:nvPr/>
        </p:nvSpPr>
        <p:spPr>
          <a:xfrm rot="0">
            <a:off x="1097280" y="3272790"/>
            <a:ext cx="3977640" cy="636270"/>
          </a:xfrm>
          <a:prstGeom prst="rect">
            <a:avLst/>
          </a:prstGeom>
        </p:spPr>
        <p:txBody>
          <a:bodyPr anchor="t" rtlCol="false" tIns="0" lIns="0" bIns="0" rIns="0">
            <a:spAutoFit/>
          </a:bodyPr>
          <a:lstStyle/>
          <a:p>
            <a:pPr algn="l">
              <a:lnSpc>
                <a:spcPts val="3240"/>
              </a:lnSpc>
            </a:pPr>
            <a:r>
              <a:rPr lang="en-US" sz="2700" b="true">
                <a:solidFill>
                  <a:srgbClr val="1B2B2E"/>
                </a:solidFill>
                <a:latin typeface="Noto Sans Bold"/>
                <a:ea typeface="Noto Sans Bold"/>
                <a:cs typeface="Noto Sans Bold"/>
                <a:sym typeface="Noto Sans Bold"/>
              </a:rPr>
              <a:t>58개 · 2,459쪽</a:t>
            </a:r>
          </a:p>
        </p:txBody>
      </p:sp>
      <p:sp>
        <p:nvSpPr>
          <p:cNvPr name="TextBox 25" id="25"/>
          <p:cNvSpPr txBox="true"/>
          <p:nvPr/>
        </p:nvSpPr>
        <p:spPr>
          <a:xfrm rot="0">
            <a:off x="2606040" y="2880360"/>
            <a:ext cx="2468880" cy="411480"/>
          </a:xfrm>
          <a:prstGeom prst="rect">
            <a:avLst/>
          </a:prstGeom>
        </p:spPr>
        <p:txBody>
          <a:bodyPr anchor="t" rtlCol="false" tIns="0" lIns="0" bIns="0" rIns="0">
            <a:spAutoFit/>
          </a:bodyPr>
          <a:lstStyle/>
          <a:p>
            <a:pPr algn="r">
              <a:lnSpc>
                <a:spcPts val="1889"/>
              </a:lnSpc>
            </a:pPr>
            <a:r>
              <a:rPr lang="en-US" sz="1575">
                <a:solidFill>
                  <a:srgbClr val="45545A"/>
                </a:solidFill>
                <a:latin typeface="Noto Sans"/>
                <a:ea typeface="Noto Sans"/>
                <a:cs typeface="Noto Sans"/>
                <a:sym typeface="Noto Sans"/>
              </a:rPr>
              <a:t>제조사 매뉴얼 · 안전 지침</a:t>
            </a:r>
          </a:p>
        </p:txBody>
      </p:sp>
      <p:sp>
        <p:nvSpPr>
          <p:cNvPr name="Freeform 26" id="26"/>
          <p:cNvSpPr/>
          <p:nvPr/>
        </p:nvSpPr>
        <p:spPr>
          <a:xfrm flipH="false" flipV="false" rot="0">
            <a:off x="806291" y="4262723"/>
            <a:ext cx="4422458" cy="1377505"/>
          </a:xfrm>
          <a:custGeom>
            <a:avLst/>
            <a:gdLst/>
            <a:ahLst/>
            <a:cxnLst/>
            <a:rect r="r" b="b" t="t" l="l"/>
            <a:pathLst>
              <a:path h="1377505" w="4422458">
                <a:moveTo>
                  <a:pt x="0" y="0"/>
                </a:moveTo>
                <a:lnTo>
                  <a:pt x="4422458" y="0"/>
                </a:lnTo>
                <a:lnTo>
                  <a:pt x="4422458" y="1377506"/>
                </a:lnTo>
                <a:lnTo>
                  <a:pt x="0" y="13775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7" id="27"/>
          <p:cNvSpPr txBox="true"/>
          <p:nvPr/>
        </p:nvSpPr>
        <p:spPr>
          <a:xfrm rot="0">
            <a:off x="1097280" y="4389120"/>
            <a:ext cx="2057400" cy="411480"/>
          </a:xfrm>
          <a:prstGeom prst="rect">
            <a:avLst/>
          </a:prstGeom>
        </p:spPr>
        <p:txBody>
          <a:bodyPr anchor="t" rtlCol="false" tIns="0" lIns="0" bIns="0" rIns="0">
            <a:spAutoFit/>
          </a:bodyPr>
          <a:lstStyle/>
          <a:p>
            <a:pPr algn="l">
              <a:lnSpc>
                <a:spcPts val="2250"/>
              </a:lnSpc>
            </a:pPr>
            <a:r>
              <a:rPr lang="en-US" sz="1875" b="true">
                <a:solidFill>
                  <a:srgbClr val="45545A"/>
                </a:solidFill>
                <a:latin typeface="Noto Sans Bold"/>
                <a:ea typeface="Noto Sans Bold"/>
                <a:cs typeface="Noto Sans Bold"/>
                <a:sym typeface="Noto Sans Bold"/>
              </a:rPr>
              <a:t>지식 카드</a:t>
            </a:r>
          </a:p>
        </p:txBody>
      </p:sp>
      <p:sp>
        <p:nvSpPr>
          <p:cNvPr name="TextBox 28" id="28"/>
          <p:cNvSpPr txBox="true"/>
          <p:nvPr/>
        </p:nvSpPr>
        <p:spPr>
          <a:xfrm rot="0">
            <a:off x="1097280" y="4808982"/>
            <a:ext cx="3977640" cy="636270"/>
          </a:xfrm>
          <a:prstGeom prst="rect">
            <a:avLst/>
          </a:prstGeom>
        </p:spPr>
        <p:txBody>
          <a:bodyPr anchor="t" rtlCol="false" tIns="0" lIns="0" bIns="0" rIns="0">
            <a:spAutoFit/>
          </a:bodyPr>
          <a:lstStyle/>
          <a:p>
            <a:pPr algn="l">
              <a:lnSpc>
                <a:spcPts val="3240"/>
              </a:lnSpc>
            </a:pPr>
            <a:r>
              <a:rPr lang="en-US" sz="2700" b="true">
                <a:solidFill>
                  <a:srgbClr val="1B2B2E"/>
                </a:solidFill>
                <a:latin typeface="Noto Sans Bold"/>
                <a:ea typeface="Noto Sans Bold"/>
                <a:cs typeface="Noto Sans Bold"/>
                <a:sym typeface="Noto Sans Bold"/>
              </a:rPr>
              <a:t>86장</a:t>
            </a:r>
          </a:p>
        </p:txBody>
      </p:sp>
      <p:sp>
        <p:nvSpPr>
          <p:cNvPr name="TextBox 29" id="29"/>
          <p:cNvSpPr txBox="true"/>
          <p:nvPr/>
        </p:nvSpPr>
        <p:spPr>
          <a:xfrm rot="0">
            <a:off x="2606040" y="4416552"/>
            <a:ext cx="2468880" cy="411480"/>
          </a:xfrm>
          <a:prstGeom prst="rect">
            <a:avLst/>
          </a:prstGeom>
        </p:spPr>
        <p:txBody>
          <a:bodyPr anchor="t" rtlCol="false" tIns="0" lIns="0" bIns="0" rIns="0">
            <a:spAutoFit/>
          </a:bodyPr>
          <a:lstStyle/>
          <a:p>
            <a:pPr algn="r">
              <a:lnSpc>
                <a:spcPts val="1889"/>
              </a:lnSpc>
            </a:pPr>
            <a:r>
              <a:rPr lang="en-US" sz="1575">
                <a:solidFill>
                  <a:srgbClr val="45545A"/>
                </a:solidFill>
                <a:latin typeface="Noto Sans"/>
                <a:ea typeface="Noto Sans"/>
                <a:cs typeface="Noto Sans"/>
                <a:sym typeface="Noto Sans"/>
              </a:rPr>
              <a:t>증상 · 조치 · 근거 쪽수</a:t>
            </a:r>
          </a:p>
        </p:txBody>
      </p:sp>
      <p:sp>
        <p:nvSpPr>
          <p:cNvPr name="Freeform 30" id="30"/>
          <p:cNvSpPr/>
          <p:nvPr/>
        </p:nvSpPr>
        <p:spPr>
          <a:xfrm flipH="false" flipV="false" rot="0">
            <a:off x="806291" y="5798915"/>
            <a:ext cx="4422458" cy="1377506"/>
          </a:xfrm>
          <a:custGeom>
            <a:avLst/>
            <a:gdLst/>
            <a:ahLst/>
            <a:cxnLst/>
            <a:rect r="r" b="b" t="t" l="l"/>
            <a:pathLst>
              <a:path h="1377506" w="4422458">
                <a:moveTo>
                  <a:pt x="0" y="0"/>
                </a:moveTo>
                <a:lnTo>
                  <a:pt x="4422458" y="0"/>
                </a:lnTo>
                <a:lnTo>
                  <a:pt x="4422458" y="1377506"/>
                </a:lnTo>
                <a:lnTo>
                  <a:pt x="0" y="13775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31" id="31"/>
          <p:cNvSpPr txBox="true"/>
          <p:nvPr/>
        </p:nvSpPr>
        <p:spPr>
          <a:xfrm rot="0">
            <a:off x="1097280" y="5925312"/>
            <a:ext cx="2057400" cy="411480"/>
          </a:xfrm>
          <a:prstGeom prst="rect">
            <a:avLst/>
          </a:prstGeom>
        </p:spPr>
        <p:txBody>
          <a:bodyPr anchor="t" rtlCol="false" tIns="0" lIns="0" bIns="0" rIns="0">
            <a:spAutoFit/>
          </a:bodyPr>
          <a:lstStyle/>
          <a:p>
            <a:pPr algn="l">
              <a:lnSpc>
                <a:spcPts val="2250"/>
              </a:lnSpc>
            </a:pPr>
            <a:r>
              <a:rPr lang="en-US" sz="1875" b="true">
                <a:solidFill>
                  <a:srgbClr val="45545A"/>
                </a:solidFill>
                <a:latin typeface="Noto Sans Bold"/>
                <a:ea typeface="Noto Sans Bold"/>
                <a:cs typeface="Noto Sans Bold"/>
                <a:sym typeface="Noto Sans Bold"/>
              </a:rPr>
              <a:t>인계 기록</a:t>
            </a:r>
          </a:p>
        </p:txBody>
      </p:sp>
      <p:sp>
        <p:nvSpPr>
          <p:cNvPr name="TextBox 32" id="32"/>
          <p:cNvSpPr txBox="true"/>
          <p:nvPr/>
        </p:nvSpPr>
        <p:spPr>
          <a:xfrm rot="0">
            <a:off x="1097280" y="6345174"/>
            <a:ext cx="3977640" cy="636270"/>
          </a:xfrm>
          <a:prstGeom prst="rect">
            <a:avLst/>
          </a:prstGeom>
        </p:spPr>
        <p:txBody>
          <a:bodyPr anchor="t" rtlCol="false" tIns="0" lIns="0" bIns="0" rIns="0">
            <a:spAutoFit/>
          </a:bodyPr>
          <a:lstStyle/>
          <a:p>
            <a:pPr algn="l">
              <a:lnSpc>
                <a:spcPts val="3240"/>
              </a:lnSpc>
            </a:pPr>
            <a:r>
              <a:rPr lang="en-US" sz="2700" b="true">
                <a:solidFill>
                  <a:srgbClr val="1B2B2E"/>
                </a:solidFill>
                <a:latin typeface="Noto Sans Bold"/>
                <a:ea typeface="Noto Sans Bold"/>
                <a:cs typeface="Noto Sans Bold"/>
                <a:sym typeface="Noto Sans Bold"/>
              </a:rPr>
              <a:t>40조각</a:t>
            </a:r>
          </a:p>
        </p:txBody>
      </p:sp>
      <p:sp>
        <p:nvSpPr>
          <p:cNvPr name="TextBox 33" id="33"/>
          <p:cNvSpPr txBox="true"/>
          <p:nvPr/>
        </p:nvSpPr>
        <p:spPr>
          <a:xfrm rot="0">
            <a:off x="2606040" y="5952744"/>
            <a:ext cx="2468880" cy="411480"/>
          </a:xfrm>
          <a:prstGeom prst="rect">
            <a:avLst/>
          </a:prstGeom>
        </p:spPr>
        <p:txBody>
          <a:bodyPr anchor="t" rtlCol="false" tIns="0" lIns="0" bIns="0" rIns="0">
            <a:spAutoFit/>
          </a:bodyPr>
          <a:lstStyle/>
          <a:p>
            <a:pPr algn="r">
              <a:lnSpc>
                <a:spcPts val="1889"/>
              </a:lnSpc>
            </a:pPr>
            <a:r>
              <a:rPr lang="en-US" sz="1575">
                <a:solidFill>
                  <a:srgbClr val="45545A"/>
                </a:solidFill>
                <a:latin typeface="Noto Sans"/>
                <a:ea typeface="Noto Sans"/>
                <a:cs typeface="Noto Sans"/>
                <a:sym typeface="Noto Sans"/>
              </a:rPr>
              <a:t>교대 인계 메모(합성)</a:t>
            </a:r>
          </a:p>
        </p:txBody>
      </p:sp>
      <p:sp>
        <p:nvSpPr>
          <p:cNvPr name="Freeform 34" id="34"/>
          <p:cNvSpPr/>
          <p:nvPr/>
        </p:nvSpPr>
        <p:spPr>
          <a:xfrm flipH="false" flipV="false" rot="0">
            <a:off x="5744051" y="2726531"/>
            <a:ext cx="2639378" cy="2227898"/>
          </a:xfrm>
          <a:custGeom>
            <a:avLst/>
            <a:gdLst/>
            <a:ahLst/>
            <a:cxnLst/>
            <a:rect r="r" b="b" t="t" l="l"/>
            <a:pathLst>
              <a:path h="2227898" w="2639378">
                <a:moveTo>
                  <a:pt x="0" y="0"/>
                </a:moveTo>
                <a:lnTo>
                  <a:pt x="2639378" y="0"/>
                </a:lnTo>
                <a:lnTo>
                  <a:pt x="2639378" y="2227898"/>
                </a:lnTo>
                <a:lnTo>
                  <a:pt x="0" y="2227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35" id="35"/>
          <p:cNvSpPr txBox="true"/>
          <p:nvPr/>
        </p:nvSpPr>
        <p:spPr>
          <a:xfrm rot="0">
            <a:off x="6007608" y="2880360"/>
            <a:ext cx="1371600" cy="411480"/>
          </a:xfrm>
          <a:prstGeom prst="rect">
            <a:avLst/>
          </a:prstGeom>
        </p:spPr>
        <p:txBody>
          <a:bodyPr anchor="t" rtlCol="false" tIns="0" lIns="0" bIns="0" rIns="0">
            <a:spAutoFit/>
          </a:bodyPr>
          <a:lstStyle/>
          <a:p>
            <a:pPr algn="l">
              <a:lnSpc>
                <a:spcPts val="1980"/>
              </a:lnSpc>
            </a:pPr>
            <a:r>
              <a:rPr lang="en-US" sz="1650" b="true">
                <a:solidFill>
                  <a:srgbClr val="1F6F63"/>
                </a:solidFill>
                <a:latin typeface="Noto Sans Bold"/>
                <a:ea typeface="Noto Sans Bold"/>
                <a:cs typeface="Noto Sans Bold"/>
                <a:sym typeface="Noto Sans Bold"/>
              </a:rPr>
              <a:t>01</a:t>
            </a:r>
          </a:p>
        </p:txBody>
      </p:sp>
      <p:sp>
        <p:nvSpPr>
          <p:cNvPr name="TextBox 36" id="36"/>
          <p:cNvSpPr txBox="true"/>
          <p:nvPr/>
        </p:nvSpPr>
        <p:spPr>
          <a:xfrm rot="0">
            <a:off x="6007608" y="3264408"/>
            <a:ext cx="2194560" cy="548640"/>
          </a:xfrm>
          <a:prstGeom prst="rect">
            <a:avLst/>
          </a:prstGeom>
        </p:spPr>
        <p:txBody>
          <a:bodyPr anchor="t" rtlCol="false" tIns="0" lIns="0" bIns="0" rIns="0">
            <a:spAutoFit/>
          </a:bodyPr>
          <a:lstStyle/>
          <a:p>
            <a:pPr algn="l">
              <a:lnSpc>
                <a:spcPts val="2700"/>
              </a:lnSpc>
            </a:pPr>
            <a:r>
              <a:rPr lang="en-US" sz="2250" b="true">
                <a:solidFill>
                  <a:srgbClr val="1B2B2E"/>
                </a:solidFill>
                <a:latin typeface="Noto Sans Bold"/>
                <a:ea typeface="Noto Sans Bold"/>
                <a:cs typeface="Noto Sans Bold"/>
                <a:sym typeface="Noto Sans Bold"/>
              </a:rPr>
              <a:t>파싱 · 정제</a:t>
            </a:r>
          </a:p>
        </p:txBody>
      </p:sp>
      <p:sp>
        <p:nvSpPr>
          <p:cNvPr name="TextBox 37" id="37"/>
          <p:cNvSpPr txBox="true"/>
          <p:nvPr/>
        </p:nvSpPr>
        <p:spPr>
          <a:xfrm rot="0">
            <a:off x="6007608" y="3886962"/>
            <a:ext cx="2263140" cy="941070"/>
          </a:xfrm>
          <a:prstGeom prst="rect">
            <a:avLst/>
          </a:prstGeom>
        </p:spPr>
        <p:txBody>
          <a:bodyPr anchor="t" rtlCol="false" tIns="0" lIns="0" bIns="0" rIns="0">
            <a:spAutoFit/>
          </a:bodyPr>
          <a:lstStyle/>
          <a:p>
            <a:pPr algn="l">
              <a:lnSpc>
                <a:spcPts val="2070"/>
              </a:lnSpc>
            </a:pPr>
            <a:r>
              <a:rPr lang="en-US" sz="1725">
                <a:solidFill>
                  <a:srgbClr val="45545A"/>
                </a:solidFill>
                <a:latin typeface="Noto Sans"/>
                <a:ea typeface="Noto Sans"/>
                <a:cs typeface="Noto Sans"/>
                <a:sym typeface="Noto Sans"/>
              </a:rPr>
              <a:t>쪽별 텍스트 추출</a:t>
            </a:r>
          </a:p>
          <a:p>
            <a:pPr algn="l">
              <a:lnSpc>
                <a:spcPts val="2070"/>
              </a:lnSpc>
            </a:pPr>
            <a:r>
              <a:rPr lang="en-US" sz="1725">
                <a:solidFill>
                  <a:srgbClr val="45545A"/>
                </a:solidFill>
                <a:latin typeface="Noto Sans"/>
                <a:ea typeface="Noto Sans"/>
                <a:cs typeface="Noto Sans"/>
                <a:sym typeface="Noto Sans"/>
              </a:rPr>
              <a:t>머리말 · 빈 쪽 제거</a:t>
            </a:r>
          </a:p>
        </p:txBody>
      </p:sp>
      <p:sp>
        <p:nvSpPr>
          <p:cNvPr name="TextBox 38" id="38"/>
          <p:cNvSpPr txBox="true"/>
          <p:nvPr/>
        </p:nvSpPr>
        <p:spPr>
          <a:xfrm rot="0">
            <a:off x="8366760" y="3429000"/>
            <a:ext cx="342900" cy="685800"/>
          </a:xfrm>
          <a:prstGeom prst="rect">
            <a:avLst/>
          </a:prstGeom>
        </p:spPr>
        <p:txBody>
          <a:bodyPr anchor="t" rtlCol="false" tIns="0" lIns="0" bIns="0" rIns="0">
            <a:spAutoFit/>
          </a:bodyPr>
          <a:lstStyle/>
          <a:p>
            <a:pPr algn="ctr">
              <a:lnSpc>
                <a:spcPts val="4320"/>
              </a:lnSpc>
            </a:pPr>
            <a:r>
              <a:rPr lang="en-US" sz="3600">
                <a:solidFill>
                  <a:srgbClr val="1F6F63"/>
                </a:solidFill>
                <a:latin typeface="Noto Sans"/>
                <a:ea typeface="Noto Sans"/>
                <a:cs typeface="Noto Sans"/>
                <a:sym typeface="Noto Sans"/>
              </a:rPr>
              <a:t>›</a:t>
            </a:r>
          </a:p>
        </p:txBody>
      </p:sp>
      <p:sp>
        <p:nvSpPr>
          <p:cNvPr name="Freeform 39" id="39"/>
          <p:cNvSpPr/>
          <p:nvPr/>
        </p:nvSpPr>
        <p:spPr>
          <a:xfrm flipH="false" flipV="false" rot="0">
            <a:off x="8692991" y="2726531"/>
            <a:ext cx="2639378" cy="2227898"/>
          </a:xfrm>
          <a:custGeom>
            <a:avLst/>
            <a:gdLst/>
            <a:ahLst/>
            <a:cxnLst/>
            <a:rect r="r" b="b" t="t" l="l"/>
            <a:pathLst>
              <a:path h="2227898" w="2639378">
                <a:moveTo>
                  <a:pt x="0" y="0"/>
                </a:moveTo>
                <a:lnTo>
                  <a:pt x="2639378" y="0"/>
                </a:lnTo>
                <a:lnTo>
                  <a:pt x="2639378" y="2227898"/>
                </a:lnTo>
                <a:lnTo>
                  <a:pt x="0" y="2227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40" id="40"/>
          <p:cNvSpPr txBox="true"/>
          <p:nvPr/>
        </p:nvSpPr>
        <p:spPr>
          <a:xfrm rot="0">
            <a:off x="8956548" y="2880360"/>
            <a:ext cx="1371600" cy="411480"/>
          </a:xfrm>
          <a:prstGeom prst="rect">
            <a:avLst/>
          </a:prstGeom>
        </p:spPr>
        <p:txBody>
          <a:bodyPr anchor="t" rtlCol="false" tIns="0" lIns="0" bIns="0" rIns="0">
            <a:spAutoFit/>
          </a:bodyPr>
          <a:lstStyle/>
          <a:p>
            <a:pPr algn="l">
              <a:lnSpc>
                <a:spcPts val="1980"/>
              </a:lnSpc>
            </a:pPr>
            <a:r>
              <a:rPr lang="en-US" sz="1650" b="true">
                <a:solidFill>
                  <a:srgbClr val="1F6F63"/>
                </a:solidFill>
                <a:latin typeface="Noto Sans Bold"/>
                <a:ea typeface="Noto Sans Bold"/>
                <a:cs typeface="Noto Sans Bold"/>
                <a:sym typeface="Noto Sans Bold"/>
              </a:rPr>
              <a:t>02</a:t>
            </a:r>
          </a:p>
        </p:txBody>
      </p:sp>
      <p:sp>
        <p:nvSpPr>
          <p:cNvPr name="TextBox 41" id="41"/>
          <p:cNvSpPr txBox="true"/>
          <p:nvPr/>
        </p:nvSpPr>
        <p:spPr>
          <a:xfrm rot="0">
            <a:off x="8956548" y="3264408"/>
            <a:ext cx="2194560" cy="548640"/>
          </a:xfrm>
          <a:prstGeom prst="rect">
            <a:avLst/>
          </a:prstGeom>
        </p:spPr>
        <p:txBody>
          <a:bodyPr anchor="t" rtlCol="false" tIns="0" lIns="0" bIns="0" rIns="0">
            <a:spAutoFit/>
          </a:bodyPr>
          <a:lstStyle/>
          <a:p>
            <a:pPr algn="l">
              <a:lnSpc>
                <a:spcPts val="2700"/>
              </a:lnSpc>
            </a:pPr>
            <a:r>
              <a:rPr lang="en-US" sz="2250" b="true">
                <a:solidFill>
                  <a:srgbClr val="1B2B2E"/>
                </a:solidFill>
                <a:latin typeface="Noto Sans Bold"/>
                <a:ea typeface="Noto Sans Bold"/>
                <a:cs typeface="Noto Sans Bold"/>
                <a:sym typeface="Noto Sans Bold"/>
              </a:rPr>
              <a:t>청킹</a:t>
            </a:r>
          </a:p>
        </p:txBody>
      </p:sp>
      <p:sp>
        <p:nvSpPr>
          <p:cNvPr name="TextBox 42" id="42"/>
          <p:cNvSpPr txBox="true"/>
          <p:nvPr/>
        </p:nvSpPr>
        <p:spPr>
          <a:xfrm rot="0">
            <a:off x="8956548" y="3886962"/>
            <a:ext cx="2263140" cy="941070"/>
          </a:xfrm>
          <a:prstGeom prst="rect">
            <a:avLst/>
          </a:prstGeom>
        </p:spPr>
        <p:txBody>
          <a:bodyPr anchor="t" rtlCol="false" tIns="0" lIns="0" bIns="0" rIns="0">
            <a:spAutoFit/>
          </a:bodyPr>
          <a:lstStyle/>
          <a:p>
            <a:pPr algn="l">
              <a:lnSpc>
                <a:spcPts val="2070"/>
              </a:lnSpc>
            </a:pPr>
            <a:r>
              <a:rPr lang="en-US" sz="1725">
                <a:solidFill>
                  <a:srgbClr val="45545A"/>
                </a:solidFill>
                <a:latin typeface="Noto Sans"/>
                <a:ea typeface="Noto Sans"/>
                <a:cs typeface="Noto Sans"/>
                <a:sym typeface="Noto Sans"/>
              </a:rPr>
              <a:t>700토큰 기준</a:t>
            </a:r>
          </a:p>
          <a:p>
            <a:pPr algn="l">
              <a:lnSpc>
                <a:spcPts val="2070"/>
              </a:lnSpc>
            </a:pPr>
            <a:r>
              <a:rPr lang="en-US" sz="1725">
                <a:solidFill>
                  <a:srgbClr val="45545A"/>
                </a:solidFill>
                <a:latin typeface="Noto Sans"/>
                <a:ea typeface="Noto Sans"/>
                <a:cs typeface="Noto Sans"/>
                <a:sym typeface="Noto Sans"/>
              </a:rPr>
              <a:t>쪽 · 절 경계 보존</a:t>
            </a:r>
          </a:p>
        </p:txBody>
      </p:sp>
      <p:sp>
        <p:nvSpPr>
          <p:cNvPr name="TextBox 43" id="43"/>
          <p:cNvSpPr txBox="true"/>
          <p:nvPr/>
        </p:nvSpPr>
        <p:spPr>
          <a:xfrm rot="0">
            <a:off x="11315700" y="3429000"/>
            <a:ext cx="342900" cy="685800"/>
          </a:xfrm>
          <a:prstGeom prst="rect">
            <a:avLst/>
          </a:prstGeom>
        </p:spPr>
        <p:txBody>
          <a:bodyPr anchor="t" rtlCol="false" tIns="0" lIns="0" bIns="0" rIns="0">
            <a:spAutoFit/>
          </a:bodyPr>
          <a:lstStyle/>
          <a:p>
            <a:pPr algn="ctr">
              <a:lnSpc>
                <a:spcPts val="4320"/>
              </a:lnSpc>
            </a:pPr>
            <a:r>
              <a:rPr lang="en-US" sz="3600">
                <a:solidFill>
                  <a:srgbClr val="1F6F63"/>
                </a:solidFill>
                <a:latin typeface="Noto Sans"/>
                <a:ea typeface="Noto Sans"/>
                <a:cs typeface="Noto Sans"/>
                <a:sym typeface="Noto Sans"/>
              </a:rPr>
              <a:t>›</a:t>
            </a:r>
          </a:p>
        </p:txBody>
      </p:sp>
      <p:sp>
        <p:nvSpPr>
          <p:cNvPr name="Freeform 44" id="44"/>
          <p:cNvSpPr/>
          <p:nvPr/>
        </p:nvSpPr>
        <p:spPr>
          <a:xfrm flipH="false" flipV="false" rot="0">
            <a:off x="11641931" y="2726531"/>
            <a:ext cx="2639378" cy="2227898"/>
          </a:xfrm>
          <a:custGeom>
            <a:avLst/>
            <a:gdLst/>
            <a:ahLst/>
            <a:cxnLst/>
            <a:rect r="r" b="b" t="t" l="l"/>
            <a:pathLst>
              <a:path h="2227898" w="2639378">
                <a:moveTo>
                  <a:pt x="0" y="0"/>
                </a:moveTo>
                <a:lnTo>
                  <a:pt x="2639378" y="0"/>
                </a:lnTo>
                <a:lnTo>
                  <a:pt x="2639378" y="2227898"/>
                </a:lnTo>
                <a:lnTo>
                  <a:pt x="0" y="2227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45" id="45"/>
          <p:cNvSpPr txBox="true"/>
          <p:nvPr/>
        </p:nvSpPr>
        <p:spPr>
          <a:xfrm rot="0">
            <a:off x="11905488" y="2880360"/>
            <a:ext cx="1371600" cy="411480"/>
          </a:xfrm>
          <a:prstGeom prst="rect">
            <a:avLst/>
          </a:prstGeom>
        </p:spPr>
        <p:txBody>
          <a:bodyPr anchor="t" rtlCol="false" tIns="0" lIns="0" bIns="0" rIns="0">
            <a:spAutoFit/>
          </a:bodyPr>
          <a:lstStyle/>
          <a:p>
            <a:pPr algn="l">
              <a:lnSpc>
                <a:spcPts val="1980"/>
              </a:lnSpc>
            </a:pPr>
            <a:r>
              <a:rPr lang="en-US" sz="1650" b="true">
                <a:solidFill>
                  <a:srgbClr val="1F6F63"/>
                </a:solidFill>
                <a:latin typeface="Noto Sans Bold"/>
                <a:ea typeface="Noto Sans Bold"/>
                <a:cs typeface="Noto Sans Bold"/>
                <a:sym typeface="Noto Sans Bold"/>
              </a:rPr>
              <a:t>03</a:t>
            </a:r>
          </a:p>
        </p:txBody>
      </p:sp>
      <p:sp>
        <p:nvSpPr>
          <p:cNvPr name="TextBox 46" id="46"/>
          <p:cNvSpPr txBox="true"/>
          <p:nvPr/>
        </p:nvSpPr>
        <p:spPr>
          <a:xfrm rot="0">
            <a:off x="11905488" y="3264408"/>
            <a:ext cx="2194560" cy="548640"/>
          </a:xfrm>
          <a:prstGeom prst="rect">
            <a:avLst/>
          </a:prstGeom>
        </p:spPr>
        <p:txBody>
          <a:bodyPr anchor="t" rtlCol="false" tIns="0" lIns="0" bIns="0" rIns="0">
            <a:spAutoFit/>
          </a:bodyPr>
          <a:lstStyle/>
          <a:p>
            <a:pPr algn="l">
              <a:lnSpc>
                <a:spcPts val="2700"/>
              </a:lnSpc>
            </a:pPr>
            <a:r>
              <a:rPr lang="en-US" sz="2250" b="true">
                <a:solidFill>
                  <a:srgbClr val="1B2B2E"/>
                </a:solidFill>
                <a:latin typeface="Noto Sans Bold"/>
                <a:ea typeface="Noto Sans Bold"/>
                <a:cs typeface="Noto Sans Bold"/>
                <a:sym typeface="Noto Sans Bold"/>
              </a:rPr>
              <a:t>임베딩</a:t>
            </a:r>
          </a:p>
        </p:txBody>
      </p:sp>
      <p:sp>
        <p:nvSpPr>
          <p:cNvPr name="TextBox 47" id="47"/>
          <p:cNvSpPr txBox="true"/>
          <p:nvPr/>
        </p:nvSpPr>
        <p:spPr>
          <a:xfrm rot="0">
            <a:off x="11905488" y="3886962"/>
            <a:ext cx="2263140" cy="941070"/>
          </a:xfrm>
          <a:prstGeom prst="rect">
            <a:avLst/>
          </a:prstGeom>
        </p:spPr>
        <p:txBody>
          <a:bodyPr anchor="t" rtlCol="false" tIns="0" lIns="0" bIns="0" rIns="0">
            <a:spAutoFit/>
          </a:bodyPr>
          <a:lstStyle/>
          <a:p>
            <a:pPr algn="l">
              <a:lnSpc>
                <a:spcPts val="2070"/>
              </a:lnSpc>
            </a:pPr>
            <a:r>
              <a:rPr lang="en-US" sz="1725">
                <a:solidFill>
                  <a:srgbClr val="45545A"/>
                </a:solidFill>
                <a:latin typeface="Noto Sans"/>
                <a:ea typeface="Noto Sans"/>
                <a:cs typeface="Noto Sans"/>
                <a:sym typeface="Noto Sans"/>
              </a:rPr>
              <a:t>embeddinggemma</a:t>
            </a:r>
          </a:p>
          <a:p>
            <a:pPr algn="l">
              <a:lnSpc>
                <a:spcPts val="2070"/>
              </a:lnSpc>
            </a:pPr>
            <a:r>
              <a:rPr lang="en-US" sz="1725">
                <a:solidFill>
                  <a:srgbClr val="45545A"/>
                </a:solidFill>
                <a:latin typeface="Noto Sans"/>
                <a:ea typeface="Noto Sans"/>
                <a:cs typeface="Noto Sans"/>
                <a:sym typeface="Noto Sans"/>
              </a:rPr>
              <a:t>300M · 768차원</a:t>
            </a:r>
          </a:p>
        </p:txBody>
      </p:sp>
      <p:sp>
        <p:nvSpPr>
          <p:cNvPr name="TextBox 48" id="48"/>
          <p:cNvSpPr txBox="true"/>
          <p:nvPr/>
        </p:nvSpPr>
        <p:spPr>
          <a:xfrm rot="0">
            <a:off x="14264640" y="3429000"/>
            <a:ext cx="342900" cy="685800"/>
          </a:xfrm>
          <a:prstGeom prst="rect">
            <a:avLst/>
          </a:prstGeom>
        </p:spPr>
        <p:txBody>
          <a:bodyPr anchor="t" rtlCol="false" tIns="0" lIns="0" bIns="0" rIns="0">
            <a:spAutoFit/>
          </a:bodyPr>
          <a:lstStyle/>
          <a:p>
            <a:pPr algn="ctr">
              <a:lnSpc>
                <a:spcPts val="4320"/>
              </a:lnSpc>
            </a:pPr>
            <a:r>
              <a:rPr lang="en-US" sz="3600">
                <a:solidFill>
                  <a:srgbClr val="1F6F63"/>
                </a:solidFill>
                <a:latin typeface="Noto Sans"/>
                <a:ea typeface="Noto Sans"/>
                <a:cs typeface="Noto Sans"/>
                <a:sym typeface="Noto Sans"/>
              </a:rPr>
              <a:t>›</a:t>
            </a:r>
          </a:p>
        </p:txBody>
      </p:sp>
      <p:sp>
        <p:nvSpPr>
          <p:cNvPr name="Freeform 49" id="49"/>
          <p:cNvSpPr/>
          <p:nvPr/>
        </p:nvSpPr>
        <p:spPr>
          <a:xfrm flipH="false" flipV="false" rot="0">
            <a:off x="14590871" y="2726531"/>
            <a:ext cx="2639378" cy="2227898"/>
          </a:xfrm>
          <a:custGeom>
            <a:avLst/>
            <a:gdLst/>
            <a:ahLst/>
            <a:cxnLst/>
            <a:rect r="r" b="b" t="t" l="l"/>
            <a:pathLst>
              <a:path h="2227898" w="2639378">
                <a:moveTo>
                  <a:pt x="0" y="0"/>
                </a:moveTo>
                <a:lnTo>
                  <a:pt x="2639378" y="0"/>
                </a:lnTo>
                <a:lnTo>
                  <a:pt x="2639378" y="2227898"/>
                </a:lnTo>
                <a:lnTo>
                  <a:pt x="0" y="22278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50" id="50"/>
          <p:cNvSpPr txBox="true"/>
          <p:nvPr/>
        </p:nvSpPr>
        <p:spPr>
          <a:xfrm rot="0">
            <a:off x="14854428" y="2880360"/>
            <a:ext cx="1371600" cy="411480"/>
          </a:xfrm>
          <a:prstGeom prst="rect">
            <a:avLst/>
          </a:prstGeom>
        </p:spPr>
        <p:txBody>
          <a:bodyPr anchor="t" rtlCol="false" tIns="0" lIns="0" bIns="0" rIns="0">
            <a:spAutoFit/>
          </a:bodyPr>
          <a:lstStyle/>
          <a:p>
            <a:pPr algn="l">
              <a:lnSpc>
                <a:spcPts val="1980"/>
              </a:lnSpc>
            </a:pPr>
            <a:r>
              <a:rPr lang="en-US" sz="1650" b="true">
                <a:solidFill>
                  <a:srgbClr val="1F6F63"/>
                </a:solidFill>
                <a:latin typeface="Noto Sans Bold"/>
                <a:ea typeface="Noto Sans Bold"/>
                <a:cs typeface="Noto Sans Bold"/>
                <a:sym typeface="Noto Sans Bold"/>
              </a:rPr>
              <a:t>04</a:t>
            </a:r>
          </a:p>
        </p:txBody>
      </p:sp>
      <p:sp>
        <p:nvSpPr>
          <p:cNvPr name="TextBox 51" id="51"/>
          <p:cNvSpPr txBox="true"/>
          <p:nvPr/>
        </p:nvSpPr>
        <p:spPr>
          <a:xfrm rot="0">
            <a:off x="14854428" y="3264408"/>
            <a:ext cx="2194560" cy="548640"/>
          </a:xfrm>
          <a:prstGeom prst="rect">
            <a:avLst/>
          </a:prstGeom>
        </p:spPr>
        <p:txBody>
          <a:bodyPr anchor="t" rtlCol="false" tIns="0" lIns="0" bIns="0" rIns="0">
            <a:spAutoFit/>
          </a:bodyPr>
          <a:lstStyle/>
          <a:p>
            <a:pPr algn="l">
              <a:lnSpc>
                <a:spcPts val="2700"/>
              </a:lnSpc>
            </a:pPr>
            <a:r>
              <a:rPr lang="en-US" sz="2250" b="true">
                <a:solidFill>
                  <a:srgbClr val="1B2B2E"/>
                </a:solidFill>
                <a:latin typeface="Noto Sans Bold"/>
                <a:ea typeface="Noto Sans Bold"/>
                <a:cs typeface="Noto Sans Bold"/>
                <a:sym typeface="Noto Sans Bold"/>
              </a:rPr>
              <a:t>검색</a:t>
            </a:r>
          </a:p>
        </p:txBody>
      </p:sp>
      <p:sp>
        <p:nvSpPr>
          <p:cNvPr name="TextBox 52" id="52"/>
          <p:cNvSpPr txBox="true"/>
          <p:nvPr/>
        </p:nvSpPr>
        <p:spPr>
          <a:xfrm rot="0">
            <a:off x="14854428" y="3886962"/>
            <a:ext cx="2263140" cy="941070"/>
          </a:xfrm>
          <a:prstGeom prst="rect">
            <a:avLst/>
          </a:prstGeom>
        </p:spPr>
        <p:txBody>
          <a:bodyPr anchor="t" rtlCol="false" tIns="0" lIns="0" bIns="0" rIns="0">
            <a:spAutoFit/>
          </a:bodyPr>
          <a:lstStyle/>
          <a:p>
            <a:pPr algn="l">
              <a:lnSpc>
                <a:spcPts val="2070"/>
              </a:lnSpc>
            </a:pPr>
            <a:r>
              <a:rPr lang="en-US" sz="1725">
                <a:solidFill>
                  <a:srgbClr val="45545A"/>
                </a:solidFill>
                <a:latin typeface="Noto Sans"/>
                <a:ea typeface="Noto Sans"/>
                <a:cs typeface="Noto Sans"/>
                <a:sym typeface="Noto Sans"/>
              </a:rPr>
              <a:t>설비 필터 + 코사인</a:t>
            </a:r>
          </a:p>
          <a:p>
            <a:pPr algn="l">
              <a:lnSpc>
                <a:spcPts val="2070"/>
              </a:lnSpc>
            </a:pPr>
            <a:r>
              <a:rPr lang="en-US" sz="1725">
                <a:solidFill>
                  <a:srgbClr val="45545A"/>
                </a:solidFill>
                <a:latin typeface="Noto Sans"/>
                <a:ea typeface="Noto Sans"/>
                <a:cs typeface="Noto Sans"/>
                <a:sym typeface="Noto Sans"/>
              </a:rPr>
              <a:t>최대 8조각</a:t>
            </a:r>
          </a:p>
        </p:txBody>
      </p:sp>
      <p:sp>
        <p:nvSpPr>
          <p:cNvPr name="Freeform 53" id="53"/>
          <p:cNvSpPr/>
          <p:nvPr/>
        </p:nvSpPr>
        <p:spPr>
          <a:xfrm flipH="false" flipV="false" rot="0">
            <a:off x="5744051" y="5332571"/>
            <a:ext cx="11733086" cy="1953578"/>
          </a:xfrm>
          <a:custGeom>
            <a:avLst/>
            <a:gdLst/>
            <a:ahLst/>
            <a:cxnLst/>
            <a:rect r="r" b="b" t="t" l="l"/>
            <a:pathLst>
              <a:path h="1953578" w="11733086">
                <a:moveTo>
                  <a:pt x="0" y="0"/>
                </a:moveTo>
                <a:lnTo>
                  <a:pt x="11733086" y="0"/>
                </a:lnTo>
                <a:lnTo>
                  <a:pt x="11733086" y="1953578"/>
                </a:lnTo>
                <a:lnTo>
                  <a:pt x="0" y="19535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54" id="54"/>
          <p:cNvSpPr txBox="true"/>
          <p:nvPr/>
        </p:nvSpPr>
        <p:spPr>
          <a:xfrm rot="0">
            <a:off x="6103620" y="5513832"/>
            <a:ext cx="6172200" cy="713232"/>
          </a:xfrm>
          <a:prstGeom prst="rect">
            <a:avLst/>
          </a:prstGeom>
        </p:spPr>
        <p:txBody>
          <a:bodyPr anchor="t" rtlCol="false" tIns="0" lIns="0" bIns="0" rIns="0">
            <a:spAutoFit/>
          </a:bodyPr>
          <a:lstStyle/>
          <a:p>
            <a:pPr algn="l">
              <a:lnSpc>
                <a:spcPts val="3960"/>
              </a:lnSpc>
            </a:pPr>
            <a:r>
              <a:rPr lang="en-US" sz="3300" b="true">
                <a:solidFill>
                  <a:srgbClr val="1F6F63"/>
                </a:solidFill>
                <a:latin typeface="Noto Sans Bold"/>
                <a:ea typeface="Noto Sans Bold"/>
                <a:cs typeface="Noto Sans Bold"/>
                <a:sym typeface="Noto Sans Bold"/>
              </a:rPr>
              <a:t>최종 색인  3,950조각</a:t>
            </a:r>
          </a:p>
        </p:txBody>
      </p:sp>
      <p:sp>
        <p:nvSpPr>
          <p:cNvPr name="TextBox 55" id="55"/>
          <p:cNvSpPr txBox="true"/>
          <p:nvPr/>
        </p:nvSpPr>
        <p:spPr>
          <a:xfrm rot="0">
            <a:off x="6103620" y="6336792"/>
            <a:ext cx="7406640" cy="548640"/>
          </a:xfrm>
          <a:prstGeom prst="rect">
            <a:avLst/>
          </a:prstGeom>
        </p:spPr>
        <p:txBody>
          <a:bodyPr anchor="t" rtlCol="false" tIns="0" lIns="0" bIns="0" rIns="0">
            <a:spAutoFit/>
          </a:bodyPr>
          <a:lstStyle/>
          <a:p>
            <a:pPr algn="l">
              <a:lnSpc>
                <a:spcPts val="2520"/>
              </a:lnSpc>
            </a:pPr>
            <a:r>
              <a:rPr lang="en-US" sz="2100">
                <a:solidFill>
                  <a:srgbClr val="1B2B2E"/>
                </a:solidFill>
                <a:latin typeface="Noto Sans"/>
                <a:ea typeface="Noto Sans"/>
                <a:cs typeface="Noto Sans"/>
                <a:sym typeface="Noto Sans"/>
              </a:rPr>
              <a:t>원문 3,824 · 카드 86 · 인계 기록 40 · 약 336만 자</a:t>
            </a:r>
          </a:p>
        </p:txBody>
      </p:sp>
      <p:sp>
        <p:nvSpPr>
          <p:cNvPr name="TextBox 56" id="56"/>
          <p:cNvSpPr txBox="true"/>
          <p:nvPr/>
        </p:nvSpPr>
        <p:spPr>
          <a:xfrm rot="0">
            <a:off x="13578840" y="5615178"/>
            <a:ext cx="3703320" cy="1352550"/>
          </a:xfrm>
          <a:prstGeom prst="rect">
            <a:avLst/>
          </a:prstGeom>
        </p:spPr>
        <p:txBody>
          <a:bodyPr anchor="t" rtlCol="false" tIns="0" lIns="0" bIns="0" rIns="0">
            <a:spAutoFit/>
          </a:bodyPr>
          <a:lstStyle/>
          <a:p>
            <a:pPr algn="r">
              <a:lnSpc>
                <a:spcPts val="2160"/>
              </a:lnSpc>
            </a:pPr>
            <a:r>
              <a:rPr lang="en-US" sz="1800">
                <a:solidFill>
                  <a:srgbClr val="45545A"/>
                </a:solidFill>
                <a:latin typeface="Noto Sans"/>
                <a:ea typeface="Noto Sans"/>
                <a:cs typeface="Noto Sans"/>
                <a:sym typeface="Noto Sans"/>
              </a:rPr>
              <a:t>색인은 PC · GPU에서 구축</a:t>
            </a:r>
          </a:p>
          <a:p>
            <a:pPr algn="r">
              <a:lnSpc>
                <a:spcPts val="2160"/>
              </a:lnSpc>
            </a:pPr>
            <a:r>
              <a:rPr lang="en-US" sz="1800">
                <a:solidFill>
                  <a:srgbClr val="45545A"/>
                </a:solidFill>
                <a:latin typeface="Noto Sans"/>
                <a:ea typeface="Noto Sans"/>
                <a:cs typeface="Noto Sans"/>
                <a:sym typeface="Noto Sans"/>
              </a:rPr>
              <a:t>Jetson은 완성본만 로드</a:t>
            </a:r>
          </a:p>
        </p:txBody>
      </p:sp>
      <p:sp>
        <p:nvSpPr>
          <p:cNvPr name="TextBox 57" id="57"/>
          <p:cNvSpPr txBox="true"/>
          <p:nvPr/>
        </p:nvSpPr>
        <p:spPr>
          <a:xfrm rot="0">
            <a:off x="5760720" y="7543800"/>
            <a:ext cx="11658600" cy="438912"/>
          </a:xfrm>
          <a:prstGeom prst="rect">
            <a:avLst/>
          </a:prstGeom>
        </p:spPr>
        <p:txBody>
          <a:bodyPr anchor="t" rtlCol="false" tIns="0" lIns="0" bIns="0" rIns="0">
            <a:spAutoFit/>
          </a:bodyPr>
          <a:lstStyle/>
          <a:p>
            <a:pPr algn="l">
              <a:lnSpc>
                <a:spcPts val="2250"/>
              </a:lnSpc>
            </a:pPr>
            <a:r>
              <a:rPr lang="en-US" sz="1875">
                <a:solidFill>
                  <a:srgbClr val="45545A"/>
                </a:solidFill>
                <a:latin typeface="Noto Sans"/>
                <a:ea typeface="Noto Sans"/>
                <a:cs typeface="Noto Sans"/>
                <a:sym typeface="Noto Sans"/>
              </a:rPr>
              <a:t>학습 · 평가 데이터 중복 차단 (최대 바이그램 유사도 0.27)</a:t>
            </a:r>
          </a:p>
        </p:txBody>
      </p:sp>
      <p:sp>
        <p:nvSpPr>
          <p:cNvPr name="TextBox 58" id="58"/>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a:solidFill>
                  <a:srgbClr val="6B787A"/>
                </a:solidFill>
                <a:latin typeface="Noto Sans"/>
                <a:ea typeface="Noto Sans"/>
                <a:cs typeface="Noto Sans"/>
                <a:sym typeface="Noto Sans"/>
              </a:rPr>
              <a:t>22</a:t>
            </a:r>
          </a:p>
        </p:txBody>
      </p:sp>
      <p:grpSp>
        <p:nvGrpSpPr>
          <p:cNvPr name="Group 59" id="59"/>
          <p:cNvGrpSpPr/>
          <p:nvPr/>
        </p:nvGrpSpPr>
        <p:grpSpPr>
          <a:xfrm rot="0">
            <a:off x="5818352" y="9710928"/>
            <a:ext cx="4070985" cy="419672"/>
            <a:chOff x="0" y="0"/>
            <a:chExt cx="5427980" cy="559562"/>
          </a:xfrm>
        </p:grpSpPr>
        <p:grpSp>
          <p:nvGrpSpPr>
            <p:cNvPr name="Group 60" id="60"/>
            <p:cNvGrpSpPr/>
            <p:nvPr/>
          </p:nvGrpSpPr>
          <p:grpSpPr>
            <a:xfrm rot="0">
              <a:off x="0" y="0"/>
              <a:ext cx="1680845" cy="559562"/>
              <a:chOff x="0" y="0"/>
              <a:chExt cx="1680845" cy="559562"/>
            </a:xfrm>
          </p:grpSpPr>
          <p:sp>
            <p:nvSpPr>
              <p:cNvPr name="Freeform 61" id="61"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11"/>
                <a:stretch>
                  <a:fillRect l="0" t="-265" r="0" b="-267"/>
                </a:stretch>
              </a:blipFill>
            </p:spPr>
          </p:sp>
        </p:grpSp>
        <p:grpSp>
          <p:nvGrpSpPr>
            <p:cNvPr name="Group 62" id="62"/>
            <p:cNvGrpSpPr/>
            <p:nvPr/>
          </p:nvGrpSpPr>
          <p:grpSpPr>
            <a:xfrm rot="0">
              <a:off x="2069490" y="124358"/>
              <a:ext cx="1189101" cy="310896"/>
              <a:chOff x="0" y="0"/>
              <a:chExt cx="1189101" cy="310896"/>
            </a:xfrm>
          </p:grpSpPr>
          <p:sp>
            <p:nvSpPr>
              <p:cNvPr name="Freeform 63" id="63"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12"/>
                <a:stretch>
                  <a:fillRect l="-30" t="0" r="-32" b="0"/>
                </a:stretch>
              </a:blipFill>
            </p:spPr>
          </p:sp>
        </p:grpSp>
        <p:grpSp>
          <p:nvGrpSpPr>
            <p:cNvPr name="Group 64" id="64"/>
            <p:cNvGrpSpPr/>
            <p:nvPr/>
          </p:nvGrpSpPr>
          <p:grpSpPr>
            <a:xfrm rot="0">
              <a:off x="3647186" y="124358"/>
              <a:ext cx="1780794" cy="310896"/>
              <a:chOff x="0" y="0"/>
              <a:chExt cx="1780794" cy="310896"/>
            </a:xfrm>
          </p:grpSpPr>
          <p:sp>
            <p:nvSpPr>
              <p:cNvPr name="Freeform 65" id="65"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13"/>
                <a:stretch>
                  <a:fillRect l="0" t="-118" r="0" b="-122"/>
                </a:stretch>
              </a:blipFill>
            </p:spPr>
          </p:sp>
        </p:gr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3050" r="0" b="-333050"/>
              </a:stretch>
            </a:blipFill>
          </p:spPr>
        </p:sp>
        <p:sp>
          <p:nvSpPr>
            <p:cNvPr name="TextBox 6" id="6"/>
            <p:cNvSpPr txBox="true"/>
            <p:nvPr/>
          </p:nvSpPr>
          <p:spPr>
            <a:xfrm>
              <a:off x="0" y="-9525"/>
              <a:ext cx="10972800" cy="567690"/>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7" id="7"/>
          <p:cNvGrpSpPr/>
          <p:nvPr/>
        </p:nvGrpSpPr>
        <p:grpSpPr>
          <a:xfrm rot="0">
            <a:off x="822960" y="438912"/>
            <a:ext cx="4114800" cy="384048"/>
            <a:chOff x="0" y="0"/>
            <a:chExt cx="5486400" cy="512064"/>
          </a:xfrm>
        </p:grpSpPr>
        <p:sp>
          <p:nvSpPr>
            <p:cNvPr name="Freeform 8" id="8"/>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3">
                <a:alphaModFix amt="0"/>
              </a:blip>
              <a:stretch>
                <a:fillRect l="0" t="-158623" r="0" b="-158623"/>
              </a:stretch>
            </a:blipFill>
          </p:spPr>
        </p:sp>
      </p:grpSp>
      <p:grpSp>
        <p:nvGrpSpPr>
          <p:cNvPr name="Group 9" id="9"/>
          <p:cNvGrpSpPr/>
          <p:nvPr/>
        </p:nvGrpSpPr>
        <p:grpSpPr>
          <a:xfrm rot="0">
            <a:off x="822960" y="438912"/>
            <a:ext cx="4114800" cy="384048"/>
            <a:chOff x="0" y="0"/>
            <a:chExt cx="5486400" cy="512064"/>
          </a:xfrm>
        </p:grpSpPr>
        <p:sp>
          <p:nvSpPr>
            <p:cNvPr name="Freeform 10" id="10"/>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4">
                <a:alphaModFix amt="0"/>
              </a:blip>
              <a:stretch>
                <a:fillRect l="0" t="-158768" r="0" b="-158768"/>
              </a:stretch>
            </a:blipFill>
          </p:spPr>
        </p:sp>
        <p:sp>
          <p:nvSpPr>
            <p:cNvPr name="TextBox 11" id="11"/>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03  AI 모델</a:t>
              </a:r>
            </a:p>
          </p:txBody>
        </p:sp>
      </p:grpSp>
      <p:grpSp>
        <p:nvGrpSpPr>
          <p:cNvPr name="Group 12" id="12"/>
          <p:cNvGrpSpPr/>
          <p:nvPr/>
        </p:nvGrpSpPr>
        <p:grpSpPr>
          <a:xfrm rot="0">
            <a:off x="822960" y="822960"/>
            <a:ext cx="16641623" cy="850392"/>
            <a:chOff x="0" y="0"/>
            <a:chExt cx="22188830" cy="1133856"/>
          </a:xfrm>
        </p:grpSpPr>
        <p:sp>
          <p:nvSpPr>
            <p:cNvPr name="Freeform 13" id="13"/>
            <p:cNvSpPr/>
            <p:nvPr/>
          </p:nvSpPr>
          <p:spPr>
            <a:xfrm flipH="false" flipV="false" rot="0">
              <a:off x="0" y="0"/>
              <a:ext cx="22188805" cy="1133856"/>
            </a:xfrm>
            <a:custGeom>
              <a:avLst/>
              <a:gdLst/>
              <a:ahLst/>
              <a:cxnLst/>
              <a:rect r="r" b="b" t="t" l="l"/>
              <a:pathLst>
                <a:path h="1133856" w="22188805">
                  <a:moveTo>
                    <a:pt x="0" y="0"/>
                  </a:moveTo>
                  <a:lnTo>
                    <a:pt x="22188805" y="0"/>
                  </a:lnTo>
                  <a:lnTo>
                    <a:pt x="22188805" y="1133856"/>
                  </a:lnTo>
                  <a:lnTo>
                    <a:pt x="0" y="1133856"/>
                  </a:lnTo>
                  <a:close/>
                </a:path>
              </a:pathLst>
            </a:custGeom>
            <a:blipFill>
              <a:blip r:embed="rId3">
                <a:alphaModFix amt="0"/>
              </a:blip>
              <a:stretch>
                <a:fillRect l="0" t="-331043" r="0" b="-331045"/>
              </a:stretch>
            </a:blipFill>
          </p:spPr>
        </p:sp>
      </p:grpSp>
      <p:grpSp>
        <p:nvGrpSpPr>
          <p:cNvPr name="Group 14" id="14"/>
          <p:cNvGrpSpPr/>
          <p:nvPr/>
        </p:nvGrpSpPr>
        <p:grpSpPr>
          <a:xfrm rot="0">
            <a:off x="822960" y="822960"/>
            <a:ext cx="16642080" cy="850392"/>
            <a:chOff x="0" y="0"/>
            <a:chExt cx="22189440" cy="1133856"/>
          </a:xfrm>
        </p:grpSpPr>
        <p:sp>
          <p:nvSpPr>
            <p:cNvPr name="Freeform 15" id="15"/>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4">
                <a:alphaModFix amt="0"/>
              </a:blip>
              <a:stretch>
                <a:fillRect l="0" t="-331309" r="2" b="-331309"/>
              </a:stretch>
            </a:blipFill>
          </p:spPr>
        </p:sp>
        <p:sp>
          <p:nvSpPr>
            <p:cNvPr name="TextBox 16" id="16"/>
            <p:cNvSpPr txBox="true"/>
            <p:nvPr/>
          </p:nvSpPr>
          <p:spPr>
            <a:xfrm>
              <a:off x="0" y="-9525"/>
              <a:ext cx="22189440" cy="1143381"/>
            </a:xfrm>
            <a:prstGeom prst="rect">
              <a:avLst/>
            </a:prstGeom>
          </p:spPr>
          <p:txBody>
            <a:bodyPr anchor="ctr" rtlCol="false" tIns="0" lIns="0" bIns="0" rIns="0"/>
            <a:lstStyle/>
            <a:p>
              <a:pPr algn="l">
                <a:lnSpc>
                  <a:spcPts val="4500"/>
                </a:lnSpc>
              </a:pPr>
              <a:r>
                <a:rPr lang="en-US" sz="3750" b="true">
                  <a:solidFill>
                    <a:srgbClr val="203238"/>
                  </a:solidFill>
                  <a:latin typeface="Noto Sans Bold"/>
                  <a:ea typeface="Noto Sans Bold"/>
                  <a:cs typeface="Noto Sans Bold"/>
                  <a:sym typeface="Noto Sans Bold"/>
                </a:rPr>
                <a:t>02  모델과 검색 방식 선택 – 동일 문항 비교 기반 선정</a:t>
              </a:r>
            </a:p>
          </p:txBody>
        </p:sp>
      </p:grpSp>
      <p:grpSp>
        <p:nvGrpSpPr>
          <p:cNvPr name="Group 17" id="17"/>
          <p:cNvGrpSpPr/>
          <p:nvPr/>
        </p:nvGrpSpPr>
        <p:grpSpPr>
          <a:xfrm rot="0">
            <a:off x="822960" y="1755648"/>
            <a:ext cx="16641623" cy="576072"/>
            <a:chOff x="0" y="0"/>
            <a:chExt cx="22188830" cy="768096"/>
          </a:xfrm>
        </p:grpSpPr>
        <p:sp>
          <p:nvSpPr>
            <p:cNvPr name="Freeform 18" id="18"/>
            <p:cNvSpPr/>
            <p:nvPr/>
          </p:nvSpPr>
          <p:spPr>
            <a:xfrm flipH="false" flipV="false" rot="0">
              <a:off x="0" y="0"/>
              <a:ext cx="22188805" cy="768096"/>
            </a:xfrm>
            <a:custGeom>
              <a:avLst/>
              <a:gdLst/>
              <a:ahLst/>
              <a:cxnLst/>
              <a:rect r="r" b="b" t="t" l="l"/>
              <a:pathLst>
                <a:path h="768096" w="22188805">
                  <a:moveTo>
                    <a:pt x="0" y="0"/>
                  </a:moveTo>
                  <a:lnTo>
                    <a:pt x="22188805" y="0"/>
                  </a:lnTo>
                  <a:lnTo>
                    <a:pt x="22188805" y="768096"/>
                  </a:lnTo>
                  <a:lnTo>
                    <a:pt x="0" y="768096"/>
                  </a:lnTo>
                  <a:close/>
                </a:path>
              </a:pathLst>
            </a:custGeom>
            <a:blipFill>
              <a:blip r:embed="rId3">
                <a:alphaModFix amt="0"/>
              </a:blip>
              <a:stretch>
                <a:fillRect l="0" t="-512493" r="0" b="-512495"/>
              </a:stretch>
            </a:blipFill>
          </p:spPr>
        </p:sp>
      </p:grpSp>
      <p:grpSp>
        <p:nvGrpSpPr>
          <p:cNvPr name="Group 19" id="19"/>
          <p:cNvGrpSpPr/>
          <p:nvPr/>
        </p:nvGrpSpPr>
        <p:grpSpPr>
          <a:xfrm rot="0">
            <a:off x="822960" y="1762125"/>
            <a:ext cx="16641623" cy="568928"/>
            <a:chOff x="0" y="0"/>
            <a:chExt cx="22188830" cy="758571"/>
          </a:xfrm>
        </p:grpSpPr>
        <p:sp>
          <p:nvSpPr>
            <p:cNvPr name="Freeform 20" id="20"/>
            <p:cNvSpPr/>
            <p:nvPr/>
          </p:nvSpPr>
          <p:spPr>
            <a:xfrm flipH="false" flipV="false" rot="0">
              <a:off x="0" y="0"/>
              <a:ext cx="22188830" cy="758571"/>
            </a:xfrm>
            <a:custGeom>
              <a:avLst/>
              <a:gdLst/>
              <a:ahLst/>
              <a:cxnLst/>
              <a:rect r="r" b="b" t="t" l="l"/>
              <a:pathLst>
                <a:path h="758571" w="22188830">
                  <a:moveTo>
                    <a:pt x="0" y="0"/>
                  </a:moveTo>
                  <a:lnTo>
                    <a:pt x="22188830" y="0"/>
                  </a:lnTo>
                  <a:lnTo>
                    <a:pt x="22188830" y="758571"/>
                  </a:lnTo>
                  <a:lnTo>
                    <a:pt x="0" y="758571"/>
                  </a:lnTo>
                  <a:close/>
                </a:path>
              </a:pathLst>
            </a:custGeom>
            <a:blipFill>
              <a:blip r:embed="rId4">
                <a:alphaModFix amt="0"/>
              </a:blip>
              <a:stretch>
                <a:fillRect l="0" t="-519953" r="0" b="-519953"/>
              </a:stretch>
            </a:blipFill>
          </p:spPr>
        </p:sp>
        <p:sp>
          <p:nvSpPr>
            <p:cNvPr name="TextBox 21" id="21"/>
            <p:cNvSpPr txBox="true"/>
            <p:nvPr/>
          </p:nvSpPr>
          <p:spPr>
            <a:xfrm>
              <a:off x="0" y="9525"/>
              <a:ext cx="22188830" cy="749046"/>
            </a:xfrm>
            <a:prstGeom prst="rect">
              <a:avLst/>
            </a:prstGeom>
          </p:spPr>
          <p:txBody>
            <a:bodyPr anchor="ctr" rtlCol="false" tIns="0" lIns="0" bIns="0" rIns="0"/>
            <a:lstStyle/>
            <a:p>
              <a:pPr algn="l">
                <a:lnSpc>
                  <a:spcPts val="2878"/>
                </a:lnSpc>
              </a:pPr>
              <a:r>
                <a:rPr lang="en-US" sz="2400">
                  <a:solidFill>
                    <a:srgbClr val="53666E"/>
                  </a:solidFill>
                  <a:latin typeface="Noto Sans"/>
                  <a:ea typeface="Noto Sans"/>
                  <a:cs typeface="Noto Sans"/>
                  <a:sym typeface="Noto Sans"/>
                </a:rPr>
                <a:t>Jetson 실측 결과로 </a:t>
              </a:r>
              <a:r>
                <a:rPr lang="en-US" sz="2400" b="true">
                  <a:solidFill>
                    <a:srgbClr val="53666E"/>
                  </a:solidFill>
                  <a:latin typeface="Noto Sans Bold"/>
                  <a:ea typeface="Noto Sans Bold"/>
                  <a:cs typeface="Noto Sans Bold"/>
                  <a:sym typeface="Noto Sans Bold"/>
                </a:rPr>
                <a:t>EXAONE 3.5 2.4B</a:t>
              </a:r>
              <a:r>
                <a:rPr lang="en-US" sz="2400">
                  <a:solidFill>
                    <a:srgbClr val="53666E"/>
                  </a:solidFill>
                  <a:latin typeface="Noto Sans"/>
                  <a:ea typeface="Noto Sans"/>
                  <a:cs typeface="Noto Sans"/>
                  <a:sym typeface="Noto Sans"/>
                </a:rPr>
                <a:t>와 </a:t>
              </a:r>
              <a:r>
                <a:rPr lang="en-US" sz="2400" b="true">
                  <a:solidFill>
                    <a:srgbClr val="53666E"/>
                  </a:solidFill>
                  <a:latin typeface="Noto Sans Bold"/>
                  <a:ea typeface="Noto Sans Bold"/>
                  <a:cs typeface="Noto Sans Bold"/>
                  <a:sym typeface="Noto Sans Bold"/>
                </a:rPr>
                <a:t>embeddinggemma 300M</a:t>
              </a:r>
              <a:r>
                <a:rPr lang="en-US" sz="2400">
                  <a:solidFill>
                    <a:srgbClr val="53666E"/>
                  </a:solidFill>
                  <a:latin typeface="Noto Sans"/>
                  <a:ea typeface="Noto Sans"/>
                  <a:cs typeface="Noto Sans"/>
                  <a:sym typeface="Noto Sans"/>
                </a:rPr>
                <a:t> 채택</a:t>
              </a:r>
            </a:p>
          </p:txBody>
        </p:sp>
      </p:grpSp>
      <p:sp>
        <p:nvSpPr>
          <p:cNvPr name="TextBox 22" id="22"/>
          <p:cNvSpPr txBox="true"/>
          <p:nvPr/>
        </p:nvSpPr>
        <p:spPr>
          <a:xfrm rot="0">
            <a:off x="822960" y="2743200"/>
            <a:ext cx="7955280" cy="480060"/>
          </a:xfrm>
          <a:prstGeom prst="rect">
            <a:avLst/>
          </a:prstGeom>
        </p:spPr>
        <p:txBody>
          <a:bodyPr anchor="t" rtlCol="false" tIns="0" lIns="0" bIns="0" rIns="0">
            <a:spAutoFit/>
          </a:bodyPr>
          <a:lstStyle/>
          <a:p>
            <a:pPr algn="ctr">
              <a:lnSpc>
                <a:spcPts val="2520"/>
              </a:lnSpc>
            </a:pPr>
            <a:r>
              <a:rPr lang="en-US" sz="2100" b="true">
                <a:solidFill>
                  <a:srgbClr val="1B2B2E"/>
                </a:solidFill>
                <a:latin typeface="Noto Sans Bold"/>
                <a:ea typeface="Noto Sans Bold"/>
                <a:cs typeface="Noto Sans Bold"/>
                <a:sym typeface="Noto Sans Bold"/>
              </a:rPr>
              <a:t>기반 모델 · Jetson 20문항 인용 적중 (개)</a:t>
            </a:r>
          </a:p>
        </p:txBody>
      </p:sp>
      <p:sp>
        <p:nvSpPr>
          <p:cNvPr name="AutoShape 23" id="23"/>
          <p:cNvSpPr/>
          <p:nvPr/>
        </p:nvSpPr>
        <p:spPr>
          <a:xfrm rot="12420">
            <a:off x="2318071" y="4722495"/>
            <a:ext cx="2634710" cy="0"/>
          </a:xfrm>
          <a:prstGeom prst="line">
            <a:avLst/>
          </a:prstGeom>
          <a:ln cap="rnd" w="9525">
            <a:solidFill>
              <a:srgbClr val="D7E0DE"/>
            </a:solidFill>
            <a:prstDash val="solid"/>
            <a:headEnd type="none" len="sm" w="sm"/>
            <a:tailEnd type="none" len="sm" w="sm"/>
          </a:ln>
        </p:spPr>
      </p:sp>
      <p:grpSp>
        <p:nvGrpSpPr>
          <p:cNvPr name="Group 24" id="24"/>
          <p:cNvGrpSpPr/>
          <p:nvPr/>
        </p:nvGrpSpPr>
        <p:grpSpPr>
          <a:xfrm rot="0">
            <a:off x="822960" y="3566160"/>
            <a:ext cx="2606040" cy="850392"/>
            <a:chOff x="0" y="0"/>
            <a:chExt cx="3474720" cy="1133856"/>
          </a:xfrm>
        </p:grpSpPr>
        <p:sp>
          <p:nvSpPr>
            <p:cNvPr name="Freeform 25" id="25"/>
            <p:cNvSpPr/>
            <p:nvPr/>
          </p:nvSpPr>
          <p:spPr>
            <a:xfrm flipH="false" flipV="false" rot="0">
              <a:off x="0" y="0"/>
              <a:ext cx="3474720" cy="1133856"/>
            </a:xfrm>
            <a:custGeom>
              <a:avLst/>
              <a:gdLst/>
              <a:ahLst/>
              <a:cxnLst/>
              <a:rect r="r" b="b" t="t" l="l"/>
              <a:pathLst>
                <a:path h="1133856" w="3474720">
                  <a:moveTo>
                    <a:pt x="0" y="0"/>
                  </a:moveTo>
                  <a:lnTo>
                    <a:pt x="3474720" y="0"/>
                  </a:lnTo>
                  <a:lnTo>
                    <a:pt x="3474720" y="1133856"/>
                  </a:lnTo>
                  <a:lnTo>
                    <a:pt x="0" y="1133856"/>
                  </a:lnTo>
                  <a:close/>
                </a:path>
              </a:pathLst>
            </a:custGeom>
            <a:blipFill>
              <a:blip r:embed="rId3">
                <a:alphaModFix amt="0"/>
              </a:blip>
              <a:stretch>
                <a:fillRect l="0" t="-9670" r="0" b="-9670"/>
              </a:stretch>
            </a:blipFill>
          </p:spPr>
        </p:sp>
      </p:grpSp>
      <p:grpSp>
        <p:nvGrpSpPr>
          <p:cNvPr name="Group 26" id="26"/>
          <p:cNvGrpSpPr/>
          <p:nvPr/>
        </p:nvGrpSpPr>
        <p:grpSpPr>
          <a:xfrm rot="0">
            <a:off x="822960" y="3566160"/>
            <a:ext cx="2606040" cy="850392"/>
            <a:chOff x="0" y="0"/>
            <a:chExt cx="3474720" cy="1133856"/>
          </a:xfrm>
        </p:grpSpPr>
        <p:sp>
          <p:nvSpPr>
            <p:cNvPr name="Freeform 27" id="27"/>
            <p:cNvSpPr/>
            <p:nvPr/>
          </p:nvSpPr>
          <p:spPr>
            <a:xfrm flipH="false" flipV="false" rot="0">
              <a:off x="0" y="0"/>
              <a:ext cx="3474720" cy="1133856"/>
            </a:xfrm>
            <a:custGeom>
              <a:avLst/>
              <a:gdLst/>
              <a:ahLst/>
              <a:cxnLst/>
              <a:rect r="r" b="b" t="t" l="l"/>
              <a:pathLst>
                <a:path h="1133856" w="3474720">
                  <a:moveTo>
                    <a:pt x="0" y="0"/>
                  </a:moveTo>
                  <a:lnTo>
                    <a:pt x="3474720" y="0"/>
                  </a:lnTo>
                  <a:lnTo>
                    <a:pt x="3474720" y="1133856"/>
                  </a:lnTo>
                  <a:lnTo>
                    <a:pt x="0" y="1133856"/>
                  </a:lnTo>
                  <a:close/>
                </a:path>
              </a:pathLst>
            </a:custGeom>
            <a:blipFill>
              <a:blip r:embed="rId4">
                <a:alphaModFix amt="0"/>
              </a:blip>
              <a:stretch>
                <a:fillRect l="0" t="-9712" r="0" b="-9712"/>
              </a:stretch>
            </a:blipFill>
          </p:spPr>
        </p:sp>
        <p:sp>
          <p:nvSpPr>
            <p:cNvPr name="TextBox 28" id="28"/>
            <p:cNvSpPr txBox="true"/>
            <p:nvPr/>
          </p:nvSpPr>
          <p:spPr>
            <a:xfrm>
              <a:off x="0" y="0"/>
              <a:ext cx="3474720" cy="1133856"/>
            </a:xfrm>
            <a:prstGeom prst="rect">
              <a:avLst/>
            </a:prstGeom>
          </p:spPr>
          <p:txBody>
            <a:bodyPr anchor="ctr" rtlCol="false" tIns="0" lIns="0" bIns="0" rIns="0"/>
            <a:lstStyle/>
            <a:p>
              <a:pPr algn="r">
                <a:lnSpc>
                  <a:spcPts val="2520"/>
                </a:lnSpc>
              </a:pPr>
              <a:r>
                <a:rPr lang="en-US" sz="2100" b="true">
                  <a:solidFill>
                    <a:srgbClr val="1B2B2E"/>
                  </a:solidFill>
                  <a:latin typeface="Noto Sans Bold"/>
                  <a:ea typeface="Noto Sans Bold"/>
                  <a:cs typeface="Noto Sans Bold"/>
                  <a:sym typeface="Noto Sans Bold"/>
                </a:rPr>
                <a:t>EXAONE 3.5 2.4B</a:t>
              </a:r>
            </a:p>
          </p:txBody>
        </p:sp>
      </p:grpSp>
      <p:grpSp>
        <p:nvGrpSpPr>
          <p:cNvPr name="Group 29" id="29"/>
          <p:cNvGrpSpPr/>
          <p:nvPr/>
        </p:nvGrpSpPr>
        <p:grpSpPr>
          <a:xfrm rot="0">
            <a:off x="3634740" y="3621024"/>
            <a:ext cx="2719197" cy="740664"/>
            <a:chOff x="0" y="0"/>
            <a:chExt cx="3625596" cy="987552"/>
          </a:xfrm>
        </p:grpSpPr>
        <p:sp>
          <p:nvSpPr>
            <p:cNvPr name="Freeform 30" id="30"/>
            <p:cNvSpPr/>
            <p:nvPr/>
          </p:nvSpPr>
          <p:spPr>
            <a:xfrm flipH="false" flipV="false" rot="0">
              <a:off x="0" y="0"/>
              <a:ext cx="3625596" cy="987552"/>
            </a:xfrm>
            <a:custGeom>
              <a:avLst/>
              <a:gdLst/>
              <a:ahLst/>
              <a:cxnLst/>
              <a:rect r="r" b="b" t="t" l="l"/>
              <a:pathLst>
                <a:path h="987552" w="3625596">
                  <a:moveTo>
                    <a:pt x="0" y="0"/>
                  </a:moveTo>
                  <a:lnTo>
                    <a:pt x="3625596" y="0"/>
                  </a:lnTo>
                  <a:lnTo>
                    <a:pt x="3625596" y="987552"/>
                  </a:lnTo>
                  <a:lnTo>
                    <a:pt x="0" y="987552"/>
                  </a:lnTo>
                  <a:close/>
                </a:path>
              </a:pathLst>
            </a:custGeom>
            <a:solidFill>
              <a:srgbClr val="1F6F63"/>
            </a:solidFill>
          </p:spPr>
        </p:sp>
      </p:grpSp>
      <p:grpSp>
        <p:nvGrpSpPr>
          <p:cNvPr name="Group 31" id="31"/>
          <p:cNvGrpSpPr/>
          <p:nvPr/>
        </p:nvGrpSpPr>
        <p:grpSpPr>
          <a:xfrm rot="0">
            <a:off x="6491097" y="3566160"/>
            <a:ext cx="960120" cy="850392"/>
            <a:chOff x="0" y="0"/>
            <a:chExt cx="1280160" cy="1133856"/>
          </a:xfrm>
        </p:grpSpPr>
        <p:sp>
          <p:nvSpPr>
            <p:cNvPr name="Freeform 32" id="32"/>
            <p:cNvSpPr/>
            <p:nvPr/>
          </p:nvSpPr>
          <p:spPr>
            <a:xfrm flipH="false" flipV="false" rot="0">
              <a:off x="0" y="0"/>
              <a:ext cx="1280160" cy="1133856"/>
            </a:xfrm>
            <a:custGeom>
              <a:avLst/>
              <a:gdLst/>
              <a:ahLst/>
              <a:cxnLst/>
              <a:rect r="r" b="b" t="t" l="l"/>
              <a:pathLst>
                <a:path h="1133856" w="1280160">
                  <a:moveTo>
                    <a:pt x="0" y="0"/>
                  </a:moveTo>
                  <a:lnTo>
                    <a:pt x="1280160" y="0"/>
                  </a:lnTo>
                  <a:lnTo>
                    <a:pt x="1280160" y="1133856"/>
                  </a:lnTo>
                  <a:lnTo>
                    <a:pt x="0" y="1133856"/>
                  </a:lnTo>
                  <a:close/>
                </a:path>
              </a:pathLst>
            </a:custGeom>
            <a:blipFill>
              <a:blip r:embed="rId3">
                <a:alphaModFix amt="0"/>
              </a:blip>
              <a:stretch>
                <a:fillRect l="-63719" t="0" r="-63719" b="0"/>
              </a:stretch>
            </a:blipFill>
          </p:spPr>
        </p:sp>
      </p:grpSp>
      <p:grpSp>
        <p:nvGrpSpPr>
          <p:cNvPr name="Group 33" id="33"/>
          <p:cNvGrpSpPr/>
          <p:nvPr/>
        </p:nvGrpSpPr>
        <p:grpSpPr>
          <a:xfrm rot="0">
            <a:off x="6491097" y="3573304"/>
            <a:ext cx="960120" cy="843248"/>
            <a:chOff x="0" y="0"/>
            <a:chExt cx="1280160" cy="1124331"/>
          </a:xfrm>
        </p:grpSpPr>
        <p:sp>
          <p:nvSpPr>
            <p:cNvPr name="Freeform 34" id="34"/>
            <p:cNvSpPr/>
            <p:nvPr/>
          </p:nvSpPr>
          <p:spPr>
            <a:xfrm flipH="false" flipV="false" rot="0">
              <a:off x="0" y="0"/>
              <a:ext cx="1280160" cy="1124331"/>
            </a:xfrm>
            <a:custGeom>
              <a:avLst/>
              <a:gdLst/>
              <a:ahLst/>
              <a:cxnLst/>
              <a:rect r="r" b="b" t="t" l="l"/>
              <a:pathLst>
                <a:path h="1124331" w="1280160">
                  <a:moveTo>
                    <a:pt x="0" y="0"/>
                  </a:moveTo>
                  <a:lnTo>
                    <a:pt x="1280160" y="0"/>
                  </a:lnTo>
                  <a:lnTo>
                    <a:pt x="1280160" y="1124331"/>
                  </a:lnTo>
                  <a:lnTo>
                    <a:pt x="0" y="1124331"/>
                  </a:lnTo>
                  <a:close/>
                </a:path>
              </a:pathLst>
            </a:custGeom>
            <a:blipFill>
              <a:blip r:embed="rId4">
                <a:alphaModFix amt="0"/>
              </a:blip>
              <a:stretch>
                <a:fillRect l="-62685" t="0" r="-62685" b="0"/>
              </a:stretch>
            </a:blipFill>
          </p:spPr>
        </p:sp>
        <p:sp>
          <p:nvSpPr>
            <p:cNvPr name="TextBox 35" id="35"/>
            <p:cNvSpPr txBox="true"/>
            <p:nvPr/>
          </p:nvSpPr>
          <p:spPr>
            <a:xfrm>
              <a:off x="0" y="9525"/>
              <a:ext cx="1280160" cy="1114806"/>
            </a:xfrm>
            <a:prstGeom prst="rect">
              <a:avLst/>
            </a:prstGeom>
          </p:spPr>
          <p:txBody>
            <a:bodyPr anchor="ctr" rtlCol="false" tIns="0" lIns="0" bIns="0" rIns="0"/>
            <a:lstStyle/>
            <a:p>
              <a:pPr algn="l">
                <a:lnSpc>
                  <a:spcPts val="2878"/>
                </a:lnSpc>
              </a:pPr>
              <a:r>
                <a:rPr lang="en-US" sz="2400" b="true">
                  <a:solidFill>
                    <a:srgbClr val="1F6F63"/>
                  </a:solidFill>
                  <a:latin typeface="Noto Sans Bold"/>
                  <a:ea typeface="Noto Sans Bold"/>
                  <a:cs typeface="Noto Sans Bold"/>
                  <a:sym typeface="Noto Sans Bold"/>
                </a:rPr>
                <a:t>13</a:t>
              </a:r>
            </a:p>
          </p:txBody>
        </p:sp>
      </p:grpSp>
      <p:grpSp>
        <p:nvGrpSpPr>
          <p:cNvPr name="Group 36" id="36"/>
          <p:cNvGrpSpPr/>
          <p:nvPr/>
        </p:nvGrpSpPr>
        <p:grpSpPr>
          <a:xfrm rot="0">
            <a:off x="716880" y="3391500"/>
            <a:ext cx="8167449" cy="1199721"/>
            <a:chOff x="0" y="0"/>
            <a:chExt cx="10889932" cy="1599628"/>
          </a:xfrm>
        </p:grpSpPr>
        <p:sp>
          <p:nvSpPr>
            <p:cNvPr name="Freeform 37" id="37"/>
            <p:cNvSpPr/>
            <p:nvPr/>
          </p:nvSpPr>
          <p:spPr>
            <a:xfrm flipH="false" flipV="false" rot="0">
              <a:off x="0" y="0"/>
              <a:ext cx="10889996" cy="1599565"/>
            </a:xfrm>
            <a:custGeom>
              <a:avLst/>
              <a:gdLst/>
              <a:ahLst/>
              <a:cxnLst/>
              <a:rect r="r" b="b" t="t" l="l"/>
              <a:pathLst>
                <a:path h="1599565" w="10889996">
                  <a:moveTo>
                    <a:pt x="0" y="0"/>
                  </a:moveTo>
                  <a:lnTo>
                    <a:pt x="10889996" y="0"/>
                  </a:lnTo>
                  <a:lnTo>
                    <a:pt x="10889996" y="1599565"/>
                  </a:lnTo>
                  <a:lnTo>
                    <a:pt x="0" y="1599565"/>
                  </a:lnTo>
                  <a:close/>
                </a:path>
              </a:pathLst>
            </a:custGeom>
            <a:blipFill>
              <a:blip r:embed="rId3">
                <a:alphaModFix amt="0"/>
              </a:blip>
              <a:stretch>
                <a:fillRect l="0" t="-82561" r="0" b="-82564"/>
              </a:stretch>
            </a:blipFill>
            <a:ln w="42862" cap="sq">
              <a:solidFill>
                <a:srgbClr val="D9433A"/>
              </a:solidFill>
              <a:prstDash val="solid"/>
              <a:miter/>
            </a:ln>
          </p:spPr>
        </p:sp>
      </p:grpSp>
      <p:grpSp>
        <p:nvGrpSpPr>
          <p:cNvPr name="Group 38" id="38"/>
          <p:cNvGrpSpPr/>
          <p:nvPr/>
        </p:nvGrpSpPr>
        <p:grpSpPr>
          <a:xfrm rot="0">
            <a:off x="822960" y="4869180"/>
            <a:ext cx="2606040" cy="850392"/>
            <a:chOff x="0" y="0"/>
            <a:chExt cx="3474720" cy="1133856"/>
          </a:xfrm>
        </p:grpSpPr>
        <p:sp>
          <p:nvSpPr>
            <p:cNvPr name="Freeform 39" id="39"/>
            <p:cNvSpPr/>
            <p:nvPr/>
          </p:nvSpPr>
          <p:spPr>
            <a:xfrm flipH="false" flipV="false" rot="0">
              <a:off x="0" y="0"/>
              <a:ext cx="3474720" cy="1133856"/>
            </a:xfrm>
            <a:custGeom>
              <a:avLst/>
              <a:gdLst/>
              <a:ahLst/>
              <a:cxnLst/>
              <a:rect r="r" b="b" t="t" l="l"/>
              <a:pathLst>
                <a:path h="1133856" w="3474720">
                  <a:moveTo>
                    <a:pt x="0" y="0"/>
                  </a:moveTo>
                  <a:lnTo>
                    <a:pt x="3474720" y="0"/>
                  </a:lnTo>
                  <a:lnTo>
                    <a:pt x="3474720" y="1133856"/>
                  </a:lnTo>
                  <a:lnTo>
                    <a:pt x="0" y="1133856"/>
                  </a:lnTo>
                  <a:close/>
                </a:path>
              </a:pathLst>
            </a:custGeom>
            <a:blipFill>
              <a:blip r:embed="rId3">
                <a:alphaModFix amt="0"/>
              </a:blip>
              <a:stretch>
                <a:fillRect l="0" t="-9670" r="0" b="-9670"/>
              </a:stretch>
            </a:blipFill>
          </p:spPr>
        </p:sp>
      </p:grpSp>
      <p:grpSp>
        <p:nvGrpSpPr>
          <p:cNvPr name="Group 40" id="40"/>
          <p:cNvGrpSpPr/>
          <p:nvPr/>
        </p:nvGrpSpPr>
        <p:grpSpPr>
          <a:xfrm rot="0">
            <a:off x="822960" y="4869180"/>
            <a:ext cx="2606040" cy="850392"/>
            <a:chOff x="0" y="0"/>
            <a:chExt cx="3474720" cy="1133856"/>
          </a:xfrm>
        </p:grpSpPr>
        <p:sp>
          <p:nvSpPr>
            <p:cNvPr name="Freeform 41" id="41"/>
            <p:cNvSpPr/>
            <p:nvPr/>
          </p:nvSpPr>
          <p:spPr>
            <a:xfrm flipH="false" flipV="false" rot="0">
              <a:off x="0" y="0"/>
              <a:ext cx="3474720" cy="1133856"/>
            </a:xfrm>
            <a:custGeom>
              <a:avLst/>
              <a:gdLst/>
              <a:ahLst/>
              <a:cxnLst/>
              <a:rect r="r" b="b" t="t" l="l"/>
              <a:pathLst>
                <a:path h="1133856" w="3474720">
                  <a:moveTo>
                    <a:pt x="0" y="0"/>
                  </a:moveTo>
                  <a:lnTo>
                    <a:pt x="3474720" y="0"/>
                  </a:lnTo>
                  <a:lnTo>
                    <a:pt x="3474720" y="1133856"/>
                  </a:lnTo>
                  <a:lnTo>
                    <a:pt x="0" y="1133856"/>
                  </a:lnTo>
                  <a:close/>
                </a:path>
              </a:pathLst>
            </a:custGeom>
            <a:blipFill>
              <a:blip r:embed="rId4">
                <a:alphaModFix amt="0"/>
              </a:blip>
              <a:stretch>
                <a:fillRect l="0" t="-9712" r="0" b="-9712"/>
              </a:stretch>
            </a:blipFill>
          </p:spPr>
        </p:sp>
        <p:sp>
          <p:nvSpPr>
            <p:cNvPr name="TextBox 42" id="42"/>
            <p:cNvSpPr txBox="true"/>
            <p:nvPr/>
          </p:nvSpPr>
          <p:spPr>
            <a:xfrm>
              <a:off x="0" y="0"/>
              <a:ext cx="3474720" cy="1133856"/>
            </a:xfrm>
            <a:prstGeom prst="rect">
              <a:avLst/>
            </a:prstGeom>
          </p:spPr>
          <p:txBody>
            <a:bodyPr anchor="ctr" rtlCol="false" tIns="0" lIns="0" bIns="0" rIns="0"/>
            <a:lstStyle/>
            <a:p>
              <a:pPr algn="r">
                <a:lnSpc>
                  <a:spcPts val="2520"/>
                </a:lnSpc>
              </a:pPr>
              <a:r>
                <a:rPr lang="en-US" sz="2100">
                  <a:solidFill>
                    <a:srgbClr val="1B2B2E"/>
                  </a:solidFill>
                  <a:latin typeface="Noto Sans"/>
                  <a:ea typeface="Noto Sans"/>
                  <a:cs typeface="Noto Sans"/>
                  <a:sym typeface="Noto Sans"/>
                </a:rPr>
                <a:t>Qwen2.5-3B</a:t>
              </a:r>
            </a:p>
          </p:txBody>
        </p:sp>
      </p:grpSp>
      <p:grpSp>
        <p:nvGrpSpPr>
          <p:cNvPr name="Group 43" id="43"/>
          <p:cNvGrpSpPr/>
          <p:nvPr/>
        </p:nvGrpSpPr>
        <p:grpSpPr>
          <a:xfrm rot="0">
            <a:off x="3634740" y="4924044"/>
            <a:ext cx="1882521" cy="740664"/>
            <a:chOff x="0" y="0"/>
            <a:chExt cx="2510028" cy="987552"/>
          </a:xfrm>
        </p:grpSpPr>
        <p:sp>
          <p:nvSpPr>
            <p:cNvPr name="Freeform 44" id="44"/>
            <p:cNvSpPr/>
            <p:nvPr/>
          </p:nvSpPr>
          <p:spPr>
            <a:xfrm flipH="false" flipV="false" rot="0">
              <a:off x="0" y="0"/>
              <a:ext cx="2510028" cy="987552"/>
            </a:xfrm>
            <a:custGeom>
              <a:avLst/>
              <a:gdLst/>
              <a:ahLst/>
              <a:cxnLst/>
              <a:rect r="r" b="b" t="t" l="l"/>
              <a:pathLst>
                <a:path h="987552" w="2510028">
                  <a:moveTo>
                    <a:pt x="0" y="0"/>
                  </a:moveTo>
                  <a:lnTo>
                    <a:pt x="2510028" y="0"/>
                  </a:lnTo>
                  <a:lnTo>
                    <a:pt x="2510028" y="987552"/>
                  </a:lnTo>
                  <a:lnTo>
                    <a:pt x="0" y="987552"/>
                  </a:lnTo>
                  <a:close/>
                </a:path>
              </a:pathLst>
            </a:custGeom>
            <a:solidFill>
              <a:srgbClr val="A9C2BC"/>
            </a:solidFill>
          </p:spPr>
        </p:sp>
      </p:grpSp>
      <p:grpSp>
        <p:nvGrpSpPr>
          <p:cNvPr name="Group 45" id="45"/>
          <p:cNvGrpSpPr/>
          <p:nvPr/>
        </p:nvGrpSpPr>
        <p:grpSpPr>
          <a:xfrm rot="0">
            <a:off x="5654421" y="4869180"/>
            <a:ext cx="960120" cy="850392"/>
            <a:chOff x="0" y="0"/>
            <a:chExt cx="1280160" cy="1133856"/>
          </a:xfrm>
        </p:grpSpPr>
        <p:sp>
          <p:nvSpPr>
            <p:cNvPr name="Freeform 46" id="46"/>
            <p:cNvSpPr/>
            <p:nvPr/>
          </p:nvSpPr>
          <p:spPr>
            <a:xfrm flipH="false" flipV="false" rot="0">
              <a:off x="0" y="0"/>
              <a:ext cx="1280160" cy="1133856"/>
            </a:xfrm>
            <a:custGeom>
              <a:avLst/>
              <a:gdLst/>
              <a:ahLst/>
              <a:cxnLst/>
              <a:rect r="r" b="b" t="t" l="l"/>
              <a:pathLst>
                <a:path h="1133856" w="1280160">
                  <a:moveTo>
                    <a:pt x="0" y="0"/>
                  </a:moveTo>
                  <a:lnTo>
                    <a:pt x="1280160" y="0"/>
                  </a:lnTo>
                  <a:lnTo>
                    <a:pt x="1280160" y="1133856"/>
                  </a:lnTo>
                  <a:lnTo>
                    <a:pt x="0" y="1133856"/>
                  </a:lnTo>
                  <a:close/>
                </a:path>
              </a:pathLst>
            </a:custGeom>
            <a:blipFill>
              <a:blip r:embed="rId3">
                <a:alphaModFix amt="0"/>
              </a:blip>
              <a:stretch>
                <a:fillRect l="-63719" t="0" r="-63719" b="0"/>
              </a:stretch>
            </a:blipFill>
          </p:spPr>
        </p:sp>
      </p:grpSp>
      <p:grpSp>
        <p:nvGrpSpPr>
          <p:cNvPr name="Group 47" id="47"/>
          <p:cNvGrpSpPr/>
          <p:nvPr/>
        </p:nvGrpSpPr>
        <p:grpSpPr>
          <a:xfrm rot="0">
            <a:off x="5654421" y="4876324"/>
            <a:ext cx="960120" cy="843248"/>
            <a:chOff x="0" y="0"/>
            <a:chExt cx="1280160" cy="1124331"/>
          </a:xfrm>
        </p:grpSpPr>
        <p:sp>
          <p:nvSpPr>
            <p:cNvPr name="Freeform 48" id="48"/>
            <p:cNvSpPr/>
            <p:nvPr/>
          </p:nvSpPr>
          <p:spPr>
            <a:xfrm flipH="false" flipV="false" rot="0">
              <a:off x="0" y="0"/>
              <a:ext cx="1280160" cy="1124331"/>
            </a:xfrm>
            <a:custGeom>
              <a:avLst/>
              <a:gdLst/>
              <a:ahLst/>
              <a:cxnLst/>
              <a:rect r="r" b="b" t="t" l="l"/>
              <a:pathLst>
                <a:path h="1124331" w="1280160">
                  <a:moveTo>
                    <a:pt x="0" y="0"/>
                  </a:moveTo>
                  <a:lnTo>
                    <a:pt x="1280160" y="0"/>
                  </a:lnTo>
                  <a:lnTo>
                    <a:pt x="1280160" y="1124331"/>
                  </a:lnTo>
                  <a:lnTo>
                    <a:pt x="0" y="1124331"/>
                  </a:lnTo>
                  <a:close/>
                </a:path>
              </a:pathLst>
            </a:custGeom>
            <a:blipFill>
              <a:blip r:embed="rId4">
                <a:alphaModFix amt="0"/>
              </a:blip>
              <a:stretch>
                <a:fillRect l="-62685" t="0" r="-62685" b="0"/>
              </a:stretch>
            </a:blipFill>
          </p:spPr>
        </p:sp>
        <p:sp>
          <p:nvSpPr>
            <p:cNvPr name="TextBox 49" id="49"/>
            <p:cNvSpPr txBox="true"/>
            <p:nvPr/>
          </p:nvSpPr>
          <p:spPr>
            <a:xfrm>
              <a:off x="0" y="9525"/>
              <a:ext cx="1280160" cy="1114806"/>
            </a:xfrm>
            <a:prstGeom prst="rect">
              <a:avLst/>
            </a:prstGeom>
          </p:spPr>
          <p:txBody>
            <a:bodyPr anchor="ctr" rtlCol="false" tIns="0" lIns="0" bIns="0" rIns="0"/>
            <a:lstStyle/>
            <a:p>
              <a:pPr algn="l">
                <a:lnSpc>
                  <a:spcPts val="2878"/>
                </a:lnSpc>
              </a:pPr>
              <a:r>
                <a:rPr lang="en-US" sz="2400" b="true">
                  <a:solidFill>
                    <a:srgbClr val="45545A"/>
                  </a:solidFill>
                  <a:latin typeface="Noto Sans Bold"/>
                  <a:ea typeface="Noto Sans Bold"/>
                  <a:cs typeface="Noto Sans Bold"/>
                  <a:sym typeface="Noto Sans Bold"/>
                </a:rPr>
                <a:t>9</a:t>
              </a:r>
            </a:p>
          </p:txBody>
        </p:sp>
      </p:grpSp>
      <p:sp>
        <p:nvSpPr>
          <p:cNvPr name="TextBox 50" id="50"/>
          <p:cNvSpPr txBox="true"/>
          <p:nvPr/>
        </p:nvSpPr>
        <p:spPr>
          <a:xfrm rot="0">
            <a:off x="9505188" y="2743200"/>
            <a:ext cx="7955280" cy="480060"/>
          </a:xfrm>
          <a:prstGeom prst="rect">
            <a:avLst/>
          </a:prstGeom>
        </p:spPr>
        <p:txBody>
          <a:bodyPr anchor="t" rtlCol="false" tIns="0" lIns="0" bIns="0" rIns="0">
            <a:spAutoFit/>
          </a:bodyPr>
          <a:lstStyle/>
          <a:p>
            <a:pPr algn="ctr">
              <a:lnSpc>
                <a:spcPts val="2520"/>
              </a:lnSpc>
            </a:pPr>
            <a:r>
              <a:rPr lang="en-US" sz="2100" b="true">
                <a:solidFill>
                  <a:srgbClr val="1B2B2E"/>
                </a:solidFill>
                <a:latin typeface="Noto Sans Bold"/>
                <a:ea typeface="Noto Sans Bold"/>
                <a:cs typeface="Noto Sans Bold"/>
                <a:sym typeface="Noto Sans Bold"/>
              </a:rPr>
              <a:t>검색 임베딩 · 정답 근거 포함 (123문항 중)</a:t>
            </a:r>
          </a:p>
        </p:txBody>
      </p:sp>
      <p:sp>
        <p:nvSpPr>
          <p:cNvPr name="AutoShape 51" id="51"/>
          <p:cNvSpPr/>
          <p:nvPr/>
        </p:nvSpPr>
        <p:spPr>
          <a:xfrm rot="12420">
            <a:off x="11000299" y="4722495"/>
            <a:ext cx="2634710" cy="0"/>
          </a:xfrm>
          <a:prstGeom prst="line">
            <a:avLst/>
          </a:prstGeom>
          <a:ln cap="rnd" w="9525">
            <a:solidFill>
              <a:srgbClr val="D7E0DE"/>
            </a:solidFill>
            <a:prstDash val="solid"/>
            <a:headEnd type="none" len="sm" w="sm"/>
            <a:tailEnd type="none" len="sm" w="sm"/>
          </a:ln>
        </p:spPr>
      </p:sp>
      <p:grpSp>
        <p:nvGrpSpPr>
          <p:cNvPr name="Group 52" id="52"/>
          <p:cNvGrpSpPr/>
          <p:nvPr/>
        </p:nvGrpSpPr>
        <p:grpSpPr>
          <a:xfrm rot="0">
            <a:off x="9505188" y="3566160"/>
            <a:ext cx="2606040" cy="850392"/>
            <a:chOff x="0" y="0"/>
            <a:chExt cx="3474720" cy="1133856"/>
          </a:xfrm>
        </p:grpSpPr>
        <p:sp>
          <p:nvSpPr>
            <p:cNvPr name="Freeform 53" id="53"/>
            <p:cNvSpPr/>
            <p:nvPr/>
          </p:nvSpPr>
          <p:spPr>
            <a:xfrm flipH="false" flipV="false" rot="0">
              <a:off x="0" y="0"/>
              <a:ext cx="3474720" cy="1133856"/>
            </a:xfrm>
            <a:custGeom>
              <a:avLst/>
              <a:gdLst/>
              <a:ahLst/>
              <a:cxnLst/>
              <a:rect r="r" b="b" t="t" l="l"/>
              <a:pathLst>
                <a:path h="1133856" w="3474720">
                  <a:moveTo>
                    <a:pt x="0" y="0"/>
                  </a:moveTo>
                  <a:lnTo>
                    <a:pt x="3474720" y="0"/>
                  </a:lnTo>
                  <a:lnTo>
                    <a:pt x="3474720" y="1133856"/>
                  </a:lnTo>
                  <a:lnTo>
                    <a:pt x="0" y="1133856"/>
                  </a:lnTo>
                  <a:close/>
                </a:path>
              </a:pathLst>
            </a:custGeom>
            <a:blipFill>
              <a:blip r:embed="rId3">
                <a:alphaModFix amt="0"/>
              </a:blip>
              <a:stretch>
                <a:fillRect l="0" t="-9670" r="0" b="-9670"/>
              </a:stretch>
            </a:blipFill>
          </p:spPr>
        </p:sp>
      </p:grpSp>
      <p:grpSp>
        <p:nvGrpSpPr>
          <p:cNvPr name="Group 54" id="54"/>
          <p:cNvGrpSpPr/>
          <p:nvPr/>
        </p:nvGrpSpPr>
        <p:grpSpPr>
          <a:xfrm rot="0">
            <a:off x="9505188" y="3566160"/>
            <a:ext cx="2606040" cy="850392"/>
            <a:chOff x="0" y="0"/>
            <a:chExt cx="3474720" cy="1133856"/>
          </a:xfrm>
        </p:grpSpPr>
        <p:sp>
          <p:nvSpPr>
            <p:cNvPr name="Freeform 55" id="55"/>
            <p:cNvSpPr/>
            <p:nvPr/>
          </p:nvSpPr>
          <p:spPr>
            <a:xfrm flipH="false" flipV="false" rot="0">
              <a:off x="0" y="0"/>
              <a:ext cx="3474720" cy="1133856"/>
            </a:xfrm>
            <a:custGeom>
              <a:avLst/>
              <a:gdLst/>
              <a:ahLst/>
              <a:cxnLst/>
              <a:rect r="r" b="b" t="t" l="l"/>
              <a:pathLst>
                <a:path h="1133856" w="3474720">
                  <a:moveTo>
                    <a:pt x="0" y="0"/>
                  </a:moveTo>
                  <a:lnTo>
                    <a:pt x="3474720" y="0"/>
                  </a:lnTo>
                  <a:lnTo>
                    <a:pt x="3474720" y="1133856"/>
                  </a:lnTo>
                  <a:lnTo>
                    <a:pt x="0" y="1133856"/>
                  </a:lnTo>
                  <a:close/>
                </a:path>
              </a:pathLst>
            </a:custGeom>
            <a:blipFill>
              <a:blip r:embed="rId4">
                <a:alphaModFix amt="0"/>
              </a:blip>
              <a:stretch>
                <a:fillRect l="0" t="-9712" r="0" b="-9712"/>
              </a:stretch>
            </a:blipFill>
          </p:spPr>
        </p:sp>
        <p:sp>
          <p:nvSpPr>
            <p:cNvPr name="TextBox 56" id="56"/>
            <p:cNvSpPr txBox="true"/>
            <p:nvPr/>
          </p:nvSpPr>
          <p:spPr>
            <a:xfrm>
              <a:off x="0" y="0"/>
              <a:ext cx="3474720" cy="1133856"/>
            </a:xfrm>
            <a:prstGeom prst="rect">
              <a:avLst/>
            </a:prstGeom>
          </p:spPr>
          <p:txBody>
            <a:bodyPr anchor="ctr" rtlCol="false" tIns="0" lIns="0" bIns="0" rIns="0"/>
            <a:lstStyle/>
            <a:p>
              <a:pPr algn="r">
                <a:lnSpc>
                  <a:spcPts val="2520"/>
                </a:lnSpc>
              </a:pPr>
              <a:r>
                <a:rPr lang="en-US" sz="2100" b="true">
                  <a:solidFill>
                    <a:srgbClr val="1B2B2E"/>
                  </a:solidFill>
                  <a:latin typeface="Noto Sans Bold"/>
                  <a:ea typeface="Noto Sans Bold"/>
                  <a:cs typeface="Noto Sans Bold"/>
                  <a:sym typeface="Noto Sans Bold"/>
                </a:rPr>
                <a:t>embeddinggemma</a:t>
              </a:r>
            </a:p>
          </p:txBody>
        </p:sp>
      </p:grpSp>
      <p:grpSp>
        <p:nvGrpSpPr>
          <p:cNvPr name="Group 57" id="57"/>
          <p:cNvGrpSpPr/>
          <p:nvPr/>
        </p:nvGrpSpPr>
        <p:grpSpPr>
          <a:xfrm rot="0">
            <a:off x="12316968" y="3621024"/>
            <a:ext cx="2924937" cy="740664"/>
            <a:chOff x="0" y="0"/>
            <a:chExt cx="3899916" cy="987552"/>
          </a:xfrm>
        </p:grpSpPr>
        <p:sp>
          <p:nvSpPr>
            <p:cNvPr name="Freeform 58" id="58"/>
            <p:cNvSpPr/>
            <p:nvPr/>
          </p:nvSpPr>
          <p:spPr>
            <a:xfrm flipH="false" flipV="false" rot="0">
              <a:off x="0" y="0"/>
              <a:ext cx="3899916" cy="987552"/>
            </a:xfrm>
            <a:custGeom>
              <a:avLst/>
              <a:gdLst/>
              <a:ahLst/>
              <a:cxnLst/>
              <a:rect r="r" b="b" t="t" l="l"/>
              <a:pathLst>
                <a:path h="987552" w="3899916">
                  <a:moveTo>
                    <a:pt x="0" y="0"/>
                  </a:moveTo>
                  <a:lnTo>
                    <a:pt x="3899916" y="0"/>
                  </a:lnTo>
                  <a:lnTo>
                    <a:pt x="3899916" y="987552"/>
                  </a:lnTo>
                  <a:lnTo>
                    <a:pt x="0" y="987552"/>
                  </a:lnTo>
                  <a:close/>
                </a:path>
              </a:pathLst>
            </a:custGeom>
            <a:solidFill>
              <a:srgbClr val="1F6F63"/>
            </a:solidFill>
          </p:spPr>
        </p:sp>
      </p:grpSp>
      <p:grpSp>
        <p:nvGrpSpPr>
          <p:cNvPr name="Group 59" id="59"/>
          <p:cNvGrpSpPr/>
          <p:nvPr/>
        </p:nvGrpSpPr>
        <p:grpSpPr>
          <a:xfrm rot="0">
            <a:off x="15379094" y="3566160"/>
            <a:ext cx="960120" cy="850392"/>
            <a:chOff x="0" y="0"/>
            <a:chExt cx="1280160" cy="1133856"/>
          </a:xfrm>
        </p:grpSpPr>
        <p:sp>
          <p:nvSpPr>
            <p:cNvPr name="Freeform 60" id="60"/>
            <p:cNvSpPr/>
            <p:nvPr/>
          </p:nvSpPr>
          <p:spPr>
            <a:xfrm flipH="false" flipV="false" rot="0">
              <a:off x="0" y="0"/>
              <a:ext cx="1280160" cy="1133856"/>
            </a:xfrm>
            <a:custGeom>
              <a:avLst/>
              <a:gdLst/>
              <a:ahLst/>
              <a:cxnLst/>
              <a:rect r="r" b="b" t="t" l="l"/>
              <a:pathLst>
                <a:path h="1133856" w="1280160">
                  <a:moveTo>
                    <a:pt x="0" y="0"/>
                  </a:moveTo>
                  <a:lnTo>
                    <a:pt x="1280160" y="0"/>
                  </a:lnTo>
                  <a:lnTo>
                    <a:pt x="1280160" y="1133856"/>
                  </a:lnTo>
                  <a:lnTo>
                    <a:pt x="0" y="1133856"/>
                  </a:lnTo>
                  <a:close/>
                </a:path>
              </a:pathLst>
            </a:custGeom>
            <a:blipFill>
              <a:blip r:embed="rId3">
                <a:alphaModFix amt="0"/>
              </a:blip>
              <a:stretch>
                <a:fillRect l="-63719" t="0" r="-63719" b="0"/>
              </a:stretch>
            </a:blipFill>
          </p:spPr>
        </p:sp>
      </p:grpSp>
      <p:grpSp>
        <p:nvGrpSpPr>
          <p:cNvPr name="Group 61" id="61"/>
          <p:cNvGrpSpPr/>
          <p:nvPr/>
        </p:nvGrpSpPr>
        <p:grpSpPr>
          <a:xfrm rot="0">
            <a:off x="15379094" y="3573304"/>
            <a:ext cx="960120" cy="843248"/>
            <a:chOff x="0" y="0"/>
            <a:chExt cx="1280160" cy="1124331"/>
          </a:xfrm>
        </p:grpSpPr>
        <p:sp>
          <p:nvSpPr>
            <p:cNvPr name="Freeform 62" id="62"/>
            <p:cNvSpPr/>
            <p:nvPr/>
          </p:nvSpPr>
          <p:spPr>
            <a:xfrm flipH="false" flipV="false" rot="0">
              <a:off x="0" y="0"/>
              <a:ext cx="1280160" cy="1124331"/>
            </a:xfrm>
            <a:custGeom>
              <a:avLst/>
              <a:gdLst/>
              <a:ahLst/>
              <a:cxnLst/>
              <a:rect r="r" b="b" t="t" l="l"/>
              <a:pathLst>
                <a:path h="1124331" w="1280160">
                  <a:moveTo>
                    <a:pt x="0" y="0"/>
                  </a:moveTo>
                  <a:lnTo>
                    <a:pt x="1280160" y="0"/>
                  </a:lnTo>
                  <a:lnTo>
                    <a:pt x="1280160" y="1124331"/>
                  </a:lnTo>
                  <a:lnTo>
                    <a:pt x="0" y="1124331"/>
                  </a:lnTo>
                  <a:close/>
                </a:path>
              </a:pathLst>
            </a:custGeom>
            <a:blipFill>
              <a:blip r:embed="rId4">
                <a:alphaModFix amt="0"/>
              </a:blip>
              <a:stretch>
                <a:fillRect l="-62685" t="0" r="-62685" b="0"/>
              </a:stretch>
            </a:blipFill>
          </p:spPr>
        </p:sp>
        <p:sp>
          <p:nvSpPr>
            <p:cNvPr name="TextBox 63" id="63"/>
            <p:cNvSpPr txBox="true"/>
            <p:nvPr/>
          </p:nvSpPr>
          <p:spPr>
            <a:xfrm>
              <a:off x="0" y="9525"/>
              <a:ext cx="1280160" cy="1114806"/>
            </a:xfrm>
            <a:prstGeom prst="rect">
              <a:avLst/>
            </a:prstGeom>
          </p:spPr>
          <p:txBody>
            <a:bodyPr anchor="ctr" rtlCol="false" tIns="0" lIns="0" bIns="0" rIns="0"/>
            <a:lstStyle/>
            <a:p>
              <a:pPr algn="l">
                <a:lnSpc>
                  <a:spcPts val="2878"/>
                </a:lnSpc>
              </a:pPr>
              <a:r>
                <a:rPr lang="en-US" sz="2400" b="true">
                  <a:solidFill>
                    <a:srgbClr val="1F6F63"/>
                  </a:solidFill>
                  <a:latin typeface="Noto Sans Bold"/>
                  <a:ea typeface="Noto Sans Bold"/>
                  <a:cs typeface="Noto Sans Bold"/>
                  <a:sym typeface="Noto Sans Bold"/>
                </a:rPr>
                <a:t>86</a:t>
              </a:r>
            </a:p>
          </p:txBody>
        </p:sp>
      </p:grpSp>
      <p:grpSp>
        <p:nvGrpSpPr>
          <p:cNvPr name="Group 64" id="64"/>
          <p:cNvGrpSpPr/>
          <p:nvPr/>
        </p:nvGrpSpPr>
        <p:grpSpPr>
          <a:xfrm rot="0">
            <a:off x="9399108" y="3391500"/>
            <a:ext cx="8167449" cy="1199721"/>
            <a:chOff x="0" y="0"/>
            <a:chExt cx="10889932" cy="1599628"/>
          </a:xfrm>
        </p:grpSpPr>
        <p:sp>
          <p:nvSpPr>
            <p:cNvPr name="Freeform 65" id="65"/>
            <p:cNvSpPr/>
            <p:nvPr/>
          </p:nvSpPr>
          <p:spPr>
            <a:xfrm flipH="false" flipV="false" rot="0">
              <a:off x="0" y="0"/>
              <a:ext cx="10889996" cy="1599565"/>
            </a:xfrm>
            <a:custGeom>
              <a:avLst/>
              <a:gdLst/>
              <a:ahLst/>
              <a:cxnLst/>
              <a:rect r="r" b="b" t="t" l="l"/>
              <a:pathLst>
                <a:path h="1599565" w="10889996">
                  <a:moveTo>
                    <a:pt x="0" y="0"/>
                  </a:moveTo>
                  <a:lnTo>
                    <a:pt x="10889996" y="0"/>
                  </a:lnTo>
                  <a:lnTo>
                    <a:pt x="10889996" y="1599565"/>
                  </a:lnTo>
                  <a:lnTo>
                    <a:pt x="0" y="1599565"/>
                  </a:lnTo>
                  <a:close/>
                </a:path>
              </a:pathLst>
            </a:custGeom>
            <a:blipFill>
              <a:blip r:embed="rId3">
                <a:alphaModFix amt="0"/>
              </a:blip>
              <a:stretch>
                <a:fillRect l="0" t="-82561" r="0" b="-82564"/>
              </a:stretch>
            </a:blipFill>
            <a:ln w="42862" cap="sq">
              <a:solidFill>
                <a:srgbClr val="D9433A"/>
              </a:solidFill>
              <a:prstDash val="solid"/>
              <a:miter/>
            </a:ln>
          </p:spPr>
        </p:sp>
      </p:grpSp>
      <p:grpSp>
        <p:nvGrpSpPr>
          <p:cNvPr name="Group 66" id="66"/>
          <p:cNvGrpSpPr/>
          <p:nvPr/>
        </p:nvGrpSpPr>
        <p:grpSpPr>
          <a:xfrm rot="0">
            <a:off x="9505188" y="4869180"/>
            <a:ext cx="2606040" cy="850392"/>
            <a:chOff x="0" y="0"/>
            <a:chExt cx="3474720" cy="1133856"/>
          </a:xfrm>
        </p:grpSpPr>
        <p:sp>
          <p:nvSpPr>
            <p:cNvPr name="Freeform 67" id="67"/>
            <p:cNvSpPr/>
            <p:nvPr/>
          </p:nvSpPr>
          <p:spPr>
            <a:xfrm flipH="false" flipV="false" rot="0">
              <a:off x="0" y="0"/>
              <a:ext cx="3474720" cy="1133856"/>
            </a:xfrm>
            <a:custGeom>
              <a:avLst/>
              <a:gdLst/>
              <a:ahLst/>
              <a:cxnLst/>
              <a:rect r="r" b="b" t="t" l="l"/>
              <a:pathLst>
                <a:path h="1133856" w="3474720">
                  <a:moveTo>
                    <a:pt x="0" y="0"/>
                  </a:moveTo>
                  <a:lnTo>
                    <a:pt x="3474720" y="0"/>
                  </a:lnTo>
                  <a:lnTo>
                    <a:pt x="3474720" y="1133856"/>
                  </a:lnTo>
                  <a:lnTo>
                    <a:pt x="0" y="1133856"/>
                  </a:lnTo>
                  <a:close/>
                </a:path>
              </a:pathLst>
            </a:custGeom>
            <a:blipFill>
              <a:blip r:embed="rId3">
                <a:alphaModFix amt="0"/>
              </a:blip>
              <a:stretch>
                <a:fillRect l="0" t="-9670" r="0" b="-9670"/>
              </a:stretch>
            </a:blipFill>
          </p:spPr>
        </p:sp>
      </p:grpSp>
      <p:grpSp>
        <p:nvGrpSpPr>
          <p:cNvPr name="Group 68" id="68"/>
          <p:cNvGrpSpPr/>
          <p:nvPr/>
        </p:nvGrpSpPr>
        <p:grpSpPr>
          <a:xfrm rot="0">
            <a:off x="9505188" y="4869180"/>
            <a:ext cx="2606040" cy="850392"/>
            <a:chOff x="0" y="0"/>
            <a:chExt cx="3474720" cy="1133856"/>
          </a:xfrm>
        </p:grpSpPr>
        <p:sp>
          <p:nvSpPr>
            <p:cNvPr name="Freeform 69" id="69"/>
            <p:cNvSpPr/>
            <p:nvPr/>
          </p:nvSpPr>
          <p:spPr>
            <a:xfrm flipH="false" flipV="false" rot="0">
              <a:off x="0" y="0"/>
              <a:ext cx="3474720" cy="1133856"/>
            </a:xfrm>
            <a:custGeom>
              <a:avLst/>
              <a:gdLst/>
              <a:ahLst/>
              <a:cxnLst/>
              <a:rect r="r" b="b" t="t" l="l"/>
              <a:pathLst>
                <a:path h="1133856" w="3474720">
                  <a:moveTo>
                    <a:pt x="0" y="0"/>
                  </a:moveTo>
                  <a:lnTo>
                    <a:pt x="3474720" y="0"/>
                  </a:lnTo>
                  <a:lnTo>
                    <a:pt x="3474720" y="1133856"/>
                  </a:lnTo>
                  <a:lnTo>
                    <a:pt x="0" y="1133856"/>
                  </a:lnTo>
                  <a:close/>
                </a:path>
              </a:pathLst>
            </a:custGeom>
            <a:blipFill>
              <a:blip r:embed="rId4">
                <a:alphaModFix amt="0"/>
              </a:blip>
              <a:stretch>
                <a:fillRect l="0" t="-9712" r="0" b="-9712"/>
              </a:stretch>
            </a:blipFill>
          </p:spPr>
        </p:sp>
        <p:sp>
          <p:nvSpPr>
            <p:cNvPr name="TextBox 70" id="70"/>
            <p:cNvSpPr txBox="true"/>
            <p:nvPr/>
          </p:nvSpPr>
          <p:spPr>
            <a:xfrm>
              <a:off x="0" y="0"/>
              <a:ext cx="3474720" cy="1133856"/>
            </a:xfrm>
            <a:prstGeom prst="rect">
              <a:avLst/>
            </a:prstGeom>
          </p:spPr>
          <p:txBody>
            <a:bodyPr anchor="ctr" rtlCol="false" tIns="0" lIns="0" bIns="0" rIns="0"/>
            <a:lstStyle/>
            <a:p>
              <a:pPr algn="r">
                <a:lnSpc>
                  <a:spcPts val="2520"/>
                </a:lnSpc>
              </a:pPr>
              <a:r>
                <a:rPr lang="en-US" sz="2100">
                  <a:solidFill>
                    <a:srgbClr val="1B2B2E"/>
                  </a:solidFill>
                  <a:latin typeface="Noto Sans"/>
                  <a:ea typeface="Noto Sans"/>
                  <a:cs typeface="Noto Sans"/>
                  <a:sym typeface="Noto Sans"/>
                </a:rPr>
                <a:t>bge-m3</a:t>
              </a:r>
            </a:p>
          </p:txBody>
        </p:sp>
      </p:grpSp>
      <p:grpSp>
        <p:nvGrpSpPr>
          <p:cNvPr name="Group 71" id="71"/>
          <p:cNvGrpSpPr/>
          <p:nvPr/>
        </p:nvGrpSpPr>
        <p:grpSpPr>
          <a:xfrm rot="0">
            <a:off x="12316968" y="4924044"/>
            <a:ext cx="2618899" cy="740664"/>
            <a:chOff x="0" y="0"/>
            <a:chExt cx="3491865" cy="987552"/>
          </a:xfrm>
        </p:grpSpPr>
        <p:sp>
          <p:nvSpPr>
            <p:cNvPr name="Freeform 72" id="72"/>
            <p:cNvSpPr/>
            <p:nvPr/>
          </p:nvSpPr>
          <p:spPr>
            <a:xfrm flipH="false" flipV="false" rot="0">
              <a:off x="0" y="0"/>
              <a:ext cx="3491865" cy="987552"/>
            </a:xfrm>
            <a:custGeom>
              <a:avLst/>
              <a:gdLst/>
              <a:ahLst/>
              <a:cxnLst/>
              <a:rect r="r" b="b" t="t" l="l"/>
              <a:pathLst>
                <a:path h="987552" w="3491865">
                  <a:moveTo>
                    <a:pt x="0" y="0"/>
                  </a:moveTo>
                  <a:lnTo>
                    <a:pt x="3491865" y="0"/>
                  </a:lnTo>
                  <a:lnTo>
                    <a:pt x="3491865" y="987552"/>
                  </a:lnTo>
                  <a:lnTo>
                    <a:pt x="0" y="987552"/>
                  </a:lnTo>
                  <a:close/>
                </a:path>
              </a:pathLst>
            </a:custGeom>
            <a:solidFill>
              <a:srgbClr val="A9C2BC"/>
            </a:solidFill>
          </p:spPr>
        </p:sp>
      </p:grpSp>
      <p:grpSp>
        <p:nvGrpSpPr>
          <p:cNvPr name="Group 73" id="73"/>
          <p:cNvGrpSpPr/>
          <p:nvPr/>
        </p:nvGrpSpPr>
        <p:grpSpPr>
          <a:xfrm rot="0">
            <a:off x="15072989" y="4869180"/>
            <a:ext cx="960120" cy="850392"/>
            <a:chOff x="0" y="0"/>
            <a:chExt cx="1280160" cy="1133856"/>
          </a:xfrm>
        </p:grpSpPr>
        <p:sp>
          <p:nvSpPr>
            <p:cNvPr name="Freeform 74" id="74"/>
            <p:cNvSpPr/>
            <p:nvPr/>
          </p:nvSpPr>
          <p:spPr>
            <a:xfrm flipH="false" flipV="false" rot="0">
              <a:off x="0" y="0"/>
              <a:ext cx="1280160" cy="1133856"/>
            </a:xfrm>
            <a:custGeom>
              <a:avLst/>
              <a:gdLst/>
              <a:ahLst/>
              <a:cxnLst/>
              <a:rect r="r" b="b" t="t" l="l"/>
              <a:pathLst>
                <a:path h="1133856" w="1280160">
                  <a:moveTo>
                    <a:pt x="0" y="0"/>
                  </a:moveTo>
                  <a:lnTo>
                    <a:pt x="1280160" y="0"/>
                  </a:lnTo>
                  <a:lnTo>
                    <a:pt x="1280160" y="1133856"/>
                  </a:lnTo>
                  <a:lnTo>
                    <a:pt x="0" y="1133856"/>
                  </a:lnTo>
                  <a:close/>
                </a:path>
              </a:pathLst>
            </a:custGeom>
            <a:blipFill>
              <a:blip r:embed="rId3">
                <a:alphaModFix amt="0"/>
              </a:blip>
              <a:stretch>
                <a:fillRect l="-63719" t="0" r="-63719" b="0"/>
              </a:stretch>
            </a:blipFill>
          </p:spPr>
        </p:sp>
      </p:grpSp>
      <p:grpSp>
        <p:nvGrpSpPr>
          <p:cNvPr name="Group 75" id="75"/>
          <p:cNvGrpSpPr/>
          <p:nvPr/>
        </p:nvGrpSpPr>
        <p:grpSpPr>
          <a:xfrm rot="0">
            <a:off x="15072989" y="4876324"/>
            <a:ext cx="960120" cy="843248"/>
            <a:chOff x="0" y="0"/>
            <a:chExt cx="1280160" cy="1124331"/>
          </a:xfrm>
        </p:grpSpPr>
        <p:sp>
          <p:nvSpPr>
            <p:cNvPr name="Freeform 76" id="76"/>
            <p:cNvSpPr/>
            <p:nvPr/>
          </p:nvSpPr>
          <p:spPr>
            <a:xfrm flipH="false" flipV="false" rot="0">
              <a:off x="0" y="0"/>
              <a:ext cx="1280160" cy="1124331"/>
            </a:xfrm>
            <a:custGeom>
              <a:avLst/>
              <a:gdLst/>
              <a:ahLst/>
              <a:cxnLst/>
              <a:rect r="r" b="b" t="t" l="l"/>
              <a:pathLst>
                <a:path h="1124331" w="1280160">
                  <a:moveTo>
                    <a:pt x="0" y="0"/>
                  </a:moveTo>
                  <a:lnTo>
                    <a:pt x="1280160" y="0"/>
                  </a:lnTo>
                  <a:lnTo>
                    <a:pt x="1280160" y="1124331"/>
                  </a:lnTo>
                  <a:lnTo>
                    <a:pt x="0" y="1124331"/>
                  </a:lnTo>
                  <a:close/>
                </a:path>
              </a:pathLst>
            </a:custGeom>
            <a:blipFill>
              <a:blip r:embed="rId4">
                <a:alphaModFix amt="0"/>
              </a:blip>
              <a:stretch>
                <a:fillRect l="-62685" t="0" r="-62685" b="0"/>
              </a:stretch>
            </a:blipFill>
          </p:spPr>
        </p:sp>
        <p:sp>
          <p:nvSpPr>
            <p:cNvPr name="TextBox 77" id="77"/>
            <p:cNvSpPr txBox="true"/>
            <p:nvPr/>
          </p:nvSpPr>
          <p:spPr>
            <a:xfrm>
              <a:off x="0" y="9525"/>
              <a:ext cx="1280160" cy="1114806"/>
            </a:xfrm>
            <a:prstGeom prst="rect">
              <a:avLst/>
            </a:prstGeom>
          </p:spPr>
          <p:txBody>
            <a:bodyPr anchor="ctr" rtlCol="false" tIns="0" lIns="0" bIns="0" rIns="0"/>
            <a:lstStyle/>
            <a:p>
              <a:pPr algn="l">
                <a:lnSpc>
                  <a:spcPts val="2878"/>
                </a:lnSpc>
              </a:pPr>
              <a:r>
                <a:rPr lang="en-US" sz="2400" b="true">
                  <a:solidFill>
                    <a:srgbClr val="45545A"/>
                  </a:solidFill>
                  <a:latin typeface="Noto Sans Bold"/>
                  <a:ea typeface="Noto Sans Bold"/>
                  <a:cs typeface="Noto Sans Bold"/>
                  <a:sym typeface="Noto Sans Bold"/>
                </a:rPr>
                <a:t>77</a:t>
              </a:r>
            </a:p>
          </p:txBody>
        </p:sp>
      </p:grpSp>
      <p:sp>
        <p:nvSpPr>
          <p:cNvPr name="TextBox 78" id="78"/>
          <p:cNvSpPr txBox="true"/>
          <p:nvPr/>
        </p:nvSpPr>
        <p:spPr>
          <a:xfrm rot="0">
            <a:off x="822960" y="6515100"/>
            <a:ext cx="7955280" cy="822960"/>
          </a:xfrm>
          <a:prstGeom prst="rect">
            <a:avLst/>
          </a:prstGeom>
        </p:spPr>
        <p:txBody>
          <a:bodyPr anchor="t" rtlCol="false" tIns="0" lIns="0" bIns="0" rIns="0">
            <a:spAutoFit/>
          </a:bodyPr>
          <a:lstStyle/>
          <a:p>
            <a:pPr algn="l">
              <a:lnSpc>
                <a:spcPts val="2250"/>
              </a:lnSpc>
            </a:pPr>
            <a:r>
              <a:rPr lang="en-US" sz="1875">
                <a:solidFill>
                  <a:srgbClr val="45545A"/>
                </a:solidFill>
                <a:latin typeface="Noto Sans"/>
                <a:ea typeface="Noto Sans"/>
                <a:cs typeface="Noto Sans"/>
                <a:sym typeface="Noto Sans"/>
              </a:rPr>
              <a:t>한국어 질문 · 응답 p50 5.7초 · 외부 API는 ‘네트워크 없이 동작’ 요구로 제외</a:t>
            </a:r>
          </a:p>
        </p:txBody>
      </p:sp>
      <p:sp>
        <p:nvSpPr>
          <p:cNvPr name="TextBox 79" id="79"/>
          <p:cNvSpPr txBox="true"/>
          <p:nvPr/>
        </p:nvSpPr>
        <p:spPr>
          <a:xfrm rot="0">
            <a:off x="9505188" y="6515100"/>
            <a:ext cx="7955280" cy="822960"/>
          </a:xfrm>
          <a:prstGeom prst="rect">
            <a:avLst/>
          </a:prstGeom>
        </p:spPr>
        <p:txBody>
          <a:bodyPr anchor="t" rtlCol="false" tIns="0" lIns="0" bIns="0" rIns="0">
            <a:spAutoFit/>
          </a:bodyPr>
          <a:lstStyle/>
          <a:p>
            <a:pPr algn="l">
              <a:lnSpc>
                <a:spcPts val="2250"/>
              </a:lnSpc>
            </a:pPr>
            <a:r>
              <a:rPr lang="en-US" sz="1875">
                <a:solidFill>
                  <a:srgbClr val="45545A"/>
                </a:solidFill>
                <a:latin typeface="Noto Sans"/>
                <a:ea typeface="Noto Sans"/>
                <a:cs typeface="Noto Sans"/>
                <a:sym typeface="Noto Sans"/>
              </a:rPr>
              <a:t>모델 크기 0.6GB(bge-m3 1.2GB) · 키워드 검색(BM25) 영어 원문 회수율 2.6%</a:t>
            </a:r>
          </a:p>
        </p:txBody>
      </p:sp>
      <p:sp>
        <p:nvSpPr>
          <p:cNvPr name="Freeform 80" id="80"/>
          <p:cNvSpPr/>
          <p:nvPr/>
        </p:nvSpPr>
        <p:spPr>
          <a:xfrm flipH="false" flipV="false" rot="0">
            <a:off x="2452211" y="7870031"/>
            <a:ext cx="13383101" cy="719138"/>
          </a:xfrm>
          <a:custGeom>
            <a:avLst/>
            <a:gdLst/>
            <a:ahLst/>
            <a:cxnLst/>
            <a:rect r="r" b="b" t="t" l="l"/>
            <a:pathLst>
              <a:path h="719138" w="13383101">
                <a:moveTo>
                  <a:pt x="0" y="0"/>
                </a:moveTo>
                <a:lnTo>
                  <a:pt x="13383101" y="0"/>
                </a:lnTo>
                <a:lnTo>
                  <a:pt x="13383101" y="719138"/>
                </a:lnTo>
                <a:lnTo>
                  <a:pt x="0" y="71913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1" id="81"/>
          <p:cNvGrpSpPr/>
          <p:nvPr/>
        </p:nvGrpSpPr>
        <p:grpSpPr>
          <a:xfrm rot="0">
            <a:off x="2468880" y="7886700"/>
            <a:ext cx="13349783" cy="685800"/>
            <a:chOff x="0" y="0"/>
            <a:chExt cx="17799710" cy="914400"/>
          </a:xfrm>
        </p:grpSpPr>
        <p:sp>
          <p:nvSpPr>
            <p:cNvPr name="Freeform 82" id="82"/>
            <p:cNvSpPr/>
            <p:nvPr/>
          </p:nvSpPr>
          <p:spPr>
            <a:xfrm flipH="false" flipV="false" rot="0">
              <a:off x="0" y="0"/>
              <a:ext cx="17799686" cy="914400"/>
            </a:xfrm>
            <a:custGeom>
              <a:avLst/>
              <a:gdLst/>
              <a:ahLst/>
              <a:cxnLst/>
              <a:rect r="r" b="b" t="t" l="l"/>
              <a:pathLst>
                <a:path h="914400" w="17799686">
                  <a:moveTo>
                    <a:pt x="0" y="0"/>
                  </a:moveTo>
                  <a:lnTo>
                    <a:pt x="17799686" y="0"/>
                  </a:lnTo>
                  <a:lnTo>
                    <a:pt x="17799686" y="914400"/>
                  </a:lnTo>
                  <a:lnTo>
                    <a:pt x="0" y="914400"/>
                  </a:lnTo>
                  <a:close/>
                </a:path>
              </a:pathLst>
            </a:custGeom>
            <a:blipFill>
              <a:blip r:embed="rId3">
                <a:alphaModFix amt="0"/>
              </a:blip>
              <a:stretch>
                <a:fillRect l="0" t="-329031" r="0" b="-329031"/>
              </a:stretch>
            </a:blipFill>
          </p:spPr>
        </p:sp>
      </p:grpSp>
      <p:grpSp>
        <p:nvGrpSpPr>
          <p:cNvPr name="Group 83" id="83"/>
          <p:cNvGrpSpPr/>
          <p:nvPr/>
        </p:nvGrpSpPr>
        <p:grpSpPr>
          <a:xfrm rot="0">
            <a:off x="2468880" y="7886700"/>
            <a:ext cx="13349783" cy="685800"/>
            <a:chOff x="0" y="0"/>
            <a:chExt cx="17799710" cy="914400"/>
          </a:xfrm>
        </p:grpSpPr>
        <p:sp>
          <p:nvSpPr>
            <p:cNvPr name="Freeform 84" id="84"/>
            <p:cNvSpPr/>
            <p:nvPr/>
          </p:nvSpPr>
          <p:spPr>
            <a:xfrm flipH="false" flipV="false" rot="0">
              <a:off x="0" y="0"/>
              <a:ext cx="17799710" cy="914400"/>
            </a:xfrm>
            <a:custGeom>
              <a:avLst/>
              <a:gdLst/>
              <a:ahLst/>
              <a:cxnLst/>
              <a:rect r="r" b="b" t="t" l="l"/>
              <a:pathLst>
                <a:path h="914400" w="17799710">
                  <a:moveTo>
                    <a:pt x="0" y="0"/>
                  </a:moveTo>
                  <a:lnTo>
                    <a:pt x="17799710" y="0"/>
                  </a:lnTo>
                  <a:lnTo>
                    <a:pt x="17799710" y="914400"/>
                  </a:lnTo>
                  <a:lnTo>
                    <a:pt x="0" y="914400"/>
                  </a:lnTo>
                  <a:close/>
                </a:path>
              </a:pathLst>
            </a:custGeom>
            <a:blipFill>
              <a:blip r:embed="rId4">
                <a:alphaModFix amt="0"/>
              </a:blip>
              <a:stretch>
                <a:fillRect l="0" t="-329295" r="0" b="-329295"/>
              </a:stretch>
            </a:blipFill>
          </p:spPr>
        </p:sp>
        <p:sp>
          <p:nvSpPr>
            <p:cNvPr name="TextBox 85" id="85"/>
            <p:cNvSpPr txBox="true"/>
            <p:nvPr/>
          </p:nvSpPr>
          <p:spPr>
            <a:xfrm>
              <a:off x="0" y="0"/>
              <a:ext cx="17799710" cy="914400"/>
            </a:xfrm>
            <a:prstGeom prst="rect">
              <a:avLst/>
            </a:prstGeom>
          </p:spPr>
          <p:txBody>
            <a:bodyPr anchor="ctr" rtlCol="false" tIns="0" lIns="0" bIns="0" rIns="0"/>
            <a:lstStyle/>
            <a:p>
              <a:pPr algn="ctr">
                <a:lnSpc>
                  <a:spcPts val="2700"/>
                </a:lnSpc>
              </a:pPr>
              <a:r>
                <a:rPr lang="en-US" sz="2250" b="true">
                  <a:solidFill>
                    <a:srgbClr val="FFFFFF"/>
                  </a:solidFill>
                  <a:latin typeface="Noto Sans Bold"/>
                  <a:ea typeface="Noto Sans Bold"/>
                  <a:cs typeface="Noto Sans Bold"/>
                  <a:sym typeface="Noto Sans Bold"/>
                </a:rPr>
                <a:t>소형 모델의 한계는 판정 모델과 코드 규칙으로 보완</a:t>
              </a:r>
            </a:p>
          </p:txBody>
        </p:sp>
      </p:grpSp>
      <p:sp>
        <p:nvSpPr>
          <p:cNvPr name="TextBox 86" id="86"/>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a:solidFill>
                  <a:srgbClr val="6B787A"/>
                </a:solidFill>
                <a:latin typeface="Noto Sans"/>
                <a:ea typeface="Noto Sans"/>
                <a:cs typeface="Noto Sans"/>
                <a:sym typeface="Noto Sans"/>
              </a:rPr>
              <a:t>23</a:t>
            </a:r>
          </a:p>
        </p:txBody>
      </p:sp>
      <p:grpSp>
        <p:nvGrpSpPr>
          <p:cNvPr name="Group 87" id="87"/>
          <p:cNvGrpSpPr/>
          <p:nvPr/>
        </p:nvGrpSpPr>
        <p:grpSpPr>
          <a:xfrm rot="0">
            <a:off x="5818352" y="9710928"/>
            <a:ext cx="4070985" cy="419672"/>
            <a:chOff x="0" y="0"/>
            <a:chExt cx="5427980" cy="559562"/>
          </a:xfrm>
        </p:grpSpPr>
        <p:grpSp>
          <p:nvGrpSpPr>
            <p:cNvPr name="Group 88" id="88"/>
            <p:cNvGrpSpPr/>
            <p:nvPr/>
          </p:nvGrpSpPr>
          <p:grpSpPr>
            <a:xfrm rot="0">
              <a:off x="0" y="0"/>
              <a:ext cx="1680845" cy="559562"/>
              <a:chOff x="0" y="0"/>
              <a:chExt cx="1680845" cy="559562"/>
            </a:xfrm>
          </p:grpSpPr>
          <p:sp>
            <p:nvSpPr>
              <p:cNvPr name="Freeform 89" id="89"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7"/>
                <a:stretch>
                  <a:fillRect l="0" t="-265" r="0" b="-267"/>
                </a:stretch>
              </a:blipFill>
            </p:spPr>
          </p:sp>
        </p:grpSp>
        <p:grpSp>
          <p:nvGrpSpPr>
            <p:cNvPr name="Group 90" id="90"/>
            <p:cNvGrpSpPr/>
            <p:nvPr/>
          </p:nvGrpSpPr>
          <p:grpSpPr>
            <a:xfrm rot="0">
              <a:off x="2069490" y="124358"/>
              <a:ext cx="1189101" cy="310896"/>
              <a:chOff x="0" y="0"/>
              <a:chExt cx="1189101" cy="310896"/>
            </a:xfrm>
          </p:grpSpPr>
          <p:sp>
            <p:nvSpPr>
              <p:cNvPr name="Freeform 91" id="91"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8"/>
                <a:stretch>
                  <a:fillRect l="-30" t="0" r="-32" b="0"/>
                </a:stretch>
              </a:blipFill>
            </p:spPr>
          </p:sp>
        </p:grpSp>
        <p:grpSp>
          <p:nvGrpSpPr>
            <p:cNvPr name="Group 92" id="92"/>
            <p:cNvGrpSpPr/>
            <p:nvPr/>
          </p:nvGrpSpPr>
          <p:grpSpPr>
            <a:xfrm rot="0">
              <a:off x="3647186" y="124358"/>
              <a:ext cx="1780794" cy="310896"/>
              <a:chOff x="0" y="0"/>
              <a:chExt cx="1780794" cy="310896"/>
            </a:xfrm>
          </p:grpSpPr>
          <p:sp>
            <p:nvSpPr>
              <p:cNvPr name="Freeform 93" id="93"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9"/>
                <a:stretch>
                  <a:fillRect l="0" t="-118" r="0" b="-122"/>
                </a:stretch>
              </a:blipFill>
            </p:spPr>
          </p:sp>
        </p:gr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3050" r="0" b="-333050"/>
              </a:stretch>
            </a:blipFill>
          </p:spPr>
        </p:sp>
        <p:sp>
          <p:nvSpPr>
            <p:cNvPr name="TextBox 6" id="6"/>
            <p:cNvSpPr txBox="true"/>
            <p:nvPr/>
          </p:nvSpPr>
          <p:spPr>
            <a:xfrm>
              <a:off x="0" y="-9525"/>
              <a:ext cx="10972800" cy="567690"/>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7" id="7"/>
          <p:cNvGrpSpPr/>
          <p:nvPr/>
        </p:nvGrpSpPr>
        <p:grpSpPr>
          <a:xfrm rot="0">
            <a:off x="822960" y="438912"/>
            <a:ext cx="4114800" cy="384048"/>
            <a:chOff x="0" y="0"/>
            <a:chExt cx="5486400" cy="512064"/>
          </a:xfrm>
        </p:grpSpPr>
        <p:sp>
          <p:nvSpPr>
            <p:cNvPr name="Freeform 8" id="8"/>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3">
                <a:alphaModFix amt="0"/>
              </a:blip>
              <a:stretch>
                <a:fillRect l="0" t="-158623" r="0" b="-158623"/>
              </a:stretch>
            </a:blipFill>
          </p:spPr>
        </p:sp>
      </p:grpSp>
      <p:grpSp>
        <p:nvGrpSpPr>
          <p:cNvPr name="Group 9" id="9"/>
          <p:cNvGrpSpPr/>
          <p:nvPr/>
        </p:nvGrpSpPr>
        <p:grpSpPr>
          <a:xfrm rot="0">
            <a:off x="822960" y="438912"/>
            <a:ext cx="4114800" cy="384048"/>
            <a:chOff x="0" y="0"/>
            <a:chExt cx="5486400" cy="512064"/>
          </a:xfrm>
        </p:grpSpPr>
        <p:sp>
          <p:nvSpPr>
            <p:cNvPr name="Freeform 10" id="10"/>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4">
                <a:alphaModFix amt="0"/>
              </a:blip>
              <a:stretch>
                <a:fillRect l="0" t="-158768" r="0" b="-158768"/>
              </a:stretch>
            </a:blipFill>
          </p:spPr>
        </p:sp>
        <p:sp>
          <p:nvSpPr>
            <p:cNvPr name="TextBox 11" id="11"/>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03  AI 모델</a:t>
              </a:r>
            </a:p>
          </p:txBody>
        </p:sp>
      </p:grpSp>
      <p:grpSp>
        <p:nvGrpSpPr>
          <p:cNvPr name="Group 12" id="12"/>
          <p:cNvGrpSpPr/>
          <p:nvPr/>
        </p:nvGrpSpPr>
        <p:grpSpPr>
          <a:xfrm rot="0">
            <a:off x="822960" y="822960"/>
            <a:ext cx="16641623" cy="850392"/>
            <a:chOff x="0" y="0"/>
            <a:chExt cx="22188830" cy="1133856"/>
          </a:xfrm>
        </p:grpSpPr>
        <p:sp>
          <p:nvSpPr>
            <p:cNvPr name="Freeform 13" id="13"/>
            <p:cNvSpPr/>
            <p:nvPr/>
          </p:nvSpPr>
          <p:spPr>
            <a:xfrm flipH="false" flipV="false" rot="0">
              <a:off x="0" y="0"/>
              <a:ext cx="22188805" cy="1133856"/>
            </a:xfrm>
            <a:custGeom>
              <a:avLst/>
              <a:gdLst/>
              <a:ahLst/>
              <a:cxnLst/>
              <a:rect r="r" b="b" t="t" l="l"/>
              <a:pathLst>
                <a:path h="1133856" w="22188805">
                  <a:moveTo>
                    <a:pt x="0" y="0"/>
                  </a:moveTo>
                  <a:lnTo>
                    <a:pt x="22188805" y="0"/>
                  </a:lnTo>
                  <a:lnTo>
                    <a:pt x="22188805" y="1133856"/>
                  </a:lnTo>
                  <a:lnTo>
                    <a:pt x="0" y="1133856"/>
                  </a:lnTo>
                  <a:close/>
                </a:path>
              </a:pathLst>
            </a:custGeom>
            <a:blipFill>
              <a:blip r:embed="rId3">
                <a:alphaModFix amt="0"/>
              </a:blip>
              <a:stretch>
                <a:fillRect l="0" t="-331043" r="0" b="-331045"/>
              </a:stretch>
            </a:blipFill>
          </p:spPr>
        </p:sp>
      </p:grpSp>
      <p:grpSp>
        <p:nvGrpSpPr>
          <p:cNvPr name="Group 14" id="14"/>
          <p:cNvGrpSpPr/>
          <p:nvPr/>
        </p:nvGrpSpPr>
        <p:grpSpPr>
          <a:xfrm rot="0">
            <a:off x="822960" y="822960"/>
            <a:ext cx="16642080" cy="850392"/>
            <a:chOff x="0" y="0"/>
            <a:chExt cx="22189440" cy="1133856"/>
          </a:xfrm>
        </p:grpSpPr>
        <p:sp>
          <p:nvSpPr>
            <p:cNvPr name="Freeform 15" id="15"/>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4">
                <a:alphaModFix amt="0"/>
              </a:blip>
              <a:stretch>
                <a:fillRect l="0" t="-331309" r="2" b="-331309"/>
              </a:stretch>
            </a:blipFill>
          </p:spPr>
        </p:sp>
        <p:sp>
          <p:nvSpPr>
            <p:cNvPr name="TextBox 16" id="16"/>
            <p:cNvSpPr txBox="true"/>
            <p:nvPr/>
          </p:nvSpPr>
          <p:spPr>
            <a:xfrm>
              <a:off x="0" y="-9525"/>
              <a:ext cx="22189440" cy="1143381"/>
            </a:xfrm>
            <a:prstGeom prst="rect">
              <a:avLst/>
            </a:prstGeom>
          </p:spPr>
          <p:txBody>
            <a:bodyPr anchor="ctr" rtlCol="false" tIns="0" lIns="0" bIns="0" rIns="0"/>
            <a:lstStyle/>
            <a:p>
              <a:pPr algn="l">
                <a:lnSpc>
                  <a:spcPts val="4500"/>
                </a:lnSpc>
              </a:pPr>
              <a:r>
                <a:rPr lang="en-US" sz="3750" b="true">
                  <a:solidFill>
                    <a:srgbClr val="203238"/>
                  </a:solidFill>
                  <a:latin typeface="Noto Sans Bold"/>
                  <a:ea typeface="Noto Sans Bold"/>
                  <a:cs typeface="Noto Sans Bold"/>
                  <a:sym typeface="Noto Sans Bold"/>
                </a:rPr>
                <a:t>03  판정 라우팅 – 근거가 약한 답변 차단</a:t>
              </a:r>
            </a:p>
          </p:txBody>
        </p:sp>
      </p:grpSp>
      <p:grpSp>
        <p:nvGrpSpPr>
          <p:cNvPr name="Group 17" id="17"/>
          <p:cNvGrpSpPr/>
          <p:nvPr/>
        </p:nvGrpSpPr>
        <p:grpSpPr>
          <a:xfrm rot="0">
            <a:off x="822960" y="1755648"/>
            <a:ext cx="16641623" cy="576072"/>
            <a:chOff x="0" y="0"/>
            <a:chExt cx="22188830" cy="768096"/>
          </a:xfrm>
        </p:grpSpPr>
        <p:sp>
          <p:nvSpPr>
            <p:cNvPr name="Freeform 18" id="18"/>
            <p:cNvSpPr/>
            <p:nvPr/>
          </p:nvSpPr>
          <p:spPr>
            <a:xfrm flipH="false" flipV="false" rot="0">
              <a:off x="0" y="0"/>
              <a:ext cx="22188805" cy="768096"/>
            </a:xfrm>
            <a:custGeom>
              <a:avLst/>
              <a:gdLst/>
              <a:ahLst/>
              <a:cxnLst/>
              <a:rect r="r" b="b" t="t" l="l"/>
              <a:pathLst>
                <a:path h="768096" w="22188805">
                  <a:moveTo>
                    <a:pt x="0" y="0"/>
                  </a:moveTo>
                  <a:lnTo>
                    <a:pt x="22188805" y="0"/>
                  </a:lnTo>
                  <a:lnTo>
                    <a:pt x="22188805" y="768096"/>
                  </a:lnTo>
                  <a:lnTo>
                    <a:pt x="0" y="768096"/>
                  </a:lnTo>
                  <a:close/>
                </a:path>
              </a:pathLst>
            </a:custGeom>
            <a:blipFill>
              <a:blip r:embed="rId3">
                <a:alphaModFix amt="0"/>
              </a:blip>
              <a:stretch>
                <a:fillRect l="0" t="-512493" r="0" b="-512495"/>
              </a:stretch>
            </a:blipFill>
          </p:spPr>
        </p:sp>
      </p:grpSp>
      <p:grpSp>
        <p:nvGrpSpPr>
          <p:cNvPr name="Group 19" id="19"/>
          <p:cNvGrpSpPr/>
          <p:nvPr/>
        </p:nvGrpSpPr>
        <p:grpSpPr>
          <a:xfrm rot="0">
            <a:off x="822960" y="1762125"/>
            <a:ext cx="16640175" cy="362483"/>
            <a:chOff x="0" y="0"/>
            <a:chExt cx="22186900" cy="483310"/>
          </a:xfrm>
        </p:grpSpPr>
        <p:sp>
          <p:nvSpPr>
            <p:cNvPr name="Freeform 20" id="20"/>
            <p:cNvSpPr/>
            <p:nvPr/>
          </p:nvSpPr>
          <p:spPr>
            <a:xfrm flipH="false" flipV="false" rot="0">
              <a:off x="0" y="0"/>
              <a:ext cx="22186900" cy="483310"/>
            </a:xfrm>
            <a:custGeom>
              <a:avLst/>
              <a:gdLst/>
              <a:ahLst/>
              <a:cxnLst/>
              <a:rect r="r" b="b" t="t" l="l"/>
              <a:pathLst>
                <a:path h="483310" w="22186900">
                  <a:moveTo>
                    <a:pt x="0" y="0"/>
                  </a:moveTo>
                  <a:lnTo>
                    <a:pt x="22186900" y="0"/>
                  </a:lnTo>
                  <a:lnTo>
                    <a:pt x="22186900" y="483310"/>
                  </a:lnTo>
                  <a:lnTo>
                    <a:pt x="0" y="483310"/>
                  </a:lnTo>
                  <a:close/>
                </a:path>
              </a:pathLst>
            </a:custGeom>
            <a:blipFill>
              <a:blip r:embed="rId4">
                <a:alphaModFix amt="0"/>
              </a:blip>
              <a:stretch>
                <a:fillRect l="0" t="-816084" r="-8" b="-873037"/>
              </a:stretch>
            </a:blipFill>
          </p:spPr>
        </p:sp>
        <p:sp>
          <p:nvSpPr>
            <p:cNvPr name="TextBox 21" id="21"/>
            <p:cNvSpPr txBox="true"/>
            <p:nvPr/>
          </p:nvSpPr>
          <p:spPr>
            <a:xfrm>
              <a:off x="0" y="0"/>
              <a:ext cx="22186900" cy="483310"/>
            </a:xfrm>
            <a:prstGeom prst="rect">
              <a:avLst/>
            </a:prstGeom>
          </p:spPr>
          <p:txBody>
            <a:bodyPr anchor="ctr" rtlCol="false" tIns="0" lIns="0" bIns="0" rIns="0"/>
            <a:lstStyle/>
            <a:p>
              <a:pPr algn="l" marL="0" indent="0" lvl="0">
                <a:lnSpc>
                  <a:spcPts val="2249"/>
                </a:lnSpc>
                <a:spcBef>
                  <a:spcPct val="0"/>
                </a:spcBef>
              </a:pPr>
              <a:r>
                <a:rPr lang="en-US" sz="1875" strike="noStrike" u="none">
                  <a:solidFill>
                    <a:srgbClr val="53666E"/>
                  </a:solidFill>
                  <a:latin typeface="Noto Sans"/>
                  <a:ea typeface="Noto Sans"/>
                  <a:cs typeface="Noto Sans"/>
                  <a:sym typeface="Noto Sans"/>
                </a:rPr>
                <a:t>SFT 판정 모델의 답변 분기 과정 · 12초 시연</a:t>
              </a:r>
            </a:p>
          </p:txBody>
        </p:sp>
      </p:grpSp>
      <p:pic>
        <p:nvPicPr>
          <p:cNvPr name="Picture 22" id="22">
            <a:hlinkClick action="ppaction://media"/>
          </p:cNvPr>
          <p:cNvPicPr>
            <a:picLocks noChangeAspect="true"/>
          </p:cNvPicPr>
          <p:nvPr>
            <a:videoFile r:link="rId6"/>
            <p:extLst>
              <p:ext uri="{DAA4B4D4-6D71-4841-9C94-3DE7FCFB9230}">
                <p14:media xmlns:p14="http://schemas.microsoft.com/office/powerpoint/2010/main" r:embed="rId7"/>
              </p:ext>
            </p:extLst>
          </p:nvPr>
        </p:nvPicPr>
        <p:blipFill>
          <a:blip r:embed="rId5"/>
          <a:srcRect l="0" t="0" r="0" b="0"/>
          <a:stretch>
            <a:fillRect/>
          </a:stretch>
        </p:blipFill>
        <p:spPr>
          <a:xfrm flipH="false" flipV="false" rot="0">
            <a:off x="822960" y="2381250"/>
            <a:ext cx="11811000" cy="6643688"/>
          </a:xfrm>
          <a:prstGeom prst="rect">
            <a:avLst/>
          </a:prstGeom>
        </p:spPr>
      </p:pic>
      <p:sp>
        <p:nvSpPr>
          <p:cNvPr name="Freeform 23" id="23" descr="판정 기준 및 성능 수치 상자 1"/>
          <p:cNvSpPr/>
          <p:nvPr/>
        </p:nvSpPr>
        <p:spPr>
          <a:xfrm flipH="false" flipV="false" rot="0">
            <a:off x="13096875" y="2552700"/>
            <a:ext cx="4362450" cy="1066800"/>
          </a:xfrm>
          <a:custGeom>
            <a:avLst/>
            <a:gdLst/>
            <a:ahLst/>
            <a:cxnLst/>
            <a:rect r="r" b="b" t="t" l="l"/>
            <a:pathLst>
              <a:path h="1066800" w="4362450">
                <a:moveTo>
                  <a:pt x="0" y="0"/>
                </a:moveTo>
                <a:lnTo>
                  <a:pt x="4362450" y="0"/>
                </a:lnTo>
                <a:lnTo>
                  <a:pt x="4362450" y="1066800"/>
                </a:lnTo>
                <a:lnTo>
                  <a:pt x="0" y="1066800"/>
                </a:lnTo>
                <a:lnTo>
                  <a:pt x="0" y="0"/>
                </a:lnTo>
                <a:close/>
              </a:path>
            </a:pathLst>
          </a:custGeom>
          <a:blipFill>
            <a:blip r:embed="rId8">
              <a:extLst>
                <a:ext uri="{96DAC541-7B7A-43D3-8B79-37D633B846F1}">
                  <asvg:svgBlip xmlns:asvg="http://schemas.microsoft.com/office/drawing/2016/SVG/main" r:embed="rId9"/>
                </a:ext>
              </a:extLst>
            </a:blip>
            <a:stretch>
              <a:fillRect l="0" t="-2656" r="0" b="-9799"/>
            </a:stretch>
          </a:blipFill>
        </p:spPr>
      </p:sp>
      <p:grpSp>
        <p:nvGrpSpPr>
          <p:cNvPr name="Group 24" id="24"/>
          <p:cNvGrpSpPr/>
          <p:nvPr/>
        </p:nvGrpSpPr>
        <p:grpSpPr>
          <a:xfrm rot="0">
            <a:off x="13325475" y="2647950"/>
            <a:ext cx="3905250" cy="559584"/>
            <a:chOff x="0" y="0"/>
            <a:chExt cx="5207000" cy="746113"/>
          </a:xfrm>
        </p:grpSpPr>
        <p:sp>
          <p:nvSpPr>
            <p:cNvPr name="Freeform 25" id="25"/>
            <p:cNvSpPr/>
            <p:nvPr/>
          </p:nvSpPr>
          <p:spPr>
            <a:xfrm flipH="false" flipV="false" rot="0">
              <a:off x="0" y="0"/>
              <a:ext cx="5207000" cy="746113"/>
            </a:xfrm>
            <a:custGeom>
              <a:avLst/>
              <a:gdLst/>
              <a:ahLst/>
              <a:cxnLst/>
              <a:rect r="r" b="b" t="t" l="l"/>
              <a:pathLst>
                <a:path h="746113" w="5207000">
                  <a:moveTo>
                    <a:pt x="0" y="0"/>
                  </a:moveTo>
                  <a:lnTo>
                    <a:pt x="5207000" y="0"/>
                  </a:lnTo>
                  <a:lnTo>
                    <a:pt x="5207000" y="746113"/>
                  </a:lnTo>
                  <a:lnTo>
                    <a:pt x="0" y="746113"/>
                  </a:lnTo>
                  <a:close/>
                </a:path>
              </a:pathLst>
            </a:custGeom>
            <a:blipFill>
              <a:blip r:embed="rId4">
                <a:alphaModFix amt="0"/>
              </a:blip>
              <a:stretch>
                <a:fillRect l="-1551" t="0" r="49278" b="-42164"/>
              </a:stretch>
            </a:blipFill>
          </p:spPr>
        </p:sp>
        <p:sp>
          <p:nvSpPr>
            <p:cNvPr name="TextBox 26" id="26"/>
            <p:cNvSpPr txBox="true"/>
            <p:nvPr/>
          </p:nvSpPr>
          <p:spPr>
            <a:xfrm>
              <a:off x="0" y="0"/>
              <a:ext cx="5207000" cy="746113"/>
            </a:xfrm>
            <a:prstGeom prst="rect">
              <a:avLst/>
            </a:prstGeom>
          </p:spPr>
          <p:txBody>
            <a:bodyPr anchor="ctr" rtlCol="false" tIns="0" lIns="0" bIns="0" rIns="0"/>
            <a:lstStyle/>
            <a:p>
              <a:pPr algn="ctr" marL="0" indent="0" lvl="0">
                <a:lnSpc>
                  <a:spcPts val="3419"/>
                </a:lnSpc>
                <a:spcBef>
                  <a:spcPct val="0"/>
                </a:spcBef>
              </a:pPr>
              <a:r>
                <a:rPr lang="en-US" b="true" sz="2850" strike="noStrike" u="none">
                  <a:solidFill>
                    <a:srgbClr val="53666E"/>
                  </a:solidFill>
                  <a:latin typeface="Noto Sans Bold"/>
                  <a:ea typeface="Noto Sans Bold"/>
                  <a:cs typeface="Noto Sans Bold"/>
                  <a:sym typeface="Noto Sans Bold"/>
                </a:rPr>
                <a:t>P &lt; 0.3</a:t>
              </a:r>
            </a:p>
          </p:txBody>
        </p:sp>
      </p:grpSp>
      <p:grpSp>
        <p:nvGrpSpPr>
          <p:cNvPr name="Group 27" id="27"/>
          <p:cNvGrpSpPr/>
          <p:nvPr/>
        </p:nvGrpSpPr>
        <p:grpSpPr>
          <a:xfrm rot="0">
            <a:off x="13325475" y="3181350"/>
            <a:ext cx="3905250" cy="371908"/>
            <a:chOff x="0" y="0"/>
            <a:chExt cx="5207000" cy="495877"/>
          </a:xfrm>
        </p:grpSpPr>
        <p:sp>
          <p:nvSpPr>
            <p:cNvPr name="Freeform 28" id="28"/>
            <p:cNvSpPr/>
            <p:nvPr/>
          </p:nvSpPr>
          <p:spPr>
            <a:xfrm flipH="false" flipV="false" rot="0">
              <a:off x="0" y="0"/>
              <a:ext cx="5207000" cy="495877"/>
            </a:xfrm>
            <a:custGeom>
              <a:avLst/>
              <a:gdLst/>
              <a:ahLst/>
              <a:cxnLst/>
              <a:rect r="r" b="b" t="t" l="l"/>
              <a:pathLst>
                <a:path h="495877" w="5207000">
                  <a:moveTo>
                    <a:pt x="0" y="0"/>
                  </a:moveTo>
                  <a:lnTo>
                    <a:pt x="5207000" y="0"/>
                  </a:lnTo>
                  <a:lnTo>
                    <a:pt x="5207000" y="495877"/>
                  </a:lnTo>
                  <a:lnTo>
                    <a:pt x="0" y="495877"/>
                  </a:lnTo>
                  <a:close/>
                </a:path>
              </a:pathLst>
            </a:custGeom>
            <a:blipFill>
              <a:blip r:embed="rId4">
                <a:alphaModFix amt="0"/>
              </a:blip>
              <a:stretch>
                <a:fillRect l="0" t="-147194" r="-24682" b="-263019"/>
              </a:stretch>
            </a:blipFill>
          </p:spPr>
        </p:sp>
        <p:sp>
          <p:nvSpPr>
            <p:cNvPr name="TextBox 29" id="29"/>
            <p:cNvSpPr txBox="true"/>
            <p:nvPr/>
          </p:nvSpPr>
          <p:spPr>
            <a:xfrm>
              <a:off x="0" y="0"/>
              <a:ext cx="5207000" cy="495877"/>
            </a:xfrm>
            <a:prstGeom prst="rect">
              <a:avLst/>
            </a:prstGeom>
          </p:spPr>
          <p:txBody>
            <a:bodyPr anchor="ctr" rtlCol="false" tIns="0" lIns="0" bIns="0" rIns="0"/>
            <a:lstStyle/>
            <a:p>
              <a:pPr algn="ctr" marL="0" indent="0" lvl="0">
                <a:lnSpc>
                  <a:spcPts val="2250"/>
                </a:lnSpc>
                <a:spcBef>
                  <a:spcPct val="0"/>
                </a:spcBef>
              </a:pPr>
              <a:r>
                <a:rPr lang="en-US" sz="1875" strike="noStrike" u="none">
                  <a:solidFill>
                    <a:srgbClr val="53666E"/>
                  </a:solidFill>
                  <a:latin typeface="Noto Sans"/>
                  <a:ea typeface="Noto Sans"/>
                  <a:cs typeface="Noto Sans"/>
                  <a:sym typeface="Noto Sans"/>
                </a:rPr>
                <a:t>조각 버림</a:t>
              </a:r>
            </a:p>
          </p:txBody>
        </p:sp>
      </p:grpSp>
      <p:sp>
        <p:nvSpPr>
          <p:cNvPr name="Freeform 30" id="30" descr="판정 기준 및 성능 수치 상자 2"/>
          <p:cNvSpPr/>
          <p:nvPr/>
        </p:nvSpPr>
        <p:spPr>
          <a:xfrm flipH="false" flipV="false" rot="0">
            <a:off x="13096875" y="3714750"/>
            <a:ext cx="4362450" cy="1066800"/>
          </a:xfrm>
          <a:custGeom>
            <a:avLst/>
            <a:gdLst/>
            <a:ahLst/>
            <a:cxnLst/>
            <a:rect r="r" b="b" t="t" l="l"/>
            <a:pathLst>
              <a:path h="1066800" w="4362450">
                <a:moveTo>
                  <a:pt x="0" y="0"/>
                </a:moveTo>
                <a:lnTo>
                  <a:pt x="4362450" y="0"/>
                </a:lnTo>
                <a:lnTo>
                  <a:pt x="4362450" y="1066800"/>
                </a:lnTo>
                <a:lnTo>
                  <a:pt x="0" y="1066800"/>
                </a:lnTo>
                <a:lnTo>
                  <a:pt x="0" y="0"/>
                </a:lnTo>
                <a:close/>
              </a:path>
            </a:pathLst>
          </a:custGeom>
          <a:blipFill>
            <a:blip r:embed="rId8">
              <a:extLst>
                <a:ext uri="{96DAC541-7B7A-43D3-8B79-37D633B846F1}">
                  <asvg:svgBlip xmlns:asvg="http://schemas.microsoft.com/office/drawing/2016/SVG/main" r:embed="rId9"/>
                </a:ext>
              </a:extLst>
            </a:blip>
            <a:stretch>
              <a:fillRect l="0" t="-2656" r="0" b="-9799"/>
            </a:stretch>
          </a:blipFill>
        </p:spPr>
      </p:sp>
      <p:sp>
        <p:nvSpPr>
          <p:cNvPr name="Freeform 31" id="31" descr="판정 기준 및 성능 수치 상자 3"/>
          <p:cNvSpPr/>
          <p:nvPr/>
        </p:nvSpPr>
        <p:spPr>
          <a:xfrm flipH="false" flipV="false" rot="0">
            <a:off x="13096875" y="4876800"/>
            <a:ext cx="4362450" cy="1066800"/>
          </a:xfrm>
          <a:custGeom>
            <a:avLst/>
            <a:gdLst/>
            <a:ahLst/>
            <a:cxnLst/>
            <a:rect r="r" b="b" t="t" l="l"/>
            <a:pathLst>
              <a:path h="1066800" w="4362450">
                <a:moveTo>
                  <a:pt x="0" y="0"/>
                </a:moveTo>
                <a:lnTo>
                  <a:pt x="4362450" y="0"/>
                </a:lnTo>
                <a:lnTo>
                  <a:pt x="4362450" y="1066800"/>
                </a:lnTo>
                <a:lnTo>
                  <a:pt x="0" y="1066800"/>
                </a:lnTo>
                <a:lnTo>
                  <a:pt x="0" y="0"/>
                </a:lnTo>
                <a:close/>
              </a:path>
            </a:pathLst>
          </a:custGeom>
          <a:blipFill>
            <a:blip r:embed="rId8">
              <a:extLst>
                <a:ext uri="{96DAC541-7B7A-43D3-8B79-37D633B846F1}">
                  <asvg:svgBlip xmlns:asvg="http://schemas.microsoft.com/office/drawing/2016/SVG/main" r:embed="rId9"/>
                </a:ext>
              </a:extLst>
            </a:blip>
            <a:stretch>
              <a:fillRect l="0" t="-2656" r="0" b="-9799"/>
            </a:stretch>
          </a:blipFill>
        </p:spPr>
      </p:sp>
      <p:sp>
        <p:nvSpPr>
          <p:cNvPr name="Freeform 32" id="32" descr="판정 기준 및 성능 수치 상자 4"/>
          <p:cNvSpPr/>
          <p:nvPr/>
        </p:nvSpPr>
        <p:spPr>
          <a:xfrm flipH="false" flipV="false" rot="0">
            <a:off x="13096875" y="6762750"/>
            <a:ext cx="4362450" cy="1066800"/>
          </a:xfrm>
          <a:custGeom>
            <a:avLst/>
            <a:gdLst/>
            <a:ahLst/>
            <a:cxnLst/>
            <a:rect r="r" b="b" t="t" l="l"/>
            <a:pathLst>
              <a:path h="1066800" w="4362450">
                <a:moveTo>
                  <a:pt x="0" y="0"/>
                </a:moveTo>
                <a:lnTo>
                  <a:pt x="4362450" y="0"/>
                </a:lnTo>
                <a:lnTo>
                  <a:pt x="4362450" y="1066800"/>
                </a:lnTo>
                <a:lnTo>
                  <a:pt x="0" y="1066800"/>
                </a:lnTo>
                <a:lnTo>
                  <a:pt x="0" y="0"/>
                </a:lnTo>
                <a:close/>
              </a:path>
            </a:pathLst>
          </a:custGeom>
          <a:blipFill>
            <a:blip r:embed="rId10">
              <a:extLst>
                <a:ext uri="{96DAC541-7B7A-43D3-8B79-37D633B846F1}">
                  <asvg:svgBlip xmlns:asvg="http://schemas.microsoft.com/office/drawing/2016/SVG/main" r:embed="rId11"/>
                </a:ext>
              </a:extLst>
            </a:blip>
            <a:stretch>
              <a:fillRect l="0" t="-2656" r="0" b="-9799"/>
            </a:stretch>
          </a:blipFill>
        </p:spPr>
      </p:sp>
      <p:sp>
        <p:nvSpPr>
          <p:cNvPr name="Freeform 33" id="33" descr="판정 기준 및 성능 수치 상자 5"/>
          <p:cNvSpPr/>
          <p:nvPr/>
        </p:nvSpPr>
        <p:spPr>
          <a:xfrm flipH="false" flipV="false" rot="0">
            <a:off x="13096875" y="7924800"/>
            <a:ext cx="4362450" cy="1066800"/>
          </a:xfrm>
          <a:custGeom>
            <a:avLst/>
            <a:gdLst/>
            <a:ahLst/>
            <a:cxnLst/>
            <a:rect r="r" b="b" t="t" l="l"/>
            <a:pathLst>
              <a:path h="1066800" w="4362450">
                <a:moveTo>
                  <a:pt x="0" y="0"/>
                </a:moveTo>
                <a:lnTo>
                  <a:pt x="4362450" y="0"/>
                </a:lnTo>
                <a:lnTo>
                  <a:pt x="4362450" y="1066800"/>
                </a:lnTo>
                <a:lnTo>
                  <a:pt x="0" y="1066800"/>
                </a:lnTo>
                <a:lnTo>
                  <a:pt x="0" y="0"/>
                </a:lnTo>
                <a:close/>
              </a:path>
            </a:pathLst>
          </a:custGeom>
          <a:blipFill>
            <a:blip r:embed="rId10">
              <a:extLst>
                <a:ext uri="{96DAC541-7B7A-43D3-8B79-37D633B846F1}">
                  <asvg:svgBlip xmlns:asvg="http://schemas.microsoft.com/office/drawing/2016/SVG/main" r:embed="rId11"/>
                </a:ext>
              </a:extLst>
            </a:blip>
            <a:stretch>
              <a:fillRect l="0" t="-2656" r="0" b="-9799"/>
            </a:stretch>
          </a:blipFill>
        </p:spPr>
      </p:sp>
      <p:grpSp>
        <p:nvGrpSpPr>
          <p:cNvPr name="Group 34" id="34"/>
          <p:cNvGrpSpPr/>
          <p:nvPr/>
        </p:nvGrpSpPr>
        <p:grpSpPr>
          <a:xfrm rot="0">
            <a:off x="13325475" y="3810000"/>
            <a:ext cx="3905250" cy="559584"/>
            <a:chOff x="0" y="0"/>
            <a:chExt cx="5207000" cy="746113"/>
          </a:xfrm>
        </p:grpSpPr>
        <p:sp>
          <p:nvSpPr>
            <p:cNvPr name="Freeform 35" id="35"/>
            <p:cNvSpPr/>
            <p:nvPr/>
          </p:nvSpPr>
          <p:spPr>
            <a:xfrm flipH="false" flipV="false" rot="0">
              <a:off x="0" y="0"/>
              <a:ext cx="5207000" cy="746113"/>
            </a:xfrm>
            <a:custGeom>
              <a:avLst/>
              <a:gdLst/>
              <a:ahLst/>
              <a:cxnLst/>
              <a:rect r="r" b="b" t="t" l="l"/>
              <a:pathLst>
                <a:path h="746113" w="5207000">
                  <a:moveTo>
                    <a:pt x="0" y="0"/>
                  </a:moveTo>
                  <a:lnTo>
                    <a:pt x="5207000" y="0"/>
                  </a:lnTo>
                  <a:lnTo>
                    <a:pt x="5207000" y="746113"/>
                  </a:lnTo>
                  <a:lnTo>
                    <a:pt x="0" y="746113"/>
                  </a:lnTo>
                  <a:close/>
                </a:path>
              </a:pathLst>
            </a:custGeom>
            <a:blipFill>
              <a:blip r:embed="rId4">
                <a:alphaModFix amt="0"/>
              </a:blip>
              <a:stretch>
                <a:fillRect l="-1551" t="0" r="49278" b="-42164"/>
              </a:stretch>
            </a:blipFill>
          </p:spPr>
        </p:sp>
        <p:sp>
          <p:nvSpPr>
            <p:cNvPr name="TextBox 36" id="36"/>
            <p:cNvSpPr txBox="true"/>
            <p:nvPr/>
          </p:nvSpPr>
          <p:spPr>
            <a:xfrm>
              <a:off x="0" y="0"/>
              <a:ext cx="5207000" cy="746113"/>
            </a:xfrm>
            <a:prstGeom prst="rect">
              <a:avLst/>
            </a:prstGeom>
          </p:spPr>
          <p:txBody>
            <a:bodyPr anchor="ctr" rtlCol="false" tIns="0" lIns="0" bIns="0" rIns="0"/>
            <a:lstStyle/>
            <a:p>
              <a:pPr algn="ctr" marL="0" indent="0" lvl="0">
                <a:lnSpc>
                  <a:spcPts val="3419"/>
                </a:lnSpc>
                <a:spcBef>
                  <a:spcPct val="0"/>
                </a:spcBef>
              </a:pPr>
              <a:r>
                <a:rPr lang="en-US" b="true" sz="2850" strike="noStrike" u="none">
                  <a:solidFill>
                    <a:srgbClr val="53666E"/>
                  </a:solidFill>
                  <a:latin typeface="Noto Sans Bold"/>
                  <a:ea typeface="Noto Sans Bold"/>
                  <a:cs typeface="Noto Sans Bold"/>
                  <a:sym typeface="Noto Sans Bold"/>
                </a:rPr>
                <a:t>P ≥ 0.9</a:t>
              </a:r>
            </a:p>
          </p:txBody>
        </p:sp>
      </p:grpSp>
      <p:grpSp>
        <p:nvGrpSpPr>
          <p:cNvPr name="Group 37" id="37"/>
          <p:cNvGrpSpPr/>
          <p:nvPr/>
        </p:nvGrpSpPr>
        <p:grpSpPr>
          <a:xfrm rot="0">
            <a:off x="13325475" y="4343400"/>
            <a:ext cx="3905250" cy="371908"/>
            <a:chOff x="0" y="0"/>
            <a:chExt cx="5207000" cy="495877"/>
          </a:xfrm>
        </p:grpSpPr>
        <p:sp>
          <p:nvSpPr>
            <p:cNvPr name="Freeform 38" id="38"/>
            <p:cNvSpPr/>
            <p:nvPr/>
          </p:nvSpPr>
          <p:spPr>
            <a:xfrm flipH="false" flipV="false" rot="0">
              <a:off x="0" y="0"/>
              <a:ext cx="5207000" cy="495877"/>
            </a:xfrm>
            <a:custGeom>
              <a:avLst/>
              <a:gdLst/>
              <a:ahLst/>
              <a:cxnLst/>
              <a:rect r="r" b="b" t="t" l="l"/>
              <a:pathLst>
                <a:path h="495877" w="5207000">
                  <a:moveTo>
                    <a:pt x="0" y="0"/>
                  </a:moveTo>
                  <a:lnTo>
                    <a:pt x="5207000" y="0"/>
                  </a:lnTo>
                  <a:lnTo>
                    <a:pt x="5207000" y="495877"/>
                  </a:lnTo>
                  <a:lnTo>
                    <a:pt x="0" y="495877"/>
                  </a:lnTo>
                  <a:close/>
                </a:path>
              </a:pathLst>
            </a:custGeom>
            <a:blipFill>
              <a:blip r:embed="rId4">
                <a:alphaModFix amt="0"/>
              </a:blip>
              <a:stretch>
                <a:fillRect l="0" t="-147194" r="-24682" b="-263019"/>
              </a:stretch>
            </a:blipFill>
          </p:spPr>
        </p:sp>
        <p:sp>
          <p:nvSpPr>
            <p:cNvPr name="TextBox 39" id="39"/>
            <p:cNvSpPr txBox="true"/>
            <p:nvPr/>
          </p:nvSpPr>
          <p:spPr>
            <a:xfrm>
              <a:off x="0" y="0"/>
              <a:ext cx="5207000" cy="495877"/>
            </a:xfrm>
            <a:prstGeom prst="rect">
              <a:avLst/>
            </a:prstGeom>
          </p:spPr>
          <p:txBody>
            <a:bodyPr anchor="ctr" rtlCol="false" tIns="0" lIns="0" bIns="0" rIns="0"/>
            <a:lstStyle/>
            <a:p>
              <a:pPr algn="ctr" marL="0" indent="0" lvl="0">
                <a:lnSpc>
                  <a:spcPts val="2250"/>
                </a:lnSpc>
                <a:spcBef>
                  <a:spcPct val="0"/>
                </a:spcBef>
              </a:pPr>
              <a:r>
                <a:rPr lang="en-US" sz="1875" strike="noStrike" u="none">
                  <a:solidFill>
                    <a:srgbClr val="53666E"/>
                  </a:solidFill>
                  <a:latin typeface="Noto Sans"/>
                  <a:ea typeface="Noto Sans"/>
                  <a:cs typeface="Noto Sans"/>
                  <a:sym typeface="Noto Sans"/>
                </a:rPr>
                <a:t>답 확정</a:t>
              </a:r>
            </a:p>
          </p:txBody>
        </p:sp>
      </p:grpSp>
      <p:grpSp>
        <p:nvGrpSpPr>
          <p:cNvPr name="Group 40" id="40"/>
          <p:cNvGrpSpPr/>
          <p:nvPr/>
        </p:nvGrpSpPr>
        <p:grpSpPr>
          <a:xfrm rot="0">
            <a:off x="13325475" y="4972050"/>
            <a:ext cx="3905250" cy="476250"/>
            <a:chOff x="0" y="0"/>
            <a:chExt cx="5207000" cy="635000"/>
          </a:xfrm>
        </p:grpSpPr>
        <p:sp>
          <p:nvSpPr>
            <p:cNvPr name="Freeform 41" id="41"/>
            <p:cNvSpPr/>
            <p:nvPr/>
          </p:nvSpPr>
          <p:spPr>
            <a:xfrm flipH="false" flipV="false" rot="0">
              <a:off x="0" y="0"/>
              <a:ext cx="5207000" cy="635000"/>
            </a:xfrm>
            <a:custGeom>
              <a:avLst/>
              <a:gdLst/>
              <a:ahLst/>
              <a:cxnLst/>
              <a:rect r="r" b="b" t="t" l="l"/>
              <a:pathLst>
                <a:path h="635000" w="5207000">
                  <a:moveTo>
                    <a:pt x="0" y="0"/>
                  </a:moveTo>
                  <a:lnTo>
                    <a:pt x="5207000" y="0"/>
                  </a:lnTo>
                  <a:lnTo>
                    <a:pt x="5207000" y="635000"/>
                  </a:lnTo>
                  <a:lnTo>
                    <a:pt x="0" y="635000"/>
                  </a:lnTo>
                  <a:close/>
                </a:path>
              </a:pathLst>
            </a:custGeom>
            <a:blipFill>
              <a:blip r:embed="rId4">
                <a:alphaModFix amt="0"/>
              </a:blip>
              <a:stretch>
                <a:fillRect l="-1551" t="0" r="49278" b="-67039"/>
              </a:stretch>
            </a:blipFill>
          </p:spPr>
        </p:sp>
        <p:sp>
          <p:nvSpPr>
            <p:cNvPr name="TextBox 42" id="42"/>
            <p:cNvSpPr txBox="true"/>
            <p:nvPr/>
          </p:nvSpPr>
          <p:spPr>
            <a:xfrm>
              <a:off x="0" y="9525"/>
              <a:ext cx="5207000" cy="625475"/>
            </a:xfrm>
            <a:prstGeom prst="rect">
              <a:avLst/>
            </a:prstGeom>
          </p:spPr>
          <p:txBody>
            <a:bodyPr anchor="ctr" rtlCol="false" tIns="0" lIns="0" bIns="0" rIns="0"/>
            <a:lstStyle/>
            <a:p>
              <a:pPr algn="ctr" marL="0" indent="0" lvl="0">
                <a:lnSpc>
                  <a:spcPts val="2879"/>
                </a:lnSpc>
                <a:spcBef>
                  <a:spcPct val="0"/>
                </a:spcBef>
              </a:pPr>
              <a:r>
                <a:rPr lang="en-US" b="true" sz="2400" strike="noStrike" u="none">
                  <a:solidFill>
                    <a:srgbClr val="53666E"/>
                  </a:solidFill>
                  <a:latin typeface="Noto Sans Bold"/>
                  <a:ea typeface="Noto Sans Bold"/>
                  <a:cs typeface="Noto Sans Bold"/>
                  <a:sym typeface="Noto Sans Bold"/>
                </a:rPr>
                <a:t>0.3 ≤ P &lt; 0.9</a:t>
              </a:r>
            </a:p>
          </p:txBody>
        </p:sp>
      </p:grpSp>
      <p:grpSp>
        <p:nvGrpSpPr>
          <p:cNvPr name="Group 43" id="43"/>
          <p:cNvGrpSpPr/>
          <p:nvPr/>
        </p:nvGrpSpPr>
        <p:grpSpPr>
          <a:xfrm rot="0">
            <a:off x="13325475" y="5505450"/>
            <a:ext cx="3905250" cy="371908"/>
            <a:chOff x="0" y="0"/>
            <a:chExt cx="5207000" cy="495877"/>
          </a:xfrm>
        </p:grpSpPr>
        <p:sp>
          <p:nvSpPr>
            <p:cNvPr name="Freeform 44" id="44"/>
            <p:cNvSpPr/>
            <p:nvPr/>
          </p:nvSpPr>
          <p:spPr>
            <a:xfrm flipH="false" flipV="false" rot="0">
              <a:off x="0" y="0"/>
              <a:ext cx="5207000" cy="495877"/>
            </a:xfrm>
            <a:custGeom>
              <a:avLst/>
              <a:gdLst/>
              <a:ahLst/>
              <a:cxnLst/>
              <a:rect r="r" b="b" t="t" l="l"/>
              <a:pathLst>
                <a:path h="495877" w="5207000">
                  <a:moveTo>
                    <a:pt x="0" y="0"/>
                  </a:moveTo>
                  <a:lnTo>
                    <a:pt x="5207000" y="0"/>
                  </a:lnTo>
                  <a:lnTo>
                    <a:pt x="5207000" y="495877"/>
                  </a:lnTo>
                  <a:lnTo>
                    <a:pt x="0" y="495877"/>
                  </a:lnTo>
                  <a:close/>
                </a:path>
              </a:pathLst>
            </a:custGeom>
            <a:blipFill>
              <a:blip r:embed="rId4">
                <a:alphaModFix amt="0"/>
              </a:blip>
              <a:stretch>
                <a:fillRect l="0" t="-147194" r="-24682" b="-263019"/>
              </a:stretch>
            </a:blipFill>
          </p:spPr>
        </p:sp>
        <p:sp>
          <p:nvSpPr>
            <p:cNvPr name="TextBox 45" id="45"/>
            <p:cNvSpPr txBox="true"/>
            <p:nvPr/>
          </p:nvSpPr>
          <p:spPr>
            <a:xfrm>
              <a:off x="0" y="0"/>
              <a:ext cx="5207000" cy="495877"/>
            </a:xfrm>
            <a:prstGeom prst="rect">
              <a:avLst/>
            </a:prstGeom>
          </p:spPr>
          <p:txBody>
            <a:bodyPr anchor="ctr" rtlCol="false" tIns="0" lIns="0" bIns="0" rIns="0"/>
            <a:lstStyle/>
            <a:p>
              <a:pPr algn="ctr" marL="0" indent="0" lvl="0">
                <a:lnSpc>
                  <a:spcPts val="2250"/>
                </a:lnSpc>
                <a:spcBef>
                  <a:spcPct val="0"/>
                </a:spcBef>
              </a:pPr>
              <a:r>
                <a:rPr lang="en-US" sz="1875" strike="noStrike" u="none">
                  <a:solidFill>
                    <a:srgbClr val="53666E"/>
                  </a:solidFill>
                  <a:latin typeface="Noto Sans"/>
                  <a:ea typeface="Noto Sans"/>
                  <a:cs typeface="Noto Sans"/>
                  <a:sym typeface="Noto Sans"/>
                </a:rPr>
                <a:t>모델 판단 (거절 0.3528)</a:t>
              </a:r>
            </a:p>
          </p:txBody>
        </p:sp>
      </p:grpSp>
      <p:sp>
        <p:nvSpPr>
          <p:cNvPr name="TextBox 46" id="46"/>
          <p:cNvSpPr txBox="true"/>
          <p:nvPr/>
        </p:nvSpPr>
        <p:spPr>
          <a:xfrm rot="0">
            <a:off x="13325475" y="7391400"/>
            <a:ext cx="3905250" cy="285750"/>
          </a:xfrm>
          <a:prstGeom prst="rect">
            <a:avLst/>
          </a:prstGeom>
        </p:spPr>
        <p:txBody>
          <a:bodyPr anchor="t" rtlCol="false" tIns="0" lIns="0" bIns="0" rIns="0">
            <a:spAutoFit/>
          </a:bodyPr>
          <a:lstStyle/>
          <a:p>
            <a:pPr algn="ctr" marL="0" indent="0" lvl="0">
              <a:lnSpc>
                <a:spcPts val="2250"/>
              </a:lnSpc>
              <a:spcBef>
                <a:spcPct val="0"/>
              </a:spcBef>
            </a:pPr>
            <a:r>
              <a:rPr lang="en-US" sz="1875" strike="noStrike" u="none">
                <a:solidFill>
                  <a:srgbClr val="53666E"/>
                </a:solidFill>
                <a:latin typeface="Noto Sans"/>
                <a:ea typeface="Noto Sans"/>
                <a:cs typeface="Noto Sans"/>
                <a:sym typeface="Noto Sans"/>
              </a:rPr>
              <a:t>홀드아웃 질문 답변</a:t>
            </a:r>
          </a:p>
        </p:txBody>
      </p:sp>
      <p:sp>
        <p:nvSpPr>
          <p:cNvPr name="TextBox 47" id="47"/>
          <p:cNvSpPr txBox="true"/>
          <p:nvPr/>
        </p:nvSpPr>
        <p:spPr>
          <a:xfrm rot="0">
            <a:off x="13325475" y="6858000"/>
            <a:ext cx="3905250" cy="428625"/>
          </a:xfrm>
          <a:prstGeom prst="rect">
            <a:avLst/>
          </a:prstGeom>
        </p:spPr>
        <p:txBody>
          <a:bodyPr anchor="t" rtlCol="false" tIns="0" lIns="0" bIns="0" rIns="0">
            <a:spAutoFit/>
          </a:bodyPr>
          <a:lstStyle/>
          <a:p>
            <a:pPr algn="ctr" marL="0" indent="0" lvl="0">
              <a:lnSpc>
                <a:spcPts val="3419"/>
              </a:lnSpc>
              <a:spcBef>
                <a:spcPct val="0"/>
              </a:spcBef>
            </a:pPr>
            <a:r>
              <a:rPr lang="en-US" b="true" sz="2850" strike="noStrike" u="none">
                <a:solidFill>
                  <a:srgbClr val="16796C"/>
                </a:solidFill>
                <a:latin typeface="Noto Sans Bold"/>
                <a:ea typeface="Noto Sans Bold"/>
                <a:cs typeface="Noto Sans Bold"/>
                <a:sym typeface="Noto Sans Bold"/>
              </a:rPr>
              <a:t>6 → 25 / 35</a:t>
            </a:r>
          </a:p>
        </p:txBody>
      </p:sp>
      <p:sp>
        <p:nvSpPr>
          <p:cNvPr name="TextBox 48" id="48"/>
          <p:cNvSpPr txBox="true"/>
          <p:nvPr/>
        </p:nvSpPr>
        <p:spPr>
          <a:xfrm rot="0">
            <a:off x="13325475" y="8553450"/>
            <a:ext cx="3905250" cy="285750"/>
          </a:xfrm>
          <a:prstGeom prst="rect">
            <a:avLst/>
          </a:prstGeom>
        </p:spPr>
        <p:txBody>
          <a:bodyPr anchor="t" rtlCol="false" tIns="0" lIns="0" bIns="0" rIns="0">
            <a:spAutoFit/>
          </a:bodyPr>
          <a:lstStyle/>
          <a:p>
            <a:pPr algn="ctr" marL="0" indent="0" lvl="0">
              <a:lnSpc>
                <a:spcPts val="2250"/>
              </a:lnSpc>
              <a:spcBef>
                <a:spcPct val="0"/>
              </a:spcBef>
            </a:pPr>
            <a:r>
              <a:rPr lang="en-US" sz="1875" strike="noStrike" u="none">
                <a:solidFill>
                  <a:srgbClr val="53666E"/>
                </a:solidFill>
                <a:latin typeface="Noto Sans"/>
                <a:ea typeface="Noto Sans"/>
                <a:cs typeface="Noto Sans"/>
                <a:sym typeface="Noto Sans"/>
              </a:rPr>
              <a:t>답 없는 질문 거절</a:t>
            </a:r>
          </a:p>
        </p:txBody>
      </p:sp>
      <p:sp>
        <p:nvSpPr>
          <p:cNvPr name="TextBox 49" id="49"/>
          <p:cNvSpPr txBox="true"/>
          <p:nvPr/>
        </p:nvSpPr>
        <p:spPr>
          <a:xfrm rot="0">
            <a:off x="13325475" y="8020050"/>
            <a:ext cx="3905250" cy="428777"/>
          </a:xfrm>
          <a:prstGeom prst="rect">
            <a:avLst/>
          </a:prstGeom>
        </p:spPr>
        <p:txBody>
          <a:bodyPr anchor="t" rtlCol="false" tIns="0" lIns="0" bIns="0" rIns="0">
            <a:spAutoFit/>
          </a:bodyPr>
          <a:lstStyle/>
          <a:p>
            <a:pPr algn="ctr" marL="0" indent="0" lvl="0">
              <a:lnSpc>
                <a:spcPts val="3418"/>
              </a:lnSpc>
              <a:spcBef>
                <a:spcPct val="0"/>
              </a:spcBef>
            </a:pPr>
            <a:r>
              <a:rPr lang="en-US" b="true" sz="2850" strike="noStrike" u="none">
                <a:solidFill>
                  <a:srgbClr val="16796C"/>
                </a:solidFill>
                <a:latin typeface="Noto Sans Bold"/>
                <a:ea typeface="Noto Sans Bold"/>
                <a:cs typeface="Noto Sans Bold"/>
                <a:sym typeface="Noto Sans Bold"/>
              </a:rPr>
              <a:t>7 / 8</a:t>
            </a:r>
          </a:p>
        </p:txBody>
      </p:sp>
      <p:sp>
        <p:nvSpPr>
          <p:cNvPr name="TextBox 50" id="50"/>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a:solidFill>
                  <a:srgbClr val="6B787A"/>
                </a:solidFill>
                <a:latin typeface="Noto Sans"/>
                <a:ea typeface="Noto Sans"/>
                <a:cs typeface="Noto Sans"/>
                <a:sym typeface="Noto Sans"/>
              </a:rPr>
              <a:t>24</a:t>
            </a:r>
          </a:p>
        </p:txBody>
      </p:sp>
      <p:grpSp>
        <p:nvGrpSpPr>
          <p:cNvPr name="Group 51" id="51"/>
          <p:cNvGrpSpPr/>
          <p:nvPr/>
        </p:nvGrpSpPr>
        <p:grpSpPr>
          <a:xfrm rot="0">
            <a:off x="5818352" y="9710928"/>
            <a:ext cx="4070985" cy="419672"/>
            <a:chOff x="0" y="0"/>
            <a:chExt cx="5427980" cy="559562"/>
          </a:xfrm>
        </p:grpSpPr>
        <p:grpSp>
          <p:nvGrpSpPr>
            <p:cNvPr name="Group 52" id="52"/>
            <p:cNvGrpSpPr/>
            <p:nvPr/>
          </p:nvGrpSpPr>
          <p:grpSpPr>
            <a:xfrm rot="0">
              <a:off x="0" y="0"/>
              <a:ext cx="1680845" cy="559562"/>
              <a:chOff x="0" y="0"/>
              <a:chExt cx="1680845" cy="559562"/>
            </a:xfrm>
          </p:grpSpPr>
          <p:sp>
            <p:nvSpPr>
              <p:cNvPr name="Freeform 53" id="53"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12"/>
                <a:stretch>
                  <a:fillRect l="0" t="-265" r="0" b="-267"/>
                </a:stretch>
              </a:blipFill>
            </p:spPr>
          </p:sp>
        </p:grpSp>
        <p:grpSp>
          <p:nvGrpSpPr>
            <p:cNvPr name="Group 54" id="54"/>
            <p:cNvGrpSpPr/>
            <p:nvPr/>
          </p:nvGrpSpPr>
          <p:grpSpPr>
            <a:xfrm rot="0">
              <a:off x="2069490" y="124358"/>
              <a:ext cx="1189101" cy="310896"/>
              <a:chOff x="0" y="0"/>
              <a:chExt cx="1189101" cy="310896"/>
            </a:xfrm>
          </p:grpSpPr>
          <p:sp>
            <p:nvSpPr>
              <p:cNvPr name="Freeform 55" id="55"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13"/>
                <a:stretch>
                  <a:fillRect l="-30" t="0" r="-32" b="0"/>
                </a:stretch>
              </a:blipFill>
            </p:spPr>
          </p:sp>
        </p:grpSp>
        <p:grpSp>
          <p:nvGrpSpPr>
            <p:cNvPr name="Group 56" id="56"/>
            <p:cNvGrpSpPr/>
            <p:nvPr/>
          </p:nvGrpSpPr>
          <p:grpSpPr>
            <a:xfrm rot="0">
              <a:off x="3647186" y="124358"/>
              <a:ext cx="1780794" cy="310896"/>
              <a:chOff x="0" y="0"/>
              <a:chExt cx="1780794" cy="310896"/>
            </a:xfrm>
          </p:grpSpPr>
          <p:sp>
            <p:nvSpPr>
              <p:cNvPr name="Freeform 57" id="57"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14"/>
                <a:stretch>
                  <a:fillRect l="0" t="-118" r="0" b="-122"/>
                </a:stretch>
              </a:blipFill>
            </p:spPr>
          </p:sp>
        </p:grpSp>
      </p:grpSp>
      <p:sp>
        <p:nvSpPr>
          <p:cNvPr name="TextBox 58" id="58"/>
          <p:cNvSpPr txBox="true"/>
          <p:nvPr/>
        </p:nvSpPr>
        <p:spPr>
          <a:xfrm rot="0">
            <a:off x="13096875" y="2133600"/>
            <a:ext cx="4362450" cy="314325"/>
          </a:xfrm>
          <a:prstGeom prst="rect">
            <a:avLst/>
          </a:prstGeom>
        </p:spPr>
        <p:txBody>
          <a:bodyPr anchor="t" rtlCol="false" tIns="0" lIns="0" bIns="0" rIns="0">
            <a:spAutoFit/>
          </a:bodyPr>
          <a:lstStyle/>
          <a:p>
            <a:pPr algn="l">
              <a:lnSpc>
                <a:spcPts val="2430"/>
              </a:lnSpc>
              <a:spcBef>
                <a:spcPct val="0"/>
              </a:spcBef>
            </a:pPr>
            <a:r>
              <a:rPr lang="en-US" b="true" sz="2025">
                <a:solidFill>
                  <a:srgbClr val="53666E"/>
                </a:solidFill>
                <a:latin typeface="Noto Sans Bold"/>
                <a:ea typeface="Noto Sans Bold"/>
                <a:cs typeface="Noto Sans Bold"/>
                <a:sym typeface="Noto Sans Bold"/>
              </a:rPr>
              <a:t>판정 기준</a:t>
            </a:r>
          </a:p>
        </p:txBody>
      </p:sp>
      <p:sp>
        <p:nvSpPr>
          <p:cNvPr name="TextBox 59" id="59"/>
          <p:cNvSpPr txBox="true"/>
          <p:nvPr/>
        </p:nvSpPr>
        <p:spPr>
          <a:xfrm rot="0">
            <a:off x="13096875" y="6343650"/>
            <a:ext cx="4362450" cy="314325"/>
          </a:xfrm>
          <a:prstGeom prst="rect">
            <a:avLst/>
          </a:prstGeom>
        </p:spPr>
        <p:txBody>
          <a:bodyPr anchor="t" rtlCol="false" tIns="0" lIns="0" bIns="0" rIns="0">
            <a:spAutoFit/>
          </a:bodyPr>
          <a:lstStyle/>
          <a:p>
            <a:pPr algn="l">
              <a:lnSpc>
                <a:spcPts val="2430"/>
              </a:lnSpc>
              <a:spcBef>
                <a:spcPct val="0"/>
              </a:spcBef>
            </a:pPr>
            <a:r>
              <a:rPr lang="en-US" b="true" sz="2025">
                <a:solidFill>
                  <a:srgbClr val="16796C"/>
                </a:solidFill>
                <a:latin typeface="Noto Sans Bold"/>
                <a:ea typeface="Noto Sans Bold"/>
                <a:cs typeface="Noto Sans Bold"/>
                <a:sym typeface="Noto Sans Bold"/>
              </a:rPr>
              <a:t>성능 결과</a:t>
            </a:r>
          </a:p>
        </p:txBody>
      </p:sp>
    </p:spTree>
  </p:cSld>
  <p:clrMapOvr>
    <a:masterClrMapping/>
  </p:clrMapOvr>
  <p:timing>
    <p:tnLst>
      <p:par>
        <p:cTn dur="indefinite" restart="never" nodeType="tmRoot">
          <p:childTnLst>
            <p:video>
              <p:cMediaNode vol="100000">
                <p:cTn fill="hold" display="false">
                  <p:stCondLst>
                    <p:cond delay="indefinite"/>
                  </p:stCondLst>
                </p:cTn>
                <p:tgtEl>
                  <p:spTgt spid="22"/>
                </p:tgtEl>
              </p:cMediaNode>
            </p:video>
          </p:childTnLst>
        </p:cTn>
      </p:par>
    </p:tnLst>
  </p:timing>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3050" r="0" b="-333050"/>
              </a:stretch>
            </a:blipFill>
          </p:spPr>
        </p:sp>
        <p:sp>
          <p:nvSpPr>
            <p:cNvPr name="TextBox 6" id="6"/>
            <p:cNvSpPr txBox="true"/>
            <p:nvPr/>
          </p:nvSpPr>
          <p:spPr>
            <a:xfrm>
              <a:off x="0" y="-9525"/>
              <a:ext cx="10972800" cy="567690"/>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7" id="7"/>
          <p:cNvGrpSpPr/>
          <p:nvPr/>
        </p:nvGrpSpPr>
        <p:grpSpPr>
          <a:xfrm rot="0">
            <a:off x="822960" y="438912"/>
            <a:ext cx="4114800" cy="384048"/>
            <a:chOff x="0" y="0"/>
            <a:chExt cx="5486400" cy="512064"/>
          </a:xfrm>
        </p:grpSpPr>
        <p:sp>
          <p:nvSpPr>
            <p:cNvPr name="Freeform 8" id="8"/>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3">
                <a:alphaModFix amt="0"/>
              </a:blip>
              <a:stretch>
                <a:fillRect l="0" t="-158623" r="0" b="-158623"/>
              </a:stretch>
            </a:blipFill>
          </p:spPr>
        </p:sp>
      </p:grpSp>
      <p:grpSp>
        <p:nvGrpSpPr>
          <p:cNvPr name="Group 9" id="9"/>
          <p:cNvGrpSpPr/>
          <p:nvPr/>
        </p:nvGrpSpPr>
        <p:grpSpPr>
          <a:xfrm rot="0">
            <a:off x="822960" y="438912"/>
            <a:ext cx="4114800" cy="384048"/>
            <a:chOff x="0" y="0"/>
            <a:chExt cx="5486400" cy="512064"/>
          </a:xfrm>
        </p:grpSpPr>
        <p:sp>
          <p:nvSpPr>
            <p:cNvPr name="Freeform 10" id="10"/>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4">
                <a:alphaModFix amt="0"/>
              </a:blip>
              <a:stretch>
                <a:fillRect l="0" t="-158768" r="0" b="-158768"/>
              </a:stretch>
            </a:blipFill>
          </p:spPr>
        </p:sp>
        <p:sp>
          <p:nvSpPr>
            <p:cNvPr name="TextBox 11" id="11"/>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03  AI 모델</a:t>
              </a:r>
            </a:p>
          </p:txBody>
        </p:sp>
      </p:grpSp>
      <p:grpSp>
        <p:nvGrpSpPr>
          <p:cNvPr name="Group 12" id="12"/>
          <p:cNvGrpSpPr/>
          <p:nvPr/>
        </p:nvGrpSpPr>
        <p:grpSpPr>
          <a:xfrm rot="0">
            <a:off x="822960" y="822960"/>
            <a:ext cx="16641623" cy="850392"/>
            <a:chOff x="0" y="0"/>
            <a:chExt cx="22188830" cy="1133856"/>
          </a:xfrm>
        </p:grpSpPr>
        <p:sp>
          <p:nvSpPr>
            <p:cNvPr name="Freeform 13" id="13"/>
            <p:cNvSpPr/>
            <p:nvPr/>
          </p:nvSpPr>
          <p:spPr>
            <a:xfrm flipH="false" flipV="false" rot="0">
              <a:off x="0" y="0"/>
              <a:ext cx="22188805" cy="1133856"/>
            </a:xfrm>
            <a:custGeom>
              <a:avLst/>
              <a:gdLst/>
              <a:ahLst/>
              <a:cxnLst/>
              <a:rect r="r" b="b" t="t" l="l"/>
              <a:pathLst>
                <a:path h="1133856" w="22188805">
                  <a:moveTo>
                    <a:pt x="0" y="0"/>
                  </a:moveTo>
                  <a:lnTo>
                    <a:pt x="22188805" y="0"/>
                  </a:lnTo>
                  <a:lnTo>
                    <a:pt x="22188805" y="1133856"/>
                  </a:lnTo>
                  <a:lnTo>
                    <a:pt x="0" y="1133856"/>
                  </a:lnTo>
                  <a:close/>
                </a:path>
              </a:pathLst>
            </a:custGeom>
            <a:blipFill>
              <a:blip r:embed="rId3">
                <a:alphaModFix amt="0"/>
              </a:blip>
              <a:stretch>
                <a:fillRect l="0" t="-331043" r="0" b="-331045"/>
              </a:stretch>
            </a:blipFill>
          </p:spPr>
        </p:sp>
      </p:grpSp>
      <p:grpSp>
        <p:nvGrpSpPr>
          <p:cNvPr name="Group 14" id="14"/>
          <p:cNvGrpSpPr/>
          <p:nvPr/>
        </p:nvGrpSpPr>
        <p:grpSpPr>
          <a:xfrm rot="0">
            <a:off x="822960" y="822960"/>
            <a:ext cx="16642080" cy="850392"/>
            <a:chOff x="0" y="0"/>
            <a:chExt cx="22189440" cy="1133856"/>
          </a:xfrm>
        </p:grpSpPr>
        <p:sp>
          <p:nvSpPr>
            <p:cNvPr name="Freeform 15" id="15"/>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4">
                <a:alphaModFix amt="0"/>
              </a:blip>
              <a:stretch>
                <a:fillRect l="0" t="-331309" r="2" b="-331309"/>
              </a:stretch>
            </a:blipFill>
          </p:spPr>
        </p:sp>
        <p:sp>
          <p:nvSpPr>
            <p:cNvPr name="TextBox 16" id="16"/>
            <p:cNvSpPr txBox="true"/>
            <p:nvPr/>
          </p:nvSpPr>
          <p:spPr>
            <a:xfrm>
              <a:off x="0" y="-9525"/>
              <a:ext cx="22189440" cy="1143381"/>
            </a:xfrm>
            <a:prstGeom prst="rect">
              <a:avLst/>
            </a:prstGeom>
          </p:spPr>
          <p:txBody>
            <a:bodyPr anchor="ctr" rtlCol="false" tIns="0" lIns="0" bIns="0" rIns="0"/>
            <a:lstStyle/>
            <a:p>
              <a:pPr algn="l" marL="0" indent="0" lvl="0">
                <a:lnSpc>
                  <a:spcPts val="4500"/>
                </a:lnSpc>
                <a:spcBef>
                  <a:spcPct val="0"/>
                </a:spcBef>
              </a:pPr>
              <a:r>
                <a:rPr lang="en-US" b="true" sz="3750" strike="noStrike" u="none">
                  <a:solidFill>
                    <a:srgbClr val="203238"/>
                  </a:solidFill>
                  <a:latin typeface="Noto Sans Bold"/>
                  <a:ea typeface="Noto Sans Bold"/>
                  <a:cs typeface="Noto Sans Bold"/>
                  <a:sym typeface="Noto Sans Bold"/>
                </a:rPr>
                <a:t>04  MES 상황 인식 — 현재 상태 해석 개선</a:t>
              </a:r>
            </a:p>
          </p:txBody>
        </p:sp>
      </p:grpSp>
      <p:grpSp>
        <p:nvGrpSpPr>
          <p:cNvPr name="Group 17" id="17"/>
          <p:cNvGrpSpPr/>
          <p:nvPr/>
        </p:nvGrpSpPr>
        <p:grpSpPr>
          <a:xfrm rot="0">
            <a:off x="822960" y="1755648"/>
            <a:ext cx="16641623" cy="576072"/>
            <a:chOff x="0" y="0"/>
            <a:chExt cx="22188830" cy="768096"/>
          </a:xfrm>
        </p:grpSpPr>
        <p:sp>
          <p:nvSpPr>
            <p:cNvPr name="Freeform 18" id="18"/>
            <p:cNvSpPr/>
            <p:nvPr/>
          </p:nvSpPr>
          <p:spPr>
            <a:xfrm flipH="false" flipV="false" rot="0">
              <a:off x="0" y="0"/>
              <a:ext cx="22188805" cy="768096"/>
            </a:xfrm>
            <a:custGeom>
              <a:avLst/>
              <a:gdLst/>
              <a:ahLst/>
              <a:cxnLst/>
              <a:rect r="r" b="b" t="t" l="l"/>
              <a:pathLst>
                <a:path h="768096" w="22188805">
                  <a:moveTo>
                    <a:pt x="0" y="0"/>
                  </a:moveTo>
                  <a:lnTo>
                    <a:pt x="22188805" y="0"/>
                  </a:lnTo>
                  <a:lnTo>
                    <a:pt x="22188805" y="768096"/>
                  </a:lnTo>
                  <a:lnTo>
                    <a:pt x="0" y="768096"/>
                  </a:lnTo>
                  <a:close/>
                </a:path>
              </a:pathLst>
            </a:custGeom>
            <a:blipFill>
              <a:blip r:embed="rId3">
                <a:alphaModFix amt="0"/>
              </a:blip>
              <a:stretch>
                <a:fillRect l="0" t="-512493" r="0" b="-512495"/>
              </a:stretch>
            </a:blipFill>
          </p:spPr>
        </p:sp>
      </p:grpSp>
      <p:grpSp>
        <p:nvGrpSpPr>
          <p:cNvPr name="Group 19" id="19"/>
          <p:cNvGrpSpPr/>
          <p:nvPr/>
        </p:nvGrpSpPr>
        <p:grpSpPr>
          <a:xfrm rot="0">
            <a:off x="822960" y="1762125"/>
            <a:ext cx="16640175" cy="571500"/>
            <a:chOff x="0" y="0"/>
            <a:chExt cx="22186900" cy="762000"/>
          </a:xfrm>
        </p:grpSpPr>
        <p:sp>
          <p:nvSpPr>
            <p:cNvPr name="Freeform 20" id="20"/>
            <p:cNvSpPr/>
            <p:nvPr/>
          </p:nvSpPr>
          <p:spPr>
            <a:xfrm flipH="false" flipV="false" rot="0">
              <a:off x="0" y="0"/>
              <a:ext cx="22186900" cy="762000"/>
            </a:xfrm>
            <a:custGeom>
              <a:avLst/>
              <a:gdLst/>
              <a:ahLst/>
              <a:cxnLst/>
              <a:rect r="r" b="b" t="t" l="l"/>
              <a:pathLst>
                <a:path h="762000" w="22186900">
                  <a:moveTo>
                    <a:pt x="0" y="0"/>
                  </a:moveTo>
                  <a:lnTo>
                    <a:pt x="22186900" y="0"/>
                  </a:lnTo>
                  <a:lnTo>
                    <a:pt x="22186900" y="762000"/>
                  </a:lnTo>
                  <a:lnTo>
                    <a:pt x="0" y="762000"/>
                  </a:lnTo>
                  <a:close/>
                </a:path>
              </a:pathLst>
            </a:custGeom>
            <a:blipFill>
              <a:blip r:embed="rId4">
                <a:alphaModFix amt="0"/>
              </a:blip>
              <a:stretch>
                <a:fillRect l="0" t="-517613" r="-8" b="-517163"/>
              </a:stretch>
            </a:blipFill>
          </p:spPr>
        </p:sp>
        <p:sp>
          <p:nvSpPr>
            <p:cNvPr name="TextBox 21" id="21"/>
            <p:cNvSpPr txBox="true"/>
            <p:nvPr/>
          </p:nvSpPr>
          <p:spPr>
            <a:xfrm>
              <a:off x="0" y="9525"/>
              <a:ext cx="22186900" cy="752475"/>
            </a:xfrm>
            <a:prstGeom prst="rect">
              <a:avLst/>
            </a:prstGeom>
          </p:spPr>
          <p:txBody>
            <a:bodyPr anchor="ctr" rtlCol="false" tIns="0" lIns="0" bIns="0" rIns="0"/>
            <a:lstStyle/>
            <a:p>
              <a:pPr algn="l" marL="0" indent="0" lvl="0">
                <a:lnSpc>
                  <a:spcPts val="2699"/>
                </a:lnSpc>
                <a:spcBef>
                  <a:spcPct val="0"/>
                </a:spcBef>
              </a:pPr>
              <a:r>
                <a:rPr lang="en-US" sz="2250">
                  <a:solidFill>
                    <a:srgbClr val="53666E"/>
                  </a:solidFill>
                  <a:latin typeface="Noto Sans"/>
                  <a:ea typeface="Noto Sans"/>
                  <a:cs typeface="Noto Sans"/>
                  <a:sym typeface="Noto Sans"/>
                </a:rPr>
                <a:t>프롬프트 개선 4종 모두 기준 미달        </a:t>
              </a:r>
              <a:r>
                <a:rPr lang="en-US" b="true" sz="2250">
                  <a:solidFill>
                    <a:srgbClr val="53666E"/>
                  </a:solidFill>
                  <a:latin typeface="Noto Sans Bold"/>
                  <a:ea typeface="Noto Sans Bold"/>
                  <a:cs typeface="Noto Sans Bold"/>
                  <a:sym typeface="Noto Sans Bold"/>
                </a:rPr>
                <a:t>MES 입력 블록 기반 SFT</a:t>
              </a:r>
              <a:r>
                <a:rPr lang="en-US" sz="2250">
                  <a:solidFill>
                    <a:srgbClr val="53666E"/>
                  </a:solidFill>
                  <a:latin typeface="Noto Sans"/>
                  <a:ea typeface="Noto Sans"/>
                  <a:cs typeface="Noto Sans"/>
                  <a:sym typeface="Noto Sans"/>
                </a:rPr>
                <a:t>로 현재값 해석 학습</a:t>
              </a:r>
            </a:p>
          </p:txBody>
        </p:sp>
      </p:grpSp>
      <p:sp>
        <p:nvSpPr>
          <p:cNvPr name="Freeform 22" id="22"/>
          <p:cNvSpPr/>
          <p:nvPr/>
        </p:nvSpPr>
        <p:spPr>
          <a:xfrm flipH="false" flipV="false" rot="0">
            <a:off x="822960" y="2743200"/>
            <a:ext cx="3810000" cy="4476750"/>
          </a:xfrm>
          <a:custGeom>
            <a:avLst/>
            <a:gdLst/>
            <a:ahLst/>
            <a:cxnLst/>
            <a:rect r="r" b="b" t="t" l="l"/>
            <a:pathLst>
              <a:path h="4476750" w="3810000">
                <a:moveTo>
                  <a:pt x="0" y="0"/>
                </a:moveTo>
                <a:lnTo>
                  <a:pt x="3810000" y="0"/>
                </a:lnTo>
                <a:lnTo>
                  <a:pt x="3810000" y="4476750"/>
                </a:lnTo>
                <a:lnTo>
                  <a:pt x="0" y="4476750"/>
                </a:lnTo>
                <a:lnTo>
                  <a:pt x="0" y="0"/>
                </a:lnTo>
                <a:close/>
              </a:path>
            </a:pathLst>
          </a:custGeom>
          <a:blipFill>
            <a:blip r:embed="rId5">
              <a:extLst>
                <a:ext uri="{96DAC541-7B7A-43D3-8B79-37D633B846F1}">
                  <asvg:svgBlip xmlns:asvg="http://schemas.microsoft.com/office/drawing/2016/SVG/main" r:embed="rId6"/>
                </a:ext>
              </a:extLst>
            </a:blip>
            <a:stretch>
              <a:fillRect l="0" t="0" r="-589446" b="-6382"/>
            </a:stretch>
          </a:blipFill>
        </p:spPr>
      </p:sp>
      <p:grpSp>
        <p:nvGrpSpPr>
          <p:cNvPr name="Group 23" id="23"/>
          <p:cNvGrpSpPr/>
          <p:nvPr/>
        </p:nvGrpSpPr>
        <p:grpSpPr>
          <a:xfrm rot="0">
            <a:off x="1051560" y="3067050"/>
            <a:ext cx="3352800" cy="571500"/>
            <a:chOff x="0" y="0"/>
            <a:chExt cx="4470400" cy="762000"/>
          </a:xfrm>
        </p:grpSpPr>
        <p:sp>
          <p:nvSpPr>
            <p:cNvPr name="Freeform 24" id="24"/>
            <p:cNvSpPr/>
            <p:nvPr/>
          </p:nvSpPr>
          <p:spPr>
            <a:xfrm flipH="false" flipV="false" rot="0">
              <a:off x="0" y="0"/>
              <a:ext cx="4470400" cy="762000"/>
            </a:xfrm>
            <a:custGeom>
              <a:avLst/>
              <a:gdLst/>
              <a:ahLst/>
              <a:cxnLst/>
              <a:rect r="r" b="b" t="t" l="l"/>
              <a:pathLst>
                <a:path h="762000" w="4470400">
                  <a:moveTo>
                    <a:pt x="0" y="0"/>
                  </a:moveTo>
                  <a:lnTo>
                    <a:pt x="4470400" y="0"/>
                  </a:lnTo>
                  <a:lnTo>
                    <a:pt x="4470400" y="762000"/>
                  </a:lnTo>
                  <a:lnTo>
                    <a:pt x="0" y="762000"/>
                  </a:lnTo>
                  <a:close/>
                </a:path>
              </a:pathLst>
            </a:custGeom>
            <a:blipFill>
              <a:blip r:embed="rId4">
                <a:alphaModFix amt="0"/>
              </a:blip>
              <a:stretch>
                <a:fillRect l="0" t="-86917" r="-22727" b="-93667"/>
              </a:stretch>
            </a:blipFill>
          </p:spPr>
        </p:sp>
        <p:sp>
          <p:nvSpPr>
            <p:cNvPr name="TextBox 25" id="25"/>
            <p:cNvSpPr txBox="true"/>
            <p:nvPr/>
          </p:nvSpPr>
          <p:spPr>
            <a:xfrm>
              <a:off x="0" y="9525"/>
              <a:ext cx="4470400" cy="752475"/>
            </a:xfrm>
            <a:prstGeom prst="rect">
              <a:avLst/>
            </a:prstGeom>
          </p:spPr>
          <p:txBody>
            <a:bodyPr anchor="ctr" rtlCol="false" tIns="0" lIns="0" bIns="0" rIns="0"/>
            <a:lstStyle/>
            <a:p>
              <a:pPr algn="l">
                <a:lnSpc>
                  <a:spcPts val="2878"/>
                </a:lnSpc>
                <a:spcBef>
                  <a:spcPct val="0"/>
                </a:spcBef>
              </a:pPr>
              <a:r>
                <a:rPr lang="en-US" b="true" sz="2400" strike="noStrike" u="none">
                  <a:solidFill>
                    <a:srgbClr val="D9433A"/>
                  </a:solidFill>
                  <a:latin typeface="Noto Sans Bold"/>
                  <a:ea typeface="Noto Sans Bold"/>
                  <a:cs typeface="Noto Sans Bold"/>
                  <a:sym typeface="Noto Sans Bold"/>
                </a:rPr>
                <a:t>프롬프트 개선 시도</a:t>
              </a:r>
            </a:p>
          </p:txBody>
        </p:sp>
      </p:grpSp>
      <p:sp>
        <p:nvSpPr>
          <p:cNvPr name="TextBox 26" id="26"/>
          <p:cNvSpPr txBox="true"/>
          <p:nvPr/>
        </p:nvSpPr>
        <p:spPr>
          <a:xfrm rot="0">
            <a:off x="1051560" y="4019550"/>
            <a:ext cx="3352800" cy="2200254"/>
          </a:xfrm>
          <a:prstGeom prst="rect">
            <a:avLst/>
          </a:prstGeom>
        </p:spPr>
        <p:txBody>
          <a:bodyPr anchor="t" rtlCol="false" tIns="0" lIns="0" bIns="0" rIns="0">
            <a:spAutoFit/>
          </a:bodyPr>
          <a:lstStyle/>
          <a:p>
            <a:pPr algn="l">
              <a:lnSpc>
                <a:spcPts val="2520"/>
              </a:lnSpc>
              <a:spcBef>
                <a:spcPct val="0"/>
              </a:spcBef>
            </a:pPr>
            <a:r>
              <a:rPr lang="en-US" sz="2100" strike="noStrike" u="none">
                <a:solidFill>
                  <a:srgbClr val="203238"/>
                </a:solidFill>
                <a:latin typeface="Noto Sans"/>
                <a:ea typeface="Noto Sans"/>
                <a:cs typeface="Noto Sans"/>
                <a:sym typeface="Noto Sans"/>
              </a:rPr>
              <a:t>해석 블록 추가</a:t>
            </a:r>
          </a:p>
          <a:p>
            <a:pPr algn="l">
              <a:lnSpc>
                <a:spcPts val="2520"/>
              </a:lnSpc>
              <a:spcBef>
                <a:spcPct val="0"/>
              </a:spcBef>
            </a:pPr>
          </a:p>
          <a:p>
            <a:pPr algn="l">
              <a:lnSpc>
                <a:spcPts val="2520"/>
              </a:lnSpc>
              <a:spcBef>
                <a:spcPct val="0"/>
              </a:spcBef>
            </a:pPr>
            <a:r>
              <a:rPr lang="en-US" sz="2100" strike="noStrike" u="none">
                <a:solidFill>
                  <a:srgbClr val="203238"/>
                </a:solidFill>
                <a:latin typeface="Noto Sans"/>
                <a:ea typeface="Noto Sans"/>
                <a:cs typeface="Noto Sans"/>
                <a:sym typeface="Noto Sans"/>
              </a:rPr>
              <a:t>답변 앞부분 미리 채우기</a:t>
            </a:r>
          </a:p>
          <a:p>
            <a:pPr algn="l">
              <a:lnSpc>
                <a:spcPts val="2520"/>
              </a:lnSpc>
              <a:spcBef>
                <a:spcPct val="0"/>
              </a:spcBef>
            </a:pPr>
          </a:p>
          <a:p>
            <a:pPr algn="l">
              <a:lnSpc>
                <a:spcPts val="2520"/>
              </a:lnSpc>
              <a:spcBef>
                <a:spcPct val="0"/>
              </a:spcBef>
            </a:pPr>
            <a:r>
              <a:rPr lang="en-US" sz="2100" strike="noStrike" u="none">
                <a:solidFill>
                  <a:srgbClr val="203238"/>
                </a:solidFill>
                <a:latin typeface="Noto Sans"/>
                <a:ea typeface="Noto Sans"/>
                <a:cs typeface="Noto Sans"/>
                <a:sym typeface="Noto Sans"/>
              </a:rPr>
              <a:t>질문에 MES 값 삽입</a:t>
            </a:r>
          </a:p>
          <a:p>
            <a:pPr algn="l">
              <a:lnSpc>
                <a:spcPts val="2520"/>
              </a:lnSpc>
              <a:spcBef>
                <a:spcPct val="0"/>
              </a:spcBef>
            </a:pPr>
          </a:p>
          <a:p>
            <a:pPr algn="l">
              <a:lnSpc>
                <a:spcPts val="2520"/>
              </a:lnSpc>
              <a:spcBef>
                <a:spcPct val="0"/>
              </a:spcBef>
            </a:pPr>
            <a:r>
              <a:rPr lang="en-US" sz="2100" strike="noStrike" u="none">
                <a:solidFill>
                  <a:srgbClr val="203238"/>
                </a:solidFill>
                <a:latin typeface="Noto Sans"/>
                <a:ea typeface="Noto Sans"/>
                <a:cs typeface="Noto Sans"/>
                <a:sym typeface="Noto Sans"/>
              </a:rPr>
              <a:t>지시문 강화</a:t>
            </a:r>
          </a:p>
        </p:txBody>
      </p:sp>
      <p:sp>
        <p:nvSpPr>
          <p:cNvPr name="Freeform 27" id="27"/>
          <p:cNvSpPr/>
          <p:nvPr/>
        </p:nvSpPr>
        <p:spPr>
          <a:xfrm flipH="false" flipV="false" rot="0">
            <a:off x="5100320" y="2743200"/>
            <a:ext cx="3810000" cy="4476750"/>
          </a:xfrm>
          <a:custGeom>
            <a:avLst/>
            <a:gdLst/>
            <a:ahLst/>
            <a:cxnLst/>
            <a:rect r="r" b="b" t="t" l="l"/>
            <a:pathLst>
              <a:path h="4476750" w="3810000">
                <a:moveTo>
                  <a:pt x="0" y="0"/>
                </a:moveTo>
                <a:lnTo>
                  <a:pt x="3810000" y="0"/>
                </a:lnTo>
                <a:lnTo>
                  <a:pt x="3810000" y="4476750"/>
                </a:lnTo>
                <a:lnTo>
                  <a:pt x="0" y="4476750"/>
                </a:lnTo>
                <a:lnTo>
                  <a:pt x="0" y="0"/>
                </a:lnTo>
                <a:close/>
              </a:path>
            </a:pathLst>
          </a:custGeom>
          <a:blipFill>
            <a:blip r:embed="rId7">
              <a:extLst>
                <a:ext uri="{96DAC541-7B7A-43D3-8B79-37D633B846F1}">
                  <asvg:svgBlip xmlns:asvg="http://schemas.microsoft.com/office/drawing/2016/SVG/main" r:embed="rId8"/>
                </a:ext>
              </a:extLst>
            </a:blip>
            <a:stretch>
              <a:fillRect l="0" t="0" r="-38799" b="-7963"/>
            </a:stretch>
          </a:blipFill>
        </p:spPr>
      </p:sp>
      <p:sp>
        <p:nvSpPr>
          <p:cNvPr name="TextBox 28" id="28"/>
          <p:cNvSpPr txBox="true"/>
          <p:nvPr/>
        </p:nvSpPr>
        <p:spPr>
          <a:xfrm rot="0">
            <a:off x="6681470" y="4762500"/>
            <a:ext cx="1809750" cy="542925"/>
          </a:xfrm>
          <a:prstGeom prst="rect">
            <a:avLst/>
          </a:prstGeom>
        </p:spPr>
        <p:txBody>
          <a:bodyPr anchor="t" rtlCol="false" tIns="0" lIns="0" bIns="0" rIns="0">
            <a:spAutoFit/>
          </a:bodyPr>
          <a:lstStyle/>
          <a:p>
            <a:pPr algn="ctr">
              <a:lnSpc>
                <a:spcPts val="4320"/>
              </a:lnSpc>
              <a:spcBef>
                <a:spcPct val="0"/>
              </a:spcBef>
            </a:pPr>
            <a:r>
              <a:rPr lang="en-US" b="true" sz="3600" strike="noStrike" u="none">
                <a:solidFill>
                  <a:srgbClr val="16796C"/>
                </a:solidFill>
                <a:latin typeface="Noto Sans Bold"/>
                <a:ea typeface="Noto Sans Bold"/>
                <a:cs typeface="Noto Sans Bold"/>
                <a:sym typeface="Noto Sans Bold"/>
              </a:rPr>
              <a:t>42/42</a:t>
            </a:r>
          </a:p>
        </p:txBody>
      </p:sp>
      <p:sp>
        <p:nvSpPr>
          <p:cNvPr name="TextBox 29" id="29"/>
          <p:cNvSpPr txBox="true"/>
          <p:nvPr/>
        </p:nvSpPr>
        <p:spPr>
          <a:xfrm rot="0">
            <a:off x="5338445" y="3190875"/>
            <a:ext cx="3333750" cy="342900"/>
          </a:xfrm>
          <a:prstGeom prst="rect">
            <a:avLst/>
          </a:prstGeom>
        </p:spPr>
        <p:txBody>
          <a:bodyPr anchor="t" rtlCol="false" tIns="0" lIns="0" bIns="0" rIns="0">
            <a:spAutoFit/>
          </a:bodyPr>
          <a:lstStyle/>
          <a:p>
            <a:pPr algn="ctr">
              <a:lnSpc>
                <a:spcPts val="2700"/>
              </a:lnSpc>
              <a:spcBef>
                <a:spcPct val="0"/>
              </a:spcBef>
            </a:pPr>
            <a:r>
              <a:rPr lang="en-US" b="true" sz="2250" strike="noStrike" u="none">
                <a:solidFill>
                  <a:srgbClr val="53666E"/>
                </a:solidFill>
                <a:latin typeface="Noto Sans Bold"/>
                <a:ea typeface="Noto Sans Bold"/>
                <a:cs typeface="Noto Sans Bold"/>
                <a:sym typeface="Noto Sans Bold"/>
              </a:rPr>
              <a:t>현재값 표시</a:t>
            </a:r>
          </a:p>
        </p:txBody>
      </p:sp>
      <p:sp>
        <p:nvSpPr>
          <p:cNvPr name="Freeform 30" id="30"/>
          <p:cNvSpPr/>
          <p:nvPr/>
        </p:nvSpPr>
        <p:spPr>
          <a:xfrm flipH="false" flipV="false" rot="0">
            <a:off x="9377680" y="2743200"/>
            <a:ext cx="3810000" cy="4476750"/>
          </a:xfrm>
          <a:custGeom>
            <a:avLst/>
            <a:gdLst/>
            <a:ahLst/>
            <a:cxnLst/>
            <a:rect r="r" b="b" t="t" l="l"/>
            <a:pathLst>
              <a:path h="4476750" w="3810000">
                <a:moveTo>
                  <a:pt x="0" y="0"/>
                </a:moveTo>
                <a:lnTo>
                  <a:pt x="3810000" y="0"/>
                </a:lnTo>
                <a:lnTo>
                  <a:pt x="3810000" y="4476750"/>
                </a:lnTo>
                <a:lnTo>
                  <a:pt x="0" y="4476750"/>
                </a:lnTo>
                <a:lnTo>
                  <a:pt x="0" y="0"/>
                </a:lnTo>
                <a:close/>
              </a:path>
            </a:pathLst>
          </a:custGeom>
          <a:blipFill>
            <a:blip r:embed="rId7">
              <a:extLst>
                <a:ext uri="{96DAC541-7B7A-43D3-8B79-37D633B846F1}">
                  <asvg:svgBlip xmlns:asvg="http://schemas.microsoft.com/office/drawing/2016/SVG/main" r:embed="rId8"/>
                </a:ext>
              </a:extLst>
            </a:blip>
            <a:stretch>
              <a:fillRect l="0" t="0" r="-38799" b="-7963"/>
            </a:stretch>
          </a:blipFill>
        </p:spPr>
      </p:sp>
      <p:sp>
        <p:nvSpPr>
          <p:cNvPr name="TextBox 31" id="31"/>
          <p:cNvSpPr txBox="true"/>
          <p:nvPr/>
        </p:nvSpPr>
        <p:spPr>
          <a:xfrm rot="0">
            <a:off x="10958830" y="4762500"/>
            <a:ext cx="1809750" cy="542925"/>
          </a:xfrm>
          <a:prstGeom prst="rect">
            <a:avLst/>
          </a:prstGeom>
        </p:spPr>
        <p:txBody>
          <a:bodyPr anchor="t" rtlCol="false" tIns="0" lIns="0" bIns="0" rIns="0">
            <a:spAutoFit/>
          </a:bodyPr>
          <a:lstStyle/>
          <a:p>
            <a:pPr algn="ctr">
              <a:lnSpc>
                <a:spcPts val="4320"/>
              </a:lnSpc>
              <a:spcBef>
                <a:spcPct val="0"/>
              </a:spcBef>
            </a:pPr>
            <a:r>
              <a:rPr lang="en-US" b="true" sz="3600" strike="noStrike" u="none">
                <a:solidFill>
                  <a:srgbClr val="16796C"/>
                </a:solidFill>
                <a:latin typeface="Noto Sans Bold"/>
                <a:ea typeface="Noto Sans Bold"/>
                <a:cs typeface="Noto Sans Bold"/>
                <a:sym typeface="Noto Sans Bold"/>
              </a:rPr>
              <a:t>8/8</a:t>
            </a:r>
          </a:p>
        </p:txBody>
      </p:sp>
      <p:sp>
        <p:nvSpPr>
          <p:cNvPr name="TextBox 32" id="32"/>
          <p:cNvSpPr txBox="true"/>
          <p:nvPr/>
        </p:nvSpPr>
        <p:spPr>
          <a:xfrm rot="0">
            <a:off x="9615805" y="3190875"/>
            <a:ext cx="3333750" cy="342900"/>
          </a:xfrm>
          <a:prstGeom prst="rect">
            <a:avLst/>
          </a:prstGeom>
        </p:spPr>
        <p:txBody>
          <a:bodyPr anchor="t" rtlCol="false" tIns="0" lIns="0" bIns="0" rIns="0">
            <a:spAutoFit/>
          </a:bodyPr>
          <a:lstStyle/>
          <a:p>
            <a:pPr algn="ctr">
              <a:lnSpc>
                <a:spcPts val="2700"/>
              </a:lnSpc>
              <a:spcBef>
                <a:spcPct val="0"/>
              </a:spcBef>
            </a:pPr>
            <a:r>
              <a:rPr lang="en-US" b="true" sz="2250" strike="noStrike" u="none">
                <a:solidFill>
                  <a:srgbClr val="53666E"/>
                </a:solidFill>
                <a:latin typeface="Noto Sans Bold"/>
                <a:ea typeface="Noto Sans Bold"/>
                <a:cs typeface="Noto Sans Bold"/>
                <a:sym typeface="Noto Sans Bold"/>
              </a:rPr>
              <a:t>경보 구분</a:t>
            </a:r>
          </a:p>
        </p:txBody>
      </p:sp>
      <p:sp>
        <p:nvSpPr>
          <p:cNvPr name="Freeform 33" id="33"/>
          <p:cNvSpPr/>
          <p:nvPr/>
        </p:nvSpPr>
        <p:spPr>
          <a:xfrm flipH="false" flipV="false" rot="0">
            <a:off x="13655040" y="2743200"/>
            <a:ext cx="3810000" cy="4476750"/>
          </a:xfrm>
          <a:custGeom>
            <a:avLst/>
            <a:gdLst/>
            <a:ahLst/>
            <a:cxnLst/>
            <a:rect r="r" b="b" t="t" l="l"/>
            <a:pathLst>
              <a:path h="4476750" w="3810000">
                <a:moveTo>
                  <a:pt x="0" y="0"/>
                </a:moveTo>
                <a:lnTo>
                  <a:pt x="3810000" y="0"/>
                </a:lnTo>
                <a:lnTo>
                  <a:pt x="3810000" y="4476750"/>
                </a:lnTo>
                <a:lnTo>
                  <a:pt x="0" y="4476750"/>
                </a:lnTo>
                <a:lnTo>
                  <a:pt x="0" y="0"/>
                </a:lnTo>
                <a:close/>
              </a:path>
            </a:pathLst>
          </a:custGeom>
          <a:blipFill>
            <a:blip r:embed="rId7">
              <a:extLst>
                <a:ext uri="{96DAC541-7B7A-43D3-8B79-37D633B846F1}">
                  <asvg:svgBlip xmlns:asvg="http://schemas.microsoft.com/office/drawing/2016/SVG/main" r:embed="rId8"/>
                </a:ext>
              </a:extLst>
            </a:blip>
            <a:stretch>
              <a:fillRect l="0" t="0" r="-38799" b="-7963"/>
            </a:stretch>
          </a:blipFill>
        </p:spPr>
      </p:sp>
      <p:sp>
        <p:nvSpPr>
          <p:cNvPr name="TextBox 34" id="34"/>
          <p:cNvSpPr txBox="true"/>
          <p:nvPr/>
        </p:nvSpPr>
        <p:spPr>
          <a:xfrm rot="0">
            <a:off x="15236190" y="4762500"/>
            <a:ext cx="1809750" cy="542925"/>
          </a:xfrm>
          <a:prstGeom prst="rect">
            <a:avLst/>
          </a:prstGeom>
        </p:spPr>
        <p:txBody>
          <a:bodyPr anchor="t" rtlCol="false" tIns="0" lIns="0" bIns="0" rIns="0">
            <a:spAutoFit/>
          </a:bodyPr>
          <a:lstStyle/>
          <a:p>
            <a:pPr algn="ctr">
              <a:lnSpc>
                <a:spcPts val="4320"/>
              </a:lnSpc>
              <a:spcBef>
                <a:spcPct val="0"/>
              </a:spcBef>
            </a:pPr>
            <a:r>
              <a:rPr lang="en-US" b="true" sz="3600" strike="noStrike" u="none">
                <a:solidFill>
                  <a:srgbClr val="16796C"/>
                </a:solidFill>
                <a:latin typeface="Noto Sans Bold"/>
                <a:ea typeface="Noto Sans Bold"/>
                <a:cs typeface="Noto Sans Bold"/>
                <a:sym typeface="Noto Sans Bold"/>
              </a:rPr>
              <a:t>0건</a:t>
            </a:r>
          </a:p>
        </p:txBody>
      </p:sp>
      <p:sp>
        <p:nvSpPr>
          <p:cNvPr name="TextBox 35" id="35"/>
          <p:cNvSpPr txBox="true"/>
          <p:nvPr/>
        </p:nvSpPr>
        <p:spPr>
          <a:xfrm rot="0">
            <a:off x="13893165" y="3190875"/>
            <a:ext cx="3333750" cy="342900"/>
          </a:xfrm>
          <a:prstGeom prst="rect">
            <a:avLst/>
          </a:prstGeom>
        </p:spPr>
        <p:txBody>
          <a:bodyPr anchor="t" rtlCol="false" tIns="0" lIns="0" bIns="0" rIns="0">
            <a:spAutoFit/>
          </a:bodyPr>
          <a:lstStyle/>
          <a:p>
            <a:pPr algn="ctr">
              <a:lnSpc>
                <a:spcPts val="2700"/>
              </a:lnSpc>
              <a:spcBef>
                <a:spcPct val="0"/>
              </a:spcBef>
            </a:pPr>
            <a:r>
              <a:rPr lang="en-US" b="true" sz="2250" strike="noStrike" u="none">
                <a:solidFill>
                  <a:srgbClr val="53666E"/>
                </a:solidFill>
                <a:latin typeface="Noto Sans Bold"/>
                <a:ea typeface="Noto Sans Bold"/>
                <a:cs typeface="Noto Sans Bold"/>
                <a:sym typeface="Noto Sans Bold"/>
              </a:rPr>
              <a:t>상태 모순</a:t>
            </a:r>
          </a:p>
        </p:txBody>
      </p:sp>
      <p:sp>
        <p:nvSpPr>
          <p:cNvPr name="Freeform 36" id="36" descr="부작용 측정 및 대응 전체를 묶는 상자"/>
          <p:cNvSpPr/>
          <p:nvPr/>
        </p:nvSpPr>
        <p:spPr>
          <a:xfrm flipH="false" flipV="false" rot="0">
            <a:off x="822960" y="7524750"/>
            <a:ext cx="16642080" cy="1952625"/>
          </a:xfrm>
          <a:custGeom>
            <a:avLst/>
            <a:gdLst/>
            <a:ahLst/>
            <a:cxnLst/>
            <a:rect r="r" b="b" t="t" l="l"/>
            <a:pathLst>
              <a:path h="1952625" w="16642080">
                <a:moveTo>
                  <a:pt x="0" y="0"/>
                </a:moveTo>
                <a:lnTo>
                  <a:pt x="16642080" y="0"/>
                </a:lnTo>
                <a:lnTo>
                  <a:pt x="16642080" y="1952625"/>
                </a:lnTo>
                <a:lnTo>
                  <a:pt x="0" y="1952625"/>
                </a:lnTo>
                <a:lnTo>
                  <a:pt x="0" y="0"/>
                </a:lnTo>
                <a:close/>
              </a:path>
            </a:pathLst>
          </a:custGeom>
          <a:blipFill>
            <a:blip r:embed="rId9">
              <a:extLst>
                <a:ext uri="{96DAC541-7B7A-43D3-8B79-37D633B846F1}">
                  <asvg:svgBlip xmlns:asvg="http://schemas.microsoft.com/office/drawing/2016/SVG/main" r:embed="rId10"/>
                </a:ext>
              </a:extLst>
            </a:blip>
            <a:stretch>
              <a:fillRect l="0" t="-27370" r="0" b="-27370"/>
            </a:stretch>
          </a:blipFill>
        </p:spPr>
      </p:sp>
      <p:grpSp>
        <p:nvGrpSpPr>
          <p:cNvPr name="Group 37" id="37"/>
          <p:cNvGrpSpPr/>
          <p:nvPr/>
        </p:nvGrpSpPr>
        <p:grpSpPr>
          <a:xfrm rot="0">
            <a:off x="1234440" y="7639050"/>
            <a:ext cx="15811500" cy="384879"/>
            <a:chOff x="0" y="0"/>
            <a:chExt cx="21082000" cy="513172"/>
          </a:xfrm>
        </p:grpSpPr>
        <p:sp>
          <p:nvSpPr>
            <p:cNvPr name="Freeform 38" id="38"/>
            <p:cNvSpPr/>
            <p:nvPr/>
          </p:nvSpPr>
          <p:spPr>
            <a:xfrm flipH="false" flipV="false" rot="0">
              <a:off x="0" y="0"/>
              <a:ext cx="21082000" cy="513172"/>
            </a:xfrm>
            <a:custGeom>
              <a:avLst/>
              <a:gdLst/>
              <a:ahLst/>
              <a:cxnLst/>
              <a:rect r="r" b="b" t="t" l="l"/>
              <a:pathLst>
                <a:path h="513172" w="21082000">
                  <a:moveTo>
                    <a:pt x="0" y="0"/>
                  </a:moveTo>
                  <a:lnTo>
                    <a:pt x="21082000" y="0"/>
                  </a:lnTo>
                  <a:lnTo>
                    <a:pt x="21082000" y="513172"/>
                  </a:lnTo>
                  <a:lnTo>
                    <a:pt x="0" y="513172"/>
                  </a:lnTo>
                  <a:close/>
                </a:path>
              </a:pathLst>
            </a:custGeom>
            <a:blipFill>
              <a:blip r:embed="rId4">
                <a:alphaModFix amt="0"/>
              </a:blip>
              <a:stretch>
                <a:fillRect l="0" t="-345360" r="47951" b="-387909"/>
              </a:stretch>
            </a:blipFill>
          </p:spPr>
        </p:sp>
        <p:sp>
          <p:nvSpPr>
            <p:cNvPr name="TextBox 39" id="39"/>
            <p:cNvSpPr txBox="true"/>
            <p:nvPr/>
          </p:nvSpPr>
          <p:spPr>
            <a:xfrm>
              <a:off x="0" y="-9525"/>
              <a:ext cx="21082000" cy="522697"/>
            </a:xfrm>
            <a:prstGeom prst="rect">
              <a:avLst/>
            </a:prstGeom>
          </p:spPr>
          <p:txBody>
            <a:bodyPr anchor="ctr" rtlCol="false" tIns="0" lIns="0" bIns="0" rIns="0"/>
            <a:lstStyle/>
            <a:p>
              <a:pPr algn="l">
                <a:lnSpc>
                  <a:spcPts val="2340"/>
                </a:lnSpc>
                <a:spcBef>
                  <a:spcPct val="0"/>
                </a:spcBef>
              </a:pPr>
              <a:r>
                <a:rPr lang="en-US" b="true" sz="1950" strike="noStrike" u="none">
                  <a:solidFill>
                    <a:srgbClr val="53666E"/>
                  </a:solidFill>
                  <a:latin typeface="Noto Sans Bold"/>
                  <a:ea typeface="Noto Sans Bold"/>
                  <a:cs typeface="Noto Sans Bold"/>
                  <a:sym typeface="Noto Sans Bold"/>
                </a:rPr>
                <a:t>부작용 측정 및 대응</a:t>
              </a:r>
            </a:p>
          </p:txBody>
        </p:sp>
      </p:grpSp>
      <p:sp>
        <p:nvSpPr>
          <p:cNvPr name="TextBox 40" id="40"/>
          <p:cNvSpPr txBox="true"/>
          <p:nvPr/>
        </p:nvSpPr>
        <p:spPr>
          <a:xfrm rot="0">
            <a:off x="1181100" y="8772525"/>
            <a:ext cx="4762500" cy="257175"/>
          </a:xfrm>
          <a:prstGeom prst="rect">
            <a:avLst/>
          </a:prstGeom>
        </p:spPr>
        <p:txBody>
          <a:bodyPr anchor="t" rtlCol="false" tIns="0" lIns="0" bIns="0" rIns="0">
            <a:spAutoFit/>
          </a:bodyPr>
          <a:lstStyle/>
          <a:p>
            <a:pPr algn="ctr">
              <a:lnSpc>
                <a:spcPts val="2160"/>
              </a:lnSpc>
              <a:spcBef>
                <a:spcPct val="0"/>
              </a:spcBef>
            </a:pPr>
            <a:r>
              <a:rPr lang="en-US" sz="1800" strike="noStrike" u="none">
                <a:solidFill>
                  <a:srgbClr val="53666E"/>
                </a:solidFill>
                <a:latin typeface="Noto Sans"/>
                <a:ea typeface="Noto Sans"/>
                <a:cs typeface="Noto Sans"/>
                <a:sym typeface="Noto Sans"/>
              </a:rPr>
              <a:t>기존 정확도</a:t>
            </a:r>
          </a:p>
        </p:txBody>
      </p:sp>
      <p:sp>
        <p:nvSpPr>
          <p:cNvPr name="TextBox 41" id="41"/>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a:solidFill>
                  <a:srgbClr val="6B787A"/>
                </a:solidFill>
                <a:latin typeface="Noto Sans"/>
                <a:ea typeface="Noto Sans"/>
                <a:cs typeface="Noto Sans"/>
                <a:sym typeface="Noto Sans"/>
              </a:rPr>
              <a:t>25</a:t>
            </a:r>
          </a:p>
        </p:txBody>
      </p:sp>
      <p:grpSp>
        <p:nvGrpSpPr>
          <p:cNvPr name="Group 42" id="42"/>
          <p:cNvGrpSpPr/>
          <p:nvPr/>
        </p:nvGrpSpPr>
        <p:grpSpPr>
          <a:xfrm rot="0">
            <a:off x="5818352" y="9710928"/>
            <a:ext cx="4070985" cy="419672"/>
            <a:chOff x="0" y="0"/>
            <a:chExt cx="5427980" cy="559562"/>
          </a:xfrm>
        </p:grpSpPr>
        <p:grpSp>
          <p:nvGrpSpPr>
            <p:cNvPr name="Group 43" id="43"/>
            <p:cNvGrpSpPr/>
            <p:nvPr/>
          </p:nvGrpSpPr>
          <p:grpSpPr>
            <a:xfrm rot="0">
              <a:off x="0" y="0"/>
              <a:ext cx="1680845" cy="559562"/>
              <a:chOff x="0" y="0"/>
              <a:chExt cx="1680845" cy="559562"/>
            </a:xfrm>
          </p:grpSpPr>
          <p:sp>
            <p:nvSpPr>
              <p:cNvPr name="Freeform 44" id="44"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11"/>
                <a:stretch>
                  <a:fillRect l="0" t="-265" r="0" b="-267"/>
                </a:stretch>
              </a:blipFill>
            </p:spPr>
          </p:sp>
        </p:grpSp>
        <p:grpSp>
          <p:nvGrpSpPr>
            <p:cNvPr name="Group 45" id="45"/>
            <p:cNvGrpSpPr/>
            <p:nvPr/>
          </p:nvGrpSpPr>
          <p:grpSpPr>
            <a:xfrm rot="0">
              <a:off x="2069490" y="124358"/>
              <a:ext cx="1189101" cy="310896"/>
              <a:chOff x="0" y="0"/>
              <a:chExt cx="1189101" cy="310896"/>
            </a:xfrm>
          </p:grpSpPr>
          <p:sp>
            <p:nvSpPr>
              <p:cNvPr name="Freeform 46" id="46"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12"/>
                <a:stretch>
                  <a:fillRect l="-30" t="0" r="-32" b="0"/>
                </a:stretch>
              </a:blipFill>
            </p:spPr>
          </p:sp>
        </p:grpSp>
        <p:grpSp>
          <p:nvGrpSpPr>
            <p:cNvPr name="Group 47" id="47"/>
            <p:cNvGrpSpPr/>
            <p:nvPr/>
          </p:nvGrpSpPr>
          <p:grpSpPr>
            <a:xfrm rot="0">
              <a:off x="3647186" y="124358"/>
              <a:ext cx="1780794" cy="310896"/>
              <a:chOff x="0" y="0"/>
              <a:chExt cx="1780794" cy="310896"/>
            </a:xfrm>
          </p:grpSpPr>
          <p:sp>
            <p:nvSpPr>
              <p:cNvPr name="Freeform 48" id="48"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13"/>
                <a:stretch>
                  <a:fillRect l="0" t="-118" r="0" b="-122"/>
                </a:stretch>
              </a:blipFill>
            </p:spPr>
          </p:sp>
        </p:grpSp>
      </p:grpSp>
      <p:sp>
        <p:nvSpPr>
          <p:cNvPr name="TextBox 49" id="49"/>
          <p:cNvSpPr txBox="true"/>
          <p:nvPr/>
        </p:nvSpPr>
        <p:spPr>
          <a:xfrm rot="0">
            <a:off x="5367020" y="4791075"/>
            <a:ext cx="762000" cy="476250"/>
          </a:xfrm>
          <a:prstGeom prst="rect">
            <a:avLst/>
          </a:prstGeom>
        </p:spPr>
        <p:txBody>
          <a:bodyPr anchor="t" rtlCol="false" tIns="0" lIns="0" bIns="0" rIns="0">
            <a:spAutoFit/>
          </a:bodyPr>
          <a:lstStyle/>
          <a:p>
            <a:pPr algn="ctr">
              <a:lnSpc>
                <a:spcPts val="3779"/>
              </a:lnSpc>
              <a:spcBef>
                <a:spcPct val="0"/>
              </a:spcBef>
            </a:pPr>
            <a:r>
              <a:rPr lang="en-US" b="true" sz="3150" strike="noStrike" u="none">
                <a:solidFill>
                  <a:srgbClr val="53666E"/>
                </a:solidFill>
                <a:latin typeface="Noto Sans Bold"/>
                <a:ea typeface="Noto Sans Bold"/>
                <a:cs typeface="Noto Sans Bold"/>
                <a:sym typeface="Noto Sans Bold"/>
              </a:rPr>
              <a:t>0</a:t>
            </a:r>
          </a:p>
        </p:txBody>
      </p:sp>
      <p:sp>
        <p:nvSpPr>
          <p:cNvPr name="TextBox 50" id="50"/>
          <p:cNvSpPr txBox="true"/>
          <p:nvPr/>
        </p:nvSpPr>
        <p:spPr>
          <a:xfrm rot="0">
            <a:off x="9644380" y="4791075"/>
            <a:ext cx="762000" cy="476250"/>
          </a:xfrm>
          <a:prstGeom prst="rect">
            <a:avLst/>
          </a:prstGeom>
        </p:spPr>
        <p:txBody>
          <a:bodyPr anchor="t" rtlCol="false" tIns="0" lIns="0" bIns="0" rIns="0">
            <a:spAutoFit/>
          </a:bodyPr>
          <a:lstStyle/>
          <a:p>
            <a:pPr algn="ctr">
              <a:lnSpc>
                <a:spcPts val="3779"/>
              </a:lnSpc>
              <a:spcBef>
                <a:spcPct val="0"/>
              </a:spcBef>
            </a:pPr>
            <a:r>
              <a:rPr lang="en-US" b="true" sz="3150" strike="noStrike" u="none">
                <a:solidFill>
                  <a:srgbClr val="53666E"/>
                </a:solidFill>
                <a:latin typeface="Noto Sans Bold"/>
                <a:ea typeface="Noto Sans Bold"/>
                <a:cs typeface="Noto Sans Bold"/>
                <a:sym typeface="Noto Sans Bold"/>
              </a:rPr>
              <a:t>2</a:t>
            </a:r>
          </a:p>
        </p:txBody>
      </p:sp>
      <p:sp>
        <p:nvSpPr>
          <p:cNvPr name="TextBox 51" id="51"/>
          <p:cNvSpPr txBox="true"/>
          <p:nvPr/>
        </p:nvSpPr>
        <p:spPr>
          <a:xfrm rot="0">
            <a:off x="13921740" y="4791075"/>
            <a:ext cx="762000" cy="476250"/>
          </a:xfrm>
          <a:prstGeom prst="rect">
            <a:avLst/>
          </a:prstGeom>
        </p:spPr>
        <p:txBody>
          <a:bodyPr anchor="t" rtlCol="false" tIns="0" lIns="0" bIns="0" rIns="0">
            <a:spAutoFit/>
          </a:bodyPr>
          <a:lstStyle/>
          <a:p>
            <a:pPr algn="ctr">
              <a:lnSpc>
                <a:spcPts val="3779"/>
              </a:lnSpc>
              <a:spcBef>
                <a:spcPct val="0"/>
              </a:spcBef>
            </a:pPr>
            <a:r>
              <a:rPr lang="en-US" b="true" sz="3150" strike="noStrike" u="none">
                <a:solidFill>
                  <a:srgbClr val="53666E"/>
                </a:solidFill>
                <a:latin typeface="Noto Sans Bold"/>
                <a:ea typeface="Noto Sans Bold"/>
                <a:cs typeface="Noto Sans Bold"/>
                <a:sym typeface="Noto Sans Bold"/>
              </a:rPr>
              <a:t>12</a:t>
            </a:r>
          </a:p>
        </p:txBody>
      </p:sp>
      <p:sp>
        <p:nvSpPr>
          <p:cNvPr name="Freeform 52" id="52" descr="개선 전 수치에서 개선 후 수치로 향하는 도형 화살표 1"/>
          <p:cNvSpPr/>
          <p:nvPr/>
        </p:nvSpPr>
        <p:spPr>
          <a:xfrm flipH="false" flipV="false" rot="0">
            <a:off x="6214745" y="4841081"/>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53" id="53" descr="개선 전 수치에서 개선 후 수치로 향하는 도형 화살표 2"/>
          <p:cNvSpPr/>
          <p:nvPr/>
        </p:nvSpPr>
        <p:spPr>
          <a:xfrm flipH="false" flipV="false" rot="0">
            <a:off x="10601643" y="483870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54" id="54" descr="개선 전 수치에서 개선 후 수치로 향하는 도형 화살표 3"/>
          <p:cNvSpPr/>
          <p:nvPr/>
        </p:nvSpPr>
        <p:spPr>
          <a:xfrm flipH="false" flipV="false" rot="0">
            <a:off x="14988540" y="483870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55" id="55" descr="프롬프트 개선 시도에서 학습 결과로 향하는 도형 화살표"/>
          <p:cNvSpPr/>
          <p:nvPr/>
        </p:nvSpPr>
        <p:spPr>
          <a:xfrm flipH="false" flipV="false" rot="0">
            <a:off x="4676775" y="4841081"/>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56" id="56"/>
          <p:cNvSpPr txBox="true"/>
          <p:nvPr/>
        </p:nvSpPr>
        <p:spPr>
          <a:xfrm rot="0">
            <a:off x="2133600" y="8096250"/>
            <a:ext cx="2857500" cy="495300"/>
          </a:xfrm>
          <a:prstGeom prst="rect">
            <a:avLst/>
          </a:prstGeom>
        </p:spPr>
        <p:txBody>
          <a:bodyPr anchor="t" rtlCol="false" tIns="0" lIns="0" bIns="0" rIns="0">
            <a:spAutoFit/>
          </a:bodyPr>
          <a:lstStyle/>
          <a:p>
            <a:pPr algn="ctr">
              <a:lnSpc>
                <a:spcPts val="3960"/>
              </a:lnSpc>
              <a:spcBef>
                <a:spcPct val="0"/>
              </a:spcBef>
            </a:pPr>
            <a:r>
              <a:rPr lang="en-US" b="true" sz="3300" strike="noStrike" u="none">
                <a:solidFill>
                  <a:srgbClr val="53666E"/>
                </a:solidFill>
                <a:latin typeface="Noto Sans Bold"/>
                <a:ea typeface="Noto Sans Bold"/>
                <a:cs typeface="Noto Sans Bold"/>
                <a:sym typeface="Noto Sans Bold"/>
              </a:rPr>
              <a:t>63%</a:t>
            </a:r>
          </a:p>
        </p:txBody>
      </p:sp>
      <p:sp>
        <p:nvSpPr>
          <p:cNvPr name="TextBox 57" id="57"/>
          <p:cNvSpPr txBox="true"/>
          <p:nvPr/>
        </p:nvSpPr>
        <p:spPr>
          <a:xfrm rot="0">
            <a:off x="7677150" y="8096250"/>
            <a:ext cx="2857500" cy="495300"/>
          </a:xfrm>
          <a:prstGeom prst="rect">
            <a:avLst/>
          </a:prstGeom>
        </p:spPr>
        <p:txBody>
          <a:bodyPr anchor="t" rtlCol="false" tIns="0" lIns="0" bIns="0" rIns="0">
            <a:spAutoFit/>
          </a:bodyPr>
          <a:lstStyle/>
          <a:p>
            <a:pPr algn="ctr">
              <a:lnSpc>
                <a:spcPts val="3960"/>
              </a:lnSpc>
              <a:spcBef>
                <a:spcPct val="0"/>
              </a:spcBef>
            </a:pPr>
            <a:r>
              <a:rPr lang="en-US" b="true" sz="3300" strike="noStrike" u="none">
                <a:solidFill>
                  <a:srgbClr val="D9433A"/>
                </a:solidFill>
                <a:latin typeface="Noto Sans Bold"/>
                <a:ea typeface="Noto Sans Bold"/>
                <a:cs typeface="Noto Sans Bold"/>
                <a:sym typeface="Noto Sans Bold"/>
              </a:rPr>
              <a:t>44%</a:t>
            </a:r>
          </a:p>
        </p:txBody>
      </p:sp>
      <p:sp>
        <p:nvSpPr>
          <p:cNvPr name="TextBox 58" id="58"/>
          <p:cNvSpPr txBox="true"/>
          <p:nvPr/>
        </p:nvSpPr>
        <p:spPr>
          <a:xfrm rot="0">
            <a:off x="13220700" y="8096250"/>
            <a:ext cx="2857500" cy="495300"/>
          </a:xfrm>
          <a:prstGeom prst="rect">
            <a:avLst/>
          </a:prstGeom>
        </p:spPr>
        <p:txBody>
          <a:bodyPr anchor="t" rtlCol="false" tIns="0" lIns="0" bIns="0" rIns="0">
            <a:spAutoFit/>
          </a:bodyPr>
          <a:lstStyle/>
          <a:p>
            <a:pPr algn="ctr">
              <a:lnSpc>
                <a:spcPts val="3960"/>
              </a:lnSpc>
              <a:spcBef>
                <a:spcPct val="0"/>
              </a:spcBef>
            </a:pPr>
            <a:r>
              <a:rPr lang="en-US" b="true" sz="3300" strike="noStrike" u="none">
                <a:solidFill>
                  <a:srgbClr val="16796C"/>
                </a:solidFill>
                <a:latin typeface="Noto Sans Bold"/>
                <a:ea typeface="Noto Sans Bold"/>
                <a:cs typeface="Noto Sans Bold"/>
                <a:sym typeface="Noto Sans Bold"/>
              </a:rPr>
              <a:t>60%</a:t>
            </a:r>
          </a:p>
        </p:txBody>
      </p:sp>
      <p:sp>
        <p:nvSpPr>
          <p:cNvPr name="TextBox 59" id="59"/>
          <p:cNvSpPr txBox="true"/>
          <p:nvPr/>
        </p:nvSpPr>
        <p:spPr>
          <a:xfrm rot="0">
            <a:off x="6724650" y="8772525"/>
            <a:ext cx="4762500" cy="257175"/>
          </a:xfrm>
          <a:prstGeom prst="rect">
            <a:avLst/>
          </a:prstGeom>
        </p:spPr>
        <p:txBody>
          <a:bodyPr anchor="t" rtlCol="false" tIns="0" lIns="0" bIns="0" rIns="0">
            <a:spAutoFit/>
          </a:bodyPr>
          <a:lstStyle/>
          <a:p>
            <a:pPr algn="ctr">
              <a:lnSpc>
                <a:spcPts val="2160"/>
              </a:lnSpc>
              <a:spcBef>
                <a:spcPct val="0"/>
              </a:spcBef>
            </a:pPr>
            <a:r>
              <a:rPr lang="en-US" sz="1800" strike="noStrike" u="none">
                <a:solidFill>
                  <a:srgbClr val="53666E"/>
                </a:solidFill>
                <a:latin typeface="Noto Sans"/>
                <a:ea typeface="Noto Sans"/>
                <a:cs typeface="Noto Sans"/>
                <a:sym typeface="Noto Sans"/>
              </a:rPr>
              <a:t>지식 질문까지 전용 경로 처리</a:t>
            </a:r>
          </a:p>
        </p:txBody>
      </p:sp>
      <p:sp>
        <p:nvSpPr>
          <p:cNvPr name="TextBox 60" id="60"/>
          <p:cNvSpPr txBox="true"/>
          <p:nvPr/>
        </p:nvSpPr>
        <p:spPr>
          <a:xfrm rot="0">
            <a:off x="12268200" y="8772525"/>
            <a:ext cx="4762500" cy="523875"/>
          </a:xfrm>
          <a:prstGeom prst="rect">
            <a:avLst/>
          </a:prstGeom>
        </p:spPr>
        <p:txBody>
          <a:bodyPr anchor="t" rtlCol="false" tIns="0" lIns="0" bIns="0" rIns="0">
            <a:spAutoFit/>
          </a:bodyPr>
          <a:lstStyle/>
          <a:p>
            <a:pPr algn="ctr">
              <a:lnSpc>
                <a:spcPts val="2160"/>
              </a:lnSpc>
              <a:spcBef>
                <a:spcPct val="0"/>
              </a:spcBef>
            </a:pPr>
            <a:r>
              <a:rPr lang="en-US" sz="1800" strike="noStrike" u="none">
                <a:solidFill>
                  <a:srgbClr val="53666E"/>
                </a:solidFill>
                <a:latin typeface="Noto Sans"/>
                <a:ea typeface="Noto Sans"/>
                <a:cs typeface="Noto Sans"/>
                <a:sym typeface="Noto Sans"/>
              </a:rPr>
              <a:t>전용 경로 비활성화</a:t>
            </a:r>
          </a:p>
          <a:p>
            <a:pPr algn="ctr">
              <a:lnSpc>
                <a:spcPts val="2160"/>
              </a:lnSpc>
              <a:spcBef>
                <a:spcPct val="0"/>
              </a:spcBef>
            </a:pPr>
            <a:r>
              <a:rPr lang="en-US" sz="1800" strike="noStrike" u="none">
                <a:solidFill>
                  <a:srgbClr val="53666E"/>
                </a:solidFill>
                <a:latin typeface="Noto Sans"/>
                <a:ea typeface="Noto Sans"/>
                <a:cs typeface="Noto Sans"/>
                <a:sym typeface="Noto Sans"/>
              </a:rPr>
              <a:t>현재값 코드 표시</a:t>
            </a:r>
          </a:p>
        </p:txBody>
      </p:sp>
      <p:sp>
        <p:nvSpPr>
          <p:cNvPr name="Freeform 61" id="61" descr="정확도 변화 흐름을 나타내는 도형 화살표"/>
          <p:cNvSpPr/>
          <p:nvPr/>
        </p:nvSpPr>
        <p:spPr>
          <a:xfrm flipH="false" flipV="false" rot="0">
            <a:off x="6143625" y="817245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62" id="62" descr="정확도 변화 흐름을 나타내는 도형 화살표"/>
          <p:cNvSpPr/>
          <p:nvPr/>
        </p:nvSpPr>
        <p:spPr>
          <a:xfrm flipH="false" flipV="false" rot="0">
            <a:off x="11687175" y="8172450"/>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63" id="63"/>
          <p:cNvSpPr/>
          <p:nvPr/>
        </p:nvSpPr>
        <p:spPr>
          <a:xfrm flipH="false" flipV="false" rot="0">
            <a:off x="4937760" y="1952199"/>
            <a:ext cx="292142" cy="191353"/>
          </a:xfrm>
          <a:custGeom>
            <a:avLst/>
            <a:gdLst/>
            <a:ahLst/>
            <a:cxnLst/>
            <a:rect r="r" b="b" t="t" l="l"/>
            <a:pathLst>
              <a:path h="191353" w="292142">
                <a:moveTo>
                  <a:pt x="0" y="0"/>
                </a:moveTo>
                <a:lnTo>
                  <a:pt x="292142" y="0"/>
                </a:lnTo>
                <a:lnTo>
                  <a:pt x="292142" y="191352"/>
                </a:lnTo>
                <a:lnTo>
                  <a:pt x="0" y="19135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3050" r="0" b="-333050"/>
              </a:stretch>
            </a:blipFill>
          </p:spPr>
        </p:sp>
        <p:sp>
          <p:nvSpPr>
            <p:cNvPr name="TextBox 6" id="6"/>
            <p:cNvSpPr txBox="true"/>
            <p:nvPr/>
          </p:nvSpPr>
          <p:spPr>
            <a:xfrm>
              <a:off x="0" y="-9525"/>
              <a:ext cx="10972800" cy="567690"/>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7" id="7"/>
          <p:cNvGrpSpPr/>
          <p:nvPr/>
        </p:nvGrpSpPr>
        <p:grpSpPr>
          <a:xfrm rot="0">
            <a:off x="822960" y="438912"/>
            <a:ext cx="4114800" cy="384048"/>
            <a:chOff x="0" y="0"/>
            <a:chExt cx="5486400" cy="512064"/>
          </a:xfrm>
        </p:grpSpPr>
        <p:sp>
          <p:nvSpPr>
            <p:cNvPr name="Freeform 8" id="8"/>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3">
                <a:alphaModFix amt="0"/>
              </a:blip>
              <a:stretch>
                <a:fillRect l="0" t="-158623" r="0" b="-158623"/>
              </a:stretch>
            </a:blipFill>
          </p:spPr>
        </p:sp>
      </p:grpSp>
      <p:grpSp>
        <p:nvGrpSpPr>
          <p:cNvPr name="Group 9" id="9"/>
          <p:cNvGrpSpPr/>
          <p:nvPr/>
        </p:nvGrpSpPr>
        <p:grpSpPr>
          <a:xfrm rot="0">
            <a:off x="822960" y="438912"/>
            <a:ext cx="4114800" cy="384048"/>
            <a:chOff x="0" y="0"/>
            <a:chExt cx="5486400" cy="512064"/>
          </a:xfrm>
        </p:grpSpPr>
        <p:sp>
          <p:nvSpPr>
            <p:cNvPr name="Freeform 10" id="10"/>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4">
                <a:alphaModFix amt="0"/>
              </a:blip>
              <a:stretch>
                <a:fillRect l="0" t="-158768" r="0" b="-158768"/>
              </a:stretch>
            </a:blipFill>
          </p:spPr>
        </p:sp>
        <p:sp>
          <p:nvSpPr>
            <p:cNvPr name="TextBox 11" id="11"/>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03  AI 모델</a:t>
              </a:r>
            </a:p>
          </p:txBody>
        </p:sp>
      </p:grpSp>
      <p:grpSp>
        <p:nvGrpSpPr>
          <p:cNvPr name="Group 12" id="12"/>
          <p:cNvGrpSpPr/>
          <p:nvPr/>
        </p:nvGrpSpPr>
        <p:grpSpPr>
          <a:xfrm rot="0">
            <a:off x="822960" y="822960"/>
            <a:ext cx="16641623" cy="850392"/>
            <a:chOff x="0" y="0"/>
            <a:chExt cx="22188830" cy="1133856"/>
          </a:xfrm>
        </p:grpSpPr>
        <p:sp>
          <p:nvSpPr>
            <p:cNvPr name="Freeform 13" id="13"/>
            <p:cNvSpPr/>
            <p:nvPr/>
          </p:nvSpPr>
          <p:spPr>
            <a:xfrm flipH="false" flipV="false" rot="0">
              <a:off x="0" y="0"/>
              <a:ext cx="22188805" cy="1133856"/>
            </a:xfrm>
            <a:custGeom>
              <a:avLst/>
              <a:gdLst/>
              <a:ahLst/>
              <a:cxnLst/>
              <a:rect r="r" b="b" t="t" l="l"/>
              <a:pathLst>
                <a:path h="1133856" w="22188805">
                  <a:moveTo>
                    <a:pt x="0" y="0"/>
                  </a:moveTo>
                  <a:lnTo>
                    <a:pt x="22188805" y="0"/>
                  </a:lnTo>
                  <a:lnTo>
                    <a:pt x="22188805" y="1133856"/>
                  </a:lnTo>
                  <a:lnTo>
                    <a:pt x="0" y="1133856"/>
                  </a:lnTo>
                  <a:close/>
                </a:path>
              </a:pathLst>
            </a:custGeom>
            <a:blipFill>
              <a:blip r:embed="rId3">
                <a:alphaModFix amt="0"/>
              </a:blip>
              <a:stretch>
                <a:fillRect l="0" t="-331043" r="0" b="-331045"/>
              </a:stretch>
            </a:blipFill>
          </p:spPr>
        </p:sp>
      </p:grpSp>
      <p:grpSp>
        <p:nvGrpSpPr>
          <p:cNvPr name="Group 14" id="14"/>
          <p:cNvGrpSpPr/>
          <p:nvPr/>
        </p:nvGrpSpPr>
        <p:grpSpPr>
          <a:xfrm rot="0">
            <a:off x="822960" y="822960"/>
            <a:ext cx="16642080" cy="850392"/>
            <a:chOff x="0" y="0"/>
            <a:chExt cx="22189440" cy="1133856"/>
          </a:xfrm>
        </p:grpSpPr>
        <p:sp>
          <p:nvSpPr>
            <p:cNvPr name="Freeform 15" id="15"/>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4">
                <a:alphaModFix amt="0"/>
              </a:blip>
              <a:stretch>
                <a:fillRect l="0" t="-331309" r="2" b="-331309"/>
              </a:stretch>
            </a:blipFill>
          </p:spPr>
        </p:sp>
        <p:sp>
          <p:nvSpPr>
            <p:cNvPr name="TextBox 16" id="16"/>
            <p:cNvSpPr txBox="true"/>
            <p:nvPr/>
          </p:nvSpPr>
          <p:spPr>
            <a:xfrm>
              <a:off x="0" y="-9525"/>
              <a:ext cx="22189440" cy="1143381"/>
            </a:xfrm>
            <a:prstGeom prst="rect">
              <a:avLst/>
            </a:prstGeom>
          </p:spPr>
          <p:txBody>
            <a:bodyPr anchor="ctr" rtlCol="false" tIns="0" lIns="0" bIns="0" rIns="0"/>
            <a:lstStyle/>
            <a:p>
              <a:pPr algn="l">
                <a:lnSpc>
                  <a:spcPts val="4500"/>
                </a:lnSpc>
              </a:pPr>
              <a:r>
                <a:rPr lang="en-US" sz="3750" b="true">
                  <a:solidFill>
                    <a:srgbClr val="203238"/>
                  </a:solidFill>
                  <a:latin typeface="Noto Sans Bold"/>
                  <a:ea typeface="Noto Sans Bold"/>
                  <a:cs typeface="Noto Sans Bold"/>
                  <a:sym typeface="Noto Sans Bold"/>
                </a:rPr>
                <a:t>05  코드 규칙 – 오류 빈발 출력의 코드 고정</a:t>
              </a:r>
            </a:p>
          </p:txBody>
        </p:sp>
      </p:grpSp>
      <p:grpSp>
        <p:nvGrpSpPr>
          <p:cNvPr name="Group 17" id="17"/>
          <p:cNvGrpSpPr/>
          <p:nvPr/>
        </p:nvGrpSpPr>
        <p:grpSpPr>
          <a:xfrm rot="0">
            <a:off x="822960" y="1755648"/>
            <a:ext cx="16641623" cy="576072"/>
            <a:chOff x="0" y="0"/>
            <a:chExt cx="22188830" cy="768096"/>
          </a:xfrm>
        </p:grpSpPr>
        <p:sp>
          <p:nvSpPr>
            <p:cNvPr name="Freeform 18" id="18"/>
            <p:cNvSpPr/>
            <p:nvPr/>
          </p:nvSpPr>
          <p:spPr>
            <a:xfrm flipH="false" flipV="false" rot="0">
              <a:off x="0" y="0"/>
              <a:ext cx="22188805" cy="768096"/>
            </a:xfrm>
            <a:custGeom>
              <a:avLst/>
              <a:gdLst/>
              <a:ahLst/>
              <a:cxnLst/>
              <a:rect r="r" b="b" t="t" l="l"/>
              <a:pathLst>
                <a:path h="768096" w="22188805">
                  <a:moveTo>
                    <a:pt x="0" y="0"/>
                  </a:moveTo>
                  <a:lnTo>
                    <a:pt x="22188805" y="0"/>
                  </a:lnTo>
                  <a:lnTo>
                    <a:pt x="22188805" y="768096"/>
                  </a:lnTo>
                  <a:lnTo>
                    <a:pt x="0" y="768096"/>
                  </a:lnTo>
                  <a:close/>
                </a:path>
              </a:pathLst>
            </a:custGeom>
            <a:blipFill>
              <a:blip r:embed="rId3">
                <a:alphaModFix amt="0"/>
              </a:blip>
              <a:stretch>
                <a:fillRect l="0" t="-512493" r="0" b="-512495"/>
              </a:stretch>
            </a:blipFill>
          </p:spPr>
        </p:sp>
      </p:grpSp>
      <p:grpSp>
        <p:nvGrpSpPr>
          <p:cNvPr name="Group 19" id="19"/>
          <p:cNvGrpSpPr/>
          <p:nvPr/>
        </p:nvGrpSpPr>
        <p:grpSpPr>
          <a:xfrm rot="0">
            <a:off x="822960" y="1762125"/>
            <a:ext cx="16641623" cy="568928"/>
            <a:chOff x="0" y="0"/>
            <a:chExt cx="22188830" cy="758571"/>
          </a:xfrm>
        </p:grpSpPr>
        <p:sp>
          <p:nvSpPr>
            <p:cNvPr name="Freeform 20" id="20"/>
            <p:cNvSpPr/>
            <p:nvPr/>
          </p:nvSpPr>
          <p:spPr>
            <a:xfrm flipH="false" flipV="false" rot="0">
              <a:off x="0" y="0"/>
              <a:ext cx="22188830" cy="758571"/>
            </a:xfrm>
            <a:custGeom>
              <a:avLst/>
              <a:gdLst/>
              <a:ahLst/>
              <a:cxnLst/>
              <a:rect r="r" b="b" t="t" l="l"/>
              <a:pathLst>
                <a:path h="758571" w="22188830">
                  <a:moveTo>
                    <a:pt x="0" y="0"/>
                  </a:moveTo>
                  <a:lnTo>
                    <a:pt x="22188830" y="0"/>
                  </a:lnTo>
                  <a:lnTo>
                    <a:pt x="22188830" y="758571"/>
                  </a:lnTo>
                  <a:lnTo>
                    <a:pt x="0" y="758571"/>
                  </a:lnTo>
                  <a:close/>
                </a:path>
              </a:pathLst>
            </a:custGeom>
            <a:blipFill>
              <a:blip r:embed="rId4">
                <a:alphaModFix amt="0"/>
              </a:blip>
              <a:stretch>
                <a:fillRect l="0" t="-519953" r="0" b="-519953"/>
              </a:stretch>
            </a:blipFill>
          </p:spPr>
        </p:sp>
        <p:sp>
          <p:nvSpPr>
            <p:cNvPr name="TextBox 21" id="21"/>
            <p:cNvSpPr txBox="true"/>
            <p:nvPr/>
          </p:nvSpPr>
          <p:spPr>
            <a:xfrm>
              <a:off x="0" y="9525"/>
              <a:ext cx="22188830" cy="749046"/>
            </a:xfrm>
            <a:prstGeom prst="rect">
              <a:avLst/>
            </a:prstGeom>
          </p:spPr>
          <p:txBody>
            <a:bodyPr anchor="ctr" rtlCol="false" tIns="0" lIns="0" bIns="0" rIns="0"/>
            <a:lstStyle/>
            <a:p>
              <a:pPr algn="l">
                <a:lnSpc>
                  <a:spcPts val="2878"/>
                </a:lnSpc>
              </a:pPr>
              <a:r>
                <a:rPr lang="en-US" sz="2400">
                  <a:solidFill>
                    <a:srgbClr val="53666E"/>
                  </a:solidFill>
                  <a:latin typeface="Noto Sans"/>
                  <a:ea typeface="Noto Sans"/>
                  <a:cs typeface="Noto Sans"/>
                  <a:sym typeface="Noto Sans"/>
                </a:rPr>
                <a:t>재학습 없이 </a:t>
              </a:r>
              <a:r>
                <a:rPr lang="en-US" sz="2400" b="true">
                  <a:solidFill>
                    <a:srgbClr val="53666E"/>
                  </a:solidFill>
                  <a:latin typeface="Noto Sans Bold"/>
                  <a:ea typeface="Noto Sans Bold"/>
                  <a:cs typeface="Noto Sans Bold"/>
                  <a:sym typeface="Noto Sans Bold"/>
                </a:rPr>
                <a:t>코드 규칙 5종</a:t>
              </a:r>
              <a:r>
                <a:rPr lang="en-US" sz="2400">
                  <a:solidFill>
                    <a:srgbClr val="53666E"/>
                  </a:solidFill>
                  <a:latin typeface="Noto Sans"/>
                  <a:ea typeface="Noto Sans"/>
                  <a:cs typeface="Noto Sans"/>
                  <a:sym typeface="Noto Sans"/>
                </a:rPr>
                <a:t>으로 반복 오답 유형 차단</a:t>
              </a:r>
            </a:p>
          </p:txBody>
        </p:sp>
      </p:grpSp>
      <p:sp>
        <p:nvSpPr>
          <p:cNvPr name="Freeform 22" id="22"/>
          <p:cNvSpPr/>
          <p:nvPr/>
        </p:nvSpPr>
        <p:spPr>
          <a:xfrm flipH="false" flipV="false" rot="0">
            <a:off x="806291" y="2726531"/>
            <a:ext cx="16674941" cy="938593"/>
          </a:xfrm>
          <a:custGeom>
            <a:avLst/>
            <a:gdLst/>
            <a:ahLst/>
            <a:cxnLst/>
            <a:rect r="r" b="b" t="t" l="l"/>
            <a:pathLst>
              <a:path h="938593" w="16674941">
                <a:moveTo>
                  <a:pt x="0" y="0"/>
                </a:moveTo>
                <a:lnTo>
                  <a:pt x="16674941" y="0"/>
                </a:lnTo>
                <a:lnTo>
                  <a:pt x="16674941" y="938594"/>
                </a:lnTo>
                <a:lnTo>
                  <a:pt x="0" y="9385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3" id="23"/>
          <p:cNvGrpSpPr/>
          <p:nvPr/>
        </p:nvGrpSpPr>
        <p:grpSpPr>
          <a:xfrm rot="0">
            <a:off x="1097280" y="2921508"/>
            <a:ext cx="548640" cy="548640"/>
            <a:chOff x="0" y="0"/>
            <a:chExt cx="731520" cy="731520"/>
          </a:xfrm>
        </p:grpSpPr>
        <p:sp>
          <p:nvSpPr>
            <p:cNvPr name="Freeform 24" id="24"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7"/>
              <a:stretch>
                <a:fillRect l="0" t="0" r="0" b="0"/>
              </a:stretch>
            </a:blipFill>
          </p:spPr>
        </p:sp>
      </p:grpSp>
      <p:grpSp>
        <p:nvGrpSpPr>
          <p:cNvPr name="Group 25" id="25"/>
          <p:cNvGrpSpPr/>
          <p:nvPr/>
        </p:nvGrpSpPr>
        <p:grpSpPr>
          <a:xfrm rot="0">
            <a:off x="1920240" y="2743200"/>
            <a:ext cx="3977640" cy="905256"/>
            <a:chOff x="0" y="0"/>
            <a:chExt cx="5303520" cy="1207008"/>
          </a:xfrm>
        </p:grpSpPr>
        <p:sp>
          <p:nvSpPr>
            <p:cNvPr name="Freeform 26" id="26"/>
            <p:cNvSpPr/>
            <p:nvPr/>
          </p:nvSpPr>
          <p:spPr>
            <a:xfrm flipH="false" flipV="false" rot="0">
              <a:off x="0" y="0"/>
              <a:ext cx="5303520" cy="1207008"/>
            </a:xfrm>
            <a:custGeom>
              <a:avLst/>
              <a:gdLst/>
              <a:ahLst/>
              <a:cxnLst/>
              <a:rect r="r" b="b" t="t" l="l"/>
              <a:pathLst>
                <a:path h="1207008" w="5303520">
                  <a:moveTo>
                    <a:pt x="0" y="0"/>
                  </a:moveTo>
                  <a:lnTo>
                    <a:pt x="5303520" y="0"/>
                  </a:lnTo>
                  <a:lnTo>
                    <a:pt x="5303520" y="1207008"/>
                  </a:lnTo>
                  <a:lnTo>
                    <a:pt x="0" y="1207008"/>
                  </a:lnTo>
                  <a:close/>
                </a:path>
              </a:pathLst>
            </a:custGeom>
            <a:blipFill>
              <a:blip r:embed="rId3">
                <a:alphaModFix amt="0"/>
              </a:blip>
              <a:stretch>
                <a:fillRect l="0" t="-35556" r="0" b="-35556"/>
              </a:stretch>
            </a:blipFill>
          </p:spPr>
        </p:sp>
      </p:grpSp>
      <p:grpSp>
        <p:nvGrpSpPr>
          <p:cNvPr name="Group 27" id="27"/>
          <p:cNvGrpSpPr/>
          <p:nvPr/>
        </p:nvGrpSpPr>
        <p:grpSpPr>
          <a:xfrm rot="0">
            <a:off x="1920240" y="2743200"/>
            <a:ext cx="3977640" cy="905256"/>
            <a:chOff x="0" y="0"/>
            <a:chExt cx="5303520" cy="1207008"/>
          </a:xfrm>
        </p:grpSpPr>
        <p:sp>
          <p:nvSpPr>
            <p:cNvPr name="Freeform 28" id="28"/>
            <p:cNvSpPr/>
            <p:nvPr/>
          </p:nvSpPr>
          <p:spPr>
            <a:xfrm flipH="false" flipV="false" rot="0">
              <a:off x="0" y="0"/>
              <a:ext cx="5303520" cy="1207008"/>
            </a:xfrm>
            <a:custGeom>
              <a:avLst/>
              <a:gdLst/>
              <a:ahLst/>
              <a:cxnLst/>
              <a:rect r="r" b="b" t="t" l="l"/>
              <a:pathLst>
                <a:path h="1207008" w="5303520">
                  <a:moveTo>
                    <a:pt x="0" y="0"/>
                  </a:moveTo>
                  <a:lnTo>
                    <a:pt x="5303520" y="0"/>
                  </a:lnTo>
                  <a:lnTo>
                    <a:pt x="5303520" y="1207008"/>
                  </a:lnTo>
                  <a:lnTo>
                    <a:pt x="0" y="1207008"/>
                  </a:lnTo>
                  <a:close/>
                </a:path>
              </a:pathLst>
            </a:custGeom>
            <a:blipFill>
              <a:blip r:embed="rId4">
                <a:alphaModFix amt="0"/>
              </a:blip>
              <a:stretch>
                <a:fillRect l="0" t="-35616" r="0" b="-35616"/>
              </a:stretch>
            </a:blipFill>
          </p:spPr>
        </p:sp>
        <p:sp>
          <p:nvSpPr>
            <p:cNvPr name="TextBox 29" id="29"/>
            <p:cNvSpPr txBox="true"/>
            <p:nvPr/>
          </p:nvSpPr>
          <p:spPr>
            <a:xfrm>
              <a:off x="0" y="0"/>
              <a:ext cx="5303520" cy="1207008"/>
            </a:xfrm>
            <a:prstGeom prst="rect">
              <a:avLst/>
            </a:prstGeom>
          </p:spPr>
          <p:txBody>
            <a:bodyPr anchor="ctr" rtlCol="false" tIns="0" lIns="0" bIns="0" rIns="0"/>
            <a:lstStyle/>
            <a:p>
              <a:pPr algn="l">
                <a:lnSpc>
                  <a:spcPts val="2700"/>
                </a:lnSpc>
              </a:pPr>
              <a:r>
                <a:rPr lang="en-US" sz="2250" b="true">
                  <a:solidFill>
                    <a:srgbClr val="1B2B2E"/>
                  </a:solidFill>
                  <a:latin typeface="Noto Sans Bold"/>
                  <a:ea typeface="Noto Sans Bold"/>
                  <a:cs typeface="Noto Sans Bold"/>
                  <a:sym typeface="Noto Sans Bold"/>
                </a:rPr>
                <a:t>MES 현재값 첫 줄</a:t>
              </a:r>
            </a:p>
          </p:txBody>
        </p:sp>
      </p:grpSp>
      <p:grpSp>
        <p:nvGrpSpPr>
          <p:cNvPr name="Group 30" id="30"/>
          <p:cNvGrpSpPr/>
          <p:nvPr/>
        </p:nvGrpSpPr>
        <p:grpSpPr>
          <a:xfrm rot="0">
            <a:off x="6035040" y="2743200"/>
            <a:ext cx="7132320" cy="905256"/>
            <a:chOff x="0" y="0"/>
            <a:chExt cx="9509760" cy="1207008"/>
          </a:xfrm>
        </p:grpSpPr>
        <p:sp>
          <p:nvSpPr>
            <p:cNvPr name="Freeform 31" id="31"/>
            <p:cNvSpPr/>
            <p:nvPr/>
          </p:nvSpPr>
          <p:spPr>
            <a:xfrm flipH="false" flipV="false" rot="0">
              <a:off x="0" y="0"/>
              <a:ext cx="9509760" cy="1207008"/>
            </a:xfrm>
            <a:custGeom>
              <a:avLst/>
              <a:gdLst/>
              <a:ahLst/>
              <a:cxnLst/>
              <a:rect r="r" b="b" t="t" l="l"/>
              <a:pathLst>
                <a:path h="1207008" w="9509760">
                  <a:moveTo>
                    <a:pt x="0" y="0"/>
                  </a:moveTo>
                  <a:lnTo>
                    <a:pt x="9509760" y="0"/>
                  </a:lnTo>
                  <a:lnTo>
                    <a:pt x="9509760" y="1207008"/>
                  </a:lnTo>
                  <a:lnTo>
                    <a:pt x="0" y="1207008"/>
                  </a:lnTo>
                  <a:close/>
                </a:path>
              </a:pathLst>
            </a:custGeom>
            <a:blipFill>
              <a:blip r:embed="rId3">
                <a:alphaModFix amt="0"/>
              </a:blip>
              <a:stretch>
                <a:fillRect l="0" t="-103412" r="0" b="-103411"/>
              </a:stretch>
            </a:blipFill>
          </p:spPr>
        </p:sp>
      </p:grpSp>
      <p:grpSp>
        <p:nvGrpSpPr>
          <p:cNvPr name="Group 32" id="32"/>
          <p:cNvGrpSpPr/>
          <p:nvPr/>
        </p:nvGrpSpPr>
        <p:grpSpPr>
          <a:xfrm rot="0">
            <a:off x="6035040" y="2736056"/>
            <a:ext cx="7132320" cy="912400"/>
            <a:chOff x="0" y="0"/>
            <a:chExt cx="9509760" cy="1216533"/>
          </a:xfrm>
        </p:grpSpPr>
        <p:sp>
          <p:nvSpPr>
            <p:cNvPr name="Freeform 33" id="33"/>
            <p:cNvSpPr/>
            <p:nvPr/>
          </p:nvSpPr>
          <p:spPr>
            <a:xfrm flipH="false" flipV="false" rot="0">
              <a:off x="0" y="0"/>
              <a:ext cx="9509760" cy="1216533"/>
            </a:xfrm>
            <a:custGeom>
              <a:avLst/>
              <a:gdLst/>
              <a:ahLst/>
              <a:cxnLst/>
              <a:rect r="r" b="b" t="t" l="l"/>
              <a:pathLst>
                <a:path h="1216533" w="9509760">
                  <a:moveTo>
                    <a:pt x="0" y="0"/>
                  </a:moveTo>
                  <a:lnTo>
                    <a:pt x="9509760" y="0"/>
                  </a:lnTo>
                  <a:lnTo>
                    <a:pt x="9509760" y="1216533"/>
                  </a:lnTo>
                  <a:lnTo>
                    <a:pt x="0" y="1216533"/>
                  </a:lnTo>
                  <a:close/>
                </a:path>
              </a:pathLst>
            </a:custGeom>
            <a:blipFill>
              <a:blip r:embed="rId4">
                <a:alphaModFix amt="0"/>
              </a:blip>
              <a:stretch>
                <a:fillRect l="0" t="-102316" r="0" b="-102316"/>
              </a:stretch>
            </a:blipFill>
          </p:spPr>
        </p:sp>
        <p:sp>
          <p:nvSpPr>
            <p:cNvPr name="TextBox 34" id="34"/>
            <p:cNvSpPr txBox="true"/>
            <p:nvPr/>
          </p:nvSpPr>
          <p:spPr>
            <a:xfrm>
              <a:off x="0" y="-9525"/>
              <a:ext cx="9509760" cy="1226058"/>
            </a:xfrm>
            <a:prstGeom prst="rect">
              <a:avLst/>
            </a:prstGeom>
          </p:spPr>
          <p:txBody>
            <a:bodyPr anchor="ctr" rtlCol="false" tIns="0" lIns="0" bIns="0" rIns="0"/>
            <a:lstStyle/>
            <a:p>
              <a:pPr algn="l">
                <a:lnSpc>
                  <a:spcPts val="2340"/>
                </a:lnSpc>
              </a:pPr>
              <a:r>
                <a:rPr lang="en-US" sz="1950">
                  <a:solidFill>
                    <a:srgbClr val="45545A"/>
                  </a:solidFill>
                  <a:latin typeface="Noto Sans"/>
                  <a:ea typeface="Noto Sans"/>
                  <a:cs typeface="Noto Sans"/>
                  <a:sym typeface="Noto Sans"/>
                </a:rPr>
                <a:t>현재값 · 기준 범위를 코드가 직접 작성</a:t>
              </a:r>
            </a:p>
          </p:txBody>
        </p:sp>
      </p:grpSp>
      <p:grpSp>
        <p:nvGrpSpPr>
          <p:cNvPr name="Group 35" id="35"/>
          <p:cNvGrpSpPr/>
          <p:nvPr/>
        </p:nvGrpSpPr>
        <p:grpSpPr>
          <a:xfrm rot="0">
            <a:off x="13167360" y="2743200"/>
            <a:ext cx="4046220" cy="905256"/>
            <a:chOff x="0" y="0"/>
            <a:chExt cx="5394960" cy="1207008"/>
          </a:xfrm>
        </p:grpSpPr>
        <p:sp>
          <p:nvSpPr>
            <p:cNvPr name="Freeform 36" id="36"/>
            <p:cNvSpPr/>
            <p:nvPr/>
          </p:nvSpPr>
          <p:spPr>
            <a:xfrm flipH="false" flipV="false" rot="0">
              <a:off x="0" y="0"/>
              <a:ext cx="5394960" cy="1207008"/>
            </a:xfrm>
            <a:custGeom>
              <a:avLst/>
              <a:gdLst/>
              <a:ahLst/>
              <a:cxnLst/>
              <a:rect r="r" b="b" t="t" l="l"/>
              <a:pathLst>
                <a:path h="1207008" w="5394960">
                  <a:moveTo>
                    <a:pt x="0" y="0"/>
                  </a:moveTo>
                  <a:lnTo>
                    <a:pt x="5394960" y="0"/>
                  </a:lnTo>
                  <a:lnTo>
                    <a:pt x="5394960" y="1207008"/>
                  </a:lnTo>
                  <a:lnTo>
                    <a:pt x="0" y="1207008"/>
                  </a:lnTo>
                  <a:close/>
                </a:path>
              </a:pathLst>
            </a:custGeom>
            <a:blipFill>
              <a:blip r:embed="rId3">
                <a:alphaModFix amt="0"/>
              </a:blip>
              <a:stretch>
                <a:fillRect l="0" t="-37031" r="0" b="-37031"/>
              </a:stretch>
            </a:blipFill>
          </p:spPr>
        </p:sp>
      </p:grpSp>
      <p:grpSp>
        <p:nvGrpSpPr>
          <p:cNvPr name="Group 37" id="37"/>
          <p:cNvGrpSpPr/>
          <p:nvPr/>
        </p:nvGrpSpPr>
        <p:grpSpPr>
          <a:xfrm rot="0">
            <a:off x="13167360" y="2743200"/>
            <a:ext cx="4046220" cy="905256"/>
            <a:chOff x="0" y="0"/>
            <a:chExt cx="5394960" cy="1207008"/>
          </a:xfrm>
        </p:grpSpPr>
        <p:sp>
          <p:nvSpPr>
            <p:cNvPr name="Freeform 38" id="38"/>
            <p:cNvSpPr/>
            <p:nvPr/>
          </p:nvSpPr>
          <p:spPr>
            <a:xfrm flipH="false" flipV="false" rot="0">
              <a:off x="0" y="0"/>
              <a:ext cx="5394960" cy="1207008"/>
            </a:xfrm>
            <a:custGeom>
              <a:avLst/>
              <a:gdLst/>
              <a:ahLst/>
              <a:cxnLst/>
              <a:rect r="r" b="b" t="t" l="l"/>
              <a:pathLst>
                <a:path h="1207008" w="5394960">
                  <a:moveTo>
                    <a:pt x="0" y="0"/>
                  </a:moveTo>
                  <a:lnTo>
                    <a:pt x="5394960" y="0"/>
                  </a:lnTo>
                  <a:lnTo>
                    <a:pt x="5394960" y="1207008"/>
                  </a:lnTo>
                  <a:lnTo>
                    <a:pt x="0" y="1207008"/>
                  </a:lnTo>
                  <a:close/>
                </a:path>
              </a:pathLst>
            </a:custGeom>
            <a:blipFill>
              <a:blip r:embed="rId4">
                <a:alphaModFix amt="0"/>
              </a:blip>
              <a:stretch>
                <a:fillRect l="0" t="-37092" r="0" b="-37092"/>
              </a:stretch>
            </a:blipFill>
          </p:spPr>
        </p:sp>
        <p:sp>
          <p:nvSpPr>
            <p:cNvPr name="TextBox 39" id="39"/>
            <p:cNvSpPr txBox="true"/>
            <p:nvPr/>
          </p:nvSpPr>
          <p:spPr>
            <a:xfrm>
              <a:off x="0" y="0"/>
              <a:ext cx="5394960" cy="1207008"/>
            </a:xfrm>
            <a:prstGeom prst="rect">
              <a:avLst/>
            </a:prstGeom>
          </p:spPr>
          <p:txBody>
            <a:bodyPr anchor="ctr" rtlCol="false" tIns="0" lIns="0" bIns="0" rIns="0"/>
            <a:lstStyle/>
            <a:p>
              <a:pPr algn="r">
                <a:lnSpc>
                  <a:spcPts val="2520"/>
                </a:lnSpc>
              </a:pPr>
              <a:r>
                <a:rPr lang="en-US" sz="2100" b="true">
                  <a:solidFill>
                    <a:srgbClr val="1F6F63"/>
                  </a:solidFill>
                  <a:latin typeface="Noto Sans Bold"/>
                  <a:ea typeface="Noto Sans Bold"/>
                  <a:cs typeface="Noto Sans Bold"/>
                  <a:sym typeface="Noto Sans Bold"/>
                </a:rPr>
                <a:t>현재값 표시 42/42</a:t>
              </a:r>
            </a:p>
          </p:txBody>
        </p:sp>
      </p:grpSp>
      <p:sp>
        <p:nvSpPr>
          <p:cNvPr name="Freeform 40" id="40"/>
          <p:cNvSpPr/>
          <p:nvPr/>
        </p:nvSpPr>
        <p:spPr>
          <a:xfrm flipH="false" flipV="false" rot="0">
            <a:off x="806291" y="3796379"/>
            <a:ext cx="16674941" cy="938593"/>
          </a:xfrm>
          <a:custGeom>
            <a:avLst/>
            <a:gdLst/>
            <a:ahLst/>
            <a:cxnLst/>
            <a:rect r="r" b="b" t="t" l="l"/>
            <a:pathLst>
              <a:path h="938593" w="16674941">
                <a:moveTo>
                  <a:pt x="0" y="0"/>
                </a:moveTo>
                <a:lnTo>
                  <a:pt x="16674941" y="0"/>
                </a:lnTo>
                <a:lnTo>
                  <a:pt x="16674941" y="938594"/>
                </a:lnTo>
                <a:lnTo>
                  <a:pt x="0" y="93859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41" id="41"/>
          <p:cNvGrpSpPr/>
          <p:nvPr/>
        </p:nvGrpSpPr>
        <p:grpSpPr>
          <a:xfrm rot="0">
            <a:off x="1097280" y="3991356"/>
            <a:ext cx="548640" cy="548640"/>
            <a:chOff x="0" y="0"/>
            <a:chExt cx="731520" cy="731520"/>
          </a:xfrm>
        </p:grpSpPr>
        <p:sp>
          <p:nvSpPr>
            <p:cNvPr name="Freeform 42" id="42"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10"/>
              <a:stretch>
                <a:fillRect l="0" t="0" r="0" b="0"/>
              </a:stretch>
            </a:blipFill>
          </p:spPr>
        </p:sp>
      </p:grpSp>
      <p:grpSp>
        <p:nvGrpSpPr>
          <p:cNvPr name="Group 43" id="43"/>
          <p:cNvGrpSpPr/>
          <p:nvPr/>
        </p:nvGrpSpPr>
        <p:grpSpPr>
          <a:xfrm rot="0">
            <a:off x="1920240" y="3813048"/>
            <a:ext cx="3977640" cy="905256"/>
            <a:chOff x="0" y="0"/>
            <a:chExt cx="5303520" cy="1207008"/>
          </a:xfrm>
        </p:grpSpPr>
        <p:sp>
          <p:nvSpPr>
            <p:cNvPr name="Freeform 44" id="44"/>
            <p:cNvSpPr/>
            <p:nvPr/>
          </p:nvSpPr>
          <p:spPr>
            <a:xfrm flipH="false" flipV="false" rot="0">
              <a:off x="0" y="0"/>
              <a:ext cx="5303520" cy="1207008"/>
            </a:xfrm>
            <a:custGeom>
              <a:avLst/>
              <a:gdLst/>
              <a:ahLst/>
              <a:cxnLst/>
              <a:rect r="r" b="b" t="t" l="l"/>
              <a:pathLst>
                <a:path h="1207008" w="5303520">
                  <a:moveTo>
                    <a:pt x="0" y="0"/>
                  </a:moveTo>
                  <a:lnTo>
                    <a:pt x="5303520" y="0"/>
                  </a:lnTo>
                  <a:lnTo>
                    <a:pt x="5303520" y="1207008"/>
                  </a:lnTo>
                  <a:lnTo>
                    <a:pt x="0" y="1207008"/>
                  </a:lnTo>
                  <a:close/>
                </a:path>
              </a:pathLst>
            </a:custGeom>
            <a:blipFill>
              <a:blip r:embed="rId3">
                <a:alphaModFix amt="0"/>
              </a:blip>
              <a:stretch>
                <a:fillRect l="0" t="-35556" r="0" b="-35556"/>
              </a:stretch>
            </a:blipFill>
          </p:spPr>
        </p:sp>
      </p:grpSp>
      <p:grpSp>
        <p:nvGrpSpPr>
          <p:cNvPr name="Group 45" id="45"/>
          <p:cNvGrpSpPr/>
          <p:nvPr/>
        </p:nvGrpSpPr>
        <p:grpSpPr>
          <a:xfrm rot="0">
            <a:off x="1920240" y="3813048"/>
            <a:ext cx="3977640" cy="905256"/>
            <a:chOff x="0" y="0"/>
            <a:chExt cx="5303520" cy="1207008"/>
          </a:xfrm>
        </p:grpSpPr>
        <p:sp>
          <p:nvSpPr>
            <p:cNvPr name="Freeform 46" id="46"/>
            <p:cNvSpPr/>
            <p:nvPr/>
          </p:nvSpPr>
          <p:spPr>
            <a:xfrm flipH="false" flipV="false" rot="0">
              <a:off x="0" y="0"/>
              <a:ext cx="5303520" cy="1207008"/>
            </a:xfrm>
            <a:custGeom>
              <a:avLst/>
              <a:gdLst/>
              <a:ahLst/>
              <a:cxnLst/>
              <a:rect r="r" b="b" t="t" l="l"/>
              <a:pathLst>
                <a:path h="1207008" w="5303520">
                  <a:moveTo>
                    <a:pt x="0" y="0"/>
                  </a:moveTo>
                  <a:lnTo>
                    <a:pt x="5303520" y="0"/>
                  </a:lnTo>
                  <a:lnTo>
                    <a:pt x="5303520" y="1207008"/>
                  </a:lnTo>
                  <a:lnTo>
                    <a:pt x="0" y="1207008"/>
                  </a:lnTo>
                  <a:close/>
                </a:path>
              </a:pathLst>
            </a:custGeom>
            <a:blipFill>
              <a:blip r:embed="rId4">
                <a:alphaModFix amt="0"/>
              </a:blip>
              <a:stretch>
                <a:fillRect l="0" t="-35616" r="0" b="-35616"/>
              </a:stretch>
            </a:blipFill>
          </p:spPr>
        </p:sp>
        <p:sp>
          <p:nvSpPr>
            <p:cNvPr name="TextBox 47" id="47"/>
            <p:cNvSpPr txBox="true"/>
            <p:nvPr/>
          </p:nvSpPr>
          <p:spPr>
            <a:xfrm>
              <a:off x="0" y="0"/>
              <a:ext cx="5303520" cy="1207008"/>
            </a:xfrm>
            <a:prstGeom prst="rect">
              <a:avLst/>
            </a:prstGeom>
          </p:spPr>
          <p:txBody>
            <a:bodyPr anchor="ctr" rtlCol="false" tIns="0" lIns="0" bIns="0" rIns="0"/>
            <a:lstStyle/>
            <a:p>
              <a:pPr algn="l">
                <a:lnSpc>
                  <a:spcPts val="2700"/>
                </a:lnSpc>
              </a:pPr>
              <a:r>
                <a:rPr lang="en-US" sz="2250" b="true">
                  <a:solidFill>
                    <a:srgbClr val="1B2B2E"/>
                  </a:solidFill>
                  <a:latin typeface="Noto Sans Bold"/>
                  <a:ea typeface="Noto Sans Bold"/>
                  <a:cs typeface="Noto Sans Bold"/>
                  <a:sym typeface="Noto Sans Bold"/>
                </a:rPr>
                <a:t>대상 설비 구분</a:t>
              </a:r>
            </a:p>
          </p:txBody>
        </p:sp>
      </p:grpSp>
      <p:grpSp>
        <p:nvGrpSpPr>
          <p:cNvPr name="Group 48" id="48"/>
          <p:cNvGrpSpPr/>
          <p:nvPr/>
        </p:nvGrpSpPr>
        <p:grpSpPr>
          <a:xfrm rot="0">
            <a:off x="6035040" y="3813048"/>
            <a:ext cx="7132320" cy="905256"/>
            <a:chOff x="0" y="0"/>
            <a:chExt cx="9509760" cy="1207008"/>
          </a:xfrm>
        </p:grpSpPr>
        <p:sp>
          <p:nvSpPr>
            <p:cNvPr name="Freeform 49" id="49"/>
            <p:cNvSpPr/>
            <p:nvPr/>
          </p:nvSpPr>
          <p:spPr>
            <a:xfrm flipH="false" flipV="false" rot="0">
              <a:off x="0" y="0"/>
              <a:ext cx="9509760" cy="1207008"/>
            </a:xfrm>
            <a:custGeom>
              <a:avLst/>
              <a:gdLst/>
              <a:ahLst/>
              <a:cxnLst/>
              <a:rect r="r" b="b" t="t" l="l"/>
              <a:pathLst>
                <a:path h="1207008" w="9509760">
                  <a:moveTo>
                    <a:pt x="0" y="0"/>
                  </a:moveTo>
                  <a:lnTo>
                    <a:pt x="9509760" y="0"/>
                  </a:lnTo>
                  <a:lnTo>
                    <a:pt x="9509760" y="1207008"/>
                  </a:lnTo>
                  <a:lnTo>
                    <a:pt x="0" y="1207008"/>
                  </a:lnTo>
                  <a:close/>
                </a:path>
              </a:pathLst>
            </a:custGeom>
            <a:blipFill>
              <a:blip r:embed="rId3">
                <a:alphaModFix amt="0"/>
              </a:blip>
              <a:stretch>
                <a:fillRect l="0" t="-103412" r="0" b="-103411"/>
              </a:stretch>
            </a:blipFill>
          </p:spPr>
        </p:sp>
      </p:grpSp>
      <p:grpSp>
        <p:nvGrpSpPr>
          <p:cNvPr name="Group 50" id="50"/>
          <p:cNvGrpSpPr/>
          <p:nvPr/>
        </p:nvGrpSpPr>
        <p:grpSpPr>
          <a:xfrm rot="0">
            <a:off x="6035040" y="3805904"/>
            <a:ext cx="7132320" cy="912400"/>
            <a:chOff x="0" y="0"/>
            <a:chExt cx="9509760" cy="1216533"/>
          </a:xfrm>
        </p:grpSpPr>
        <p:sp>
          <p:nvSpPr>
            <p:cNvPr name="Freeform 51" id="51"/>
            <p:cNvSpPr/>
            <p:nvPr/>
          </p:nvSpPr>
          <p:spPr>
            <a:xfrm flipH="false" flipV="false" rot="0">
              <a:off x="0" y="0"/>
              <a:ext cx="9509760" cy="1216533"/>
            </a:xfrm>
            <a:custGeom>
              <a:avLst/>
              <a:gdLst/>
              <a:ahLst/>
              <a:cxnLst/>
              <a:rect r="r" b="b" t="t" l="l"/>
              <a:pathLst>
                <a:path h="1216533" w="9509760">
                  <a:moveTo>
                    <a:pt x="0" y="0"/>
                  </a:moveTo>
                  <a:lnTo>
                    <a:pt x="9509760" y="0"/>
                  </a:lnTo>
                  <a:lnTo>
                    <a:pt x="9509760" y="1216533"/>
                  </a:lnTo>
                  <a:lnTo>
                    <a:pt x="0" y="1216533"/>
                  </a:lnTo>
                  <a:close/>
                </a:path>
              </a:pathLst>
            </a:custGeom>
            <a:blipFill>
              <a:blip r:embed="rId4">
                <a:alphaModFix amt="0"/>
              </a:blip>
              <a:stretch>
                <a:fillRect l="0" t="-102316" r="0" b="-102316"/>
              </a:stretch>
            </a:blipFill>
          </p:spPr>
        </p:sp>
        <p:sp>
          <p:nvSpPr>
            <p:cNvPr name="TextBox 52" id="52"/>
            <p:cNvSpPr txBox="true"/>
            <p:nvPr/>
          </p:nvSpPr>
          <p:spPr>
            <a:xfrm>
              <a:off x="0" y="-9525"/>
              <a:ext cx="9509760" cy="1226058"/>
            </a:xfrm>
            <a:prstGeom prst="rect">
              <a:avLst/>
            </a:prstGeom>
          </p:spPr>
          <p:txBody>
            <a:bodyPr anchor="ctr" rtlCol="false" tIns="0" lIns="0" bIns="0" rIns="0"/>
            <a:lstStyle/>
            <a:p>
              <a:pPr algn="l">
                <a:lnSpc>
                  <a:spcPts val="2340"/>
                </a:lnSpc>
              </a:pPr>
              <a:r>
                <a:rPr lang="en-US" sz="1950">
                  <a:solidFill>
                    <a:srgbClr val="45545A"/>
                  </a:solidFill>
                  <a:latin typeface="Noto Sans"/>
                  <a:ea typeface="Noto Sans"/>
                  <a:cs typeface="Noto Sans"/>
                  <a:sym typeface="Noto Sans"/>
                </a:rPr>
                <a:t>다른 설비 기록이 섞인 문장 제거</a:t>
              </a:r>
            </a:p>
          </p:txBody>
        </p:sp>
      </p:grpSp>
      <p:grpSp>
        <p:nvGrpSpPr>
          <p:cNvPr name="Group 53" id="53"/>
          <p:cNvGrpSpPr/>
          <p:nvPr/>
        </p:nvGrpSpPr>
        <p:grpSpPr>
          <a:xfrm rot="0">
            <a:off x="13167360" y="3813048"/>
            <a:ext cx="4046220" cy="905256"/>
            <a:chOff x="0" y="0"/>
            <a:chExt cx="5394960" cy="1207008"/>
          </a:xfrm>
        </p:grpSpPr>
        <p:sp>
          <p:nvSpPr>
            <p:cNvPr name="Freeform 54" id="54"/>
            <p:cNvSpPr/>
            <p:nvPr/>
          </p:nvSpPr>
          <p:spPr>
            <a:xfrm flipH="false" flipV="false" rot="0">
              <a:off x="0" y="0"/>
              <a:ext cx="5394960" cy="1207008"/>
            </a:xfrm>
            <a:custGeom>
              <a:avLst/>
              <a:gdLst/>
              <a:ahLst/>
              <a:cxnLst/>
              <a:rect r="r" b="b" t="t" l="l"/>
              <a:pathLst>
                <a:path h="1207008" w="5394960">
                  <a:moveTo>
                    <a:pt x="0" y="0"/>
                  </a:moveTo>
                  <a:lnTo>
                    <a:pt x="5394960" y="0"/>
                  </a:lnTo>
                  <a:lnTo>
                    <a:pt x="5394960" y="1207008"/>
                  </a:lnTo>
                  <a:lnTo>
                    <a:pt x="0" y="1207008"/>
                  </a:lnTo>
                  <a:close/>
                </a:path>
              </a:pathLst>
            </a:custGeom>
            <a:blipFill>
              <a:blip r:embed="rId3">
                <a:alphaModFix amt="0"/>
              </a:blip>
              <a:stretch>
                <a:fillRect l="0" t="-37031" r="0" b="-37031"/>
              </a:stretch>
            </a:blipFill>
          </p:spPr>
        </p:sp>
      </p:grpSp>
      <p:grpSp>
        <p:nvGrpSpPr>
          <p:cNvPr name="Group 55" id="55"/>
          <p:cNvGrpSpPr/>
          <p:nvPr/>
        </p:nvGrpSpPr>
        <p:grpSpPr>
          <a:xfrm rot="0">
            <a:off x="13167360" y="3813048"/>
            <a:ext cx="4046220" cy="905256"/>
            <a:chOff x="0" y="0"/>
            <a:chExt cx="5394960" cy="1207008"/>
          </a:xfrm>
        </p:grpSpPr>
        <p:sp>
          <p:nvSpPr>
            <p:cNvPr name="Freeform 56" id="56"/>
            <p:cNvSpPr/>
            <p:nvPr/>
          </p:nvSpPr>
          <p:spPr>
            <a:xfrm flipH="false" flipV="false" rot="0">
              <a:off x="0" y="0"/>
              <a:ext cx="5394960" cy="1207008"/>
            </a:xfrm>
            <a:custGeom>
              <a:avLst/>
              <a:gdLst/>
              <a:ahLst/>
              <a:cxnLst/>
              <a:rect r="r" b="b" t="t" l="l"/>
              <a:pathLst>
                <a:path h="1207008" w="5394960">
                  <a:moveTo>
                    <a:pt x="0" y="0"/>
                  </a:moveTo>
                  <a:lnTo>
                    <a:pt x="5394960" y="0"/>
                  </a:lnTo>
                  <a:lnTo>
                    <a:pt x="5394960" y="1207008"/>
                  </a:lnTo>
                  <a:lnTo>
                    <a:pt x="0" y="1207008"/>
                  </a:lnTo>
                  <a:close/>
                </a:path>
              </a:pathLst>
            </a:custGeom>
            <a:blipFill>
              <a:blip r:embed="rId4">
                <a:alphaModFix amt="0"/>
              </a:blip>
              <a:stretch>
                <a:fillRect l="0" t="-37092" r="0" b="-37092"/>
              </a:stretch>
            </a:blipFill>
          </p:spPr>
        </p:sp>
        <p:sp>
          <p:nvSpPr>
            <p:cNvPr name="TextBox 57" id="57"/>
            <p:cNvSpPr txBox="true"/>
            <p:nvPr/>
          </p:nvSpPr>
          <p:spPr>
            <a:xfrm>
              <a:off x="0" y="0"/>
              <a:ext cx="5394960" cy="1207008"/>
            </a:xfrm>
            <a:prstGeom prst="rect">
              <a:avLst/>
            </a:prstGeom>
          </p:spPr>
          <p:txBody>
            <a:bodyPr anchor="ctr" rtlCol="false" tIns="0" lIns="0" bIns="0" rIns="0"/>
            <a:lstStyle/>
            <a:p>
              <a:pPr algn="r">
                <a:lnSpc>
                  <a:spcPts val="2520"/>
                </a:lnSpc>
              </a:pPr>
              <a:r>
                <a:rPr lang="en-US" sz="2100" b="true">
                  <a:solidFill>
                    <a:srgbClr val="1F6F63"/>
                  </a:solidFill>
                  <a:latin typeface="Noto Sans Bold"/>
                  <a:ea typeface="Noto Sans Bold"/>
                  <a:cs typeface="Noto Sans Bold"/>
                  <a:sym typeface="Noto Sans Bold"/>
                </a:rPr>
                <a:t>다른 설비 언급 18 → 0</a:t>
              </a:r>
            </a:p>
          </p:txBody>
        </p:sp>
      </p:grpSp>
      <p:sp>
        <p:nvSpPr>
          <p:cNvPr name="Freeform 58" id="58"/>
          <p:cNvSpPr/>
          <p:nvPr/>
        </p:nvSpPr>
        <p:spPr>
          <a:xfrm flipH="false" flipV="false" rot="0">
            <a:off x="806291" y="4866227"/>
            <a:ext cx="16674941" cy="938593"/>
          </a:xfrm>
          <a:custGeom>
            <a:avLst/>
            <a:gdLst/>
            <a:ahLst/>
            <a:cxnLst/>
            <a:rect r="r" b="b" t="t" l="l"/>
            <a:pathLst>
              <a:path h="938593" w="16674941">
                <a:moveTo>
                  <a:pt x="0" y="0"/>
                </a:moveTo>
                <a:lnTo>
                  <a:pt x="16674941" y="0"/>
                </a:lnTo>
                <a:lnTo>
                  <a:pt x="16674941" y="938594"/>
                </a:lnTo>
                <a:lnTo>
                  <a:pt x="0" y="9385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59" id="59"/>
          <p:cNvGrpSpPr/>
          <p:nvPr/>
        </p:nvGrpSpPr>
        <p:grpSpPr>
          <a:xfrm rot="0">
            <a:off x="1097280" y="5061204"/>
            <a:ext cx="548640" cy="548640"/>
            <a:chOff x="0" y="0"/>
            <a:chExt cx="731520" cy="731520"/>
          </a:xfrm>
        </p:grpSpPr>
        <p:sp>
          <p:nvSpPr>
            <p:cNvPr name="Freeform 60" id="60"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11"/>
              <a:stretch>
                <a:fillRect l="0" t="0" r="0" b="0"/>
              </a:stretch>
            </a:blipFill>
          </p:spPr>
        </p:sp>
      </p:grpSp>
      <p:grpSp>
        <p:nvGrpSpPr>
          <p:cNvPr name="Group 61" id="61"/>
          <p:cNvGrpSpPr/>
          <p:nvPr/>
        </p:nvGrpSpPr>
        <p:grpSpPr>
          <a:xfrm rot="0">
            <a:off x="1920240" y="4882896"/>
            <a:ext cx="3977640" cy="905256"/>
            <a:chOff x="0" y="0"/>
            <a:chExt cx="5303520" cy="1207008"/>
          </a:xfrm>
        </p:grpSpPr>
        <p:sp>
          <p:nvSpPr>
            <p:cNvPr name="Freeform 62" id="62"/>
            <p:cNvSpPr/>
            <p:nvPr/>
          </p:nvSpPr>
          <p:spPr>
            <a:xfrm flipH="false" flipV="false" rot="0">
              <a:off x="0" y="0"/>
              <a:ext cx="5303520" cy="1207008"/>
            </a:xfrm>
            <a:custGeom>
              <a:avLst/>
              <a:gdLst/>
              <a:ahLst/>
              <a:cxnLst/>
              <a:rect r="r" b="b" t="t" l="l"/>
              <a:pathLst>
                <a:path h="1207008" w="5303520">
                  <a:moveTo>
                    <a:pt x="0" y="0"/>
                  </a:moveTo>
                  <a:lnTo>
                    <a:pt x="5303520" y="0"/>
                  </a:lnTo>
                  <a:lnTo>
                    <a:pt x="5303520" y="1207008"/>
                  </a:lnTo>
                  <a:lnTo>
                    <a:pt x="0" y="1207008"/>
                  </a:lnTo>
                  <a:close/>
                </a:path>
              </a:pathLst>
            </a:custGeom>
            <a:blipFill>
              <a:blip r:embed="rId3">
                <a:alphaModFix amt="0"/>
              </a:blip>
              <a:stretch>
                <a:fillRect l="0" t="-35556" r="0" b="-35556"/>
              </a:stretch>
            </a:blipFill>
          </p:spPr>
        </p:sp>
      </p:grpSp>
      <p:grpSp>
        <p:nvGrpSpPr>
          <p:cNvPr name="Group 63" id="63"/>
          <p:cNvGrpSpPr/>
          <p:nvPr/>
        </p:nvGrpSpPr>
        <p:grpSpPr>
          <a:xfrm rot="0">
            <a:off x="1920240" y="4882896"/>
            <a:ext cx="3977640" cy="905256"/>
            <a:chOff x="0" y="0"/>
            <a:chExt cx="5303520" cy="1207008"/>
          </a:xfrm>
        </p:grpSpPr>
        <p:sp>
          <p:nvSpPr>
            <p:cNvPr name="Freeform 64" id="64"/>
            <p:cNvSpPr/>
            <p:nvPr/>
          </p:nvSpPr>
          <p:spPr>
            <a:xfrm flipH="false" flipV="false" rot="0">
              <a:off x="0" y="0"/>
              <a:ext cx="5303520" cy="1207008"/>
            </a:xfrm>
            <a:custGeom>
              <a:avLst/>
              <a:gdLst/>
              <a:ahLst/>
              <a:cxnLst/>
              <a:rect r="r" b="b" t="t" l="l"/>
              <a:pathLst>
                <a:path h="1207008" w="5303520">
                  <a:moveTo>
                    <a:pt x="0" y="0"/>
                  </a:moveTo>
                  <a:lnTo>
                    <a:pt x="5303520" y="0"/>
                  </a:lnTo>
                  <a:lnTo>
                    <a:pt x="5303520" y="1207008"/>
                  </a:lnTo>
                  <a:lnTo>
                    <a:pt x="0" y="1207008"/>
                  </a:lnTo>
                  <a:close/>
                </a:path>
              </a:pathLst>
            </a:custGeom>
            <a:blipFill>
              <a:blip r:embed="rId4">
                <a:alphaModFix amt="0"/>
              </a:blip>
              <a:stretch>
                <a:fillRect l="0" t="-35616" r="0" b="-35616"/>
              </a:stretch>
            </a:blipFill>
          </p:spPr>
        </p:sp>
        <p:sp>
          <p:nvSpPr>
            <p:cNvPr name="TextBox 65" id="65"/>
            <p:cNvSpPr txBox="true"/>
            <p:nvPr/>
          </p:nvSpPr>
          <p:spPr>
            <a:xfrm>
              <a:off x="0" y="0"/>
              <a:ext cx="5303520" cy="1207008"/>
            </a:xfrm>
            <a:prstGeom prst="rect">
              <a:avLst/>
            </a:prstGeom>
          </p:spPr>
          <p:txBody>
            <a:bodyPr anchor="ctr" rtlCol="false" tIns="0" lIns="0" bIns="0" rIns="0"/>
            <a:lstStyle/>
            <a:p>
              <a:pPr algn="l">
                <a:lnSpc>
                  <a:spcPts val="2700"/>
                </a:lnSpc>
              </a:pPr>
              <a:r>
                <a:rPr lang="en-US" sz="2250" b="true">
                  <a:solidFill>
                    <a:srgbClr val="1B2B2E"/>
                  </a:solidFill>
                  <a:latin typeface="Noto Sans Bold"/>
                  <a:ea typeface="Noto Sans Bold"/>
                  <a:cs typeface="Noto Sans Bold"/>
                  <a:sym typeface="Noto Sans Bold"/>
                </a:rPr>
                <a:t>관측값 없음 표기</a:t>
              </a:r>
            </a:p>
          </p:txBody>
        </p:sp>
      </p:grpSp>
      <p:grpSp>
        <p:nvGrpSpPr>
          <p:cNvPr name="Group 66" id="66"/>
          <p:cNvGrpSpPr/>
          <p:nvPr/>
        </p:nvGrpSpPr>
        <p:grpSpPr>
          <a:xfrm rot="0">
            <a:off x="6035040" y="4882896"/>
            <a:ext cx="7132320" cy="905256"/>
            <a:chOff x="0" y="0"/>
            <a:chExt cx="9509760" cy="1207008"/>
          </a:xfrm>
        </p:grpSpPr>
        <p:sp>
          <p:nvSpPr>
            <p:cNvPr name="Freeform 67" id="67"/>
            <p:cNvSpPr/>
            <p:nvPr/>
          </p:nvSpPr>
          <p:spPr>
            <a:xfrm flipH="false" flipV="false" rot="0">
              <a:off x="0" y="0"/>
              <a:ext cx="9509760" cy="1207008"/>
            </a:xfrm>
            <a:custGeom>
              <a:avLst/>
              <a:gdLst/>
              <a:ahLst/>
              <a:cxnLst/>
              <a:rect r="r" b="b" t="t" l="l"/>
              <a:pathLst>
                <a:path h="1207008" w="9509760">
                  <a:moveTo>
                    <a:pt x="0" y="0"/>
                  </a:moveTo>
                  <a:lnTo>
                    <a:pt x="9509760" y="0"/>
                  </a:lnTo>
                  <a:lnTo>
                    <a:pt x="9509760" y="1207008"/>
                  </a:lnTo>
                  <a:lnTo>
                    <a:pt x="0" y="1207008"/>
                  </a:lnTo>
                  <a:close/>
                </a:path>
              </a:pathLst>
            </a:custGeom>
            <a:blipFill>
              <a:blip r:embed="rId3">
                <a:alphaModFix amt="0"/>
              </a:blip>
              <a:stretch>
                <a:fillRect l="0" t="-103412" r="0" b="-103411"/>
              </a:stretch>
            </a:blipFill>
          </p:spPr>
        </p:sp>
      </p:grpSp>
      <p:grpSp>
        <p:nvGrpSpPr>
          <p:cNvPr name="Group 68" id="68"/>
          <p:cNvGrpSpPr/>
          <p:nvPr/>
        </p:nvGrpSpPr>
        <p:grpSpPr>
          <a:xfrm rot="0">
            <a:off x="6035040" y="4875752"/>
            <a:ext cx="7132320" cy="912400"/>
            <a:chOff x="0" y="0"/>
            <a:chExt cx="9509760" cy="1216533"/>
          </a:xfrm>
        </p:grpSpPr>
        <p:sp>
          <p:nvSpPr>
            <p:cNvPr name="Freeform 69" id="69"/>
            <p:cNvSpPr/>
            <p:nvPr/>
          </p:nvSpPr>
          <p:spPr>
            <a:xfrm flipH="false" flipV="false" rot="0">
              <a:off x="0" y="0"/>
              <a:ext cx="9509760" cy="1216533"/>
            </a:xfrm>
            <a:custGeom>
              <a:avLst/>
              <a:gdLst/>
              <a:ahLst/>
              <a:cxnLst/>
              <a:rect r="r" b="b" t="t" l="l"/>
              <a:pathLst>
                <a:path h="1216533" w="9509760">
                  <a:moveTo>
                    <a:pt x="0" y="0"/>
                  </a:moveTo>
                  <a:lnTo>
                    <a:pt x="9509760" y="0"/>
                  </a:lnTo>
                  <a:lnTo>
                    <a:pt x="9509760" y="1216533"/>
                  </a:lnTo>
                  <a:lnTo>
                    <a:pt x="0" y="1216533"/>
                  </a:lnTo>
                  <a:close/>
                </a:path>
              </a:pathLst>
            </a:custGeom>
            <a:blipFill>
              <a:blip r:embed="rId4">
                <a:alphaModFix amt="0"/>
              </a:blip>
              <a:stretch>
                <a:fillRect l="0" t="-102316" r="0" b="-102316"/>
              </a:stretch>
            </a:blipFill>
          </p:spPr>
        </p:sp>
        <p:sp>
          <p:nvSpPr>
            <p:cNvPr name="TextBox 70" id="70"/>
            <p:cNvSpPr txBox="true"/>
            <p:nvPr/>
          </p:nvSpPr>
          <p:spPr>
            <a:xfrm>
              <a:off x="0" y="-9525"/>
              <a:ext cx="9509760" cy="1226058"/>
            </a:xfrm>
            <a:prstGeom prst="rect">
              <a:avLst/>
            </a:prstGeom>
          </p:spPr>
          <p:txBody>
            <a:bodyPr anchor="ctr" rtlCol="false" tIns="0" lIns="0" bIns="0" rIns="0"/>
            <a:lstStyle/>
            <a:p>
              <a:pPr algn="l">
                <a:lnSpc>
                  <a:spcPts val="2340"/>
                </a:lnSpc>
              </a:pPr>
              <a:r>
                <a:rPr lang="en-US" sz="1950">
                  <a:solidFill>
                    <a:srgbClr val="45545A"/>
                  </a:solidFill>
                  <a:latin typeface="Noto Sans"/>
                  <a:ea typeface="Noto Sans"/>
                  <a:cs typeface="Noto Sans"/>
                  <a:sym typeface="Noto Sans"/>
                </a:rPr>
                <a:t>값이 없으면 ‘정상’ 대신 ‘관측값 없음’</a:t>
              </a:r>
            </a:p>
          </p:txBody>
        </p:sp>
      </p:grpSp>
      <p:grpSp>
        <p:nvGrpSpPr>
          <p:cNvPr name="Group 71" id="71"/>
          <p:cNvGrpSpPr/>
          <p:nvPr/>
        </p:nvGrpSpPr>
        <p:grpSpPr>
          <a:xfrm rot="0">
            <a:off x="13167360" y="4882896"/>
            <a:ext cx="4046220" cy="905256"/>
            <a:chOff x="0" y="0"/>
            <a:chExt cx="5394960" cy="1207008"/>
          </a:xfrm>
        </p:grpSpPr>
        <p:sp>
          <p:nvSpPr>
            <p:cNvPr name="Freeform 72" id="72"/>
            <p:cNvSpPr/>
            <p:nvPr/>
          </p:nvSpPr>
          <p:spPr>
            <a:xfrm flipH="false" flipV="false" rot="0">
              <a:off x="0" y="0"/>
              <a:ext cx="5394960" cy="1207008"/>
            </a:xfrm>
            <a:custGeom>
              <a:avLst/>
              <a:gdLst/>
              <a:ahLst/>
              <a:cxnLst/>
              <a:rect r="r" b="b" t="t" l="l"/>
              <a:pathLst>
                <a:path h="1207008" w="5394960">
                  <a:moveTo>
                    <a:pt x="0" y="0"/>
                  </a:moveTo>
                  <a:lnTo>
                    <a:pt x="5394960" y="0"/>
                  </a:lnTo>
                  <a:lnTo>
                    <a:pt x="5394960" y="1207008"/>
                  </a:lnTo>
                  <a:lnTo>
                    <a:pt x="0" y="1207008"/>
                  </a:lnTo>
                  <a:close/>
                </a:path>
              </a:pathLst>
            </a:custGeom>
            <a:blipFill>
              <a:blip r:embed="rId3">
                <a:alphaModFix amt="0"/>
              </a:blip>
              <a:stretch>
                <a:fillRect l="0" t="-37031" r="0" b="-37031"/>
              </a:stretch>
            </a:blipFill>
          </p:spPr>
        </p:sp>
      </p:grpSp>
      <p:grpSp>
        <p:nvGrpSpPr>
          <p:cNvPr name="Group 73" id="73"/>
          <p:cNvGrpSpPr/>
          <p:nvPr/>
        </p:nvGrpSpPr>
        <p:grpSpPr>
          <a:xfrm rot="0">
            <a:off x="13167360" y="4882896"/>
            <a:ext cx="4046220" cy="905256"/>
            <a:chOff x="0" y="0"/>
            <a:chExt cx="5394960" cy="1207008"/>
          </a:xfrm>
        </p:grpSpPr>
        <p:sp>
          <p:nvSpPr>
            <p:cNvPr name="Freeform 74" id="74"/>
            <p:cNvSpPr/>
            <p:nvPr/>
          </p:nvSpPr>
          <p:spPr>
            <a:xfrm flipH="false" flipV="false" rot="0">
              <a:off x="0" y="0"/>
              <a:ext cx="5394960" cy="1207008"/>
            </a:xfrm>
            <a:custGeom>
              <a:avLst/>
              <a:gdLst/>
              <a:ahLst/>
              <a:cxnLst/>
              <a:rect r="r" b="b" t="t" l="l"/>
              <a:pathLst>
                <a:path h="1207008" w="5394960">
                  <a:moveTo>
                    <a:pt x="0" y="0"/>
                  </a:moveTo>
                  <a:lnTo>
                    <a:pt x="5394960" y="0"/>
                  </a:lnTo>
                  <a:lnTo>
                    <a:pt x="5394960" y="1207008"/>
                  </a:lnTo>
                  <a:lnTo>
                    <a:pt x="0" y="1207008"/>
                  </a:lnTo>
                  <a:close/>
                </a:path>
              </a:pathLst>
            </a:custGeom>
            <a:blipFill>
              <a:blip r:embed="rId4">
                <a:alphaModFix amt="0"/>
              </a:blip>
              <a:stretch>
                <a:fillRect l="0" t="-37092" r="0" b="-37092"/>
              </a:stretch>
            </a:blipFill>
          </p:spPr>
        </p:sp>
        <p:sp>
          <p:nvSpPr>
            <p:cNvPr name="TextBox 75" id="75"/>
            <p:cNvSpPr txBox="true"/>
            <p:nvPr/>
          </p:nvSpPr>
          <p:spPr>
            <a:xfrm>
              <a:off x="0" y="0"/>
              <a:ext cx="5394960" cy="1207008"/>
            </a:xfrm>
            <a:prstGeom prst="rect">
              <a:avLst/>
            </a:prstGeom>
          </p:spPr>
          <p:txBody>
            <a:bodyPr anchor="ctr" rtlCol="false" tIns="0" lIns="0" bIns="0" rIns="0"/>
            <a:lstStyle/>
            <a:p>
              <a:pPr algn="r">
                <a:lnSpc>
                  <a:spcPts val="2520"/>
                </a:lnSpc>
              </a:pPr>
              <a:r>
                <a:rPr lang="en-US" sz="2100" b="true">
                  <a:solidFill>
                    <a:srgbClr val="1F6F63"/>
                  </a:solidFill>
                  <a:latin typeface="Noto Sans Bold"/>
                  <a:ea typeface="Noto Sans Bold"/>
                  <a:cs typeface="Noto Sans Bold"/>
                  <a:sym typeface="Noto Sans Bold"/>
                </a:rPr>
                <a:t>없는 값의 ‘정상’ 표기 4 → 0</a:t>
              </a:r>
            </a:p>
          </p:txBody>
        </p:sp>
      </p:grpSp>
      <p:sp>
        <p:nvSpPr>
          <p:cNvPr name="Freeform 76" id="76"/>
          <p:cNvSpPr/>
          <p:nvPr/>
        </p:nvSpPr>
        <p:spPr>
          <a:xfrm flipH="false" flipV="false" rot="0">
            <a:off x="806291" y="5936075"/>
            <a:ext cx="16674941" cy="938593"/>
          </a:xfrm>
          <a:custGeom>
            <a:avLst/>
            <a:gdLst/>
            <a:ahLst/>
            <a:cxnLst/>
            <a:rect r="r" b="b" t="t" l="l"/>
            <a:pathLst>
              <a:path h="938593" w="16674941">
                <a:moveTo>
                  <a:pt x="0" y="0"/>
                </a:moveTo>
                <a:lnTo>
                  <a:pt x="16674941" y="0"/>
                </a:lnTo>
                <a:lnTo>
                  <a:pt x="16674941" y="938594"/>
                </a:lnTo>
                <a:lnTo>
                  <a:pt x="0" y="93859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7" id="77"/>
          <p:cNvGrpSpPr/>
          <p:nvPr/>
        </p:nvGrpSpPr>
        <p:grpSpPr>
          <a:xfrm rot="0">
            <a:off x="1097280" y="6131052"/>
            <a:ext cx="548640" cy="548640"/>
            <a:chOff x="0" y="0"/>
            <a:chExt cx="731520" cy="731520"/>
          </a:xfrm>
        </p:grpSpPr>
        <p:sp>
          <p:nvSpPr>
            <p:cNvPr name="Freeform 78" id="78"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12"/>
              <a:stretch>
                <a:fillRect l="0" t="0" r="0" b="0"/>
              </a:stretch>
            </a:blipFill>
          </p:spPr>
        </p:sp>
      </p:grpSp>
      <p:grpSp>
        <p:nvGrpSpPr>
          <p:cNvPr name="Group 79" id="79"/>
          <p:cNvGrpSpPr/>
          <p:nvPr/>
        </p:nvGrpSpPr>
        <p:grpSpPr>
          <a:xfrm rot="0">
            <a:off x="1920240" y="5952744"/>
            <a:ext cx="3977640" cy="905256"/>
            <a:chOff x="0" y="0"/>
            <a:chExt cx="5303520" cy="1207008"/>
          </a:xfrm>
        </p:grpSpPr>
        <p:sp>
          <p:nvSpPr>
            <p:cNvPr name="Freeform 80" id="80"/>
            <p:cNvSpPr/>
            <p:nvPr/>
          </p:nvSpPr>
          <p:spPr>
            <a:xfrm flipH="false" flipV="false" rot="0">
              <a:off x="0" y="0"/>
              <a:ext cx="5303520" cy="1207008"/>
            </a:xfrm>
            <a:custGeom>
              <a:avLst/>
              <a:gdLst/>
              <a:ahLst/>
              <a:cxnLst/>
              <a:rect r="r" b="b" t="t" l="l"/>
              <a:pathLst>
                <a:path h="1207008" w="5303520">
                  <a:moveTo>
                    <a:pt x="0" y="0"/>
                  </a:moveTo>
                  <a:lnTo>
                    <a:pt x="5303520" y="0"/>
                  </a:lnTo>
                  <a:lnTo>
                    <a:pt x="5303520" y="1207008"/>
                  </a:lnTo>
                  <a:lnTo>
                    <a:pt x="0" y="1207008"/>
                  </a:lnTo>
                  <a:close/>
                </a:path>
              </a:pathLst>
            </a:custGeom>
            <a:blipFill>
              <a:blip r:embed="rId3">
                <a:alphaModFix amt="0"/>
              </a:blip>
              <a:stretch>
                <a:fillRect l="0" t="-35556" r="0" b="-35556"/>
              </a:stretch>
            </a:blipFill>
          </p:spPr>
        </p:sp>
      </p:grpSp>
      <p:grpSp>
        <p:nvGrpSpPr>
          <p:cNvPr name="Group 81" id="81"/>
          <p:cNvGrpSpPr/>
          <p:nvPr/>
        </p:nvGrpSpPr>
        <p:grpSpPr>
          <a:xfrm rot="0">
            <a:off x="1920240" y="5952744"/>
            <a:ext cx="3977640" cy="905256"/>
            <a:chOff x="0" y="0"/>
            <a:chExt cx="5303520" cy="1207008"/>
          </a:xfrm>
        </p:grpSpPr>
        <p:sp>
          <p:nvSpPr>
            <p:cNvPr name="Freeform 82" id="82"/>
            <p:cNvSpPr/>
            <p:nvPr/>
          </p:nvSpPr>
          <p:spPr>
            <a:xfrm flipH="false" flipV="false" rot="0">
              <a:off x="0" y="0"/>
              <a:ext cx="5303520" cy="1207008"/>
            </a:xfrm>
            <a:custGeom>
              <a:avLst/>
              <a:gdLst/>
              <a:ahLst/>
              <a:cxnLst/>
              <a:rect r="r" b="b" t="t" l="l"/>
              <a:pathLst>
                <a:path h="1207008" w="5303520">
                  <a:moveTo>
                    <a:pt x="0" y="0"/>
                  </a:moveTo>
                  <a:lnTo>
                    <a:pt x="5303520" y="0"/>
                  </a:lnTo>
                  <a:lnTo>
                    <a:pt x="5303520" y="1207008"/>
                  </a:lnTo>
                  <a:lnTo>
                    <a:pt x="0" y="1207008"/>
                  </a:lnTo>
                  <a:close/>
                </a:path>
              </a:pathLst>
            </a:custGeom>
            <a:blipFill>
              <a:blip r:embed="rId4">
                <a:alphaModFix amt="0"/>
              </a:blip>
              <a:stretch>
                <a:fillRect l="0" t="-35616" r="0" b="-35616"/>
              </a:stretch>
            </a:blipFill>
          </p:spPr>
        </p:sp>
        <p:sp>
          <p:nvSpPr>
            <p:cNvPr name="TextBox 83" id="83"/>
            <p:cNvSpPr txBox="true"/>
            <p:nvPr/>
          </p:nvSpPr>
          <p:spPr>
            <a:xfrm>
              <a:off x="0" y="0"/>
              <a:ext cx="5303520" cy="1207008"/>
            </a:xfrm>
            <a:prstGeom prst="rect">
              <a:avLst/>
            </a:prstGeom>
          </p:spPr>
          <p:txBody>
            <a:bodyPr anchor="ctr" rtlCol="false" tIns="0" lIns="0" bIns="0" rIns="0"/>
            <a:lstStyle/>
            <a:p>
              <a:pPr algn="l">
                <a:lnSpc>
                  <a:spcPts val="2700"/>
                </a:lnSpc>
              </a:pPr>
              <a:r>
                <a:rPr lang="en-US" sz="2250" b="true">
                  <a:solidFill>
                    <a:srgbClr val="1B2B2E"/>
                  </a:solidFill>
                  <a:latin typeface="Noto Sans Bold"/>
                  <a:ea typeface="Noto Sans Bold"/>
                  <a:cs typeface="Noto Sans Bold"/>
                  <a:sym typeface="Noto Sans Bold"/>
                </a:rPr>
                <a:t>응급조치 청크 분할</a:t>
              </a:r>
            </a:p>
          </p:txBody>
        </p:sp>
      </p:grpSp>
      <p:grpSp>
        <p:nvGrpSpPr>
          <p:cNvPr name="Group 84" id="84"/>
          <p:cNvGrpSpPr/>
          <p:nvPr/>
        </p:nvGrpSpPr>
        <p:grpSpPr>
          <a:xfrm rot="0">
            <a:off x="6035040" y="5952744"/>
            <a:ext cx="7132320" cy="905256"/>
            <a:chOff x="0" y="0"/>
            <a:chExt cx="9509760" cy="1207008"/>
          </a:xfrm>
        </p:grpSpPr>
        <p:sp>
          <p:nvSpPr>
            <p:cNvPr name="Freeform 85" id="85"/>
            <p:cNvSpPr/>
            <p:nvPr/>
          </p:nvSpPr>
          <p:spPr>
            <a:xfrm flipH="false" flipV="false" rot="0">
              <a:off x="0" y="0"/>
              <a:ext cx="9509760" cy="1207008"/>
            </a:xfrm>
            <a:custGeom>
              <a:avLst/>
              <a:gdLst/>
              <a:ahLst/>
              <a:cxnLst/>
              <a:rect r="r" b="b" t="t" l="l"/>
              <a:pathLst>
                <a:path h="1207008" w="9509760">
                  <a:moveTo>
                    <a:pt x="0" y="0"/>
                  </a:moveTo>
                  <a:lnTo>
                    <a:pt x="9509760" y="0"/>
                  </a:lnTo>
                  <a:lnTo>
                    <a:pt x="9509760" y="1207008"/>
                  </a:lnTo>
                  <a:lnTo>
                    <a:pt x="0" y="1207008"/>
                  </a:lnTo>
                  <a:close/>
                </a:path>
              </a:pathLst>
            </a:custGeom>
            <a:blipFill>
              <a:blip r:embed="rId3">
                <a:alphaModFix amt="0"/>
              </a:blip>
              <a:stretch>
                <a:fillRect l="0" t="-103412" r="0" b="-103411"/>
              </a:stretch>
            </a:blipFill>
          </p:spPr>
        </p:sp>
      </p:grpSp>
      <p:grpSp>
        <p:nvGrpSpPr>
          <p:cNvPr name="Group 86" id="86"/>
          <p:cNvGrpSpPr/>
          <p:nvPr/>
        </p:nvGrpSpPr>
        <p:grpSpPr>
          <a:xfrm rot="0">
            <a:off x="6035040" y="5945600"/>
            <a:ext cx="7132320" cy="912400"/>
            <a:chOff x="0" y="0"/>
            <a:chExt cx="9509760" cy="1216533"/>
          </a:xfrm>
        </p:grpSpPr>
        <p:sp>
          <p:nvSpPr>
            <p:cNvPr name="Freeform 87" id="87"/>
            <p:cNvSpPr/>
            <p:nvPr/>
          </p:nvSpPr>
          <p:spPr>
            <a:xfrm flipH="false" flipV="false" rot="0">
              <a:off x="0" y="0"/>
              <a:ext cx="9509760" cy="1216533"/>
            </a:xfrm>
            <a:custGeom>
              <a:avLst/>
              <a:gdLst/>
              <a:ahLst/>
              <a:cxnLst/>
              <a:rect r="r" b="b" t="t" l="l"/>
              <a:pathLst>
                <a:path h="1216533" w="9509760">
                  <a:moveTo>
                    <a:pt x="0" y="0"/>
                  </a:moveTo>
                  <a:lnTo>
                    <a:pt x="9509760" y="0"/>
                  </a:lnTo>
                  <a:lnTo>
                    <a:pt x="9509760" y="1216533"/>
                  </a:lnTo>
                  <a:lnTo>
                    <a:pt x="0" y="1216533"/>
                  </a:lnTo>
                  <a:close/>
                </a:path>
              </a:pathLst>
            </a:custGeom>
            <a:blipFill>
              <a:blip r:embed="rId4">
                <a:alphaModFix amt="0"/>
              </a:blip>
              <a:stretch>
                <a:fillRect l="0" t="-102316" r="0" b="-102316"/>
              </a:stretch>
            </a:blipFill>
          </p:spPr>
        </p:sp>
        <p:sp>
          <p:nvSpPr>
            <p:cNvPr name="TextBox 88" id="88"/>
            <p:cNvSpPr txBox="true"/>
            <p:nvPr/>
          </p:nvSpPr>
          <p:spPr>
            <a:xfrm>
              <a:off x="0" y="-9525"/>
              <a:ext cx="9509760" cy="1226058"/>
            </a:xfrm>
            <a:prstGeom prst="rect">
              <a:avLst/>
            </a:prstGeom>
          </p:spPr>
          <p:txBody>
            <a:bodyPr anchor="ctr" rtlCol="false" tIns="0" lIns="0" bIns="0" rIns="0"/>
            <a:lstStyle/>
            <a:p>
              <a:pPr algn="l">
                <a:lnSpc>
                  <a:spcPts val="2340"/>
                </a:lnSpc>
              </a:pPr>
              <a:r>
                <a:rPr lang="en-US" sz="1950">
                  <a:solidFill>
                    <a:srgbClr val="45545A"/>
                  </a:solidFill>
                  <a:latin typeface="Noto Sans"/>
                  <a:ea typeface="Noto Sans"/>
                  <a:cs typeface="Noto Sans"/>
                  <a:sym typeface="Noto Sans"/>
                </a:rPr>
                <a:t>여러 방법이 섞인 조각을 제목 단위로 분리</a:t>
              </a:r>
            </a:p>
          </p:txBody>
        </p:sp>
      </p:grpSp>
      <p:grpSp>
        <p:nvGrpSpPr>
          <p:cNvPr name="Group 89" id="89"/>
          <p:cNvGrpSpPr/>
          <p:nvPr/>
        </p:nvGrpSpPr>
        <p:grpSpPr>
          <a:xfrm rot="0">
            <a:off x="13167360" y="5952744"/>
            <a:ext cx="4046220" cy="905256"/>
            <a:chOff x="0" y="0"/>
            <a:chExt cx="5394960" cy="1207008"/>
          </a:xfrm>
        </p:grpSpPr>
        <p:sp>
          <p:nvSpPr>
            <p:cNvPr name="Freeform 90" id="90"/>
            <p:cNvSpPr/>
            <p:nvPr/>
          </p:nvSpPr>
          <p:spPr>
            <a:xfrm flipH="false" flipV="false" rot="0">
              <a:off x="0" y="0"/>
              <a:ext cx="5394960" cy="1207008"/>
            </a:xfrm>
            <a:custGeom>
              <a:avLst/>
              <a:gdLst/>
              <a:ahLst/>
              <a:cxnLst/>
              <a:rect r="r" b="b" t="t" l="l"/>
              <a:pathLst>
                <a:path h="1207008" w="5394960">
                  <a:moveTo>
                    <a:pt x="0" y="0"/>
                  </a:moveTo>
                  <a:lnTo>
                    <a:pt x="5394960" y="0"/>
                  </a:lnTo>
                  <a:lnTo>
                    <a:pt x="5394960" y="1207008"/>
                  </a:lnTo>
                  <a:lnTo>
                    <a:pt x="0" y="1207008"/>
                  </a:lnTo>
                  <a:close/>
                </a:path>
              </a:pathLst>
            </a:custGeom>
            <a:blipFill>
              <a:blip r:embed="rId3">
                <a:alphaModFix amt="0"/>
              </a:blip>
              <a:stretch>
                <a:fillRect l="0" t="-37031" r="0" b="-37031"/>
              </a:stretch>
            </a:blipFill>
          </p:spPr>
        </p:sp>
      </p:grpSp>
      <p:grpSp>
        <p:nvGrpSpPr>
          <p:cNvPr name="Group 91" id="91"/>
          <p:cNvGrpSpPr/>
          <p:nvPr/>
        </p:nvGrpSpPr>
        <p:grpSpPr>
          <a:xfrm rot="0">
            <a:off x="13167360" y="5952744"/>
            <a:ext cx="4046220" cy="905256"/>
            <a:chOff x="0" y="0"/>
            <a:chExt cx="5394960" cy="1207008"/>
          </a:xfrm>
        </p:grpSpPr>
        <p:sp>
          <p:nvSpPr>
            <p:cNvPr name="Freeform 92" id="92"/>
            <p:cNvSpPr/>
            <p:nvPr/>
          </p:nvSpPr>
          <p:spPr>
            <a:xfrm flipH="false" flipV="false" rot="0">
              <a:off x="0" y="0"/>
              <a:ext cx="5394960" cy="1207008"/>
            </a:xfrm>
            <a:custGeom>
              <a:avLst/>
              <a:gdLst/>
              <a:ahLst/>
              <a:cxnLst/>
              <a:rect r="r" b="b" t="t" l="l"/>
              <a:pathLst>
                <a:path h="1207008" w="5394960">
                  <a:moveTo>
                    <a:pt x="0" y="0"/>
                  </a:moveTo>
                  <a:lnTo>
                    <a:pt x="5394960" y="0"/>
                  </a:lnTo>
                  <a:lnTo>
                    <a:pt x="5394960" y="1207008"/>
                  </a:lnTo>
                  <a:lnTo>
                    <a:pt x="0" y="1207008"/>
                  </a:lnTo>
                  <a:close/>
                </a:path>
              </a:pathLst>
            </a:custGeom>
            <a:blipFill>
              <a:blip r:embed="rId4">
                <a:alphaModFix amt="0"/>
              </a:blip>
              <a:stretch>
                <a:fillRect l="0" t="-37092" r="0" b="-37092"/>
              </a:stretch>
            </a:blipFill>
          </p:spPr>
        </p:sp>
        <p:sp>
          <p:nvSpPr>
            <p:cNvPr name="TextBox 93" id="93"/>
            <p:cNvSpPr txBox="true"/>
            <p:nvPr/>
          </p:nvSpPr>
          <p:spPr>
            <a:xfrm>
              <a:off x="0" y="0"/>
              <a:ext cx="5394960" cy="1207008"/>
            </a:xfrm>
            <a:prstGeom prst="rect">
              <a:avLst/>
            </a:prstGeom>
          </p:spPr>
          <p:txBody>
            <a:bodyPr anchor="ctr" rtlCol="false" tIns="0" lIns="0" bIns="0" rIns="0"/>
            <a:lstStyle/>
            <a:p>
              <a:pPr algn="r">
                <a:lnSpc>
                  <a:spcPts val="2520"/>
                </a:lnSpc>
              </a:pPr>
              <a:r>
                <a:rPr lang="en-US" sz="2100" b="true">
                  <a:solidFill>
                    <a:srgbClr val="1F6F63"/>
                  </a:solidFill>
                  <a:latin typeface="Noto Sans Bold"/>
                  <a:ea typeface="Noto Sans Bold"/>
                  <a:cs typeface="Noto Sans Bold"/>
                  <a:sym typeface="Noto Sans Bold"/>
                </a:rPr>
                <a:t>CPR 자세 혼합 오답 해소</a:t>
              </a:r>
            </a:p>
          </p:txBody>
        </p:sp>
      </p:grpSp>
      <p:sp>
        <p:nvSpPr>
          <p:cNvPr name="Freeform 94" id="94"/>
          <p:cNvSpPr/>
          <p:nvPr/>
        </p:nvSpPr>
        <p:spPr>
          <a:xfrm flipH="false" flipV="false" rot="0">
            <a:off x="806291" y="7005923"/>
            <a:ext cx="16674941" cy="938593"/>
          </a:xfrm>
          <a:custGeom>
            <a:avLst/>
            <a:gdLst/>
            <a:ahLst/>
            <a:cxnLst/>
            <a:rect r="r" b="b" t="t" l="l"/>
            <a:pathLst>
              <a:path h="938593" w="16674941">
                <a:moveTo>
                  <a:pt x="0" y="0"/>
                </a:moveTo>
                <a:lnTo>
                  <a:pt x="16674941" y="0"/>
                </a:lnTo>
                <a:lnTo>
                  <a:pt x="16674941" y="938594"/>
                </a:lnTo>
                <a:lnTo>
                  <a:pt x="0" y="93859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5" id="95"/>
          <p:cNvGrpSpPr/>
          <p:nvPr/>
        </p:nvGrpSpPr>
        <p:grpSpPr>
          <a:xfrm rot="0">
            <a:off x="1097280" y="7200900"/>
            <a:ext cx="548640" cy="548640"/>
            <a:chOff x="0" y="0"/>
            <a:chExt cx="731520" cy="731520"/>
          </a:xfrm>
        </p:grpSpPr>
        <p:sp>
          <p:nvSpPr>
            <p:cNvPr name="Freeform 96" id="96"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13"/>
              <a:stretch>
                <a:fillRect l="0" t="0" r="0" b="0"/>
              </a:stretch>
            </a:blipFill>
          </p:spPr>
        </p:sp>
      </p:grpSp>
      <p:grpSp>
        <p:nvGrpSpPr>
          <p:cNvPr name="Group 97" id="97"/>
          <p:cNvGrpSpPr/>
          <p:nvPr/>
        </p:nvGrpSpPr>
        <p:grpSpPr>
          <a:xfrm rot="0">
            <a:off x="1920240" y="7022592"/>
            <a:ext cx="3977640" cy="905256"/>
            <a:chOff x="0" y="0"/>
            <a:chExt cx="5303520" cy="1207008"/>
          </a:xfrm>
        </p:grpSpPr>
        <p:sp>
          <p:nvSpPr>
            <p:cNvPr name="Freeform 98" id="98"/>
            <p:cNvSpPr/>
            <p:nvPr/>
          </p:nvSpPr>
          <p:spPr>
            <a:xfrm flipH="false" flipV="false" rot="0">
              <a:off x="0" y="0"/>
              <a:ext cx="5303520" cy="1207008"/>
            </a:xfrm>
            <a:custGeom>
              <a:avLst/>
              <a:gdLst/>
              <a:ahLst/>
              <a:cxnLst/>
              <a:rect r="r" b="b" t="t" l="l"/>
              <a:pathLst>
                <a:path h="1207008" w="5303520">
                  <a:moveTo>
                    <a:pt x="0" y="0"/>
                  </a:moveTo>
                  <a:lnTo>
                    <a:pt x="5303520" y="0"/>
                  </a:lnTo>
                  <a:lnTo>
                    <a:pt x="5303520" y="1207008"/>
                  </a:lnTo>
                  <a:lnTo>
                    <a:pt x="0" y="1207008"/>
                  </a:lnTo>
                  <a:close/>
                </a:path>
              </a:pathLst>
            </a:custGeom>
            <a:blipFill>
              <a:blip r:embed="rId3">
                <a:alphaModFix amt="0"/>
              </a:blip>
              <a:stretch>
                <a:fillRect l="0" t="-35556" r="0" b="-35556"/>
              </a:stretch>
            </a:blipFill>
          </p:spPr>
        </p:sp>
      </p:grpSp>
      <p:grpSp>
        <p:nvGrpSpPr>
          <p:cNvPr name="Group 99" id="99"/>
          <p:cNvGrpSpPr/>
          <p:nvPr/>
        </p:nvGrpSpPr>
        <p:grpSpPr>
          <a:xfrm rot="0">
            <a:off x="1920240" y="7022592"/>
            <a:ext cx="3977640" cy="905256"/>
            <a:chOff x="0" y="0"/>
            <a:chExt cx="5303520" cy="1207008"/>
          </a:xfrm>
        </p:grpSpPr>
        <p:sp>
          <p:nvSpPr>
            <p:cNvPr name="Freeform 100" id="100"/>
            <p:cNvSpPr/>
            <p:nvPr/>
          </p:nvSpPr>
          <p:spPr>
            <a:xfrm flipH="false" flipV="false" rot="0">
              <a:off x="0" y="0"/>
              <a:ext cx="5303520" cy="1207008"/>
            </a:xfrm>
            <a:custGeom>
              <a:avLst/>
              <a:gdLst/>
              <a:ahLst/>
              <a:cxnLst/>
              <a:rect r="r" b="b" t="t" l="l"/>
              <a:pathLst>
                <a:path h="1207008" w="5303520">
                  <a:moveTo>
                    <a:pt x="0" y="0"/>
                  </a:moveTo>
                  <a:lnTo>
                    <a:pt x="5303520" y="0"/>
                  </a:lnTo>
                  <a:lnTo>
                    <a:pt x="5303520" y="1207008"/>
                  </a:lnTo>
                  <a:lnTo>
                    <a:pt x="0" y="1207008"/>
                  </a:lnTo>
                  <a:close/>
                </a:path>
              </a:pathLst>
            </a:custGeom>
            <a:blipFill>
              <a:blip r:embed="rId4">
                <a:alphaModFix amt="0"/>
              </a:blip>
              <a:stretch>
                <a:fillRect l="0" t="-35616" r="0" b="-35616"/>
              </a:stretch>
            </a:blipFill>
          </p:spPr>
        </p:sp>
        <p:sp>
          <p:nvSpPr>
            <p:cNvPr name="TextBox 101" id="101"/>
            <p:cNvSpPr txBox="true"/>
            <p:nvPr/>
          </p:nvSpPr>
          <p:spPr>
            <a:xfrm>
              <a:off x="0" y="0"/>
              <a:ext cx="5303520" cy="1207008"/>
            </a:xfrm>
            <a:prstGeom prst="rect">
              <a:avLst/>
            </a:prstGeom>
          </p:spPr>
          <p:txBody>
            <a:bodyPr anchor="ctr" rtlCol="false" tIns="0" lIns="0" bIns="0" rIns="0"/>
            <a:lstStyle/>
            <a:p>
              <a:pPr algn="l">
                <a:lnSpc>
                  <a:spcPts val="2700"/>
                </a:lnSpc>
              </a:pPr>
              <a:r>
                <a:rPr lang="en-US" sz="2250" b="true">
                  <a:solidFill>
                    <a:srgbClr val="1B2B2E"/>
                  </a:solidFill>
                  <a:latin typeface="Noto Sans Bold"/>
                  <a:ea typeface="Noto Sans Bold"/>
                  <a:cs typeface="Noto Sans Bold"/>
                  <a:sym typeface="Noto Sans Bold"/>
                </a:rPr>
                <a:t>근거 없는 숫자 보류</a:t>
              </a:r>
            </a:p>
          </p:txBody>
        </p:sp>
      </p:grpSp>
      <p:grpSp>
        <p:nvGrpSpPr>
          <p:cNvPr name="Group 102" id="102"/>
          <p:cNvGrpSpPr/>
          <p:nvPr/>
        </p:nvGrpSpPr>
        <p:grpSpPr>
          <a:xfrm rot="0">
            <a:off x="6035040" y="7022592"/>
            <a:ext cx="7132320" cy="905256"/>
            <a:chOff x="0" y="0"/>
            <a:chExt cx="9509760" cy="1207008"/>
          </a:xfrm>
        </p:grpSpPr>
        <p:sp>
          <p:nvSpPr>
            <p:cNvPr name="Freeform 103" id="103"/>
            <p:cNvSpPr/>
            <p:nvPr/>
          </p:nvSpPr>
          <p:spPr>
            <a:xfrm flipH="false" flipV="false" rot="0">
              <a:off x="0" y="0"/>
              <a:ext cx="9509760" cy="1207008"/>
            </a:xfrm>
            <a:custGeom>
              <a:avLst/>
              <a:gdLst/>
              <a:ahLst/>
              <a:cxnLst/>
              <a:rect r="r" b="b" t="t" l="l"/>
              <a:pathLst>
                <a:path h="1207008" w="9509760">
                  <a:moveTo>
                    <a:pt x="0" y="0"/>
                  </a:moveTo>
                  <a:lnTo>
                    <a:pt x="9509760" y="0"/>
                  </a:lnTo>
                  <a:lnTo>
                    <a:pt x="9509760" y="1207008"/>
                  </a:lnTo>
                  <a:lnTo>
                    <a:pt x="0" y="1207008"/>
                  </a:lnTo>
                  <a:close/>
                </a:path>
              </a:pathLst>
            </a:custGeom>
            <a:blipFill>
              <a:blip r:embed="rId3">
                <a:alphaModFix amt="0"/>
              </a:blip>
              <a:stretch>
                <a:fillRect l="0" t="-103412" r="0" b="-103411"/>
              </a:stretch>
            </a:blipFill>
          </p:spPr>
        </p:sp>
      </p:grpSp>
      <p:grpSp>
        <p:nvGrpSpPr>
          <p:cNvPr name="Group 104" id="104"/>
          <p:cNvGrpSpPr/>
          <p:nvPr/>
        </p:nvGrpSpPr>
        <p:grpSpPr>
          <a:xfrm rot="0">
            <a:off x="6035040" y="7015448"/>
            <a:ext cx="7132320" cy="912400"/>
            <a:chOff x="0" y="0"/>
            <a:chExt cx="9509760" cy="1216533"/>
          </a:xfrm>
        </p:grpSpPr>
        <p:sp>
          <p:nvSpPr>
            <p:cNvPr name="Freeform 105" id="105"/>
            <p:cNvSpPr/>
            <p:nvPr/>
          </p:nvSpPr>
          <p:spPr>
            <a:xfrm flipH="false" flipV="false" rot="0">
              <a:off x="0" y="0"/>
              <a:ext cx="9509760" cy="1216533"/>
            </a:xfrm>
            <a:custGeom>
              <a:avLst/>
              <a:gdLst/>
              <a:ahLst/>
              <a:cxnLst/>
              <a:rect r="r" b="b" t="t" l="l"/>
              <a:pathLst>
                <a:path h="1216533" w="9509760">
                  <a:moveTo>
                    <a:pt x="0" y="0"/>
                  </a:moveTo>
                  <a:lnTo>
                    <a:pt x="9509760" y="0"/>
                  </a:lnTo>
                  <a:lnTo>
                    <a:pt x="9509760" y="1216533"/>
                  </a:lnTo>
                  <a:lnTo>
                    <a:pt x="0" y="1216533"/>
                  </a:lnTo>
                  <a:close/>
                </a:path>
              </a:pathLst>
            </a:custGeom>
            <a:blipFill>
              <a:blip r:embed="rId4">
                <a:alphaModFix amt="0"/>
              </a:blip>
              <a:stretch>
                <a:fillRect l="0" t="-102316" r="0" b="-102316"/>
              </a:stretch>
            </a:blipFill>
          </p:spPr>
        </p:sp>
        <p:sp>
          <p:nvSpPr>
            <p:cNvPr name="TextBox 106" id="106"/>
            <p:cNvSpPr txBox="true"/>
            <p:nvPr/>
          </p:nvSpPr>
          <p:spPr>
            <a:xfrm>
              <a:off x="0" y="-9525"/>
              <a:ext cx="9509760" cy="1226058"/>
            </a:xfrm>
            <a:prstGeom prst="rect">
              <a:avLst/>
            </a:prstGeom>
          </p:spPr>
          <p:txBody>
            <a:bodyPr anchor="ctr" rtlCol="false" tIns="0" lIns="0" bIns="0" rIns="0"/>
            <a:lstStyle/>
            <a:p>
              <a:pPr algn="l">
                <a:lnSpc>
                  <a:spcPts val="2340"/>
                </a:lnSpc>
              </a:pPr>
              <a:r>
                <a:rPr lang="en-US" sz="1950">
                  <a:solidFill>
                    <a:srgbClr val="45545A"/>
                  </a:solidFill>
                  <a:latin typeface="Noto Sans"/>
                  <a:ea typeface="Noto Sans"/>
                  <a:cs typeface="Noto Sans"/>
                  <a:sym typeface="Noto Sans"/>
                </a:rPr>
                <a:t>인용 근거에 없는 숫자 포함 시 답변 보류 · 검수 대기</a:t>
              </a:r>
            </a:p>
          </p:txBody>
        </p:sp>
      </p:grpSp>
      <p:grpSp>
        <p:nvGrpSpPr>
          <p:cNvPr name="Group 107" id="107"/>
          <p:cNvGrpSpPr/>
          <p:nvPr/>
        </p:nvGrpSpPr>
        <p:grpSpPr>
          <a:xfrm rot="0">
            <a:off x="13167360" y="7022592"/>
            <a:ext cx="4046220" cy="905256"/>
            <a:chOff x="0" y="0"/>
            <a:chExt cx="5394960" cy="1207008"/>
          </a:xfrm>
        </p:grpSpPr>
        <p:sp>
          <p:nvSpPr>
            <p:cNvPr name="Freeform 108" id="108"/>
            <p:cNvSpPr/>
            <p:nvPr/>
          </p:nvSpPr>
          <p:spPr>
            <a:xfrm flipH="false" flipV="false" rot="0">
              <a:off x="0" y="0"/>
              <a:ext cx="5394960" cy="1207008"/>
            </a:xfrm>
            <a:custGeom>
              <a:avLst/>
              <a:gdLst/>
              <a:ahLst/>
              <a:cxnLst/>
              <a:rect r="r" b="b" t="t" l="l"/>
              <a:pathLst>
                <a:path h="1207008" w="5394960">
                  <a:moveTo>
                    <a:pt x="0" y="0"/>
                  </a:moveTo>
                  <a:lnTo>
                    <a:pt x="5394960" y="0"/>
                  </a:lnTo>
                  <a:lnTo>
                    <a:pt x="5394960" y="1207008"/>
                  </a:lnTo>
                  <a:lnTo>
                    <a:pt x="0" y="1207008"/>
                  </a:lnTo>
                  <a:close/>
                </a:path>
              </a:pathLst>
            </a:custGeom>
            <a:blipFill>
              <a:blip r:embed="rId3">
                <a:alphaModFix amt="0"/>
              </a:blip>
              <a:stretch>
                <a:fillRect l="0" t="-37031" r="0" b="-37031"/>
              </a:stretch>
            </a:blipFill>
          </p:spPr>
        </p:sp>
      </p:grpSp>
      <p:grpSp>
        <p:nvGrpSpPr>
          <p:cNvPr name="Group 109" id="109"/>
          <p:cNvGrpSpPr/>
          <p:nvPr/>
        </p:nvGrpSpPr>
        <p:grpSpPr>
          <a:xfrm rot="0">
            <a:off x="13167360" y="7022592"/>
            <a:ext cx="4046220" cy="905256"/>
            <a:chOff x="0" y="0"/>
            <a:chExt cx="5394960" cy="1207008"/>
          </a:xfrm>
        </p:grpSpPr>
        <p:sp>
          <p:nvSpPr>
            <p:cNvPr name="Freeform 110" id="110"/>
            <p:cNvSpPr/>
            <p:nvPr/>
          </p:nvSpPr>
          <p:spPr>
            <a:xfrm flipH="false" flipV="false" rot="0">
              <a:off x="0" y="0"/>
              <a:ext cx="5394960" cy="1207008"/>
            </a:xfrm>
            <a:custGeom>
              <a:avLst/>
              <a:gdLst/>
              <a:ahLst/>
              <a:cxnLst/>
              <a:rect r="r" b="b" t="t" l="l"/>
              <a:pathLst>
                <a:path h="1207008" w="5394960">
                  <a:moveTo>
                    <a:pt x="0" y="0"/>
                  </a:moveTo>
                  <a:lnTo>
                    <a:pt x="5394960" y="0"/>
                  </a:lnTo>
                  <a:lnTo>
                    <a:pt x="5394960" y="1207008"/>
                  </a:lnTo>
                  <a:lnTo>
                    <a:pt x="0" y="1207008"/>
                  </a:lnTo>
                  <a:close/>
                </a:path>
              </a:pathLst>
            </a:custGeom>
            <a:blipFill>
              <a:blip r:embed="rId4">
                <a:alphaModFix amt="0"/>
              </a:blip>
              <a:stretch>
                <a:fillRect l="0" t="-37092" r="0" b="-37092"/>
              </a:stretch>
            </a:blipFill>
          </p:spPr>
        </p:sp>
        <p:sp>
          <p:nvSpPr>
            <p:cNvPr name="TextBox 111" id="111"/>
            <p:cNvSpPr txBox="true"/>
            <p:nvPr/>
          </p:nvSpPr>
          <p:spPr>
            <a:xfrm>
              <a:off x="0" y="0"/>
              <a:ext cx="5394960" cy="1207008"/>
            </a:xfrm>
            <a:prstGeom prst="rect">
              <a:avLst/>
            </a:prstGeom>
          </p:spPr>
          <p:txBody>
            <a:bodyPr anchor="ctr" rtlCol="false" tIns="0" lIns="0" bIns="0" rIns="0"/>
            <a:lstStyle/>
            <a:p>
              <a:pPr algn="r">
                <a:lnSpc>
                  <a:spcPts val="2520"/>
                </a:lnSpc>
              </a:pPr>
              <a:r>
                <a:rPr lang="en-US" sz="2100" b="true">
                  <a:solidFill>
                    <a:srgbClr val="1F6F63"/>
                  </a:solidFill>
                  <a:latin typeface="Noto Sans Bold"/>
                  <a:ea typeface="Noto Sans Bold"/>
                  <a:cs typeface="Noto Sans Bold"/>
                  <a:sym typeface="Noto Sans Bold"/>
                </a:rPr>
                <a:t>10/23 Jetson 적용</a:t>
              </a:r>
            </a:p>
          </p:txBody>
        </p:sp>
      </p:grpSp>
      <p:sp>
        <p:nvSpPr>
          <p:cNvPr name="TextBox 112" id="112"/>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a:solidFill>
                  <a:srgbClr val="6B787A"/>
                </a:solidFill>
                <a:latin typeface="Noto Sans"/>
                <a:ea typeface="Noto Sans"/>
                <a:cs typeface="Noto Sans"/>
                <a:sym typeface="Noto Sans"/>
              </a:rPr>
              <a:t>26</a:t>
            </a:r>
          </a:p>
        </p:txBody>
      </p:sp>
      <p:grpSp>
        <p:nvGrpSpPr>
          <p:cNvPr name="Group 113" id="113"/>
          <p:cNvGrpSpPr/>
          <p:nvPr/>
        </p:nvGrpSpPr>
        <p:grpSpPr>
          <a:xfrm rot="0">
            <a:off x="5818352" y="9710928"/>
            <a:ext cx="4070985" cy="419672"/>
            <a:chOff x="0" y="0"/>
            <a:chExt cx="5427980" cy="559562"/>
          </a:xfrm>
        </p:grpSpPr>
        <p:grpSp>
          <p:nvGrpSpPr>
            <p:cNvPr name="Group 114" id="114"/>
            <p:cNvGrpSpPr/>
            <p:nvPr/>
          </p:nvGrpSpPr>
          <p:grpSpPr>
            <a:xfrm rot="0">
              <a:off x="0" y="0"/>
              <a:ext cx="1680845" cy="559562"/>
              <a:chOff x="0" y="0"/>
              <a:chExt cx="1680845" cy="559562"/>
            </a:xfrm>
          </p:grpSpPr>
          <p:sp>
            <p:nvSpPr>
              <p:cNvPr name="Freeform 115" id="115"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14"/>
                <a:stretch>
                  <a:fillRect l="0" t="-265" r="0" b="-267"/>
                </a:stretch>
              </a:blipFill>
            </p:spPr>
          </p:sp>
        </p:grpSp>
        <p:grpSp>
          <p:nvGrpSpPr>
            <p:cNvPr name="Group 116" id="116"/>
            <p:cNvGrpSpPr/>
            <p:nvPr/>
          </p:nvGrpSpPr>
          <p:grpSpPr>
            <a:xfrm rot="0">
              <a:off x="2069490" y="124358"/>
              <a:ext cx="1189101" cy="310896"/>
              <a:chOff x="0" y="0"/>
              <a:chExt cx="1189101" cy="310896"/>
            </a:xfrm>
          </p:grpSpPr>
          <p:sp>
            <p:nvSpPr>
              <p:cNvPr name="Freeform 117" id="117"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15"/>
                <a:stretch>
                  <a:fillRect l="-30" t="0" r="-32" b="0"/>
                </a:stretch>
              </a:blipFill>
            </p:spPr>
          </p:sp>
        </p:grpSp>
        <p:grpSp>
          <p:nvGrpSpPr>
            <p:cNvPr name="Group 118" id="118"/>
            <p:cNvGrpSpPr/>
            <p:nvPr/>
          </p:nvGrpSpPr>
          <p:grpSpPr>
            <a:xfrm rot="0">
              <a:off x="3647186" y="124358"/>
              <a:ext cx="1780794" cy="310896"/>
              <a:chOff x="0" y="0"/>
              <a:chExt cx="1780794" cy="310896"/>
            </a:xfrm>
          </p:grpSpPr>
          <p:sp>
            <p:nvSpPr>
              <p:cNvPr name="Freeform 119" id="119"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16"/>
                <a:stretch>
                  <a:fillRect l="0" t="-118" r="0" b="-122"/>
                </a:stretch>
              </a:blipFill>
            </p:spPr>
          </p:sp>
        </p:gr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3050" r="0" b="-333050"/>
              </a:stretch>
            </a:blipFill>
          </p:spPr>
        </p:sp>
        <p:sp>
          <p:nvSpPr>
            <p:cNvPr name="TextBox 6" id="6"/>
            <p:cNvSpPr txBox="true"/>
            <p:nvPr/>
          </p:nvSpPr>
          <p:spPr>
            <a:xfrm>
              <a:off x="0" y="-9525"/>
              <a:ext cx="10972800" cy="567690"/>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7" id="7"/>
          <p:cNvGrpSpPr/>
          <p:nvPr/>
        </p:nvGrpSpPr>
        <p:grpSpPr>
          <a:xfrm rot="0">
            <a:off x="822960" y="438912"/>
            <a:ext cx="4114800" cy="384048"/>
            <a:chOff x="0" y="0"/>
            <a:chExt cx="5486400" cy="512064"/>
          </a:xfrm>
        </p:grpSpPr>
        <p:sp>
          <p:nvSpPr>
            <p:cNvPr name="Freeform 8" id="8"/>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3">
                <a:alphaModFix amt="0"/>
              </a:blip>
              <a:stretch>
                <a:fillRect l="0" t="-158623" r="0" b="-158623"/>
              </a:stretch>
            </a:blipFill>
          </p:spPr>
        </p:sp>
      </p:grpSp>
      <p:grpSp>
        <p:nvGrpSpPr>
          <p:cNvPr name="Group 9" id="9"/>
          <p:cNvGrpSpPr/>
          <p:nvPr/>
        </p:nvGrpSpPr>
        <p:grpSpPr>
          <a:xfrm rot="0">
            <a:off x="822960" y="438912"/>
            <a:ext cx="4114800" cy="384048"/>
            <a:chOff x="0" y="0"/>
            <a:chExt cx="5486400" cy="512064"/>
          </a:xfrm>
        </p:grpSpPr>
        <p:sp>
          <p:nvSpPr>
            <p:cNvPr name="Freeform 10" id="10"/>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4">
                <a:alphaModFix amt="0"/>
              </a:blip>
              <a:stretch>
                <a:fillRect l="0" t="-158768" r="0" b="-158768"/>
              </a:stretch>
            </a:blipFill>
          </p:spPr>
        </p:sp>
        <p:sp>
          <p:nvSpPr>
            <p:cNvPr name="TextBox 11" id="11"/>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03  AI 모델</a:t>
              </a:r>
            </a:p>
          </p:txBody>
        </p:sp>
      </p:grpSp>
      <p:grpSp>
        <p:nvGrpSpPr>
          <p:cNvPr name="Group 12" id="12"/>
          <p:cNvGrpSpPr/>
          <p:nvPr/>
        </p:nvGrpSpPr>
        <p:grpSpPr>
          <a:xfrm rot="0">
            <a:off x="822960" y="822960"/>
            <a:ext cx="16641623" cy="850392"/>
            <a:chOff x="0" y="0"/>
            <a:chExt cx="22188830" cy="1133856"/>
          </a:xfrm>
        </p:grpSpPr>
        <p:sp>
          <p:nvSpPr>
            <p:cNvPr name="Freeform 13" id="13"/>
            <p:cNvSpPr/>
            <p:nvPr/>
          </p:nvSpPr>
          <p:spPr>
            <a:xfrm flipH="false" flipV="false" rot="0">
              <a:off x="0" y="0"/>
              <a:ext cx="22188805" cy="1133856"/>
            </a:xfrm>
            <a:custGeom>
              <a:avLst/>
              <a:gdLst/>
              <a:ahLst/>
              <a:cxnLst/>
              <a:rect r="r" b="b" t="t" l="l"/>
              <a:pathLst>
                <a:path h="1133856" w="22188805">
                  <a:moveTo>
                    <a:pt x="0" y="0"/>
                  </a:moveTo>
                  <a:lnTo>
                    <a:pt x="22188805" y="0"/>
                  </a:lnTo>
                  <a:lnTo>
                    <a:pt x="22188805" y="1133856"/>
                  </a:lnTo>
                  <a:lnTo>
                    <a:pt x="0" y="1133856"/>
                  </a:lnTo>
                  <a:close/>
                </a:path>
              </a:pathLst>
            </a:custGeom>
            <a:blipFill>
              <a:blip r:embed="rId3">
                <a:alphaModFix amt="0"/>
              </a:blip>
              <a:stretch>
                <a:fillRect l="0" t="-331043" r="0" b="-331045"/>
              </a:stretch>
            </a:blipFill>
          </p:spPr>
        </p:sp>
      </p:grpSp>
      <p:grpSp>
        <p:nvGrpSpPr>
          <p:cNvPr name="Group 14" id="14"/>
          <p:cNvGrpSpPr/>
          <p:nvPr/>
        </p:nvGrpSpPr>
        <p:grpSpPr>
          <a:xfrm rot="0">
            <a:off x="822960" y="822960"/>
            <a:ext cx="16642080" cy="850392"/>
            <a:chOff x="0" y="0"/>
            <a:chExt cx="22189440" cy="1133856"/>
          </a:xfrm>
        </p:grpSpPr>
        <p:sp>
          <p:nvSpPr>
            <p:cNvPr name="Freeform 15" id="15"/>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4">
                <a:alphaModFix amt="0"/>
              </a:blip>
              <a:stretch>
                <a:fillRect l="0" t="-331309" r="2" b="-331309"/>
              </a:stretch>
            </a:blipFill>
          </p:spPr>
        </p:sp>
        <p:sp>
          <p:nvSpPr>
            <p:cNvPr name="TextBox 16" id="16"/>
            <p:cNvSpPr txBox="true"/>
            <p:nvPr/>
          </p:nvSpPr>
          <p:spPr>
            <a:xfrm>
              <a:off x="0" y="-9525"/>
              <a:ext cx="22189440" cy="1143381"/>
            </a:xfrm>
            <a:prstGeom prst="rect">
              <a:avLst/>
            </a:prstGeom>
          </p:spPr>
          <p:txBody>
            <a:bodyPr anchor="ctr" rtlCol="false" tIns="0" lIns="0" bIns="0" rIns="0"/>
            <a:lstStyle/>
            <a:p>
              <a:pPr algn="l">
                <a:lnSpc>
                  <a:spcPts val="4500"/>
                </a:lnSpc>
              </a:pPr>
              <a:r>
                <a:rPr lang="en-US" sz="3750" b="true">
                  <a:solidFill>
                    <a:srgbClr val="203238"/>
                  </a:solidFill>
                  <a:latin typeface="Noto Sans Bold"/>
                  <a:ea typeface="Noto Sans Bold"/>
                  <a:cs typeface="Noto Sans Bold"/>
                  <a:sym typeface="Noto Sans Bold"/>
                </a:rPr>
                <a:t>06  최종 배포 구성의 성능 비교</a:t>
              </a:r>
            </a:p>
          </p:txBody>
        </p:sp>
      </p:grpSp>
      <p:grpSp>
        <p:nvGrpSpPr>
          <p:cNvPr name="Group 17" id="17"/>
          <p:cNvGrpSpPr/>
          <p:nvPr/>
        </p:nvGrpSpPr>
        <p:grpSpPr>
          <a:xfrm rot="0">
            <a:off x="822960" y="1755648"/>
            <a:ext cx="16641623" cy="576072"/>
            <a:chOff x="0" y="0"/>
            <a:chExt cx="22188830" cy="768096"/>
          </a:xfrm>
        </p:grpSpPr>
        <p:sp>
          <p:nvSpPr>
            <p:cNvPr name="Freeform 18" id="18"/>
            <p:cNvSpPr/>
            <p:nvPr/>
          </p:nvSpPr>
          <p:spPr>
            <a:xfrm flipH="false" flipV="false" rot="0">
              <a:off x="0" y="0"/>
              <a:ext cx="22188805" cy="768096"/>
            </a:xfrm>
            <a:custGeom>
              <a:avLst/>
              <a:gdLst/>
              <a:ahLst/>
              <a:cxnLst/>
              <a:rect r="r" b="b" t="t" l="l"/>
              <a:pathLst>
                <a:path h="768096" w="22188805">
                  <a:moveTo>
                    <a:pt x="0" y="0"/>
                  </a:moveTo>
                  <a:lnTo>
                    <a:pt x="22188805" y="0"/>
                  </a:lnTo>
                  <a:lnTo>
                    <a:pt x="22188805" y="768096"/>
                  </a:lnTo>
                  <a:lnTo>
                    <a:pt x="0" y="768096"/>
                  </a:lnTo>
                  <a:close/>
                </a:path>
              </a:pathLst>
            </a:custGeom>
            <a:blipFill>
              <a:blip r:embed="rId3">
                <a:alphaModFix amt="0"/>
              </a:blip>
              <a:stretch>
                <a:fillRect l="0" t="-512493" r="0" b="-512495"/>
              </a:stretch>
            </a:blipFill>
          </p:spPr>
        </p:sp>
      </p:grpSp>
      <p:grpSp>
        <p:nvGrpSpPr>
          <p:cNvPr name="Group 19" id="19"/>
          <p:cNvGrpSpPr/>
          <p:nvPr/>
        </p:nvGrpSpPr>
        <p:grpSpPr>
          <a:xfrm rot="0">
            <a:off x="822960" y="1762125"/>
            <a:ext cx="16641623" cy="568928"/>
            <a:chOff x="0" y="0"/>
            <a:chExt cx="22188830" cy="758571"/>
          </a:xfrm>
        </p:grpSpPr>
        <p:sp>
          <p:nvSpPr>
            <p:cNvPr name="Freeform 20" id="20"/>
            <p:cNvSpPr/>
            <p:nvPr/>
          </p:nvSpPr>
          <p:spPr>
            <a:xfrm flipH="false" flipV="false" rot="0">
              <a:off x="0" y="0"/>
              <a:ext cx="22188830" cy="758571"/>
            </a:xfrm>
            <a:custGeom>
              <a:avLst/>
              <a:gdLst/>
              <a:ahLst/>
              <a:cxnLst/>
              <a:rect r="r" b="b" t="t" l="l"/>
              <a:pathLst>
                <a:path h="758571" w="22188830">
                  <a:moveTo>
                    <a:pt x="0" y="0"/>
                  </a:moveTo>
                  <a:lnTo>
                    <a:pt x="22188830" y="0"/>
                  </a:lnTo>
                  <a:lnTo>
                    <a:pt x="22188830" y="758571"/>
                  </a:lnTo>
                  <a:lnTo>
                    <a:pt x="0" y="758571"/>
                  </a:lnTo>
                  <a:close/>
                </a:path>
              </a:pathLst>
            </a:custGeom>
            <a:blipFill>
              <a:blip r:embed="rId4">
                <a:alphaModFix amt="0"/>
              </a:blip>
              <a:stretch>
                <a:fillRect l="0" t="-519953" r="0" b="-519953"/>
              </a:stretch>
            </a:blipFill>
          </p:spPr>
        </p:sp>
        <p:sp>
          <p:nvSpPr>
            <p:cNvPr name="TextBox 21" id="21"/>
            <p:cNvSpPr txBox="true"/>
            <p:nvPr/>
          </p:nvSpPr>
          <p:spPr>
            <a:xfrm>
              <a:off x="0" y="9525"/>
              <a:ext cx="22188830" cy="749046"/>
            </a:xfrm>
            <a:prstGeom prst="rect">
              <a:avLst/>
            </a:prstGeom>
          </p:spPr>
          <p:txBody>
            <a:bodyPr anchor="ctr" rtlCol="false" tIns="0" lIns="0" bIns="0" rIns="0"/>
            <a:lstStyle/>
            <a:p>
              <a:pPr algn="l">
                <a:lnSpc>
                  <a:spcPts val="2878"/>
                </a:lnSpc>
              </a:pPr>
              <a:r>
                <a:rPr lang="en-US" sz="2400">
                  <a:solidFill>
                    <a:srgbClr val="53666E"/>
                  </a:solidFill>
                  <a:latin typeface="Noto Sans"/>
                  <a:ea typeface="Noto Sans"/>
                  <a:cs typeface="Noto Sans"/>
                  <a:sym typeface="Noto Sans"/>
                </a:rPr>
                <a:t>Jetson 동일 321문항 비교 결과, </a:t>
              </a:r>
              <a:r>
                <a:rPr lang="en-US" sz="2400" b="true">
                  <a:solidFill>
                    <a:srgbClr val="53666E"/>
                  </a:solidFill>
                  <a:latin typeface="Noto Sans Bold"/>
                  <a:ea typeface="Noto Sans Bold"/>
                  <a:cs typeface="Noto Sans Bold"/>
                  <a:sym typeface="Noto Sans Bold"/>
                </a:rPr>
                <a:t>현재 상태와 모순된 답변 0건</a:t>
              </a:r>
              <a:r>
                <a:rPr lang="en-US" sz="2400">
                  <a:solidFill>
                    <a:srgbClr val="53666E"/>
                  </a:solidFill>
                  <a:latin typeface="Noto Sans"/>
                  <a:ea typeface="Noto Sans"/>
                  <a:cs typeface="Noto Sans"/>
                  <a:sym typeface="Noto Sans"/>
                </a:rPr>
                <a:t>인 최종 구성 배포</a:t>
              </a:r>
            </a:p>
          </p:txBody>
        </p:sp>
      </p:grpSp>
      <p:sp>
        <p:nvSpPr>
          <p:cNvPr name="TextBox 22" id="22"/>
          <p:cNvSpPr txBox="true"/>
          <p:nvPr/>
        </p:nvSpPr>
        <p:spPr>
          <a:xfrm rot="0">
            <a:off x="822960" y="2674620"/>
            <a:ext cx="8641080" cy="438912"/>
          </a:xfrm>
          <a:prstGeom prst="rect">
            <a:avLst/>
          </a:prstGeom>
        </p:spPr>
        <p:txBody>
          <a:bodyPr anchor="t" rtlCol="false" tIns="0" lIns="0" bIns="0" rIns="0">
            <a:spAutoFit/>
          </a:bodyPr>
          <a:lstStyle/>
          <a:p>
            <a:pPr algn="ctr">
              <a:lnSpc>
                <a:spcPts val="2520"/>
              </a:lnSpc>
            </a:pPr>
            <a:r>
              <a:rPr lang="en-US" sz="2100" b="true">
                <a:solidFill>
                  <a:srgbClr val="1B2B2E"/>
                </a:solidFill>
                <a:latin typeface="Noto Sans Bold"/>
                <a:ea typeface="Noto Sans Bold"/>
                <a:cs typeface="Noto Sans Bold"/>
                <a:sym typeface="Noto Sans Bold"/>
              </a:rPr>
              <a:t>정답률 (%)</a:t>
            </a:r>
          </a:p>
        </p:txBody>
      </p:sp>
      <p:grpSp>
        <p:nvGrpSpPr>
          <p:cNvPr name="Group 23" id="23"/>
          <p:cNvGrpSpPr/>
          <p:nvPr/>
        </p:nvGrpSpPr>
        <p:grpSpPr>
          <a:xfrm rot="0">
            <a:off x="1172718" y="5356955"/>
            <a:ext cx="672084" cy="1363885"/>
            <a:chOff x="0" y="0"/>
            <a:chExt cx="896112" cy="1818513"/>
          </a:xfrm>
        </p:grpSpPr>
        <p:sp>
          <p:nvSpPr>
            <p:cNvPr name="Freeform 24" id="24"/>
            <p:cNvSpPr/>
            <p:nvPr/>
          </p:nvSpPr>
          <p:spPr>
            <a:xfrm flipH="false" flipV="false" rot="0">
              <a:off x="0" y="0"/>
              <a:ext cx="896112" cy="1818513"/>
            </a:xfrm>
            <a:custGeom>
              <a:avLst/>
              <a:gdLst/>
              <a:ahLst/>
              <a:cxnLst/>
              <a:rect r="r" b="b" t="t" l="l"/>
              <a:pathLst>
                <a:path h="1818513" w="896112">
                  <a:moveTo>
                    <a:pt x="0" y="0"/>
                  </a:moveTo>
                  <a:lnTo>
                    <a:pt x="896112" y="0"/>
                  </a:lnTo>
                  <a:lnTo>
                    <a:pt x="896112" y="1818513"/>
                  </a:lnTo>
                  <a:lnTo>
                    <a:pt x="0" y="1818513"/>
                  </a:lnTo>
                  <a:close/>
                </a:path>
              </a:pathLst>
            </a:custGeom>
            <a:solidFill>
              <a:srgbClr val="C9D3D1"/>
            </a:solidFill>
          </p:spPr>
        </p:sp>
      </p:grpSp>
      <p:sp>
        <p:nvSpPr>
          <p:cNvPr name="TextBox 25" id="25"/>
          <p:cNvSpPr txBox="true"/>
          <p:nvPr/>
        </p:nvSpPr>
        <p:spPr>
          <a:xfrm rot="0">
            <a:off x="925830" y="4964525"/>
            <a:ext cx="1165860" cy="364998"/>
          </a:xfrm>
          <a:prstGeom prst="rect">
            <a:avLst/>
          </a:prstGeom>
        </p:spPr>
        <p:txBody>
          <a:bodyPr anchor="t" rtlCol="false" tIns="0" lIns="0" bIns="0" rIns="0">
            <a:spAutoFit/>
          </a:bodyPr>
          <a:lstStyle/>
          <a:p>
            <a:pPr algn="ctr">
              <a:lnSpc>
                <a:spcPts val="2160"/>
              </a:lnSpc>
            </a:pPr>
            <a:r>
              <a:rPr lang="en-US" sz="1800">
                <a:solidFill>
                  <a:srgbClr val="45545A"/>
                </a:solidFill>
                <a:latin typeface="Noto Sans"/>
                <a:ea typeface="Noto Sans"/>
                <a:cs typeface="Noto Sans"/>
                <a:sym typeface="Noto Sans"/>
              </a:rPr>
              <a:t>37%</a:t>
            </a:r>
          </a:p>
        </p:txBody>
      </p:sp>
      <p:grpSp>
        <p:nvGrpSpPr>
          <p:cNvPr name="Group 26" id="26"/>
          <p:cNvGrpSpPr/>
          <p:nvPr/>
        </p:nvGrpSpPr>
        <p:grpSpPr>
          <a:xfrm rot="0">
            <a:off x="1927098" y="4767167"/>
            <a:ext cx="672084" cy="1953673"/>
            <a:chOff x="0" y="0"/>
            <a:chExt cx="896112" cy="2604897"/>
          </a:xfrm>
        </p:grpSpPr>
        <p:sp>
          <p:nvSpPr>
            <p:cNvPr name="Freeform 27" id="27"/>
            <p:cNvSpPr/>
            <p:nvPr/>
          </p:nvSpPr>
          <p:spPr>
            <a:xfrm flipH="false" flipV="false" rot="0">
              <a:off x="0" y="0"/>
              <a:ext cx="896112" cy="2604897"/>
            </a:xfrm>
            <a:custGeom>
              <a:avLst/>
              <a:gdLst/>
              <a:ahLst/>
              <a:cxnLst/>
              <a:rect r="r" b="b" t="t" l="l"/>
              <a:pathLst>
                <a:path h="2604897" w="896112">
                  <a:moveTo>
                    <a:pt x="0" y="0"/>
                  </a:moveTo>
                  <a:lnTo>
                    <a:pt x="896112" y="0"/>
                  </a:lnTo>
                  <a:lnTo>
                    <a:pt x="896112" y="2604897"/>
                  </a:lnTo>
                  <a:lnTo>
                    <a:pt x="0" y="2604897"/>
                  </a:lnTo>
                  <a:close/>
                </a:path>
              </a:pathLst>
            </a:custGeom>
            <a:solidFill>
              <a:srgbClr val="8FB3AA"/>
            </a:solidFill>
          </p:spPr>
        </p:sp>
      </p:grpSp>
      <p:sp>
        <p:nvSpPr>
          <p:cNvPr name="TextBox 28" id="28"/>
          <p:cNvSpPr txBox="true"/>
          <p:nvPr/>
        </p:nvSpPr>
        <p:spPr>
          <a:xfrm rot="0">
            <a:off x="1680210" y="4374737"/>
            <a:ext cx="1165860" cy="364998"/>
          </a:xfrm>
          <a:prstGeom prst="rect">
            <a:avLst/>
          </a:prstGeom>
        </p:spPr>
        <p:txBody>
          <a:bodyPr anchor="t" rtlCol="false" tIns="0" lIns="0" bIns="0" rIns="0">
            <a:spAutoFit/>
          </a:bodyPr>
          <a:lstStyle/>
          <a:p>
            <a:pPr algn="ctr">
              <a:lnSpc>
                <a:spcPts val="2160"/>
              </a:lnSpc>
            </a:pPr>
            <a:r>
              <a:rPr lang="en-US" sz="1800">
                <a:solidFill>
                  <a:srgbClr val="45545A"/>
                </a:solidFill>
                <a:latin typeface="Noto Sans"/>
                <a:ea typeface="Noto Sans"/>
                <a:cs typeface="Noto Sans"/>
                <a:sym typeface="Noto Sans"/>
              </a:rPr>
              <a:t>53%</a:t>
            </a:r>
          </a:p>
        </p:txBody>
      </p:sp>
      <p:grpSp>
        <p:nvGrpSpPr>
          <p:cNvPr name="Group 29" id="29"/>
          <p:cNvGrpSpPr/>
          <p:nvPr/>
        </p:nvGrpSpPr>
        <p:grpSpPr>
          <a:xfrm rot="0">
            <a:off x="2681478" y="4582858"/>
            <a:ext cx="672084" cy="2137982"/>
            <a:chOff x="0" y="0"/>
            <a:chExt cx="896112" cy="2850642"/>
          </a:xfrm>
        </p:grpSpPr>
        <p:sp>
          <p:nvSpPr>
            <p:cNvPr name="Freeform 30" id="30"/>
            <p:cNvSpPr/>
            <p:nvPr/>
          </p:nvSpPr>
          <p:spPr>
            <a:xfrm flipH="false" flipV="false" rot="0">
              <a:off x="0" y="0"/>
              <a:ext cx="896112" cy="2850642"/>
            </a:xfrm>
            <a:custGeom>
              <a:avLst/>
              <a:gdLst/>
              <a:ahLst/>
              <a:cxnLst/>
              <a:rect r="r" b="b" t="t" l="l"/>
              <a:pathLst>
                <a:path h="2850642" w="896112">
                  <a:moveTo>
                    <a:pt x="0" y="0"/>
                  </a:moveTo>
                  <a:lnTo>
                    <a:pt x="896112" y="0"/>
                  </a:lnTo>
                  <a:lnTo>
                    <a:pt x="896112" y="2850642"/>
                  </a:lnTo>
                  <a:lnTo>
                    <a:pt x="0" y="2850642"/>
                  </a:lnTo>
                  <a:close/>
                </a:path>
              </a:pathLst>
            </a:custGeom>
            <a:solidFill>
              <a:srgbClr val="1F6F63"/>
            </a:solidFill>
          </p:spPr>
        </p:sp>
      </p:grpSp>
      <p:sp>
        <p:nvSpPr>
          <p:cNvPr name="TextBox 31" id="31"/>
          <p:cNvSpPr txBox="true"/>
          <p:nvPr/>
        </p:nvSpPr>
        <p:spPr>
          <a:xfrm rot="0">
            <a:off x="2434590" y="4190429"/>
            <a:ext cx="1165860" cy="364998"/>
          </a:xfrm>
          <a:prstGeom prst="rect">
            <a:avLst/>
          </a:prstGeom>
        </p:spPr>
        <p:txBody>
          <a:bodyPr anchor="t" rtlCol="false" tIns="0" lIns="0" bIns="0" rIns="0">
            <a:spAutoFit/>
          </a:bodyPr>
          <a:lstStyle/>
          <a:p>
            <a:pPr algn="ctr">
              <a:lnSpc>
                <a:spcPts val="2160"/>
              </a:lnSpc>
            </a:pPr>
            <a:r>
              <a:rPr lang="en-US" sz="1800" b="true">
                <a:solidFill>
                  <a:srgbClr val="1F6F63"/>
                </a:solidFill>
                <a:latin typeface="Noto Sans Bold"/>
                <a:ea typeface="Noto Sans Bold"/>
                <a:cs typeface="Noto Sans Bold"/>
                <a:sym typeface="Noto Sans Bold"/>
              </a:rPr>
              <a:t>58%</a:t>
            </a:r>
          </a:p>
        </p:txBody>
      </p:sp>
      <p:sp>
        <p:nvSpPr>
          <p:cNvPr name="TextBox 32" id="32"/>
          <p:cNvSpPr txBox="true"/>
          <p:nvPr/>
        </p:nvSpPr>
        <p:spPr>
          <a:xfrm rot="0">
            <a:off x="822960" y="6849618"/>
            <a:ext cx="2880360" cy="666750"/>
          </a:xfrm>
          <a:prstGeom prst="rect">
            <a:avLst/>
          </a:prstGeom>
        </p:spPr>
        <p:txBody>
          <a:bodyPr anchor="t" rtlCol="false" tIns="0" lIns="0" bIns="0" rIns="0">
            <a:spAutoFit/>
          </a:bodyPr>
          <a:lstStyle/>
          <a:p>
            <a:pPr algn="ctr">
              <a:lnSpc>
                <a:spcPts val="2160"/>
              </a:lnSpc>
            </a:pPr>
            <a:r>
              <a:rPr lang="en-US" sz="1800">
                <a:solidFill>
                  <a:srgbClr val="1B2B2E"/>
                </a:solidFill>
                <a:latin typeface="Noto Sans"/>
                <a:ea typeface="Noto Sans"/>
                <a:cs typeface="Noto Sans"/>
                <a:sym typeface="Noto Sans"/>
              </a:rPr>
              <a:t>블라인드 테스트</a:t>
            </a:r>
          </a:p>
          <a:p>
            <a:pPr algn="ctr">
              <a:lnSpc>
                <a:spcPts val="2160"/>
              </a:lnSpc>
            </a:pPr>
            <a:r>
              <a:rPr lang="en-US" sz="1800">
                <a:solidFill>
                  <a:srgbClr val="1B2B2E"/>
                </a:solidFill>
                <a:latin typeface="Noto Sans"/>
                <a:ea typeface="Noto Sans"/>
                <a:cs typeface="Noto Sans"/>
                <a:sym typeface="Noto Sans"/>
              </a:rPr>
              <a:t>내용 정답</a:t>
            </a:r>
          </a:p>
        </p:txBody>
      </p:sp>
      <p:grpSp>
        <p:nvGrpSpPr>
          <p:cNvPr name="Group 33" id="33"/>
          <p:cNvGrpSpPr/>
          <p:nvPr/>
        </p:nvGrpSpPr>
        <p:grpSpPr>
          <a:xfrm rot="0">
            <a:off x="4053078" y="5062061"/>
            <a:ext cx="672084" cy="1658779"/>
            <a:chOff x="0" y="0"/>
            <a:chExt cx="896112" cy="2211705"/>
          </a:xfrm>
        </p:grpSpPr>
        <p:sp>
          <p:nvSpPr>
            <p:cNvPr name="Freeform 34" id="34"/>
            <p:cNvSpPr/>
            <p:nvPr/>
          </p:nvSpPr>
          <p:spPr>
            <a:xfrm flipH="false" flipV="false" rot="0">
              <a:off x="0" y="0"/>
              <a:ext cx="896112" cy="2211705"/>
            </a:xfrm>
            <a:custGeom>
              <a:avLst/>
              <a:gdLst/>
              <a:ahLst/>
              <a:cxnLst/>
              <a:rect r="r" b="b" t="t" l="l"/>
              <a:pathLst>
                <a:path h="2211705" w="896112">
                  <a:moveTo>
                    <a:pt x="0" y="0"/>
                  </a:moveTo>
                  <a:lnTo>
                    <a:pt x="896112" y="0"/>
                  </a:lnTo>
                  <a:lnTo>
                    <a:pt x="896112" y="2211705"/>
                  </a:lnTo>
                  <a:lnTo>
                    <a:pt x="0" y="2211705"/>
                  </a:lnTo>
                  <a:close/>
                </a:path>
              </a:pathLst>
            </a:custGeom>
            <a:solidFill>
              <a:srgbClr val="C9D3D1"/>
            </a:solidFill>
          </p:spPr>
        </p:sp>
      </p:grpSp>
      <p:sp>
        <p:nvSpPr>
          <p:cNvPr name="TextBox 35" id="35"/>
          <p:cNvSpPr txBox="true"/>
          <p:nvPr/>
        </p:nvSpPr>
        <p:spPr>
          <a:xfrm rot="0">
            <a:off x="3806190" y="4669631"/>
            <a:ext cx="1165860" cy="364998"/>
          </a:xfrm>
          <a:prstGeom prst="rect">
            <a:avLst/>
          </a:prstGeom>
        </p:spPr>
        <p:txBody>
          <a:bodyPr anchor="t" rtlCol="false" tIns="0" lIns="0" bIns="0" rIns="0">
            <a:spAutoFit/>
          </a:bodyPr>
          <a:lstStyle/>
          <a:p>
            <a:pPr algn="ctr">
              <a:lnSpc>
                <a:spcPts val="2160"/>
              </a:lnSpc>
            </a:pPr>
            <a:r>
              <a:rPr lang="en-US" sz="1800">
                <a:solidFill>
                  <a:srgbClr val="45545A"/>
                </a:solidFill>
                <a:latin typeface="Noto Sans"/>
                <a:ea typeface="Noto Sans"/>
                <a:cs typeface="Noto Sans"/>
                <a:sym typeface="Noto Sans"/>
              </a:rPr>
              <a:t>45%</a:t>
            </a:r>
          </a:p>
        </p:txBody>
      </p:sp>
      <p:grpSp>
        <p:nvGrpSpPr>
          <p:cNvPr name="Group 36" id="36"/>
          <p:cNvGrpSpPr/>
          <p:nvPr/>
        </p:nvGrpSpPr>
        <p:grpSpPr>
          <a:xfrm rot="0">
            <a:off x="4807458" y="4877753"/>
            <a:ext cx="672084" cy="1843088"/>
            <a:chOff x="0" y="0"/>
            <a:chExt cx="896112" cy="2457450"/>
          </a:xfrm>
        </p:grpSpPr>
        <p:sp>
          <p:nvSpPr>
            <p:cNvPr name="Freeform 37" id="37"/>
            <p:cNvSpPr/>
            <p:nvPr/>
          </p:nvSpPr>
          <p:spPr>
            <a:xfrm flipH="false" flipV="false" rot="0">
              <a:off x="0" y="0"/>
              <a:ext cx="896112" cy="2457450"/>
            </a:xfrm>
            <a:custGeom>
              <a:avLst/>
              <a:gdLst/>
              <a:ahLst/>
              <a:cxnLst/>
              <a:rect r="r" b="b" t="t" l="l"/>
              <a:pathLst>
                <a:path h="2457450" w="896112">
                  <a:moveTo>
                    <a:pt x="0" y="0"/>
                  </a:moveTo>
                  <a:lnTo>
                    <a:pt x="896112" y="0"/>
                  </a:lnTo>
                  <a:lnTo>
                    <a:pt x="896112" y="2457450"/>
                  </a:lnTo>
                  <a:lnTo>
                    <a:pt x="0" y="2457450"/>
                  </a:lnTo>
                  <a:close/>
                </a:path>
              </a:pathLst>
            </a:custGeom>
            <a:solidFill>
              <a:srgbClr val="8FB3AA"/>
            </a:solidFill>
          </p:spPr>
        </p:sp>
      </p:grpSp>
      <p:sp>
        <p:nvSpPr>
          <p:cNvPr name="TextBox 38" id="38"/>
          <p:cNvSpPr txBox="true"/>
          <p:nvPr/>
        </p:nvSpPr>
        <p:spPr>
          <a:xfrm rot="0">
            <a:off x="4560570" y="4485322"/>
            <a:ext cx="1165860" cy="364998"/>
          </a:xfrm>
          <a:prstGeom prst="rect">
            <a:avLst/>
          </a:prstGeom>
        </p:spPr>
        <p:txBody>
          <a:bodyPr anchor="t" rtlCol="false" tIns="0" lIns="0" bIns="0" rIns="0">
            <a:spAutoFit/>
          </a:bodyPr>
          <a:lstStyle/>
          <a:p>
            <a:pPr algn="ctr">
              <a:lnSpc>
                <a:spcPts val="2160"/>
              </a:lnSpc>
            </a:pPr>
            <a:r>
              <a:rPr lang="en-US" sz="1800">
                <a:solidFill>
                  <a:srgbClr val="45545A"/>
                </a:solidFill>
                <a:latin typeface="Noto Sans"/>
                <a:ea typeface="Noto Sans"/>
                <a:cs typeface="Noto Sans"/>
                <a:sym typeface="Noto Sans"/>
              </a:rPr>
              <a:t>50%</a:t>
            </a:r>
          </a:p>
        </p:txBody>
      </p:sp>
      <p:grpSp>
        <p:nvGrpSpPr>
          <p:cNvPr name="Group 39" id="39"/>
          <p:cNvGrpSpPr/>
          <p:nvPr/>
        </p:nvGrpSpPr>
        <p:grpSpPr>
          <a:xfrm rot="0">
            <a:off x="5561838" y="4951476"/>
            <a:ext cx="672084" cy="1769364"/>
            <a:chOff x="0" y="0"/>
            <a:chExt cx="896112" cy="2359152"/>
          </a:xfrm>
        </p:grpSpPr>
        <p:sp>
          <p:nvSpPr>
            <p:cNvPr name="Freeform 40" id="40"/>
            <p:cNvSpPr/>
            <p:nvPr/>
          </p:nvSpPr>
          <p:spPr>
            <a:xfrm flipH="false" flipV="false" rot="0">
              <a:off x="0" y="0"/>
              <a:ext cx="896112" cy="2359152"/>
            </a:xfrm>
            <a:custGeom>
              <a:avLst/>
              <a:gdLst/>
              <a:ahLst/>
              <a:cxnLst/>
              <a:rect r="r" b="b" t="t" l="l"/>
              <a:pathLst>
                <a:path h="2359152" w="896112">
                  <a:moveTo>
                    <a:pt x="0" y="0"/>
                  </a:moveTo>
                  <a:lnTo>
                    <a:pt x="896112" y="0"/>
                  </a:lnTo>
                  <a:lnTo>
                    <a:pt x="896112" y="2359152"/>
                  </a:lnTo>
                  <a:lnTo>
                    <a:pt x="0" y="2359152"/>
                  </a:lnTo>
                  <a:close/>
                </a:path>
              </a:pathLst>
            </a:custGeom>
            <a:solidFill>
              <a:srgbClr val="1F6F63"/>
            </a:solidFill>
          </p:spPr>
        </p:sp>
      </p:grpSp>
      <p:sp>
        <p:nvSpPr>
          <p:cNvPr name="TextBox 41" id="41"/>
          <p:cNvSpPr txBox="true"/>
          <p:nvPr/>
        </p:nvSpPr>
        <p:spPr>
          <a:xfrm rot="0">
            <a:off x="5314950" y="4559046"/>
            <a:ext cx="1165860" cy="364998"/>
          </a:xfrm>
          <a:prstGeom prst="rect">
            <a:avLst/>
          </a:prstGeom>
        </p:spPr>
        <p:txBody>
          <a:bodyPr anchor="t" rtlCol="false" tIns="0" lIns="0" bIns="0" rIns="0">
            <a:spAutoFit/>
          </a:bodyPr>
          <a:lstStyle/>
          <a:p>
            <a:pPr algn="ctr">
              <a:lnSpc>
                <a:spcPts val="2160"/>
              </a:lnSpc>
            </a:pPr>
            <a:r>
              <a:rPr lang="en-US" sz="1800" b="true">
                <a:solidFill>
                  <a:srgbClr val="1F6F63"/>
                </a:solidFill>
                <a:latin typeface="Noto Sans Bold"/>
                <a:ea typeface="Noto Sans Bold"/>
                <a:cs typeface="Noto Sans Bold"/>
                <a:sym typeface="Noto Sans Bold"/>
              </a:rPr>
              <a:t>48%</a:t>
            </a:r>
          </a:p>
        </p:txBody>
      </p:sp>
      <p:sp>
        <p:nvSpPr>
          <p:cNvPr name="TextBox 42" id="42"/>
          <p:cNvSpPr txBox="true"/>
          <p:nvPr/>
        </p:nvSpPr>
        <p:spPr>
          <a:xfrm rot="0">
            <a:off x="3703320" y="6849618"/>
            <a:ext cx="2880360" cy="666750"/>
          </a:xfrm>
          <a:prstGeom prst="rect">
            <a:avLst/>
          </a:prstGeom>
        </p:spPr>
        <p:txBody>
          <a:bodyPr anchor="t" rtlCol="false" tIns="0" lIns="0" bIns="0" rIns="0">
            <a:spAutoFit/>
          </a:bodyPr>
          <a:lstStyle/>
          <a:p>
            <a:pPr algn="ctr">
              <a:lnSpc>
                <a:spcPts val="2160"/>
              </a:lnSpc>
            </a:pPr>
            <a:r>
              <a:rPr lang="en-US" sz="1800">
                <a:solidFill>
                  <a:srgbClr val="1B2B2E"/>
                </a:solidFill>
                <a:latin typeface="Noto Sans"/>
                <a:ea typeface="Noto Sans"/>
                <a:cs typeface="Noto Sans"/>
                <a:sym typeface="Noto Sans"/>
              </a:rPr>
              <a:t>블라인드 테스트</a:t>
            </a:r>
          </a:p>
          <a:p>
            <a:pPr algn="ctr">
              <a:lnSpc>
                <a:spcPts val="2160"/>
              </a:lnSpc>
            </a:pPr>
            <a:r>
              <a:rPr lang="en-US" sz="1800">
                <a:solidFill>
                  <a:srgbClr val="1B2B2E"/>
                </a:solidFill>
                <a:latin typeface="Noto Sans"/>
                <a:ea typeface="Noto Sans"/>
                <a:cs typeface="Noto Sans"/>
                <a:sym typeface="Noto Sans"/>
              </a:rPr>
              <a:t>올바른 대응</a:t>
            </a:r>
          </a:p>
        </p:txBody>
      </p:sp>
      <p:grpSp>
        <p:nvGrpSpPr>
          <p:cNvPr name="Group 43" id="43"/>
          <p:cNvGrpSpPr/>
          <p:nvPr/>
        </p:nvGrpSpPr>
        <p:grpSpPr>
          <a:xfrm rot="0">
            <a:off x="6933438" y="4472273"/>
            <a:ext cx="672084" cy="2248567"/>
            <a:chOff x="0" y="0"/>
            <a:chExt cx="896112" cy="2998089"/>
          </a:xfrm>
        </p:grpSpPr>
        <p:sp>
          <p:nvSpPr>
            <p:cNvPr name="Freeform 44" id="44"/>
            <p:cNvSpPr/>
            <p:nvPr/>
          </p:nvSpPr>
          <p:spPr>
            <a:xfrm flipH="false" flipV="false" rot="0">
              <a:off x="0" y="0"/>
              <a:ext cx="896112" cy="2998089"/>
            </a:xfrm>
            <a:custGeom>
              <a:avLst/>
              <a:gdLst/>
              <a:ahLst/>
              <a:cxnLst/>
              <a:rect r="r" b="b" t="t" l="l"/>
              <a:pathLst>
                <a:path h="2998089" w="896112">
                  <a:moveTo>
                    <a:pt x="0" y="0"/>
                  </a:moveTo>
                  <a:lnTo>
                    <a:pt x="896112" y="0"/>
                  </a:lnTo>
                  <a:lnTo>
                    <a:pt x="896112" y="2998089"/>
                  </a:lnTo>
                  <a:lnTo>
                    <a:pt x="0" y="2998089"/>
                  </a:lnTo>
                  <a:close/>
                </a:path>
              </a:pathLst>
            </a:custGeom>
            <a:solidFill>
              <a:srgbClr val="C9D3D1"/>
            </a:solidFill>
          </p:spPr>
        </p:sp>
      </p:grpSp>
      <p:sp>
        <p:nvSpPr>
          <p:cNvPr name="TextBox 45" id="45"/>
          <p:cNvSpPr txBox="true"/>
          <p:nvPr/>
        </p:nvSpPr>
        <p:spPr>
          <a:xfrm rot="0">
            <a:off x="6686550" y="4079843"/>
            <a:ext cx="1165860" cy="364998"/>
          </a:xfrm>
          <a:prstGeom prst="rect">
            <a:avLst/>
          </a:prstGeom>
        </p:spPr>
        <p:txBody>
          <a:bodyPr anchor="t" rtlCol="false" tIns="0" lIns="0" bIns="0" rIns="0">
            <a:spAutoFit/>
          </a:bodyPr>
          <a:lstStyle/>
          <a:p>
            <a:pPr algn="ctr">
              <a:lnSpc>
                <a:spcPts val="2160"/>
              </a:lnSpc>
            </a:pPr>
            <a:r>
              <a:rPr lang="en-US" sz="1800">
                <a:solidFill>
                  <a:srgbClr val="45545A"/>
                </a:solidFill>
                <a:latin typeface="Noto Sans"/>
                <a:ea typeface="Noto Sans"/>
                <a:cs typeface="Noto Sans"/>
                <a:sym typeface="Noto Sans"/>
              </a:rPr>
              <a:t>61%</a:t>
            </a:r>
          </a:p>
        </p:txBody>
      </p:sp>
      <p:grpSp>
        <p:nvGrpSpPr>
          <p:cNvPr name="Group 46" id="46"/>
          <p:cNvGrpSpPr/>
          <p:nvPr/>
        </p:nvGrpSpPr>
        <p:grpSpPr>
          <a:xfrm rot="0">
            <a:off x="7687818" y="4398550"/>
            <a:ext cx="672084" cy="2322290"/>
            <a:chOff x="0" y="0"/>
            <a:chExt cx="896112" cy="3096387"/>
          </a:xfrm>
        </p:grpSpPr>
        <p:sp>
          <p:nvSpPr>
            <p:cNvPr name="Freeform 47" id="47"/>
            <p:cNvSpPr/>
            <p:nvPr/>
          </p:nvSpPr>
          <p:spPr>
            <a:xfrm flipH="false" flipV="false" rot="0">
              <a:off x="0" y="0"/>
              <a:ext cx="896112" cy="3096387"/>
            </a:xfrm>
            <a:custGeom>
              <a:avLst/>
              <a:gdLst/>
              <a:ahLst/>
              <a:cxnLst/>
              <a:rect r="r" b="b" t="t" l="l"/>
              <a:pathLst>
                <a:path h="3096387" w="896112">
                  <a:moveTo>
                    <a:pt x="0" y="0"/>
                  </a:moveTo>
                  <a:lnTo>
                    <a:pt x="896112" y="0"/>
                  </a:lnTo>
                  <a:lnTo>
                    <a:pt x="896112" y="3096387"/>
                  </a:lnTo>
                  <a:lnTo>
                    <a:pt x="0" y="3096387"/>
                  </a:lnTo>
                  <a:close/>
                </a:path>
              </a:pathLst>
            </a:custGeom>
            <a:solidFill>
              <a:srgbClr val="8FB3AA"/>
            </a:solidFill>
          </p:spPr>
        </p:sp>
      </p:grpSp>
      <p:sp>
        <p:nvSpPr>
          <p:cNvPr name="TextBox 48" id="48"/>
          <p:cNvSpPr txBox="true"/>
          <p:nvPr/>
        </p:nvSpPr>
        <p:spPr>
          <a:xfrm rot="0">
            <a:off x="7440930" y="4006120"/>
            <a:ext cx="1165860" cy="364998"/>
          </a:xfrm>
          <a:prstGeom prst="rect">
            <a:avLst/>
          </a:prstGeom>
        </p:spPr>
        <p:txBody>
          <a:bodyPr anchor="t" rtlCol="false" tIns="0" lIns="0" bIns="0" rIns="0">
            <a:spAutoFit/>
          </a:bodyPr>
          <a:lstStyle/>
          <a:p>
            <a:pPr algn="ctr">
              <a:lnSpc>
                <a:spcPts val="2160"/>
              </a:lnSpc>
            </a:pPr>
            <a:r>
              <a:rPr lang="en-US" sz="1800">
                <a:solidFill>
                  <a:srgbClr val="45545A"/>
                </a:solidFill>
                <a:latin typeface="Noto Sans"/>
                <a:ea typeface="Noto Sans"/>
                <a:cs typeface="Noto Sans"/>
                <a:sym typeface="Noto Sans"/>
              </a:rPr>
              <a:t>63%</a:t>
            </a:r>
          </a:p>
        </p:txBody>
      </p:sp>
      <p:grpSp>
        <p:nvGrpSpPr>
          <p:cNvPr name="Group 49" id="49"/>
          <p:cNvGrpSpPr/>
          <p:nvPr/>
        </p:nvGrpSpPr>
        <p:grpSpPr>
          <a:xfrm rot="0">
            <a:off x="8442198" y="4509135"/>
            <a:ext cx="672084" cy="2211705"/>
            <a:chOff x="0" y="0"/>
            <a:chExt cx="896112" cy="2948940"/>
          </a:xfrm>
        </p:grpSpPr>
        <p:sp>
          <p:nvSpPr>
            <p:cNvPr name="Freeform 50" id="50"/>
            <p:cNvSpPr/>
            <p:nvPr/>
          </p:nvSpPr>
          <p:spPr>
            <a:xfrm flipH="false" flipV="false" rot="0">
              <a:off x="0" y="0"/>
              <a:ext cx="896112" cy="2948940"/>
            </a:xfrm>
            <a:custGeom>
              <a:avLst/>
              <a:gdLst/>
              <a:ahLst/>
              <a:cxnLst/>
              <a:rect r="r" b="b" t="t" l="l"/>
              <a:pathLst>
                <a:path h="2948940" w="896112">
                  <a:moveTo>
                    <a:pt x="0" y="0"/>
                  </a:moveTo>
                  <a:lnTo>
                    <a:pt x="896112" y="0"/>
                  </a:lnTo>
                  <a:lnTo>
                    <a:pt x="896112" y="2948940"/>
                  </a:lnTo>
                  <a:lnTo>
                    <a:pt x="0" y="2948940"/>
                  </a:lnTo>
                  <a:close/>
                </a:path>
              </a:pathLst>
            </a:custGeom>
            <a:solidFill>
              <a:srgbClr val="1F6F63"/>
            </a:solidFill>
          </p:spPr>
        </p:sp>
      </p:grpSp>
      <p:sp>
        <p:nvSpPr>
          <p:cNvPr name="TextBox 51" id="51"/>
          <p:cNvSpPr txBox="true"/>
          <p:nvPr/>
        </p:nvSpPr>
        <p:spPr>
          <a:xfrm rot="0">
            <a:off x="8195310" y="4116705"/>
            <a:ext cx="1165860" cy="364998"/>
          </a:xfrm>
          <a:prstGeom prst="rect">
            <a:avLst/>
          </a:prstGeom>
        </p:spPr>
        <p:txBody>
          <a:bodyPr anchor="t" rtlCol="false" tIns="0" lIns="0" bIns="0" rIns="0">
            <a:spAutoFit/>
          </a:bodyPr>
          <a:lstStyle/>
          <a:p>
            <a:pPr algn="ctr">
              <a:lnSpc>
                <a:spcPts val="2160"/>
              </a:lnSpc>
            </a:pPr>
            <a:r>
              <a:rPr lang="en-US" sz="1800" b="true">
                <a:solidFill>
                  <a:srgbClr val="1F6F63"/>
                </a:solidFill>
                <a:latin typeface="Noto Sans Bold"/>
                <a:ea typeface="Noto Sans Bold"/>
                <a:cs typeface="Noto Sans Bold"/>
                <a:sym typeface="Noto Sans Bold"/>
              </a:rPr>
              <a:t>60%</a:t>
            </a:r>
          </a:p>
        </p:txBody>
      </p:sp>
      <p:sp>
        <p:nvSpPr>
          <p:cNvPr name="TextBox 52" id="52"/>
          <p:cNvSpPr txBox="true"/>
          <p:nvPr/>
        </p:nvSpPr>
        <p:spPr>
          <a:xfrm rot="0">
            <a:off x="6583680" y="6849618"/>
            <a:ext cx="2880360" cy="666750"/>
          </a:xfrm>
          <a:prstGeom prst="rect">
            <a:avLst/>
          </a:prstGeom>
        </p:spPr>
        <p:txBody>
          <a:bodyPr anchor="t" rtlCol="false" tIns="0" lIns="0" bIns="0" rIns="0">
            <a:spAutoFit/>
          </a:bodyPr>
          <a:lstStyle/>
          <a:p>
            <a:pPr algn="ctr">
              <a:lnSpc>
                <a:spcPts val="2160"/>
              </a:lnSpc>
            </a:pPr>
            <a:r>
              <a:rPr lang="en-US" sz="1800">
                <a:solidFill>
                  <a:srgbClr val="1B2B2E"/>
                </a:solidFill>
                <a:latin typeface="Noto Sans"/>
                <a:ea typeface="Noto Sans"/>
                <a:cs typeface="Noto Sans"/>
                <a:sym typeface="Noto Sans"/>
              </a:rPr>
              <a:t>개발셋</a:t>
            </a:r>
          </a:p>
          <a:p>
            <a:pPr algn="ctr">
              <a:lnSpc>
                <a:spcPts val="2160"/>
              </a:lnSpc>
            </a:pPr>
            <a:r>
              <a:rPr lang="en-US" sz="1800">
                <a:solidFill>
                  <a:srgbClr val="1B2B2E"/>
                </a:solidFill>
                <a:latin typeface="Noto Sans"/>
                <a:ea typeface="Noto Sans"/>
                <a:cs typeface="Noto Sans"/>
                <a:sym typeface="Noto Sans"/>
              </a:rPr>
              <a:t>올바른 대응</a:t>
            </a:r>
          </a:p>
        </p:txBody>
      </p:sp>
      <p:sp>
        <p:nvSpPr>
          <p:cNvPr name="AutoShape 53" id="53"/>
          <p:cNvSpPr/>
          <p:nvPr/>
        </p:nvSpPr>
        <p:spPr>
          <a:xfrm rot="3780">
            <a:off x="808663" y="6712001"/>
            <a:ext cx="8669693" cy="0"/>
          </a:xfrm>
          <a:prstGeom prst="line">
            <a:avLst/>
          </a:prstGeom>
          <a:ln cap="rnd" w="9525">
            <a:solidFill>
              <a:srgbClr val="D7E0DE"/>
            </a:solidFill>
            <a:prstDash val="solid"/>
            <a:headEnd type="none" len="sm" w="sm"/>
            <a:tailEnd type="none" len="sm" w="sm"/>
          </a:ln>
        </p:spPr>
      </p:sp>
      <p:grpSp>
        <p:nvGrpSpPr>
          <p:cNvPr name="Group 54" id="54"/>
          <p:cNvGrpSpPr/>
          <p:nvPr/>
        </p:nvGrpSpPr>
        <p:grpSpPr>
          <a:xfrm rot="0">
            <a:off x="1097280" y="7680960"/>
            <a:ext cx="274320" cy="274320"/>
            <a:chOff x="0" y="0"/>
            <a:chExt cx="365760" cy="365760"/>
          </a:xfrm>
        </p:grpSpPr>
        <p:sp>
          <p:nvSpPr>
            <p:cNvPr name="Freeform 55" id="55"/>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C9D3D1"/>
            </a:solidFill>
          </p:spPr>
        </p:sp>
      </p:grpSp>
      <p:grpSp>
        <p:nvGrpSpPr>
          <p:cNvPr name="Group 56" id="56"/>
          <p:cNvGrpSpPr/>
          <p:nvPr/>
        </p:nvGrpSpPr>
        <p:grpSpPr>
          <a:xfrm rot="0">
            <a:off x="1481328" y="7598664"/>
            <a:ext cx="2606040" cy="411480"/>
            <a:chOff x="0" y="0"/>
            <a:chExt cx="3474720" cy="548640"/>
          </a:xfrm>
        </p:grpSpPr>
        <p:sp>
          <p:nvSpPr>
            <p:cNvPr name="Freeform 57" id="57"/>
            <p:cNvSpPr/>
            <p:nvPr/>
          </p:nvSpPr>
          <p:spPr>
            <a:xfrm flipH="false" flipV="false" rot="0">
              <a:off x="0" y="0"/>
              <a:ext cx="3474720" cy="548640"/>
            </a:xfrm>
            <a:custGeom>
              <a:avLst/>
              <a:gdLst/>
              <a:ahLst/>
              <a:cxnLst/>
              <a:rect r="r" b="b" t="t" l="l"/>
              <a:pathLst>
                <a:path h="548640" w="3474720">
                  <a:moveTo>
                    <a:pt x="0" y="0"/>
                  </a:moveTo>
                  <a:lnTo>
                    <a:pt x="3474720" y="0"/>
                  </a:lnTo>
                  <a:lnTo>
                    <a:pt x="3474720" y="548640"/>
                  </a:lnTo>
                  <a:lnTo>
                    <a:pt x="0" y="548640"/>
                  </a:lnTo>
                  <a:close/>
                </a:path>
              </a:pathLst>
            </a:custGeom>
            <a:blipFill>
              <a:blip r:embed="rId3">
                <a:alphaModFix amt="0"/>
              </a:blip>
              <a:stretch>
                <a:fillRect l="0" t="-73319" r="0" b="-73319"/>
              </a:stretch>
            </a:blipFill>
          </p:spPr>
        </p:sp>
      </p:grpSp>
      <p:grpSp>
        <p:nvGrpSpPr>
          <p:cNvPr name="Group 58" id="58"/>
          <p:cNvGrpSpPr/>
          <p:nvPr/>
        </p:nvGrpSpPr>
        <p:grpSpPr>
          <a:xfrm rot="0">
            <a:off x="1481328" y="7605808"/>
            <a:ext cx="2606040" cy="404336"/>
            <a:chOff x="0" y="0"/>
            <a:chExt cx="3474720" cy="539115"/>
          </a:xfrm>
        </p:grpSpPr>
        <p:sp>
          <p:nvSpPr>
            <p:cNvPr name="Freeform 59" id="59"/>
            <p:cNvSpPr/>
            <p:nvPr/>
          </p:nvSpPr>
          <p:spPr>
            <a:xfrm flipH="false" flipV="false" rot="0">
              <a:off x="0" y="0"/>
              <a:ext cx="3474720" cy="539115"/>
            </a:xfrm>
            <a:custGeom>
              <a:avLst/>
              <a:gdLst/>
              <a:ahLst/>
              <a:cxnLst/>
              <a:rect r="r" b="b" t="t" l="l"/>
              <a:pathLst>
                <a:path h="539115" w="3474720">
                  <a:moveTo>
                    <a:pt x="0" y="0"/>
                  </a:moveTo>
                  <a:lnTo>
                    <a:pt x="3474720" y="0"/>
                  </a:lnTo>
                  <a:lnTo>
                    <a:pt x="3474720" y="539115"/>
                  </a:lnTo>
                  <a:lnTo>
                    <a:pt x="0" y="539115"/>
                  </a:lnTo>
                  <a:close/>
                </a:path>
              </a:pathLst>
            </a:custGeom>
            <a:blipFill>
              <a:blip r:embed="rId4">
                <a:alphaModFix amt="0"/>
              </a:blip>
              <a:stretch>
                <a:fillRect l="0" t="-75585" r="0" b="-75585"/>
              </a:stretch>
            </a:blipFill>
          </p:spPr>
        </p:sp>
        <p:sp>
          <p:nvSpPr>
            <p:cNvPr name="TextBox 60" id="60"/>
            <p:cNvSpPr txBox="true"/>
            <p:nvPr/>
          </p:nvSpPr>
          <p:spPr>
            <a:xfrm>
              <a:off x="0" y="9525"/>
              <a:ext cx="3474720" cy="529590"/>
            </a:xfrm>
            <a:prstGeom prst="rect">
              <a:avLst/>
            </a:prstGeom>
          </p:spPr>
          <p:txBody>
            <a:bodyPr anchor="ctr" rtlCol="false" tIns="0" lIns="0" bIns="0" rIns="0"/>
            <a:lstStyle/>
            <a:p>
              <a:pPr algn="l">
                <a:lnSpc>
                  <a:spcPts val="2070"/>
                </a:lnSpc>
              </a:pPr>
              <a:r>
                <a:rPr lang="en-US" sz="1725">
                  <a:solidFill>
                    <a:srgbClr val="1B2B2E"/>
                  </a:solidFill>
                  <a:latin typeface="Noto Sans"/>
                  <a:ea typeface="Noto Sans"/>
                  <a:cs typeface="Noto Sans"/>
                  <a:sym typeface="Noto Sans"/>
                </a:rPr>
                <a:t>비교 기준</a:t>
              </a:r>
            </a:p>
          </p:txBody>
        </p:sp>
      </p:grpSp>
      <p:grpSp>
        <p:nvGrpSpPr>
          <p:cNvPr name="Group 61" id="61"/>
          <p:cNvGrpSpPr/>
          <p:nvPr/>
        </p:nvGrpSpPr>
        <p:grpSpPr>
          <a:xfrm rot="0">
            <a:off x="3909060" y="7680960"/>
            <a:ext cx="274320" cy="274320"/>
            <a:chOff x="0" y="0"/>
            <a:chExt cx="365760" cy="365760"/>
          </a:xfrm>
        </p:grpSpPr>
        <p:sp>
          <p:nvSpPr>
            <p:cNvPr name="Freeform 62" id="62"/>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8FB3AA"/>
            </a:solidFill>
          </p:spPr>
        </p:sp>
      </p:grpSp>
      <p:grpSp>
        <p:nvGrpSpPr>
          <p:cNvPr name="Group 63" id="63"/>
          <p:cNvGrpSpPr/>
          <p:nvPr/>
        </p:nvGrpSpPr>
        <p:grpSpPr>
          <a:xfrm rot="0">
            <a:off x="4293108" y="7598664"/>
            <a:ext cx="2606040" cy="411480"/>
            <a:chOff x="0" y="0"/>
            <a:chExt cx="3474720" cy="548640"/>
          </a:xfrm>
        </p:grpSpPr>
        <p:sp>
          <p:nvSpPr>
            <p:cNvPr name="Freeform 64" id="64"/>
            <p:cNvSpPr/>
            <p:nvPr/>
          </p:nvSpPr>
          <p:spPr>
            <a:xfrm flipH="false" flipV="false" rot="0">
              <a:off x="0" y="0"/>
              <a:ext cx="3474720" cy="548640"/>
            </a:xfrm>
            <a:custGeom>
              <a:avLst/>
              <a:gdLst/>
              <a:ahLst/>
              <a:cxnLst/>
              <a:rect r="r" b="b" t="t" l="l"/>
              <a:pathLst>
                <a:path h="548640" w="3474720">
                  <a:moveTo>
                    <a:pt x="0" y="0"/>
                  </a:moveTo>
                  <a:lnTo>
                    <a:pt x="3474720" y="0"/>
                  </a:lnTo>
                  <a:lnTo>
                    <a:pt x="3474720" y="548640"/>
                  </a:lnTo>
                  <a:lnTo>
                    <a:pt x="0" y="548640"/>
                  </a:lnTo>
                  <a:close/>
                </a:path>
              </a:pathLst>
            </a:custGeom>
            <a:blipFill>
              <a:blip r:embed="rId3">
                <a:alphaModFix amt="0"/>
              </a:blip>
              <a:stretch>
                <a:fillRect l="0" t="-73319" r="0" b="-73319"/>
              </a:stretch>
            </a:blipFill>
          </p:spPr>
        </p:sp>
      </p:grpSp>
      <p:grpSp>
        <p:nvGrpSpPr>
          <p:cNvPr name="Group 65" id="65"/>
          <p:cNvGrpSpPr/>
          <p:nvPr/>
        </p:nvGrpSpPr>
        <p:grpSpPr>
          <a:xfrm rot="0">
            <a:off x="4293108" y="7605808"/>
            <a:ext cx="2606040" cy="404336"/>
            <a:chOff x="0" y="0"/>
            <a:chExt cx="3474720" cy="539115"/>
          </a:xfrm>
        </p:grpSpPr>
        <p:sp>
          <p:nvSpPr>
            <p:cNvPr name="Freeform 66" id="66"/>
            <p:cNvSpPr/>
            <p:nvPr/>
          </p:nvSpPr>
          <p:spPr>
            <a:xfrm flipH="false" flipV="false" rot="0">
              <a:off x="0" y="0"/>
              <a:ext cx="3474720" cy="539115"/>
            </a:xfrm>
            <a:custGeom>
              <a:avLst/>
              <a:gdLst/>
              <a:ahLst/>
              <a:cxnLst/>
              <a:rect r="r" b="b" t="t" l="l"/>
              <a:pathLst>
                <a:path h="539115" w="3474720">
                  <a:moveTo>
                    <a:pt x="0" y="0"/>
                  </a:moveTo>
                  <a:lnTo>
                    <a:pt x="3474720" y="0"/>
                  </a:lnTo>
                  <a:lnTo>
                    <a:pt x="3474720" y="539115"/>
                  </a:lnTo>
                  <a:lnTo>
                    <a:pt x="0" y="539115"/>
                  </a:lnTo>
                  <a:close/>
                </a:path>
              </a:pathLst>
            </a:custGeom>
            <a:blipFill>
              <a:blip r:embed="rId4">
                <a:alphaModFix amt="0"/>
              </a:blip>
              <a:stretch>
                <a:fillRect l="0" t="-75585" r="0" b="-75585"/>
              </a:stretch>
            </a:blipFill>
          </p:spPr>
        </p:sp>
        <p:sp>
          <p:nvSpPr>
            <p:cNvPr name="TextBox 67" id="67"/>
            <p:cNvSpPr txBox="true"/>
            <p:nvPr/>
          </p:nvSpPr>
          <p:spPr>
            <a:xfrm>
              <a:off x="0" y="9525"/>
              <a:ext cx="3474720" cy="529590"/>
            </a:xfrm>
            <a:prstGeom prst="rect">
              <a:avLst/>
            </a:prstGeom>
          </p:spPr>
          <p:txBody>
            <a:bodyPr anchor="ctr" rtlCol="false" tIns="0" lIns="0" bIns="0" rIns="0"/>
            <a:lstStyle/>
            <a:p>
              <a:pPr algn="l">
                <a:lnSpc>
                  <a:spcPts val="2070"/>
                </a:lnSpc>
              </a:pPr>
              <a:r>
                <a:rPr lang="en-US" sz="1725">
                  <a:solidFill>
                    <a:srgbClr val="1B2B2E"/>
                  </a:solidFill>
                  <a:latin typeface="Noto Sans"/>
                  <a:ea typeface="Noto Sans"/>
                  <a:cs typeface="Noto Sans"/>
                  <a:sym typeface="Noto Sans"/>
                </a:rPr>
                <a:t>근거 판정 · 답변</a:t>
              </a:r>
            </a:p>
          </p:txBody>
        </p:sp>
      </p:grpSp>
      <p:grpSp>
        <p:nvGrpSpPr>
          <p:cNvPr name="Group 68" id="68"/>
          <p:cNvGrpSpPr/>
          <p:nvPr/>
        </p:nvGrpSpPr>
        <p:grpSpPr>
          <a:xfrm rot="0">
            <a:off x="6720840" y="7680960"/>
            <a:ext cx="274320" cy="274320"/>
            <a:chOff x="0" y="0"/>
            <a:chExt cx="365760" cy="365760"/>
          </a:xfrm>
        </p:grpSpPr>
        <p:sp>
          <p:nvSpPr>
            <p:cNvPr name="Freeform 69" id="69"/>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1F6F63"/>
            </a:solidFill>
          </p:spPr>
        </p:sp>
      </p:grpSp>
      <p:grpSp>
        <p:nvGrpSpPr>
          <p:cNvPr name="Group 70" id="70"/>
          <p:cNvGrpSpPr/>
          <p:nvPr/>
        </p:nvGrpSpPr>
        <p:grpSpPr>
          <a:xfrm rot="0">
            <a:off x="7104888" y="7598664"/>
            <a:ext cx="2606040" cy="411480"/>
            <a:chOff x="0" y="0"/>
            <a:chExt cx="3474720" cy="548640"/>
          </a:xfrm>
        </p:grpSpPr>
        <p:sp>
          <p:nvSpPr>
            <p:cNvPr name="Freeform 71" id="71"/>
            <p:cNvSpPr/>
            <p:nvPr/>
          </p:nvSpPr>
          <p:spPr>
            <a:xfrm flipH="false" flipV="false" rot="0">
              <a:off x="0" y="0"/>
              <a:ext cx="3474720" cy="548640"/>
            </a:xfrm>
            <a:custGeom>
              <a:avLst/>
              <a:gdLst/>
              <a:ahLst/>
              <a:cxnLst/>
              <a:rect r="r" b="b" t="t" l="l"/>
              <a:pathLst>
                <a:path h="548640" w="3474720">
                  <a:moveTo>
                    <a:pt x="0" y="0"/>
                  </a:moveTo>
                  <a:lnTo>
                    <a:pt x="3474720" y="0"/>
                  </a:lnTo>
                  <a:lnTo>
                    <a:pt x="3474720" y="548640"/>
                  </a:lnTo>
                  <a:lnTo>
                    <a:pt x="0" y="548640"/>
                  </a:lnTo>
                  <a:close/>
                </a:path>
              </a:pathLst>
            </a:custGeom>
            <a:blipFill>
              <a:blip r:embed="rId3">
                <a:alphaModFix amt="0"/>
              </a:blip>
              <a:stretch>
                <a:fillRect l="0" t="-73319" r="0" b="-73319"/>
              </a:stretch>
            </a:blipFill>
          </p:spPr>
        </p:sp>
      </p:grpSp>
      <p:grpSp>
        <p:nvGrpSpPr>
          <p:cNvPr name="Group 72" id="72"/>
          <p:cNvGrpSpPr/>
          <p:nvPr/>
        </p:nvGrpSpPr>
        <p:grpSpPr>
          <a:xfrm rot="0">
            <a:off x="7104888" y="7605808"/>
            <a:ext cx="2606040" cy="404336"/>
            <a:chOff x="0" y="0"/>
            <a:chExt cx="3474720" cy="539115"/>
          </a:xfrm>
        </p:grpSpPr>
        <p:sp>
          <p:nvSpPr>
            <p:cNvPr name="Freeform 73" id="73"/>
            <p:cNvSpPr/>
            <p:nvPr/>
          </p:nvSpPr>
          <p:spPr>
            <a:xfrm flipH="false" flipV="false" rot="0">
              <a:off x="0" y="0"/>
              <a:ext cx="3474720" cy="539115"/>
            </a:xfrm>
            <a:custGeom>
              <a:avLst/>
              <a:gdLst/>
              <a:ahLst/>
              <a:cxnLst/>
              <a:rect r="r" b="b" t="t" l="l"/>
              <a:pathLst>
                <a:path h="539115" w="3474720">
                  <a:moveTo>
                    <a:pt x="0" y="0"/>
                  </a:moveTo>
                  <a:lnTo>
                    <a:pt x="3474720" y="0"/>
                  </a:lnTo>
                  <a:lnTo>
                    <a:pt x="3474720" y="539115"/>
                  </a:lnTo>
                  <a:lnTo>
                    <a:pt x="0" y="539115"/>
                  </a:lnTo>
                  <a:close/>
                </a:path>
              </a:pathLst>
            </a:custGeom>
            <a:blipFill>
              <a:blip r:embed="rId4">
                <a:alphaModFix amt="0"/>
              </a:blip>
              <a:stretch>
                <a:fillRect l="0" t="-75585" r="0" b="-75585"/>
              </a:stretch>
            </a:blipFill>
          </p:spPr>
        </p:sp>
        <p:sp>
          <p:nvSpPr>
            <p:cNvPr name="TextBox 74" id="74"/>
            <p:cNvSpPr txBox="true"/>
            <p:nvPr/>
          </p:nvSpPr>
          <p:spPr>
            <a:xfrm>
              <a:off x="0" y="9525"/>
              <a:ext cx="3474720" cy="529590"/>
            </a:xfrm>
            <a:prstGeom prst="rect">
              <a:avLst/>
            </a:prstGeom>
          </p:spPr>
          <p:txBody>
            <a:bodyPr anchor="ctr" rtlCol="false" tIns="0" lIns="0" bIns="0" rIns="0"/>
            <a:lstStyle/>
            <a:p>
              <a:pPr algn="l">
                <a:lnSpc>
                  <a:spcPts val="2070"/>
                </a:lnSpc>
              </a:pPr>
              <a:r>
                <a:rPr lang="en-US" sz="1725">
                  <a:solidFill>
                    <a:srgbClr val="1B2B2E"/>
                  </a:solidFill>
                  <a:latin typeface="Noto Sans"/>
                  <a:ea typeface="Noto Sans"/>
                  <a:cs typeface="Noto Sans"/>
                  <a:sym typeface="Noto Sans"/>
                </a:rPr>
                <a:t>MES 반영 · 규칙 보완</a:t>
              </a:r>
            </a:p>
          </p:txBody>
        </p:sp>
      </p:grpSp>
      <p:graphicFrame>
        <p:nvGraphicFramePr>
          <p:cNvPr name="Table 75" id="75"/>
          <p:cNvGraphicFramePr>
            <a:graphicFrameLocks noGrp="true"/>
          </p:cNvGraphicFramePr>
          <p:nvPr/>
        </p:nvGraphicFramePr>
        <p:xfrm>
          <a:off x="9875520" y="2674620"/>
          <a:ext cx="7518400" cy="4330700"/>
        </p:xfrm>
        <a:graphic>
          <a:graphicData uri="http://schemas.openxmlformats.org/drawingml/2006/table">
            <a:tbl>
              <a:tblPr/>
              <a:tblGrid>
                <a:gridCol w="2954674"/>
                <a:gridCol w="1442337"/>
                <a:gridCol w="1508091"/>
                <a:gridCol w="1613297"/>
              </a:tblGrid>
              <a:tr h="948374">
                <a:tc>
                  <a:txBody>
                    <a:bodyPr anchor="t" rtlCol="false"/>
                    <a:lstStyle/>
                    <a:p>
                      <a:pPr algn="l">
                        <a:lnSpc>
                          <a:spcPts val="2340"/>
                        </a:lnSpc>
                        <a:defRPr/>
                      </a:pPr>
                      <a:r>
                        <a:rPr lang="en-US" sz="1950" b="true">
                          <a:solidFill>
                            <a:srgbClr val="FFFFFF"/>
                          </a:solidFill>
                          <a:latin typeface="Noto Sans Bold"/>
                          <a:ea typeface="Noto Sans Bold"/>
                          <a:cs typeface="Noto Sans Bold"/>
                          <a:sym typeface="Noto Sans Bold"/>
                        </a:rPr>
                        <a:t>지표</a:t>
                      </a:r>
                      <a:endParaRPr lang="en-US" sz="1100"/>
                    </a:p>
                  </a:txBody>
                  <a:tcPr marL="73152" marR="73152" marT="73152" marB="73152"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1F6F63"/>
                    </a:solidFill>
                  </a:tcPr>
                </a:tc>
                <a:tc>
                  <a:txBody>
                    <a:bodyPr anchor="t" rtlCol="false"/>
                    <a:lstStyle/>
                    <a:p>
                      <a:pPr algn="ctr">
                        <a:lnSpc>
                          <a:spcPts val="2070"/>
                        </a:lnSpc>
                        <a:defRPr/>
                      </a:pPr>
                      <a:r>
                        <a:rPr lang="en-US" sz="1725" b="true">
                          <a:solidFill>
                            <a:srgbClr val="FFFFFF"/>
                          </a:solidFill>
                          <a:latin typeface="Noto Sans Bold"/>
                          <a:ea typeface="Noto Sans Bold"/>
                          <a:cs typeface="Noto Sans Bold"/>
                          <a:sym typeface="Noto Sans Bold"/>
                        </a:rPr>
                        <a:t>비교</a:t>
                      </a:r>
                      <a:endParaRPr lang="en-US" sz="1100"/>
                    </a:p>
                    <a:p>
                      <a:pPr algn="ctr">
                        <a:lnSpc>
                          <a:spcPts val="2070"/>
                        </a:lnSpc>
                      </a:pPr>
                      <a:r>
                        <a:rPr lang="en-US" sz="1725" b="true">
                          <a:solidFill>
                            <a:srgbClr val="FFFFFF"/>
                          </a:solidFill>
                          <a:latin typeface="Noto Sans Bold"/>
                          <a:ea typeface="Noto Sans Bold"/>
                          <a:cs typeface="Noto Sans Bold"/>
                          <a:sym typeface="Noto Sans Bold"/>
                        </a:rPr>
                        <a:t>기준</a:t>
                      </a:r>
                    </a:p>
                  </a:txBody>
                  <a:tcPr marL="73152" marR="73152" marT="73152" marB="73152"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1F6F63"/>
                    </a:solidFill>
                  </a:tcPr>
                </a:tc>
                <a:tc>
                  <a:txBody>
                    <a:bodyPr anchor="t" rtlCol="false"/>
                    <a:lstStyle/>
                    <a:p>
                      <a:pPr algn="ctr">
                        <a:lnSpc>
                          <a:spcPts val="2070"/>
                        </a:lnSpc>
                        <a:defRPr/>
                      </a:pPr>
                      <a:r>
                        <a:rPr lang="en-US" sz="1725" b="true">
                          <a:solidFill>
                            <a:srgbClr val="FFFFFF"/>
                          </a:solidFill>
                          <a:latin typeface="Noto Sans Bold"/>
                          <a:ea typeface="Noto Sans Bold"/>
                          <a:cs typeface="Noto Sans Bold"/>
                          <a:sym typeface="Noto Sans Bold"/>
                        </a:rPr>
                        <a:t>근거 판정</a:t>
                      </a:r>
                      <a:endParaRPr lang="en-US" sz="1100"/>
                    </a:p>
                    <a:p>
                      <a:pPr algn="ctr">
                        <a:lnSpc>
                          <a:spcPts val="2070"/>
                        </a:lnSpc>
                      </a:pPr>
                      <a:r>
                        <a:rPr lang="en-US" sz="1725" b="true">
                          <a:solidFill>
                            <a:srgbClr val="FFFFFF"/>
                          </a:solidFill>
                          <a:latin typeface="Noto Sans Bold"/>
                          <a:ea typeface="Noto Sans Bold"/>
                          <a:cs typeface="Noto Sans Bold"/>
                          <a:sym typeface="Noto Sans Bold"/>
                        </a:rPr>
                        <a:t>· 답변</a:t>
                      </a:r>
                    </a:p>
                  </a:txBody>
                  <a:tcPr marL="73152" marR="73152" marT="73152" marB="73152"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1F6F63"/>
                    </a:solidFill>
                  </a:tcPr>
                </a:tc>
                <a:tc>
                  <a:txBody>
                    <a:bodyPr anchor="t" rtlCol="false"/>
                    <a:lstStyle/>
                    <a:p>
                      <a:pPr algn="ctr">
                        <a:lnSpc>
                          <a:spcPts val="2070"/>
                        </a:lnSpc>
                        <a:defRPr/>
                      </a:pPr>
                      <a:r>
                        <a:rPr lang="en-US" sz="1725" b="true">
                          <a:solidFill>
                            <a:srgbClr val="FFFFFF"/>
                          </a:solidFill>
                          <a:latin typeface="Noto Sans Bold"/>
                          <a:ea typeface="Noto Sans Bold"/>
                          <a:cs typeface="Noto Sans Bold"/>
                          <a:sym typeface="Noto Sans Bold"/>
                        </a:rPr>
                        <a:t>MES 반영</a:t>
                      </a:r>
                      <a:endParaRPr lang="en-US" sz="1100"/>
                    </a:p>
                    <a:p>
                      <a:pPr algn="ctr">
                        <a:lnSpc>
                          <a:spcPts val="2070"/>
                        </a:lnSpc>
                      </a:pPr>
                      <a:r>
                        <a:rPr lang="en-US" sz="1725" b="true">
                          <a:solidFill>
                            <a:srgbClr val="FFFFFF"/>
                          </a:solidFill>
                          <a:latin typeface="Noto Sans Bold"/>
                          <a:ea typeface="Noto Sans Bold"/>
                          <a:cs typeface="Noto Sans Bold"/>
                          <a:sym typeface="Noto Sans Bold"/>
                        </a:rPr>
                        <a:t>· 규칙 보완</a:t>
                      </a:r>
                    </a:p>
                  </a:txBody>
                  <a:tcPr marL="73152" marR="73152" marT="73152" marB="73152"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1F6F63"/>
                    </a:solidFill>
                  </a:tcPr>
                </a:tc>
              </a:tr>
              <a:tr h="676465">
                <a:tc>
                  <a:txBody>
                    <a:bodyPr anchor="t" rtlCol="false"/>
                    <a:lstStyle/>
                    <a:p>
                      <a:pPr algn="l">
                        <a:lnSpc>
                          <a:spcPts val="2340"/>
                        </a:lnSpc>
                        <a:defRPr/>
                      </a:pPr>
                      <a:r>
                        <a:rPr lang="en-US" sz="1950">
                          <a:solidFill>
                            <a:srgbClr val="1B2B2E"/>
                          </a:solidFill>
                          <a:latin typeface="Noto Sans"/>
                          <a:ea typeface="Noto Sans"/>
                          <a:cs typeface="Noto Sans"/>
                          <a:sym typeface="Noto Sans"/>
                        </a:rPr>
                        <a:t>현재 MES 값 표시 /42</a:t>
                      </a:r>
                      <a:endParaRPr lang="en-US" sz="1100"/>
                    </a:p>
                  </a:txBody>
                  <a:tcPr marL="73152" marR="73152" marT="73152" marB="73152"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1B2B2E"/>
                          </a:solidFill>
                          <a:latin typeface="Noto Sans"/>
                          <a:ea typeface="Noto Sans"/>
                          <a:cs typeface="Noto Sans"/>
                          <a:sym typeface="Noto Sans"/>
                        </a:rPr>
                        <a:t>6</a:t>
                      </a:r>
                      <a:endParaRPr lang="en-US" sz="1100"/>
                    </a:p>
                  </a:txBody>
                  <a:tcPr marL="73152" marR="73152" marT="73152" marB="73152"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1B2B2E"/>
                          </a:solidFill>
                          <a:latin typeface="Noto Sans"/>
                          <a:ea typeface="Noto Sans"/>
                          <a:cs typeface="Noto Sans"/>
                          <a:sym typeface="Noto Sans"/>
                        </a:rPr>
                        <a:t>0</a:t>
                      </a:r>
                      <a:endParaRPr lang="en-US" sz="1100"/>
                    </a:p>
                  </a:txBody>
                  <a:tcPr marL="73152" marR="73152" marT="73152" marB="73152"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b="true">
                          <a:solidFill>
                            <a:srgbClr val="1F6F63"/>
                          </a:solidFill>
                          <a:latin typeface="Noto Sans Bold"/>
                          <a:ea typeface="Noto Sans Bold"/>
                          <a:cs typeface="Noto Sans Bold"/>
                          <a:sym typeface="Noto Sans Bold"/>
                        </a:rPr>
                        <a:t>42</a:t>
                      </a:r>
                      <a:endParaRPr lang="en-US" sz="1100"/>
                    </a:p>
                  </a:txBody>
                  <a:tcPr marL="73152" marR="73152" marT="73152" marB="73152"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FFFFFF"/>
                    </a:solidFill>
                  </a:tcPr>
                </a:tc>
              </a:tr>
              <a:tr h="676465">
                <a:tc>
                  <a:txBody>
                    <a:bodyPr anchor="t" rtlCol="false"/>
                    <a:lstStyle/>
                    <a:p>
                      <a:pPr algn="l">
                        <a:lnSpc>
                          <a:spcPts val="2340"/>
                        </a:lnSpc>
                        <a:defRPr/>
                      </a:pPr>
                      <a:r>
                        <a:rPr lang="en-US" sz="1950">
                          <a:solidFill>
                            <a:srgbClr val="1B2B2E"/>
                          </a:solidFill>
                          <a:latin typeface="Noto Sans"/>
                          <a:ea typeface="Noto Sans"/>
                          <a:cs typeface="Noto Sans"/>
                          <a:sym typeface="Noto Sans"/>
                        </a:rPr>
                        <a:t>경보 구분 /8</a:t>
                      </a:r>
                      <a:endParaRPr lang="en-US" sz="1100"/>
                    </a:p>
                  </a:txBody>
                  <a:tcPr marL="73152" marR="73152" marT="73152" marB="73152"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1B2B2E"/>
                          </a:solidFill>
                          <a:latin typeface="Noto Sans"/>
                          <a:ea typeface="Noto Sans"/>
                          <a:cs typeface="Noto Sans"/>
                          <a:sym typeface="Noto Sans"/>
                        </a:rPr>
                        <a:t>0</a:t>
                      </a:r>
                      <a:endParaRPr lang="en-US" sz="1100"/>
                    </a:p>
                  </a:txBody>
                  <a:tcPr marL="73152" marR="73152" marT="73152" marB="73152"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1B2B2E"/>
                          </a:solidFill>
                          <a:latin typeface="Noto Sans"/>
                          <a:ea typeface="Noto Sans"/>
                          <a:cs typeface="Noto Sans"/>
                          <a:sym typeface="Noto Sans"/>
                        </a:rPr>
                        <a:t>2</a:t>
                      </a:r>
                      <a:endParaRPr lang="en-US" sz="1100"/>
                    </a:p>
                  </a:txBody>
                  <a:tcPr marL="73152" marR="73152" marT="73152" marB="73152"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b="true">
                          <a:solidFill>
                            <a:srgbClr val="1F6F63"/>
                          </a:solidFill>
                          <a:latin typeface="Noto Sans Bold"/>
                          <a:ea typeface="Noto Sans Bold"/>
                          <a:cs typeface="Noto Sans Bold"/>
                          <a:sym typeface="Noto Sans Bold"/>
                        </a:rPr>
                        <a:t>7</a:t>
                      </a:r>
                      <a:endParaRPr lang="en-US" sz="1100"/>
                    </a:p>
                  </a:txBody>
                  <a:tcPr marL="73152" marR="73152" marT="73152" marB="73152"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FFFFFF"/>
                    </a:solidFill>
                  </a:tcPr>
                </a:tc>
              </a:tr>
              <a:tr h="676465">
                <a:tc>
                  <a:txBody>
                    <a:bodyPr anchor="t" rtlCol="false"/>
                    <a:lstStyle/>
                    <a:p>
                      <a:pPr algn="l">
                        <a:lnSpc>
                          <a:spcPts val="2340"/>
                        </a:lnSpc>
                        <a:defRPr/>
                      </a:pPr>
                      <a:r>
                        <a:rPr lang="en-US" sz="1950">
                          <a:solidFill>
                            <a:srgbClr val="1B2B2E"/>
                          </a:solidFill>
                          <a:latin typeface="Noto Sans"/>
                          <a:ea typeface="Noto Sans"/>
                          <a:cs typeface="Noto Sans"/>
                          <a:sym typeface="Noto Sans"/>
                        </a:rPr>
                        <a:t>현재 상태와 모순 (건)</a:t>
                      </a:r>
                      <a:endParaRPr lang="en-US" sz="1100"/>
                    </a:p>
                  </a:txBody>
                  <a:tcPr marL="73152" marR="73152" marT="73152" marB="73152"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1B2B2E"/>
                          </a:solidFill>
                          <a:latin typeface="Noto Sans"/>
                          <a:ea typeface="Noto Sans"/>
                          <a:cs typeface="Noto Sans"/>
                          <a:sym typeface="Noto Sans"/>
                        </a:rPr>
                        <a:t>1</a:t>
                      </a:r>
                      <a:endParaRPr lang="en-US" sz="1100"/>
                    </a:p>
                  </a:txBody>
                  <a:tcPr marL="73152" marR="73152" marT="73152" marB="73152"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1B2B2E"/>
                          </a:solidFill>
                          <a:latin typeface="Noto Sans"/>
                          <a:ea typeface="Noto Sans"/>
                          <a:cs typeface="Noto Sans"/>
                          <a:sym typeface="Noto Sans"/>
                        </a:rPr>
                        <a:t>12</a:t>
                      </a:r>
                      <a:endParaRPr lang="en-US" sz="1100"/>
                    </a:p>
                  </a:txBody>
                  <a:tcPr marL="73152" marR="73152" marT="73152" marB="73152"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b="true">
                          <a:solidFill>
                            <a:srgbClr val="1F6F63"/>
                          </a:solidFill>
                          <a:latin typeface="Noto Sans Bold"/>
                          <a:ea typeface="Noto Sans Bold"/>
                          <a:cs typeface="Noto Sans Bold"/>
                          <a:sym typeface="Noto Sans Bold"/>
                        </a:rPr>
                        <a:t>0</a:t>
                      </a:r>
                      <a:endParaRPr lang="en-US" sz="1100"/>
                    </a:p>
                  </a:txBody>
                  <a:tcPr marL="73152" marR="73152" marT="73152" marB="73152"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FFFFFF"/>
                    </a:solidFill>
                  </a:tcPr>
                </a:tc>
              </a:tr>
              <a:tr h="676465">
                <a:tc>
                  <a:txBody>
                    <a:bodyPr anchor="t" rtlCol="false"/>
                    <a:lstStyle/>
                    <a:p>
                      <a:pPr algn="l">
                        <a:lnSpc>
                          <a:spcPts val="2340"/>
                        </a:lnSpc>
                        <a:defRPr/>
                      </a:pPr>
                      <a:r>
                        <a:rPr lang="en-US" sz="1950">
                          <a:solidFill>
                            <a:srgbClr val="1B2B2E"/>
                          </a:solidFill>
                          <a:latin typeface="Noto Sans"/>
                          <a:ea typeface="Noto Sans"/>
                          <a:cs typeface="Noto Sans"/>
                          <a:sym typeface="Noto Sans"/>
                        </a:rPr>
                        <a:t>응답 시간 p95 (초)</a:t>
                      </a:r>
                      <a:endParaRPr lang="en-US" sz="1100"/>
                    </a:p>
                  </a:txBody>
                  <a:tcPr marL="73152" marR="73152" marT="73152" marB="73152"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1B2B2E"/>
                          </a:solidFill>
                          <a:latin typeface="Noto Sans"/>
                          <a:ea typeface="Noto Sans"/>
                          <a:cs typeface="Noto Sans"/>
                          <a:sym typeface="Noto Sans"/>
                        </a:rPr>
                        <a:t>7.4</a:t>
                      </a:r>
                      <a:endParaRPr lang="en-US" sz="1100"/>
                    </a:p>
                  </a:txBody>
                  <a:tcPr marL="73152" marR="73152" marT="73152" marB="73152"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1B2B2E"/>
                          </a:solidFill>
                          <a:latin typeface="Noto Sans"/>
                          <a:ea typeface="Noto Sans"/>
                          <a:cs typeface="Noto Sans"/>
                          <a:sym typeface="Noto Sans"/>
                        </a:rPr>
                        <a:t>9.0</a:t>
                      </a:r>
                      <a:endParaRPr lang="en-US" sz="1100"/>
                    </a:p>
                  </a:txBody>
                  <a:tcPr marL="73152" marR="73152" marT="73152" marB="73152"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b="true">
                          <a:solidFill>
                            <a:srgbClr val="1F6F63"/>
                          </a:solidFill>
                          <a:latin typeface="Noto Sans Bold"/>
                          <a:ea typeface="Noto Sans Bold"/>
                          <a:cs typeface="Noto Sans Bold"/>
                          <a:sym typeface="Noto Sans Bold"/>
                        </a:rPr>
                        <a:t>10.5</a:t>
                      </a:r>
                      <a:endParaRPr lang="en-US" sz="1100"/>
                    </a:p>
                  </a:txBody>
                  <a:tcPr marL="73152" marR="73152" marT="73152" marB="73152"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FFFFFF"/>
                    </a:solidFill>
                  </a:tcPr>
                </a:tc>
              </a:tr>
              <a:tr h="676465">
                <a:tc>
                  <a:txBody>
                    <a:bodyPr anchor="t" rtlCol="false"/>
                    <a:lstStyle/>
                    <a:p>
                      <a:pPr algn="l">
                        <a:lnSpc>
                          <a:spcPts val="2340"/>
                        </a:lnSpc>
                        <a:defRPr/>
                      </a:pPr>
                      <a:r>
                        <a:rPr lang="en-US" sz="1950">
                          <a:solidFill>
                            <a:srgbClr val="1B2B2E"/>
                          </a:solidFill>
                          <a:latin typeface="Noto Sans"/>
                          <a:ea typeface="Noto Sans"/>
                          <a:cs typeface="Noto Sans"/>
                          <a:sym typeface="Noto Sans"/>
                        </a:rPr>
                        <a:t>여유 메모리 (MiB)</a:t>
                      </a:r>
                      <a:endParaRPr lang="en-US" sz="1100"/>
                    </a:p>
                  </a:txBody>
                  <a:tcPr marL="73152" marR="73152" marT="73152" marB="73152"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1B2B2E"/>
                          </a:solidFill>
                          <a:latin typeface="Noto Sans"/>
                          <a:ea typeface="Noto Sans"/>
                          <a:cs typeface="Noto Sans"/>
                          <a:sym typeface="Noto Sans"/>
                        </a:rPr>
                        <a:t>1,299</a:t>
                      </a:r>
                      <a:endParaRPr lang="en-US" sz="1100"/>
                    </a:p>
                  </a:txBody>
                  <a:tcPr marL="73152" marR="73152" marT="73152" marB="73152"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a:solidFill>
                            <a:srgbClr val="1B2B2E"/>
                          </a:solidFill>
                          <a:latin typeface="Noto Sans"/>
                          <a:ea typeface="Noto Sans"/>
                          <a:cs typeface="Noto Sans"/>
                          <a:sym typeface="Noto Sans"/>
                        </a:rPr>
                        <a:t>1,163</a:t>
                      </a:r>
                      <a:endParaRPr lang="en-US" sz="1100"/>
                    </a:p>
                  </a:txBody>
                  <a:tcPr marL="73152" marR="73152" marT="73152" marB="73152"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FFFFFF"/>
                    </a:solidFill>
                  </a:tcPr>
                </a:tc>
                <a:tc>
                  <a:txBody>
                    <a:bodyPr anchor="t" rtlCol="false"/>
                    <a:lstStyle/>
                    <a:p>
                      <a:pPr algn="ctr">
                        <a:lnSpc>
                          <a:spcPts val="2340"/>
                        </a:lnSpc>
                        <a:defRPr/>
                      </a:pPr>
                      <a:r>
                        <a:rPr lang="en-US" sz="1950" b="true">
                          <a:solidFill>
                            <a:srgbClr val="1F6F63"/>
                          </a:solidFill>
                          <a:latin typeface="Noto Sans Bold"/>
                          <a:ea typeface="Noto Sans Bold"/>
                          <a:cs typeface="Noto Sans Bold"/>
                          <a:sym typeface="Noto Sans Bold"/>
                        </a:rPr>
                        <a:t>1,035</a:t>
                      </a:r>
                      <a:endParaRPr lang="en-US" sz="1100"/>
                    </a:p>
                  </a:txBody>
                  <a:tcPr marL="73152" marR="73152" marT="73152" marB="73152"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FFFFFF"/>
                    </a:solidFill>
                  </a:tcPr>
                </a:tc>
              </a:tr>
            </a:tbl>
          </a:graphicData>
        </a:graphic>
      </p:graphicFrame>
      <p:grpSp>
        <p:nvGrpSpPr>
          <p:cNvPr name="Group 76" id="76"/>
          <p:cNvGrpSpPr/>
          <p:nvPr/>
        </p:nvGrpSpPr>
        <p:grpSpPr>
          <a:xfrm rot="0">
            <a:off x="15777048" y="3597240"/>
            <a:ext cx="1596095" cy="3408080"/>
            <a:chOff x="0" y="0"/>
            <a:chExt cx="2128126" cy="4544107"/>
          </a:xfrm>
        </p:grpSpPr>
        <p:sp>
          <p:nvSpPr>
            <p:cNvPr name="Freeform 77" id="77"/>
            <p:cNvSpPr/>
            <p:nvPr/>
          </p:nvSpPr>
          <p:spPr>
            <a:xfrm flipH="false" flipV="false" rot="0">
              <a:off x="0" y="0"/>
              <a:ext cx="2128068" cy="4544046"/>
            </a:xfrm>
            <a:custGeom>
              <a:avLst/>
              <a:gdLst/>
              <a:ahLst/>
              <a:cxnLst/>
              <a:rect r="r" b="b" t="t" l="l"/>
              <a:pathLst>
                <a:path h="4544046" w="2128068">
                  <a:moveTo>
                    <a:pt x="0" y="0"/>
                  </a:moveTo>
                  <a:lnTo>
                    <a:pt x="2128068" y="0"/>
                  </a:lnTo>
                  <a:lnTo>
                    <a:pt x="2128068" y="4544046"/>
                  </a:lnTo>
                  <a:lnTo>
                    <a:pt x="0" y="4544046"/>
                  </a:lnTo>
                  <a:close/>
                </a:path>
              </a:pathLst>
            </a:custGeom>
            <a:blipFill>
              <a:blip r:embed="rId3">
                <a:alphaModFix amt="0"/>
              </a:blip>
              <a:stretch>
                <a:fillRect l="-224158" t="0" r="-224161" b="-1"/>
              </a:stretch>
            </a:blipFill>
            <a:ln w="42862" cap="sq">
              <a:solidFill>
                <a:srgbClr val="D9433A"/>
              </a:solidFill>
              <a:prstDash val="solid"/>
              <a:miter/>
            </a:ln>
          </p:spPr>
        </p:sp>
      </p:grpSp>
      <p:sp>
        <p:nvSpPr>
          <p:cNvPr name="TextBox 78" id="78"/>
          <p:cNvSpPr txBox="true"/>
          <p:nvPr/>
        </p:nvSpPr>
        <p:spPr>
          <a:xfrm rot="0">
            <a:off x="9875520" y="7288530"/>
            <a:ext cx="7584948" cy="831342"/>
          </a:xfrm>
          <a:prstGeom prst="rect">
            <a:avLst/>
          </a:prstGeom>
        </p:spPr>
        <p:txBody>
          <a:bodyPr anchor="t" rtlCol="false" tIns="0" lIns="0" bIns="0" rIns="0">
            <a:spAutoFit/>
          </a:bodyPr>
          <a:lstStyle/>
          <a:p>
            <a:pPr algn="l">
              <a:lnSpc>
                <a:spcPts val="2160"/>
              </a:lnSpc>
            </a:pPr>
            <a:r>
              <a:rPr lang="en-US" sz="1800" b="true">
                <a:solidFill>
                  <a:srgbClr val="D9433A"/>
                </a:solidFill>
                <a:latin typeface="Noto Sans Bold"/>
                <a:ea typeface="Noto Sans Bold"/>
                <a:cs typeface="Noto Sans Bold"/>
                <a:sym typeface="Noto Sans Bold"/>
              </a:rPr>
              <a:t>제약: 응답 시간 p95 10.5초로 목표 10초 초과 · 여유 메모리 1GiB 경계</a:t>
            </a:r>
          </a:p>
          <a:p>
            <a:pPr algn="l">
              <a:lnSpc>
                <a:spcPts val="2160"/>
              </a:lnSpc>
            </a:pPr>
            <a:r>
              <a:rPr lang="en-US" sz="1800" b="true">
                <a:solidFill>
                  <a:srgbClr val="D9433A"/>
                </a:solidFill>
                <a:latin typeface="Noto Sans Bold"/>
                <a:ea typeface="Noto Sans Bold"/>
                <a:cs typeface="Noto Sans Bold"/>
                <a:sym typeface="Noto Sans Bold"/>
              </a:rPr>
              <a:t>p95: 전체 응답의 95%가 이 시간 이내 완료</a:t>
            </a:r>
          </a:p>
        </p:txBody>
      </p:sp>
      <p:grpSp>
        <p:nvGrpSpPr>
          <p:cNvPr name="Group 79" id="79"/>
          <p:cNvGrpSpPr/>
          <p:nvPr/>
        </p:nvGrpSpPr>
        <p:grpSpPr>
          <a:xfrm rot="0">
            <a:off x="822960" y="9189720"/>
            <a:ext cx="16641623" cy="411480"/>
            <a:chOff x="0" y="0"/>
            <a:chExt cx="22188830" cy="548640"/>
          </a:xfrm>
        </p:grpSpPr>
        <p:sp>
          <p:nvSpPr>
            <p:cNvPr name="Freeform 80" id="80"/>
            <p:cNvSpPr/>
            <p:nvPr/>
          </p:nvSpPr>
          <p:spPr>
            <a:xfrm flipH="false" flipV="false" rot="0">
              <a:off x="0" y="0"/>
              <a:ext cx="22188805" cy="548640"/>
            </a:xfrm>
            <a:custGeom>
              <a:avLst/>
              <a:gdLst/>
              <a:ahLst/>
              <a:cxnLst/>
              <a:rect r="r" b="b" t="t" l="l"/>
              <a:pathLst>
                <a:path h="548640" w="22188805">
                  <a:moveTo>
                    <a:pt x="0" y="0"/>
                  </a:moveTo>
                  <a:lnTo>
                    <a:pt x="22188805" y="0"/>
                  </a:lnTo>
                  <a:lnTo>
                    <a:pt x="22188805" y="548640"/>
                  </a:lnTo>
                  <a:lnTo>
                    <a:pt x="0" y="548640"/>
                  </a:lnTo>
                  <a:close/>
                </a:path>
              </a:pathLst>
            </a:custGeom>
            <a:blipFill>
              <a:blip r:embed="rId3">
                <a:alphaModFix amt="0"/>
              </a:blip>
              <a:stretch>
                <a:fillRect l="0" t="-737490" r="0" b="-737493"/>
              </a:stretch>
            </a:blipFill>
          </p:spPr>
        </p:sp>
      </p:grpSp>
      <p:grpSp>
        <p:nvGrpSpPr>
          <p:cNvPr name="Group 81" id="81"/>
          <p:cNvGrpSpPr/>
          <p:nvPr/>
        </p:nvGrpSpPr>
        <p:grpSpPr>
          <a:xfrm rot="0">
            <a:off x="822960" y="9189720"/>
            <a:ext cx="16641623" cy="411480"/>
            <a:chOff x="0" y="0"/>
            <a:chExt cx="22188830" cy="548640"/>
          </a:xfrm>
        </p:grpSpPr>
        <p:sp>
          <p:nvSpPr>
            <p:cNvPr name="Freeform 82" id="82"/>
            <p:cNvSpPr/>
            <p:nvPr/>
          </p:nvSpPr>
          <p:spPr>
            <a:xfrm flipH="false" flipV="false" rot="0">
              <a:off x="0" y="0"/>
              <a:ext cx="22188830" cy="548640"/>
            </a:xfrm>
            <a:custGeom>
              <a:avLst/>
              <a:gdLst/>
              <a:ahLst/>
              <a:cxnLst/>
              <a:rect r="r" b="b" t="t" l="l"/>
              <a:pathLst>
                <a:path h="548640" w="22188830">
                  <a:moveTo>
                    <a:pt x="0" y="0"/>
                  </a:moveTo>
                  <a:lnTo>
                    <a:pt x="22188830" y="0"/>
                  </a:lnTo>
                  <a:lnTo>
                    <a:pt x="22188830" y="548640"/>
                  </a:lnTo>
                  <a:lnTo>
                    <a:pt x="0" y="548640"/>
                  </a:lnTo>
                  <a:close/>
                </a:path>
              </a:pathLst>
            </a:custGeom>
            <a:blipFill>
              <a:blip r:embed="rId4">
                <a:alphaModFix amt="0"/>
              </a:blip>
              <a:stretch>
                <a:fillRect l="0" t="-738039" r="0" b="-738039"/>
              </a:stretch>
            </a:blipFill>
          </p:spPr>
        </p:sp>
        <p:sp>
          <p:nvSpPr>
            <p:cNvPr name="TextBox 83" id="83"/>
            <p:cNvSpPr txBox="true"/>
            <p:nvPr/>
          </p:nvSpPr>
          <p:spPr>
            <a:xfrm>
              <a:off x="0" y="0"/>
              <a:ext cx="22188830" cy="548640"/>
            </a:xfrm>
            <a:prstGeom prst="rect">
              <a:avLst/>
            </a:prstGeom>
          </p:spPr>
          <p:txBody>
            <a:bodyPr anchor="ctr" rtlCol="false" tIns="0" lIns="0" bIns="0" rIns="0"/>
            <a:lstStyle/>
            <a:p>
              <a:pPr algn="l">
                <a:lnSpc>
                  <a:spcPts val="1800"/>
                </a:lnSpc>
              </a:pPr>
              <a:r>
                <a:rPr lang="en-US" sz="1500">
                  <a:solidFill>
                    <a:srgbClr val="6B787A"/>
                  </a:solidFill>
                  <a:latin typeface="Noto Sans"/>
                  <a:ea typeface="Noto Sans"/>
                  <a:cs typeface="Noto Sans"/>
                  <a:sym typeface="Noto Sans"/>
                </a:rPr>
                <a:t>평가 구성: 블라인드 테스트 60 · 개발 201 · MES 상황 60문항 · 최종 구성의 내용 정답 58–60%는 답변이 동일한 직전 구성의 채점값 · 올바른 대응 = 근거 인용 답변 + 근거 없는 질문 거절</a:t>
              </a:r>
            </a:p>
          </p:txBody>
        </p:sp>
      </p:grpSp>
      <p:sp>
        <p:nvSpPr>
          <p:cNvPr name="TextBox 84" id="84"/>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a:solidFill>
                  <a:srgbClr val="6B787A"/>
                </a:solidFill>
                <a:latin typeface="Noto Sans"/>
                <a:ea typeface="Noto Sans"/>
                <a:cs typeface="Noto Sans"/>
                <a:sym typeface="Noto Sans"/>
              </a:rPr>
              <a:t>27</a:t>
            </a:r>
          </a:p>
        </p:txBody>
      </p:sp>
      <p:grpSp>
        <p:nvGrpSpPr>
          <p:cNvPr name="Group 85" id="85"/>
          <p:cNvGrpSpPr/>
          <p:nvPr/>
        </p:nvGrpSpPr>
        <p:grpSpPr>
          <a:xfrm rot="0">
            <a:off x="5818352" y="9710928"/>
            <a:ext cx="4070985" cy="419672"/>
            <a:chOff x="0" y="0"/>
            <a:chExt cx="5427980" cy="559562"/>
          </a:xfrm>
        </p:grpSpPr>
        <p:grpSp>
          <p:nvGrpSpPr>
            <p:cNvPr name="Group 86" id="86"/>
            <p:cNvGrpSpPr/>
            <p:nvPr/>
          </p:nvGrpSpPr>
          <p:grpSpPr>
            <a:xfrm rot="0">
              <a:off x="0" y="0"/>
              <a:ext cx="1680845" cy="559562"/>
              <a:chOff x="0" y="0"/>
              <a:chExt cx="1680845" cy="559562"/>
            </a:xfrm>
          </p:grpSpPr>
          <p:sp>
            <p:nvSpPr>
              <p:cNvPr name="Freeform 87" id="87"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5"/>
                <a:stretch>
                  <a:fillRect l="0" t="-265" r="0" b="-267"/>
                </a:stretch>
              </a:blipFill>
            </p:spPr>
          </p:sp>
        </p:grpSp>
        <p:grpSp>
          <p:nvGrpSpPr>
            <p:cNvPr name="Group 88" id="88"/>
            <p:cNvGrpSpPr/>
            <p:nvPr/>
          </p:nvGrpSpPr>
          <p:grpSpPr>
            <a:xfrm rot="0">
              <a:off x="2069490" y="124358"/>
              <a:ext cx="1189101" cy="310896"/>
              <a:chOff x="0" y="0"/>
              <a:chExt cx="1189101" cy="310896"/>
            </a:xfrm>
          </p:grpSpPr>
          <p:sp>
            <p:nvSpPr>
              <p:cNvPr name="Freeform 89" id="89"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6"/>
                <a:stretch>
                  <a:fillRect l="-30" t="0" r="-32" b="0"/>
                </a:stretch>
              </a:blipFill>
            </p:spPr>
          </p:sp>
        </p:grpSp>
        <p:grpSp>
          <p:nvGrpSpPr>
            <p:cNvPr name="Group 90" id="90"/>
            <p:cNvGrpSpPr/>
            <p:nvPr/>
          </p:nvGrpSpPr>
          <p:grpSpPr>
            <a:xfrm rot="0">
              <a:off x="3647186" y="124358"/>
              <a:ext cx="1780794" cy="310896"/>
              <a:chOff x="0" y="0"/>
              <a:chExt cx="1780794" cy="310896"/>
            </a:xfrm>
          </p:grpSpPr>
          <p:sp>
            <p:nvSpPr>
              <p:cNvPr name="Freeform 91" id="91"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7"/>
                <a:stretch>
                  <a:fillRect l="0" t="-118" r="0" b="-122"/>
                </a:stretch>
              </a:blipFill>
            </p:spPr>
          </p:sp>
        </p:gr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3050" r="0" b="-333050"/>
              </a:stretch>
            </a:blipFill>
          </p:spPr>
        </p:sp>
        <p:sp>
          <p:nvSpPr>
            <p:cNvPr name="TextBox 6" id="6"/>
            <p:cNvSpPr txBox="true"/>
            <p:nvPr/>
          </p:nvSpPr>
          <p:spPr>
            <a:xfrm>
              <a:off x="0" y="-9525"/>
              <a:ext cx="10972800" cy="567690"/>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7" id="7"/>
          <p:cNvGrpSpPr/>
          <p:nvPr/>
        </p:nvGrpSpPr>
        <p:grpSpPr>
          <a:xfrm rot="0">
            <a:off x="822960" y="438912"/>
            <a:ext cx="4114800" cy="384048"/>
            <a:chOff x="0" y="0"/>
            <a:chExt cx="5486400" cy="512064"/>
          </a:xfrm>
        </p:grpSpPr>
        <p:sp>
          <p:nvSpPr>
            <p:cNvPr name="Freeform 8" id="8"/>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3">
                <a:alphaModFix amt="0"/>
              </a:blip>
              <a:stretch>
                <a:fillRect l="0" t="-158623" r="0" b="-158623"/>
              </a:stretch>
            </a:blipFill>
          </p:spPr>
        </p:sp>
      </p:grpSp>
      <p:grpSp>
        <p:nvGrpSpPr>
          <p:cNvPr name="Group 9" id="9"/>
          <p:cNvGrpSpPr/>
          <p:nvPr/>
        </p:nvGrpSpPr>
        <p:grpSpPr>
          <a:xfrm rot="0">
            <a:off x="822960" y="438912"/>
            <a:ext cx="4114800" cy="384048"/>
            <a:chOff x="0" y="0"/>
            <a:chExt cx="5486400" cy="512064"/>
          </a:xfrm>
        </p:grpSpPr>
        <p:sp>
          <p:nvSpPr>
            <p:cNvPr name="Freeform 10" id="10"/>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4">
                <a:alphaModFix amt="0"/>
              </a:blip>
              <a:stretch>
                <a:fillRect l="0" t="-158768" r="0" b="-158768"/>
              </a:stretch>
            </a:blipFill>
          </p:spPr>
        </p:sp>
        <p:sp>
          <p:nvSpPr>
            <p:cNvPr name="TextBox 11" id="11"/>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03  AI 모델</a:t>
              </a:r>
            </a:p>
          </p:txBody>
        </p:sp>
      </p:grpSp>
      <p:grpSp>
        <p:nvGrpSpPr>
          <p:cNvPr name="Group 12" id="12"/>
          <p:cNvGrpSpPr/>
          <p:nvPr/>
        </p:nvGrpSpPr>
        <p:grpSpPr>
          <a:xfrm rot="0">
            <a:off x="822960" y="822960"/>
            <a:ext cx="16641623" cy="850392"/>
            <a:chOff x="0" y="0"/>
            <a:chExt cx="22188830" cy="1133856"/>
          </a:xfrm>
        </p:grpSpPr>
        <p:sp>
          <p:nvSpPr>
            <p:cNvPr name="Freeform 13" id="13"/>
            <p:cNvSpPr/>
            <p:nvPr/>
          </p:nvSpPr>
          <p:spPr>
            <a:xfrm flipH="false" flipV="false" rot="0">
              <a:off x="0" y="0"/>
              <a:ext cx="22188805" cy="1133856"/>
            </a:xfrm>
            <a:custGeom>
              <a:avLst/>
              <a:gdLst/>
              <a:ahLst/>
              <a:cxnLst/>
              <a:rect r="r" b="b" t="t" l="l"/>
              <a:pathLst>
                <a:path h="1133856" w="22188805">
                  <a:moveTo>
                    <a:pt x="0" y="0"/>
                  </a:moveTo>
                  <a:lnTo>
                    <a:pt x="22188805" y="0"/>
                  </a:lnTo>
                  <a:lnTo>
                    <a:pt x="22188805" y="1133856"/>
                  </a:lnTo>
                  <a:lnTo>
                    <a:pt x="0" y="1133856"/>
                  </a:lnTo>
                  <a:close/>
                </a:path>
              </a:pathLst>
            </a:custGeom>
            <a:blipFill>
              <a:blip r:embed="rId3">
                <a:alphaModFix amt="0"/>
              </a:blip>
              <a:stretch>
                <a:fillRect l="0" t="-331043" r="0" b="-331045"/>
              </a:stretch>
            </a:blipFill>
          </p:spPr>
        </p:sp>
      </p:grpSp>
      <p:grpSp>
        <p:nvGrpSpPr>
          <p:cNvPr name="Group 14" id="14"/>
          <p:cNvGrpSpPr/>
          <p:nvPr/>
        </p:nvGrpSpPr>
        <p:grpSpPr>
          <a:xfrm rot="0">
            <a:off x="822960" y="822960"/>
            <a:ext cx="16642080" cy="850392"/>
            <a:chOff x="0" y="0"/>
            <a:chExt cx="22189440" cy="1133856"/>
          </a:xfrm>
        </p:grpSpPr>
        <p:sp>
          <p:nvSpPr>
            <p:cNvPr name="Freeform 15" id="15"/>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4">
                <a:alphaModFix amt="0"/>
              </a:blip>
              <a:stretch>
                <a:fillRect l="0" t="-331309" r="2" b="-331309"/>
              </a:stretch>
            </a:blipFill>
          </p:spPr>
        </p:sp>
        <p:sp>
          <p:nvSpPr>
            <p:cNvPr name="TextBox 16" id="16"/>
            <p:cNvSpPr txBox="true"/>
            <p:nvPr/>
          </p:nvSpPr>
          <p:spPr>
            <a:xfrm>
              <a:off x="0" y="-9525"/>
              <a:ext cx="22189440" cy="1143381"/>
            </a:xfrm>
            <a:prstGeom prst="rect">
              <a:avLst/>
            </a:prstGeom>
          </p:spPr>
          <p:txBody>
            <a:bodyPr anchor="ctr" rtlCol="false" tIns="0" lIns="0" bIns="0" rIns="0"/>
            <a:lstStyle/>
            <a:p>
              <a:pPr algn="l">
                <a:lnSpc>
                  <a:spcPts val="4500"/>
                </a:lnSpc>
              </a:pPr>
              <a:r>
                <a:rPr lang="en-US" sz="3750" b="true">
                  <a:solidFill>
                    <a:srgbClr val="203238"/>
                  </a:solidFill>
                  <a:latin typeface="Noto Sans Bold"/>
                  <a:ea typeface="Noto Sans Bold"/>
                  <a:cs typeface="Noto Sans Bold"/>
                  <a:sym typeface="Noto Sans Bold"/>
                </a:rPr>
                <a:t>07  설비 분류와 얼굴 확인 – 라즈베리파이 실시간 처리</a:t>
              </a:r>
            </a:p>
          </p:txBody>
        </p:sp>
      </p:grpSp>
      <p:grpSp>
        <p:nvGrpSpPr>
          <p:cNvPr name="Group 17" id="17"/>
          <p:cNvGrpSpPr/>
          <p:nvPr/>
        </p:nvGrpSpPr>
        <p:grpSpPr>
          <a:xfrm rot="0">
            <a:off x="822960" y="1755648"/>
            <a:ext cx="16641623" cy="576072"/>
            <a:chOff x="0" y="0"/>
            <a:chExt cx="22188830" cy="768096"/>
          </a:xfrm>
        </p:grpSpPr>
        <p:sp>
          <p:nvSpPr>
            <p:cNvPr name="Freeform 18" id="18"/>
            <p:cNvSpPr/>
            <p:nvPr/>
          </p:nvSpPr>
          <p:spPr>
            <a:xfrm flipH="false" flipV="false" rot="0">
              <a:off x="0" y="0"/>
              <a:ext cx="22188805" cy="768096"/>
            </a:xfrm>
            <a:custGeom>
              <a:avLst/>
              <a:gdLst/>
              <a:ahLst/>
              <a:cxnLst/>
              <a:rect r="r" b="b" t="t" l="l"/>
              <a:pathLst>
                <a:path h="768096" w="22188805">
                  <a:moveTo>
                    <a:pt x="0" y="0"/>
                  </a:moveTo>
                  <a:lnTo>
                    <a:pt x="22188805" y="0"/>
                  </a:lnTo>
                  <a:lnTo>
                    <a:pt x="22188805" y="768096"/>
                  </a:lnTo>
                  <a:lnTo>
                    <a:pt x="0" y="768096"/>
                  </a:lnTo>
                  <a:close/>
                </a:path>
              </a:pathLst>
            </a:custGeom>
            <a:blipFill>
              <a:blip r:embed="rId3">
                <a:alphaModFix amt="0"/>
              </a:blip>
              <a:stretch>
                <a:fillRect l="0" t="-512493" r="0" b="-512495"/>
              </a:stretch>
            </a:blipFill>
          </p:spPr>
        </p:sp>
      </p:grpSp>
      <p:grpSp>
        <p:nvGrpSpPr>
          <p:cNvPr name="Group 19" id="19"/>
          <p:cNvGrpSpPr/>
          <p:nvPr/>
        </p:nvGrpSpPr>
        <p:grpSpPr>
          <a:xfrm rot="0">
            <a:off x="822960" y="1762125"/>
            <a:ext cx="16641623" cy="568928"/>
            <a:chOff x="0" y="0"/>
            <a:chExt cx="22188830" cy="758571"/>
          </a:xfrm>
        </p:grpSpPr>
        <p:sp>
          <p:nvSpPr>
            <p:cNvPr name="Freeform 20" id="20"/>
            <p:cNvSpPr/>
            <p:nvPr/>
          </p:nvSpPr>
          <p:spPr>
            <a:xfrm flipH="false" flipV="false" rot="0">
              <a:off x="0" y="0"/>
              <a:ext cx="22188830" cy="758571"/>
            </a:xfrm>
            <a:custGeom>
              <a:avLst/>
              <a:gdLst/>
              <a:ahLst/>
              <a:cxnLst/>
              <a:rect r="r" b="b" t="t" l="l"/>
              <a:pathLst>
                <a:path h="758571" w="22188830">
                  <a:moveTo>
                    <a:pt x="0" y="0"/>
                  </a:moveTo>
                  <a:lnTo>
                    <a:pt x="22188830" y="0"/>
                  </a:lnTo>
                  <a:lnTo>
                    <a:pt x="22188830" y="758571"/>
                  </a:lnTo>
                  <a:lnTo>
                    <a:pt x="0" y="758571"/>
                  </a:lnTo>
                  <a:close/>
                </a:path>
              </a:pathLst>
            </a:custGeom>
            <a:blipFill>
              <a:blip r:embed="rId4">
                <a:alphaModFix amt="0"/>
              </a:blip>
              <a:stretch>
                <a:fillRect l="0" t="-519953" r="0" b="-519953"/>
              </a:stretch>
            </a:blipFill>
          </p:spPr>
        </p:sp>
        <p:sp>
          <p:nvSpPr>
            <p:cNvPr name="TextBox 21" id="21"/>
            <p:cNvSpPr txBox="true"/>
            <p:nvPr/>
          </p:nvSpPr>
          <p:spPr>
            <a:xfrm>
              <a:off x="0" y="9525"/>
              <a:ext cx="22188830" cy="749046"/>
            </a:xfrm>
            <a:prstGeom prst="rect">
              <a:avLst/>
            </a:prstGeom>
          </p:spPr>
          <p:txBody>
            <a:bodyPr anchor="ctr" rtlCol="false" tIns="0" lIns="0" bIns="0" rIns="0"/>
            <a:lstStyle/>
            <a:p>
              <a:pPr algn="l">
                <a:lnSpc>
                  <a:spcPts val="2878"/>
                </a:lnSpc>
              </a:pPr>
              <a:r>
                <a:rPr lang="en-US" sz="2400">
                  <a:solidFill>
                    <a:srgbClr val="53666E"/>
                  </a:solidFill>
                  <a:latin typeface="Noto Sans"/>
                  <a:ea typeface="Noto Sans"/>
                  <a:cs typeface="Noto Sans"/>
                  <a:sym typeface="Noto Sans"/>
                </a:rPr>
                <a:t>설비 촬영으로 질문 대상 선택, </a:t>
              </a:r>
              <a:r>
                <a:rPr lang="en-US" sz="2400" b="true">
                  <a:solidFill>
                    <a:srgbClr val="53666E"/>
                  </a:solidFill>
                  <a:latin typeface="Noto Sans Bold"/>
                  <a:ea typeface="Noto Sans Bold"/>
                  <a:cs typeface="Noto Sans Bold"/>
                  <a:sym typeface="Noto Sans Bold"/>
                </a:rPr>
                <a:t>얼굴 인식으로 작업자 확인</a:t>
              </a:r>
            </a:p>
          </p:txBody>
        </p:sp>
      </p:grpSp>
      <p:sp>
        <p:nvSpPr>
          <p:cNvPr name="Freeform 22" id="22"/>
          <p:cNvSpPr/>
          <p:nvPr/>
        </p:nvSpPr>
        <p:spPr>
          <a:xfrm flipH="false" flipV="false" rot="0">
            <a:off x="806291" y="2726531"/>
            <a:ext cx="8125778" cy="5382578"/>
          </a:xfrm>
          <a:custGeom>
            <a:avLst/>
            <a:gdLst/>
            <a:ahLst/>
            <a:cxnLst/>
            <a:rect r="r" b="b" t="t" l="l"/>
            <a:pathLst>
              <a:path h="5382578" w="8125778">
                <a:moveTo>
                  <a:pt x="0" y="0"/>
                </a:moveTo>
                <a:lnTo>
                  <a:pt x="8125778" y="0"/>
                </a:lnTo>
                <a:lnTo>
                  <a:pt x="8125778" y="5382578"/>
                </a:lnTo>
                <a:lnTo>
                  <a:pt x="0" y="53825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23" id="23"/>
          <p:cNvGrpSpPr/>
          <p:nvPr/>
        </p:nvGrpSpPr>
        <p:grpSpPr>
          <a:xfrm rot="0">
            <a:off x="1234440" y="3017520"/>
            <a:ext cx="617220" cy="617220"/>
            <a:chOff x="0" y="0"/>
            <a:chExt cx="822960" cy="822960"/>
          </a:xfrm>
        </p:grpSpPr>
        <p:sp>
          <p:nvSpPr>
            <p:cNvPr name="Freeform 24" id="24" descr="preencoded.png"/>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lnTo>
                    <a:pt x="0" y="0"/>
                  </a:lnTo>
                  <a:close/>
                </a:path>
              </a:pathLst>
            </a:custGeom>
            <a:blipFill>
              <a:blip r:embed="rId7"/>
              <a:stretch>
                <a:fillRect l="0" t="0" r="0" b="0"/>
              </a:stretch>
            </a:blipFill>
          </p:spPr>
        </p:sp>
      </p:grpSp>
      <p:grpSp>
        <p:nvGrpSpPr>
          <p:cNvPr name="Group 25" id="25"/>
          <p:cNvGrpSpPr/>
          <p:nvPr/>
        </p:nvGrpSpPr>
        <p:grpSpPr>
          <a:xfrm rot="0">
            <a:off x="2057400" y="3017520"/>
            <a:ext cx="6583680" cy="617220"/>
            <a:chOff x="0" y="0"/>
            <a:chExt cx="8778240" cy="822960"/>
          </a:xfrm>
        </p:grpSpPr>
        <p:sp>
          <p:nvSpPr>
            <p:cNvPr name="Freeform 26" id="26"/>
            <p:cNvSpPr/>
            <p:nvPr/>
          </p:nvSpPr>
          <p:spPr>
            <a:xfrm flipH="false" flipV="false" rot="0">
              <a:off x="0" y="0"/>
              <a:ext cx="8778240" cy="822960"/>
            </a:xfrm>
            <a:custGeom>
              <a:avLst/>
              <a:gdLst/>
              <a:ahLst/>
              <a:cxnLst/>
              <a:rect r="r" b="b" t="t" l="l"/>
              <a:pathLst>
                <a:path h="822960" w="8778240">
                  <a:moveTo>
                    <a:pt x="0" y="0"/>
                  </a:moveTo>
                  <a:lnTo>
                    <a:pt x="8778240" y="0"/>
                  </a:lnTo>
                  <a:lnTo>
                    <a:pt x="8778240" y="822960"/>
                  </a:lnTo>
                  <a:lnTo>
                    <a:pt x="0" y="822960"/>
                  </a:lnTo>
                  <a:close/>
                </a:path>
              </a:pathLst>
            </a:custGeom>
            <a:blipFill>
              <a:blip r:embed="rId3">
                <a:alphaModFix amt="0"/>
              </a:blip>
              <a:stretch>
                <a:fillRect l="0" t="-157695" r="0" b="-157695"/>
              </a:stretch>
            </a:blipFill>
          </p:spPr>
        </p:sp>
      </p:grpSp>
      <p:grpSp>
        <p:nvGrpSpPr>
          <p:cNvPr name="Group 27" id="27"/>
          <p:cNvGrpSpPr/>
          <p:nvPr/>
        </p:nvGrpSpPr>
        <p:grpSpPr>
          <a:xfrm rot="0">
            <a:off x="2057400" y="3024664"/>
            <a:ext cx="6583680" cy="610076"/>
            <a:chOff x="0" y="0"/>
            <a:chExt cx="8778240" cy="813435"/>
          </a:xfrm>
        </p:grpSpPr>
        <p:sp>
          <p:nvSpPr>
            <p:cNvPr name="Freeform 28" id="28"/>
            <p:cNvSpPr/>
            <p:nvPr/>
          </p:nvSpPr>
          <p:spPr>
            <a:xfrm flipH="false" flipV="false" rot="0">
              <a:off x="0" y="0"/>
              <a:ext cx="8778240" cy="813435"/>
            </a:xfrm>
            <a:custGeom>
              <a:avLst/>
              <a:gdLst/>
              <a:ahLst/>
              <a:cxnLst/>
              <a:rect r="r" b="b" t="t" l="l"/>
              <a:pathLst>
                <a:path h="813435" w="8778240">
                  <a:moveTo>
                    <a:pt x="0" y="0"/>
                  </a:moveTo>
                  <a:lnTo>
                    <a:pt x="8778240" y="0"/>
                  </a:lnTo>
                  <a:lnTo>
                    <a:pt x="8778240" y="813435"/>
                  </a:lnTo>
                  <a:lnTo>
                    <a:pt x="0" y="813435"/>
                  </a:lnTo>
                  <a:close/>
                </a:path>
              </a:pathLst>
            </a:custGeom>
            <a:blipFill>
              <a:blip r:embed="rId4">
                <a:alphaModFix amt="0"/>
              </a:blip>
              <a:stretch>
                <a:fillRect l="0" t="-160274" r="0" b="-160274"/>
              </a:stretch>
            </a:blipFill>
          </p:spPr>
        </p:sp>
        <p:sp>
          <p:nvSpPr>
            <p:cNvPr name="TextBox 29" id="29"/>
            <p:cNvSpPr txBox="true"/>
            <p:nvPr/>
          </p:nvSpPr>
          <p:spPr>
            <a:xfrm>
              <a:off x="0" y="9525"/>
              <a:ext cx="8778240" cy="803910"/>
            </a:xfrm>
            <a:prstGeom prst="rect">
              <a:avLst/>
            </a:prstGeom>
          </p:spPr>
          <p:txBody>
            <a:bodyPr anchor="ctr" rtlCol="false" tIns="0" lIns="0" bIns="0" rIns="0"/>
            <a:lstStyle/>
            <a:p>
              <a:pPr algn="l">
                <a:lnSpc>
                  <a:spcPts val="2878"/>
                </a:lnSpc>
              </a:pPr>
              <a:r>
                <a:rPr lang="en-US" sz="2400" b="true">
                  <a:solidFill>
                    <a:srgbClr val="1B2B2E"/>
                  </a:solidFill>
                  <a:latin typeface="Noto Sans Bold"/>
                  <a:ea typeface="Noto Sans Bold"/>
                  <a:cs typeface="Noto Sans Bold"/>
                  <a:sym typeface="Noto Sans Bold"/>
                </a:rPr>
                <a:t>설비 분류 · MobileNetV3-Small</a:t>
              </a:r>
            </a:p>
          </p:txBody>
        </p:sp>
      </p:grpSp>
      <p:sp>
        <p:nvSpPr>
          <p:cNvPr name="TextBox 30" id="30"/>
          <p:cNvSpPr txBox="true"/>
          <p:nvPr/>
        </p:nvSpPr>
        <p:spPr>
          <a:xfrm rot="0">
            <a:off x="1097280" y="4046220"/>
            <a:ext cx="3703320" cy="1028700"/>
          </a:xfrm>
          <a:prstGeom prst="rect">
            <a:avLst/>
          </a:prstGeom>
        </p:spPr>
        <p:txBody>
          <a:bodyPr anchor="t" rtlCol="false" tIns="0" lIns="0" bIns="0" rIns="0">
            <a:spAutoFit/>
          </a:bodyPr>
          <a:lstStyle/>
          <a:p>
            <a:pPr algn="ctr">
              <a:lnSpc>
                <a:spcPts val="6480"/>
              </a:lnSpc>
            </a:pPr>
            <a:r>
              <a:rPr lang="en-US" sz="5400" b="true">
                <a:solidFill>
                  <a:srgbClr val="1F6F63"/>
                </a:solidFill>
                <a:latin typeface="Noto Sans Bold"/>
                <a:ea typeface="Noto Sans Bold"/>
                <a:cs typeface="Noto Sans Bold"/>
                <a:sym typeface="Noto Sans Bold"/>
              </a:rPr>
              <a:t>99.4%</a:t>
            </a:r>
          </a:p>
        </p:txBody>
      </p:sp>
      <p:sp>
        <p:nvSpPr>
          <p:cNvPr name="TextBox 31" id="31"/>
          <p:cNvSpPr txBox="true"/>
          <p:nvPr/>
        </p:nvSpPr>
        <p:spPr>
          <a:xfrm rot="0">
            <a:off x="1097280" y="5124450"/>
            <a:ext cx="3703320" cy="567690"/>
          </a:xfrm>
          <a:prstGeom prst="rect">
            <a:avLst/>
          </a:prstGeom>
        </p:spPr>
        <p:txBody>
          <a:bodyPr anchor="t" rtlCol="false" tIns="0" lIns="0" bIns="0" rIns="0">
            <a:spAutoFit/>
          </a:bodyPr>
          <a:lstStyle/>
          <a:p>
            <a:pPr algn="ctr">
              <a:lnSpc>
                <a:spcPts val="2340"/>
              </a:lnSpc>
            </a:pPr>
            <a:r>
              <a:rPr lang="en-US" sz="1950">
                <a:solidFill>
                  <a:srgbClr val="45545A"/>
                </a:solidFill>
                <a:latin typeface="Noto Sans"/>
                <a:ea typeface="Noto Sans"/>
                <a:cs typeface="Noto Sans"/>
                <a:sym typeface="Noto Sans"/>
              </a:rPr>
              <a:t>시험 정확도 (875/880)</a:t>
            </a:r>
          </a:p>
        </p:txBody>
      </p:sp>
      <p:sp>
        <p:nvSpPr>
          <p:cNvPr name="TextBox 32" id="32"/>
          <p:cNvSpPr txBox="true"/>
          <p:nvPr/>
        </p:nvSpPr>
        <p:spPr>
          <a:xfrm rot="0">
            <a:off x="4937760" y="4046220"/>
            <a:ext cx="3703320" cy="1028700"/>
          </a:xfrm>
          <a:prstGeom prst="rect">
            <a:avLst/>
          </a:prstGeom>
        </p:spPr>
        <p:txBody>
          <a:bodyPr anchor="t" rtlCol="false" tIns="0" lIns="0" bIns="0" rIns="0">
            <a:spAutoFit/>
          </a:bodyPr>
          <a:lstStyle/>
          <a:p>
            <a:pPr algn="ctr">
              <a:lnSpc>
                <a:spcPts val="6480"/>
              </a:lnSpc>
            </a:pPr>
            <a:r>
              <a:rPr lang="en-US" sz="5400" b="true">
                <a:solidFill>
                  <a:srgbClr val="1F6F63"/>
                </a:solidFill>
                <a:latin typeface="Noto Sans Bold"/>
                <a:ea typeface="Noto Sans Bold"/>
                <a:cs typeface="Noto Sans Bold"/>
                <a:sym typeface="Noto Sans Bold"/>
              </a:rPr>
              <a:t>41~63ms</a:t>
            </a:r>
          </a:p>
        </p:txBody>
      </p:sp>
      <p:sp>
        <p:nvSpPr>
          <p:cNvPr name="TextBox 33" id="33"/>
          <p:cNvSpPr txBox="true"/>
          <p:nvPr/>
        </p:nvSpPr>
        <p:spPr>
          <a:xfrm rot="0">
            <a:off x="4937760" y="5124450"/>
            <a:ext cx="3703320" cy="567690"/>
          </a:xfrm>
          <a:prstGeom prst="rect">
            <a:avLst/>
          </a:prstGeom>
        </p:spPr>
        <p:txBody>
          <a:bodyPr anchor="t" rtlCol="false" tIns="0" lIns="0" bIns="0" rIns="0">
            <a:spAutoFit/>
          </a:bodyPr>
          <a:lstStyle/>
          <a:p>
            <a:pPr algn="ctr">
              <a:lnSpc>
                <a:spcPts val="2340"/>
              </a:lnSpc>
            </a:pPr>
            <a:r>
              <a:rPr lang="en-US" sz="1950">
                <a:solidFill>
                  <a:srgbClr val="45545A"/>
                </a:solidFill>
                <a:latin typeface="Noto Sans"/>
                <a:ea typeface="Noto Sans"/>
                <a:cs typeface="Noto Sans"/>
                <a:sym typeface="Noto Sans"/>
              </a:rPr>
              <a:t>Pi 4 추론 시간</a:t>
            </a:r>
          </a:p>
        </p:txBody>
      </p:sp>
      <p:sp>
        <p:nvSpPr>
          <p:cNvPr name="TextBox 34" id="34"/>
          <p:cNvSpPr txBox="true"/>
          <p:nvPr/>
        </p:nvSpPr>
        <p:spPr>
          <a:xfrm rot="0">
            <a:off x="1234440" y="6240780"/>
            <a:ext cx="7406640" cy="1303020"/>
          </a:xfrm>
          <a:prstGeom prst="rect">
            <a:avLst/>
          </a:prstGeom>
        </p:spPr>
        <p:txBody>
          <a:bodyPr anchor="t" rtlCol="false" tIns="0" lIns="0" bIns="0" rIns="0">
            <a:spAutoFit/>
          </a:bodyPr>
          <a:lstStyle/>
          <a:p>
            <a:pPr algn="l">
              <a:lnSpc>
                <a:spcPts val="2250"/>
              </a:lnSpc>
            </a:pPr>
            <a:r>
              <a:rPr lang="en-US" sz="1875">
                <a:solidFill>
                  <a:srgbClr val="45545A"/>
                </a:solidFill>
                <a:latin typeface="Noto Sans"/>
                <a:ea typeface="Noto Sans"/>
                <a:cs typeface="Noto Sans"/>
                <a:sym typeface="Noto Sans"/>
              </a:rPr>
              <a:t>INT8 양자화 시 정확도 14%로 하락 → FP32 유지</a:t>
            </a:r>
          </a:p>
          <a:p>
            <a:pPr algn="l">
              <a:lnSpc>
                <a:spcPts val="2250"/>
              </a:lnSpc>
            </a:pPr>
            <a:r>
              <a:rPr lang="en-US" sz="1875">
                <a:solidFill>
                  <a:srgbClr val="45545A"/>
                </a:solidFill>
                <a:latin typeface="Noto Sans"/>
                <a:ea typeface="Noto Sans"/>
                <a:cs typeface="Noto Sans"/>
                <a:sym typeface="Noto Sans"/>
              </a:rPr>
              <a:t>같은 설비의 다른 촬영 묶음으로 평가 · 학습/시험 이미지 중복 0</a:t>
            </a:r>
          </a:p>
        </p:txBody>
      </p:sp>
      <p:sp>
        <p:nvSpPr>
          <p:cNvPr name="Freeform 35" id="35"/>
          <p:cNvSpPr/>
          <p:nvPr/>
        </p:nvSpPr>
        <p:spPr>
          <a:xfrm flipH="false" flipV="false" rot="0">
            <a:off x="9351359" y="2726531"/>
            <a:ext cx="8125778" cy="5382578"/>
          </a:xfrm>
          <a:custGeom>
            <a:avLst/>
            <a:gdLst/>
            <a:ahLst/>
            <a:cxnLst/>
            <a:rect r="r" b="b" t="t" l="l"/>
            <a:pathLst>
              <a:path h="5382578" w="8125778">
                <a:moveTo>
                  <a:pt x="0" y="0"/>
                </a:moveTo>
                <a:lnTo>
                  <a:pt x="8125778" y="0"/>
                </a:lnTo>
                <a:lnTo>
                  <a:pt x="8125778" y="5382578"/>
                </a:lnTo>
                <a:lnTo>
                  <a:pt x="0" y="538257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36" id="36"/>
          <p:cNvGrpSpPr/>
          <p:nvPr/>
        </p:nvGrpSpPr>
        <p:grpSpPr>
          <a:xfrm rot="0">
            <a:off x="9779508" y="3017520"/>
            <a:ext cx="617220" cy="617220"/>
            <a:chOff x="0" y="0"/>
            <a:chExt cx="822960" cy="822960"/>
          </a:xfrm>
        </p:grpSpPr>
        <p:sp>
          <p:nvSpPr>
            <p:cNvPr name="Freeform 37" id="37" descr="preencoded.png"/>
            <p:cNvSpPr/>
            <p:nvPr/>
          </p:nvSpPr>
          <p:spPr>
            <a:xfrm flipH="false" flipV="false" rot="0">
              <a:off x="0" y="0"/>
              <a:ext cx="822960" cy="822960"/>
            </a:xfrm>
            <a:custGeom>
              <a:avLst/>
              <a:gdLst/>
              <a:ahLst/>
              <a:cxnLst/>
              <a:rect r="r" b="b" t="t" l="l"/>
              <a:pathLst>
                <a:path h="822960" w="822960">
                  <a:moveTo>
                    <a:pt x="0" y="0"/>
                  </a:moveTo>
                  <a:lnTo>
                    <a:pt x="822960" y="0"/>
                  </a:lnTo>
                  <a:lnTo>
                    <a:pt x="822960" y="822960"/>
                  </a:lnTo>
                  <a:lnTo>
                    <a:pt x="0" y="822960"/>
                  </a:lnTo>
                  <a:lnTo>
                    <a:pt x="0" y="0"/>
                  </a:lnTo>
                  <a:close/>
                </a:path>
              </a:pathLst>
            </a:custGeom>
            <a:blipFill>
              <a:blip r:embed="rId8"/>
              <a:stretch>
                <a:fillRect l="0" t="0" r="0" b="0"/>
              </a:stretch>
            </a:blipFill>
          </p:spPr>
        </p:sp>
      </p:grpSp>
      <p:grpSp>
        <p:nvGrpSpPr>
          <p:cNvPr name="Group 38" id="38"/>
          <p:cNvGrpSpPr/>
          <p:nvPr/>
        </p:nvGrpSpPr>
        <p:grpSpPr>
          <a:xfrm rot="0">
            <a:off x="10602468" y="3017520"/>
            <a:ext cx="6583680" cy="617220"/>
            <a:chOff x="0" y="0"/>
            <a:chExt cx="8778240" cy="822960"/>
          </a:xfrm>
        </p:grpSpPr>
        <p:sp>
          <p:nvSpPr>
            <p:cNvPr name="Freeform 39" id="39"/>
            <p:cNvSpPr/>
            <p:nvPr/>
          </p:nvSpPr>
          <p:spPr>
            <a:xfrm flipH="false" flipV="false" rot="0">
              <a:off x="0" y="0"/>
              <a:ext cx="8778240" cy="822960"/>
            </a:xfrm>
            <a:custGeom>
              <a:avLst/>
              <a:gdLst/>
              <a:ahLst/>
              <a:cxnLst/>
              <a:rect r="r" b="b" t="t" l="l"/>
              <a:pathLst>
                <a:path h="822960" w="8778240">
                  <a:moveTo>
                    <a:pt x="0" y="0"/>
                  </a:moveTo>
                  <a:lnTo>
                    <a:pt x="8778240" y="0"/>
                  </a:lnTo>
                  <a:lnTo>
                    <a:pt x="8778240" y="822960"/>
                  </a:lnTo>
                  <a:lnTo>
                    <a:pt x="0" y="822960"/>
                  </a:lnTo>
                  <a:close/>
                </a:path>
              </a:pathLst>
            </a:custGeom>
            <a:blipFill>
              <a:blip r:embed="rId3">
                <a:alphaModFix amt="0"/>
              </a:blip>
              <a:stretch>
                <a:fillRect l="0" t="-157695" r="0" b="-157695"/>
              </a:stretch>
            </a:blipFill>
          </p:spPr>
        </p:sp>
      </p:grpSp>
      <p:grpSp>
        <p:nvGrpSpPr>
          <p:cNvPr name="Group 40" id="40"/>
          <p:cNvGrpSpPr/>
          <p:nvPr/>
        </p:nvGrpSpPr>
        <p:grpSpPr>
          <a:xfrm rot="0">
            <a:off x="10602468" y="3024664"/>
            <a:ext cx="6583680" cy="610076"/>
            <a:chOff x="0" y="0"/>
            <a:chExt cx="8778240" cy="813435"/>
          </a:xfrm>
        </p:grpSpPr>
        <p:sp>
          <p:nvSpPr>
            <p:cNvPr name="Freeform 41" id="41"/>
            <p:cNvSpPr/>
            <p:nvPr/>
          </p:nvSpPr>
          <p:spPr>
            <a:xfrm flipH="false" flipV="false" rot="0">
              <a:off x="0" y="0"/>
              <a:ext cx="8778240" cy="813435"/>
            </a:xfrm>
            <a:custGeom>
              <a:avLst/>
              <a:gdLst/>
              <a:ahLst/>
              <a:cxnLst/>
              <a:rect r="r" b="b" t="t" l="l"/>
              <a:pathLst>
                <a:path h="813435" w="8778240">
                  <a:moveTo>
                    <a:pt x="0" y="0"/>
                  </a:moveTo>
                  <a:lnTo>
                    <a:pt x="8778240" y="0"/>
                  </a:lnTo>
                  <a:lnTo>
                    <a:pt x="8778240" y="813435"/>
                  </a:lnTo>
                  <a:lnTo>
                    <a:pt x="0" y="813435"/>
                  </a:lnTo>
                  <a:close/>
                </a:path>
              </a:pathLst>
            </a:custGeom>
            <a:blipFill>
              <a:blip r:embed="rId4">
                <a:alphaModFix amt="0"/>
              </a:blip>
              <a:stretch>
                <a:fillRect l="0" t="-160274" r="0" b="-160274"/>
              </a:stretch>
            </a:blipFill>
          </p:spPr>
        </p:sp>
        <p:sp>
          <p:nvSpPr>
            <p:cNvPr name="TextBox 42" id="42"/>
            <p:cNvSpPr txBox="true"/>
            <p:nvPr/>
          </p:nvSpPr>
          <p:spPr>
            <a:xfrm>
              <a:off x="0" y="9525"/>
              <a:ext cx="8778240" cy="803910"/>
            </a:xfrm>
            <a:prstGeom prst="rect">
              <a:avLst/>
            </a:prstGeom>
          </p:spPr>
          <p:txBody>
            <a:bodyPr anchor="ctr" rtlCol="false" tIns="0" lIns="0" bIns="0" rIns="0"/>
            <a:lstStyle/>
            <a:p>
              <a:pPr algn="l">
                <a:lnSpc>
                  <a:spcPts val="2878"/>
                </a:lnSpc>
              </a:pPr>
              <a:r>
                <a:rPr lang="en-US" sz="2400" b="true">
                  <a:solidFill>
                    <a:srgbClr val="1B2B2E"/>
                  </a:solidFill>
                  <a:latin typeface="Noto Sans Bold"/>
                  <a:ea typeface="Noto Sans Bold"/>
                  <a:cs typeface="Noto Sans Bold"/>
                  <a:sym typeface="Noto Sans Bold"/>
                </a:rPr>
                <a:t>얼굴 확인 · YuNet + SFace</a:t>
              </a:r>
            </a:p>
          </p:txBody>
        </p:sp>
      </p:grpSp>
      <p:sp>
        <p:nvSpPr>
          <p:cNvPr name="TextBox 43" id="43"/>
          <p:cNvSpPr txBox="true"/>
          <p:nvPr/>
        </p:nvSpPr>
        <p:spPr>
          <a:xfrm rot="0">
            <a:off x="9642348" y="4046220"/>
            <a:ext cx="3703320" cy="1028700"/>
          </a:xfrm>
          <a:prstGeom prst="rect">
            <a:avLst/>
          </a:prstGeom>
        </p:spPr>
        <p:txBody>
          <a:bodyPr anchor="t" rtlCol="false" tIns="0" lIns="0" bIns="0" rIns="0">
            <a:spAutoFit/>
          </a:bodyPr>
          <a:lstStyle/>
          <a:p>
            <a:pPr algn="ctr">
              <a:lnSpc>
                <a:spcPts val="6480"/>
              </a:lnSpc>
            </a:pPr>
            <a:r>
              <a:rPr lang="en-US" sz="5400" b="true">
                <a:solidFill>
                  <a:srgbClr val="1F6F63"/>
                </a:solidFill>
                <a:latin typeface="Noto Sans Bold"/>
                <a:ea typeface="Noto Sans Bold"/>
                <a:cs typeface="Noto Sans Bold"/>
                <a:sym typeface="Noto Sans Bold"/>
              </a:rPr>
              <a:t>0.61</a:t>
            </a:r>
          </a:p>
        </p:txBody>
      </p:sp>
      <p:sp>
        <p:nvSpPr>
          <p:cNvPr name="TextBox 44" id="44"/>
          <p:cNvSpPr txBox="true"/>
          <p:nvPr/>
        </p:nvSpPr>
        <p:spPr>
          <a:xfrm rot="0">
            <a:off x="9642348" y="5124450"/>
            <a:ext cx="3703320" cy="567690"/>
          </a:xfrm>
          <a:prstGeom prst="rect">
            <a:avLst/>
          </a:prstGeom>
        </p:spPr>
        <p:txBody>
          <a:bodyPr anchor="t" rtlCol="false" tIns="0" lIns="0" bIns="0" rIns="0">
            <a:spAutoFit/>
          </a:bodyPr>
          <a:lstStyle/>
          <a:p>
            <a:pPr algn="ctr">
              <a:lnSpc>
                <a:spcPts val="2340"/>
              </a:lnSpc>
            </a:pPr>
            <a:r>
              <a:rPr lang="en-US" sz="1950">
                <a:solidFill>
                  <a:srgbClr val="45545A"/>
                </a:solidFill>
                <a:latin typeface="Noto Sans"/>
                <a:ea typeface="Noto Sans"/>
                <a:cs typeface="Noto Sans"/>
                <a:sym typeface="Noto Sans"/>
              </a:rPr>
              <a:t>본인 최저 점수</a:t>
            </a:r>
          </a:p>
        </p:txBody>
      </p:sp>
      <p:sp>
        <p:nvSpPr>
          <p:cNvPr name="TextBox 45" id="45"/>
          <p:cNvSpPr txBox="true"/>
          <p:nvPr/>
        </p:nvSpPr>
        <p:spPr>
          <a:xfrm rot="0">
            <a:off x="13482828" y="4046220"/>
            <a:ext cx="3703320" cy="1028700"/>
          </a:xfrm>
          <a:prstGeom prst="rect">
            <a:avLst/>
          </a:prstGeom>
        </p:spPr>
        <p:txBody>
          <a:bodyPr anchor="t" rtlCol="false" tIns="0" lIns="0" bIns="0" rIns="0">
            <a:spAutoFit/>
          </a:bodyPr>
          <a:lstStyle/>
          <a:p>
            <a:pPr algn="ctr">
              <a:lnSpc>
                <a:spcPts val="6480"/>
              </a:lnSpc>
            </a:pPr>
            <a:r>
              <a:rPr lang="en-US" sz="5400" b="true">
                <a:solidFill>
                  <a:srgbClr val="45545A"/>
                </a:solidFill>
                <a:latin typeface="Noto Sans Bold"/>
                <a:ea typeface="Noto Sans Bold"/>
                <a:cs typeface="Noto Sans Bold"/>
                <a:sym typeface="Noto Sans Bold"/>
              </a:rPr>
              <a:t>0.23</a:t>
            </a:r>
          </a:p>
        </p:txBody>
      </p:sp>
      <p:sp>
        <p:nvSpPr>
          <p:cNvPr name="TextBox 46" id="46"/>
          <p:cNvSpPr txBox="true"/>
          <p:nvPr/>
        </p:nvSpPr>
        <p:spPr>
          <a:xfrm rot="0">
            <a:off x="13482828" y="5124450"/>
            <a:ext cx="3703320" cy="567690"/>
          </a:xfrm>
          <a:prstGeom prst="rect">
            <a:avLst/>
          </a:prstGeom>
        </p:spPr>
        <p:txBody>
          <a:bodyPr anchor="t" rtlCol="false" tIns="0" lIns="0" bIns="0" rIns="0">
            <a:spAutoFit/>
          </a:bodyPr>
          <a:lstStyle/>
          <a:p>
            <a:pPr algn="ctr">
              <a:lnSpc>
                <a:spcPts val="2340"/>
              </a:lnSpc>
            </a:pPr>
            <a:r>
              <a:rPr lang="en-US" sz="1950">
                <a:solidFill>
                  <a:srgbClr val="45545A"/>
                </a:solidFill>
                <a:latin typeface="Noto Sans"/>
                <a:ea typeface="Noto Sans"/>
                <a:cs typeface="Noto Sans"/>
                <a:sym typeface="Noto Sans"/>
              </a:rPr>
              <a:t>타인 최고 점수</a:t>
            </a:r>
          </a:p>
        </p:txBody>
      </p:sp>
      <p:sp>
        <p:nvSpPr>
          <p:cNvPr name="TextBox 47" id="47"/>
          <p:cNvSpPr txBox="true"/>
          <p:nvPr/>
        </p:nvSpPr>
        <p:spPr>
          <a:xfrm rot="0">
            <a:off x="9779508" y="6240780"/>
            <a:ext cx="7406640" cy="1303020"/>
          </a:xfrm>
          <a:prstGeom prst="rect">
            <a:avLst/>
          </a:prstGeom>
        </p:spPr>
        <p:txBody>
          <a:bodyPr anchor="t" rtlCol="false" tIns="0" lIns="0" bIns="0" rIns="0">
            <a:spAutoFit/>
          </a:bodyPr>
          <a:lstStyle/>
          <a:p>
            <a:pPr algn="l">
              <a:lnSpc>
                <a:spcPts val="2250"/>
              </a:lnSpc>
            </a:pPr>
            <a:r>
              <a:rPr lang="en-US" sz="1875">
                <a:solidFill>
                  <a:srgbClr val="45545A"/>
                </a:solidFill>
                <a:latin typeface="Noto Sans"/>
                <a:ea typeface="Noto Sans"/>
                <a:cs typeface="Noto Sans"/>
                <a:sym typeface="Noto Sans"/>
              </a:rPr>
              <a:t>임계값 0.363 · 5프레임 중 3프레임 통과</a:t>
            </a:r>
          </a:p>
          <a:p>
            <a:pPr algn="l">
              <a:lnSpc>
                <a:spcPts val="2250"/>
              </a:lnSpc>
            </a:pPr>
            <a:r>
              <a:rPr lang="en-US" sz="1875">
                <a:solidFill>
                  <a:srgbClr val="45545A"/>
                </a:solidFill>
                <a:latin typeface="Noto Sans"/>
                <a:ea typeface="Noto Sans"/>
                <a:cs typeface="Noto Sans"/>
                <a:sym typeface="Noto Sans"/>
              </a:rPr>
              <a:t>본인 – 타인 점수 간 여유 확보</a:t>
            </a:r>
          </a:p>
        </p:txBody>
      </p:sp>
      <p:grpSp>
        <p:nvGrpSpPr>
          <p:cNvPr name="Group 48" id="48"/>
          <p:cNvGrpSpPr/>
          <p:nvPr/>
        </p:nvGrpSpPr>
        <p:grpSpPr>
          <a:xfrm rot="0">
            <a:off x="822960" y="9189720"/>
            <a:ext cx="16641623" cy="411480"/>
            <a:chOff x="0" y="0"/>
            <a:chExt cx="22188830" cy="548640"/>
          </a:xfrm>
        </p:grpSpPr>
        <p:sp>
          <p:nvSpPr>
            <p:cNvPr name="Freeform 49" id="49"/>
            <p:cNvSpPr/>
            <p:nvPr/>
          </p:nvSpPr>
          <p:spPr>
            <a:xfrm flipH="false" flipV="false" rot="0">
              <a:off x="0" y="0"/>
              <a:ext cx="22188805" cy="548640"/>
            </a:xfrm>
            <a:custGeom>
              <a:avLst/>
              <a:gdLst/>
              <a:ahLst/>
              <a:cxnLst/>
              <a:rect r="r" b="b" t="t" l="l"/>
              <a:pathLst>
                <a:path h="548640" w="22188805">
                  <a:moveTo>
                    <a:pt x="0" y="0"/>
                  </a:moveTo>
                  <a:lnTo>
                    <a:pt x="22188805" y="0"/>
                  </a:lnTo>
                  <a:lnTo>
                    <a:pt x="22188805" y="548640"/>
                  </a:lnTo>
                  <a:lnTo>
                    <a:pt x="0" y="548640"/>
                  </a:lnTo>
                  <a:close/>
                </a:path>
              </a:pathLst>
            </a:custGeom>
            <a:blipFill>
              <a:blip r:embed="rId3">
                <a:alphaModFix amt="0"/>
              </a:blip>
              <a:stretch>
                <a:fillRect l="0" t="-737490" r="0" b="-737493"/>
              </a:stretch>
            </a:blipFill>
          </p:spPr>
        </p:sp>
      </p:grpSp>
      <p:grpSp>
        <p:nvGrpSpPr>
          <p:cNvPr name="Group 50" id="50"/>
          <p:cNvGrpSpPr/>
          <p:nvPr/>
        </p:nvGrpSpPr>
        <p:grpSpPr>
          <a:xfrm rot="0">
            <a:off x="822960" y="9189720"/>
            <a:ext cx="16641623" cy="411480"/>
            <a:chOff x="0" y="0"/>
            <a:chExt cx="22188830" cy="548640"/>
          </a:xfrm>
        </p:grpSpPr>
        <p:sp>
          <p:nvSpPr>
            <p:cNvPr name="Freeform 51" id="51"/>
            <p:cNvSpPr/>
            <p:nvPr/>
          </p:nvSpPr>
          <p:spPr>
            <a:xfrm flipH="false" flipV="false" rot="0">
              <a:off x="0" y="0"/>
              <a:ext cx="22188830" cy="548640"/>
            </a:xfrm>
            <a:custGeom>
              <a:avLst/>
              <a:gdLst/>
              <a:ahLst/>
              <a:cxnLst/>
              <a:rect r="r" b="b" t="t" l="l"/>
              <a:pathLst>
                <a:path h="548640" w="22188830">
                  <a:moveTo>
                    <a:pt x="0" y="0"/>
                  </a:moveTo>
                  <a:lnTo>
                    <a:pt x="22188830" y="0"/>
                  </a:lnTo>
                  <a:lnTo>
                    <a:pt x="22188830" y="548640"/>
                  </a:lnTo>
                  <a:lnTo>
                    <a:pt x="0" y="548640"/>
                  </a:lnTo>
                  <a:close/>
                </a:path>
              </a:pathLst>
            </a:custGeom>
            <a:blipFill>
              <a:blip r:embed="rId4">
                <a:alphaModFix amt="0"/>
              </a:blip>
              <a:stretch>
                <a:fillRect l="0" t="-738039" r="0" b="-738039"/>
              </a:stretch>
            </a:blipFill>
          </p:spPr>
        </p:sp>
        <p:sp>
          <p:nvSpPr>
            <p:cNvPr name="TextBox 52" id="52"/>
            <p:cNvSpPr txBox="true"/>
            <p:nvPr/>
          </p:nvSpPr>
          <p:spPr>
            <a:xfrm>
              <a:off x="0" y="0"/>
              <a:ext cx="22188830" cy="548640"/>
            </a:xfrm>
            <a:prstGeom prst="rect">
              <a:avLst/>
            </a:prstGeom>
          </p:spPr>
          <p:txBody>
            <a:bodyPr anchor="ctr" rtlCol="false" tIns="0" lIns="0" bIns="0" rIns="0"/>
            <a:lstStyle/>
            <a:p>
              <a:pPr algn="l">
                <a:lnSpc>
                  <a:spcPts val="1800"/>
                </a:lnSpc>
              </a:pPr>
              <a:r>
                <a:rPr lang="en-US" sz="1500">
                  <a:solidFill>
                    <a:srgbClr val="6B787A"/>
                  </a:solidFill>
                  <a:latin typeface="Noto Sans"/>
                  <a:ea typeface="Noto Sans"/>
                  <a:cs typeface="Noto Sans"/>
                  <a:sym typeface="Noto Sans"/>
                </a:rPr>
                <a:t>Unity 합성 이미지 기준 · 실제 공장 · 신규 설비 성능은 미검증</a:t>
              </a:r>
            </a:p>
          </p:txBody>
        </p:sp>
      </p:grpSp>
      <p:sp>
        <p:nvSpPr>
          <p:cNvPr name="TextBox 53" id="53"/>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a:solidFill>
                  <a:srgbClr val="6B787A"/>
                </a:solidFill>
                <a:latin typeface="Noto Sans"/>
                <a:ea typeface="Noto Sans"/>
                <a:cs typeface="Noto Sans"/>
                <a:sym typeface="Noto Sans"/>
              </a:rPr>
              <a:t>28</a:t>
            </a:r>
          </a:p>
        </p:txBody>
      </p:sp>
      <p:grpSp>
        <p:nvGrpSpPr>
          <p:cNvPr name="Group 54" id="54"/>
          <p:cNvGrpSpPr/>
          <p:nvPr/>
        </p:nvGrpSpPr>
        <p:grpSpPr>
          <a:xfrm rot="0">
            <a:off x="5818352" y="9710928"/>
            <a:ext cx="4070985" cy="419672"/>
            <a:chOff x="0" y="0"/>
            <a:chExt cx="5427980" cy="559562"/>
          </a:xfrm>
        </p:grpSpPr>
        <p:grpSp>
          <p:nvGrpSpPr>
            <p:cNvPr name="Group 55" id="55"/>
            <p:cNvGrpSpPr/>
            <p:nvPr/>
          </p:nvGrpSpPr>
          <p:grpSpPr>
            <a:xfrm rot="0">
              <a:off x="0" y="0"/>
              <a:ext cx="1680845" cy="559562"/>
              <a:chOff x="0" y="0"/>
              <a:chExt cx="1680845" cy="559562"/>
            </a:xfrm>
          </p:grpSpPr>
          <p:sp>
            <p:nvSpPr>
              <p:cNvPr name="Freeform 56" id="56"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9"/>
                <a:stretch>
                  <a:fillRect l="0" t="-265" r="0" b="-267"/>
                </a:stretch>
              </a:blipFill>
            </p:spPr>
          </p:sp>
        </p:grpSp>
        <p:grpSp>
          <p:nvGrpSpPr>
            <p:cNvPr name="Group 57" id="57"/>
            <p:cNvGrpSpPr/>
            <p:nvPr/>
          </p:nvGrpSpPr>
          <p:grpSpPr>
            <a:xfrm rot="0">
              <a:off x="2069490" y="124358"/>
              <a:ext cx="1189101" cy="310896"/>
              <a:chOff x="0" y="0"/>
              <a:chExt cx="1189101" cy="310896"/>
            </a:xfrm>
          </p:grpSpPr>
          <p:sp>
            <p:nvSpPr>
              <p:cNvPr name="Freeform 58" id="58"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10"/>
                <a:stretch>
                  <a:fillRect l="-30" t="0" r="-32" b="0"/>
                </a:stretch>
              </a:blipFill>
            </p:spPr>
          </p:sp>
        </p:grpSp>
        <p:grpSp>
          <p:nvGrpSpPr>
            <p:cNvPr name="Group 59" id="59"/>
            <p:cNvGrpSpPr/>
            <p:nvPr/>
          </p:nvGrpSpPr>
          <p:grpSpPr>
            <a:xfrm rot="0">
              <a:off x="3647186" y="124358"/>
              <a:ext cx="1780794" cy="310896"/>
              <a:chOff x="0" y="0"/>
              <a:chExt cx="1780794" cy="310896"/>
            </a:xfrm>
          </p:grpSpPr>
          <p:sp>
            <p:nvSpPr>
              <p:cNvPr name="Freeform 60" id="60"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11"/>
                <a:stretch>
                  <a:fillRect l="0" t="-118" r="0" b="-122"/>
                </a:stretch>
              </a:blipFill>
            </p:spPr>
          </p:sp>
        </p:gr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3050" r="0" b="-333050"/>
              </a:stretch>
            </a:blipFill>
          </p:spPr>
        </p:sp>
        <p:sp>
          <p:nvSpPr>
            <p:cNvPr name="TextBox 6" id="6"/>
            <p:cNvSpPr txBox="true"/>
            <p:nvPr/>
          </p:nvSpPr>
          <p:spPr>
            <a:xfrm>
              <a:off x="0" y="-9525"/>
              <a:ext cx="10972800" cy="567690"/>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7" id="7"/>
          <p:cNvGrpSpPr/>
          <p:nvPr/>
        </p:nvGrpSpPr>
        <p:grpSpPr>
          <a:xfrm rot="0">
            <a:off x="822960" y="438912"/>
            <a:ext cx="4114800" cy="384048"/>
            <a:chOff x="0" y="0"/>
            <a:chExt cx="5486400" cy="512064"/>
          </a:xfrm>
        </p:grpSpPr>
        <p:sp>
          <p:nvSpPr>
            <p:cNvPr name="Freeform 8" id="8"/>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4">
                <a:alphaModFix amt="0"/>
              </a:blip>
              <a:stretch>
                <a:fillRect l="0" t="-158768" r="0" b="-158768"/>
              </a:stretch>
            </a:blipFill>
          </p:spPr>
        </p:sp>
        <p:sp>
          <p:nvSpPr>
            <p:cNvPr name="TextBox 9" id="9"/>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03  AI 모델</a:t>
              </a:r>
            </a:p>
          </p:txBody>
        </p:sp>
      </p:grpSp>
      <p:grpSp>
        <p:nvGrpSpPr>
          <p:cNvPr name="Group 10" id="10"/>
          <p:cNvGrpSpPr/>
          <p:nvPr/>
        </p:nvGrpSpPr>
        <p:grpSpPr>
          <a:xfrm rot="0">
            <a:off x="822960" y="822960"/>
            <a:ext cx="16642080" cy="850392"/>
            <a:chOff x="0" y="0"/>
            <a:chExt cx="22189440" cy="1133856"/>
          </a:xfrm>
        </p:grpSpPr>
        <p:sp>
          <p:nvSpPr>
            <p:cNvPr name="Freeform 11" id="11"/>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4">
                <a:alphaModFix amt="0"/>
              </a:blip>
              <a:stretch>
                <a:fillRect l="0" t="-331309" r="2" b="-331309"/>
              </a:stretch>
            </a:blipFill>
          </p:spPr>
        </p:sp>
        <p:sp>
          <p:nvSpPr>
            <p:cNvPr name="TextBox 12" id="12"/>
            <p:cNvSpPr txBox="true"/>
            <p:nvPr/>
          </p:nvSpPr>
          <p:spPr>
            <a:xfrm>
              <a:off x="0" y="-9525"/>
              <a:ext cx="22189440" cy="1143381"/>
            </a:xfrm>
            <a:prstGeom prst="rect">
              <a:avLst/>
            </a:prstGeom>
          </p:spPr>
          <p:txBody>
            <a:bodyPr anchor="ctr" rtlCol="false" tIns="0" lIns="0" bIns="0" rIns="0"/>
            <a:lstStyle/>
            <a:p>
              <a:pPr algn="l" marL="0" indent="0" lvl="0">
                <a:lnSpc>
                  <a:spcPts val="4500"/>
                </a:lnSpc>
                <a:spcBef>
                  <a:spcPct val="0"/>
                </a:spcBef>
              </a:pPr>
              <a:r>
                <a:rPr lang="en-US" b="true" sz="3750" strike="noStrike" u="none">
                  <a:solidFill>
                    <a:srgbClr val="203238"/>
                  </a:solidFill>
                  <a:latin typeface="Noto Sans Bold"/>
                  <a:ea typeface="Noto Sans Bold"/>
                  <a:cs typeface="Noto Sans Bold"/>
                  <a:sym typeface="Noto Sans Bold"/>
                </a:rPr>
                <a:t>08  센서 데이터 — 전달과 분석 범위</a:t>
              </a:r>
            </a:p>
          </p:txBody>
        </p:sp>
      </p:grpSp>
      <p:grpSp>
        <p:nvGrpSpPr>
          <p:cNvPr name="Group 13" id="13"/>
          <p:cNvGrpSpPr/>
          <p:nvPr/>
        </p:nvGrpSpPr>
        <p:grpSpPr>
          <a:xfrm rot="0">
            <a:off x="822960" y="1762125"/>
            <a:ext cx="16640175" cy="571500"/>
            <a:chOff x="0" y="0"/>
            <a:chExt cx="22186900" cy="762000"/>
          </a:xfrm>
        </p:grpSpPr>
        <p:sp>
          <p:nvSpPr>
            <p:cNvPr name="Freeform 14" id="14"/>
            <p:cNvSpPr/>
            <p:nvPr/>
          </p:nvSpPr>
          <p:spPr>
            <a:xfrm flipH="false" flipV="false" rot="0">
              <a:off x="0" y="0"/>
              <a:ext cx="22186900" cy="762000"/>
            </a:xfrm>
            <a:custGeom>
              <a:avLst/>
              <a:gdLst/>
              <a:ahLst/>
              <a:cxnLst/>
              <a:rect r="r" b="b" t="t" l="l"/>
              <a:pathLst>
                <a:path h="762000" w="22186900">
                  <a:moveTo>
                    <a:pt x="0" y="0"/>
                  </a:moveTo>
                  <a:lnTo>
                    <a:pt x="22186900" y="0"/>
                  </a:lnTo>
                  <a:lnTo>
                    <a:pt x="22186900" y="762000"/>
                  </a:lnTo>
                  <a:lnTo>
                    <a:pt x="0" y="762000"/>
                  </a:lnTo>
                  <a:close/>
                </a:path>
              </a:pathLst>
            </a:custGeom>
            <a:blipFill>
              <a:blip r:embed="rId4">
                <a:alphaModFix amt="0"/>
              </a:blip>
              <a:stretch>
                <a:fillRect l="0" t="-517613" r="-8" b="-517163"/>
              </a:stretch>
            </a:blipFill>
          </p:spPr>
        </p:sp>
        <p:sp>
          <p:nvSpPr>
            <p:cNvPr name="TextBox 15" id="15"/>
            <p:cNvSpPr txBox="true"/>
            <p:nvPr/>
          </p:nvSpPr>
          <p:spPr>
            <a:xfrm>
              <a:off x="0" y="9525"/>
              <a:ext cx="22186900" cy="752475"/>
            </a:xfrm>
            <a:prstGeom prst="rect">
              <a:avLst/>
            </a:prstGeom>
          </p:spPr>
          <p:txBody>
            <a:bodyPr anchor="ctr" rtlCol="false" tIns="0" lIns="0" bIns="0" rIns="0"/>
            <a:lstStyle/>
            <a:p>
              <a:pPr algn="l" marL="0" indent="0" lvl="0">
                <a:lnSpc>
                  <a:spcPts val="2699"/>
                </a:lnSpc>
                <a:spcBef>
                  <a:spcPct val="0"/>
                </a:spcBef>
              </a:pPr>
              <a:r>
                <a:rPr lang="en-US" sz="2250" strike="noStrike" u="none">
                  <a:solidFill>
                    <a:srgbClr val="53666E"/>
                  </a:solidFill>
                  <a:latin typeface="Noto Sans"/>
                  <a:ea typeface="Noto Sans"/>
                  <a:cs typeface="Noto Sans"/>
                  <a:sym typeface="Noto Sans"/>
                </a:rPr>
                <a:t>정상·공정 이상·센서 이상을 구분한 합성 데이터</a:t>
              </a:r>
            </a:p>
          </p:txBody>
        </p:sp>
      </p:grpSp>
      <p:grpSp>
        <p:nvGrpSpPr>
          <p:cNvPr name="Group 16" id="16"/>
          <p:cNvGrpSpPr/>
          <p:nvPr/>
        </p:nvGrpSpPr>
        <p:grpSpPr>
          <a:xfrm rot="0">
            <a:off x="1108710" y="3048000"/>
            <a:ext cx="4716780" cy="436884"/>
            <a:chOff x="0" y="0"/>
            <a:chExt cx="6289040" cy="582512"/>
          </a:xfrm>
        </p:grpSpPr>
        <p:sp>
          <p:nvSpPr>
            <p:cNvPr name="Freeform 17" id="17"/>
            <p:cNvSpPr/>
            <p:nvPr/>
          </p:nvSpPr>
          <p:spPr>
            <a:xfrm flipH="false" flipV="false" rot="0">
              <a:off x="0" y="0"/>
              <a:ext cx="6289040" cy="582512"/>
            </a:xfrm>
            <a:custGeom>
              <a:avLst/>
              <a:gdLst/>
              <a:ahLst/>
              <a:cxnLst/>
              <a:rect r="r" b="b" t="t" l="l"/>
              <a:pathLst>
                <a:path h="582512" w="6289040">
                  <a:moveTo>
                    <a:pt x="0" y="0"/>
                  </a:moveTo>
                  <a:lnTo>
                    <a:pt x="6289040" y="0"/>
                  </a:lnTo>
                  <a:lnTo>
                    <a:pt x="6289040" y="582512"/>
                  </a:lnTo>
                  <a:lnTo>
                    <a:pt x="0" y="582512"/>
                  </a:lnTo>
                  <a:close/>
                </a:path>
              </a:pathLst>
            </a:custGeom>
            <a:blipFill>
              <a:blip r:embed="rId4">
                <a:alphaModFix amt="0"/>
              </a:blip>
              <a:stretch>
                <a:fillRect l="0" t="-223810" r="-39579" b="-263453"/>
              </a:stretch>
            </a:blipFill>
          </p:spPr>
        </p:sp>
        <p:sp>
          <p:nvSpPr>
            <p:cNvPr name="TextBox 18" id="18"/>
            <p:cNvSpPr txBox="true"/>
            <p:nvPr/>
          </p:nvSpPr>
          <p:spPr>
            <a:xfrm>
              <a:off x="0" y="9525"/>
              <a:ext cx="6289040" cy="572987"/>
            </a:xfrm>
            <a:prstGeom prst="rect">
              <a:avLst/>
            </a:prstGeom>
          </p:spPr>
          <p:txBody>
            <a:bodyPr anchor="ctr" rtlCol="false" tIns="0" lIns="0" bIns="0" rIns="0"/>
            <a:lstStyle/>
            <a:p>
              <a:pPr algn="ctr">
                <a:lnSpc>
                  <a:spcPts val="2699"/>
                </a:lnSpc>
                <a:spcBef>
                  <a:spcPct val="0"/>
                </a:spcBef>
              </a:pPr>
              <a:r>
                <a:rPr lang="en-US" b="true" sz="2250" strike="noStrike" u="none">
                  <a:solidFill>
                    <a:srgbClr val="53666E"/>
                  </a:solidFill>
                  <a:latin typeface="Noto Sans Bold"/>
                  <a:ea typeface="Noto Sans Bold"/>
                  <a:cs typeface="Noto Sans Bold"/>
                  <a:sym typeface="Noto Sans Bold"/>
                </a:rPr>
                <a:t>전체 전달</a:t>
              </a:r>
            </a:p>
          </p:txBody>
        </p:sp>
      </p:grpSp>
      <p:sp>
        <p:nvSpPr>
          <p:cNvPr name="TextBox 19" id="19"/>
          <p:cNvSpPr txBox="true"/>
          <p:nvPr/>
        </p:nvSpPr>
        <p:spPr>
          <a:xfrm rot="0">
            <a:off x="1108710" y="3619500"/>
            <a:ext cx="4716780" cy="1000125"/>
          </a:xfrm>
          <a:prstGeom prst="rect">
            <a:avLst/>
          </a:prstGeom>
        </p:spPr>
        <p:txBody>
          <a:bodyPr anchor="t" rtlCol="false" tIns="0" lIns="0" bIns="0" rIns="0">
            <a:spAutoFit/>
          </a:bodyPr>
          <a:lstStyle/>
          <a:p>
            <a:pPr algn="ctr">
              <a:lnSpc>
                <a:spcPts val="7920"/>
              </a:lnSpc>
              <a:spcBef>
                <a:spcPct val="0"/>
              </a:spcBef>
            </a:pPr>
            <a:r>
              <a:rPr lang="en-US" b="true" sz="6600" strike="noStrike" u="none">
                <a:solidFill>
                  <a:srgbClr val="53666E"/>
                </a:solidFill>
                <a:latin typeface="Noto Sans Bold"/>
                <a:ea typeface="Noto Sans Bold"/>
                <a:cs typeface="Noto Sans Bold"/>
                <a:sym typeface="Noto Sans Bold"/>
              </a:rPr>
              <a:t>69</a:t>
            </a:r>
          </a:p>
        </p:txBody>
      </p:sp>
      <p:sp>
        <p:nvSpPr>
          <p:cNvPr name="TextBox 20" id="20"/>
          <p:cNvSpPr txBox="true"/>
          <p:nvPr/>
        </p:nvSpPr>
        <p:spPr>
          <a:xfrm rot="0">
            <a:off x="1108710" y="5048250"/>
            <a:ext cx="4716780" cy="314325"/>
          </a:xfrm>
          <a:prstGeom prst="rect">
            <a:avLst/>
          </a:prstGeom>
        </p:spPr>
        <p:txBody>
          <a:bodyPr anchor="t" rtlCol="false" tIns="0" lIns="0" bIns="0" rIns="0">
            <a:spAutoFit/>
          </a:bodyPr>
          <a:lstStyle/>
          <a:p>
            <a:pPr algn="ctr">
              <a:lnSpc>
                <a:spcPts val="2520"/>
              </a:lnSpc>
              <a:spcBef>
                <a:spcPct val="0"/>
              </a:spcBef>
            </a:pPr>
            <a:r>
              <a:rPr lang="en-US" sz="2100" strike="noStrike" u="none">
                <a:solidFill>
                  <a:srgbClr val="53666E"/>
                </a:solidFill>
                <a:latin typeface="Noto Sans"/>
                <a:ea typeface="Noto Sans"/>
                <a:cs typeface="Noto Sans"/>
                <a:sym typeface="Noto Sans"/>
              </a:rPr>
              <a:t>전체 항목 전달·표시</a:t>
            </a:r>
          </a:p>
        </p:txBody>
      </p:sp>
      <p:sp>
        <p:nvSpPr>
          <p:cNvPr name="TextBox 21" id="21"/>
          <p:cNvSpPr txBox="true"/>
          <p:nvPr/>
        </p:nvSpPr>
        <p:spPr>
          <a:xfrm rot="0">
            <a:off x="6785610" y="3048000"/>
            <a:ext cx="4716780" cy="342900"/>
          </a:xfrm>
          <a:prstGeom prst="rect">
            <a:avLst/>
          </a:prstGeom>
        </p:spPr>
        <p:txBody>
          <a:bodyPr anchor="t" rtlCol="false" tIns="0" lIns="0" bIns="0" rIns="0">
            <a:spAutoFit/>
          </a:bodyPr>
          <a:lstStyle/>
          <a:p>
            <a:pPr algn="ctr">
              <a:lnSpc>
                <a:spcPts val="2700"/>
              </a:lnSpc>
              <a:spcBef>
                <a:spcPct val="0"/>
              </a:spcBef>
            </a:pPr>
            <a:r>
              <a:rPr lang="en-US" b="true" sz="2250" strike="noStrike" u="none">
                <a:solidFill>
                  <a:srgbClr val="16796C"/>
                </a:solidFill>
                <a:latin typeface="Noto Sans Bold"/>
                <a:ea typeface="Noto Sans Bold"/>
                <a:cs typeface="Noto Sans Bold"/>
                <a:sym typeface="Noto Sans Bold"/>
              </a:rPr>
              <a:t>선택 입력</a:t>
            </a:r>
          </a:p>
        </p:txBody>
      </p:sp>
      <p:sp>
        <p:nvSpPr>
          <p:cNvPr name="TextBox 22" id="22"/>
          <p:cNvSpPr txBox="true"/>
          <p:nvPr/>
        </p:nvSpPr>
        <p:spPr>
          <a:xfrm rot="0">
            <a:off x="6785610" y="3619500"/>
            <a:ext cx="4716780" cy="1000125"/>
          </a:xfrm>
          <a:prstGeom prst="rect">
            <a:avLst/>
          </a:prstGeom>
        </p:spPr>
        <p:txBody>
          <a:bodyPr anchor="t" rtlCol="false" tIns="0" lIns="0" bIns="0" rIns="0">
            <a:spAutoFit/>
          </a:bodyPr>
          <a:lstStyle/>
          <a:p>
            <a:pPr algn="ctr">
              <a:lnSpc>
                <a:spcPts val="7920"/>
              </a:lnSpc>
              <a:spcBef>
                <a:spcPct val="0"/>
              </a:spcBef>
            </a:pPr>
            <a:r>
              <a:rPr lang="en-US" b="true" sz="6600" strike="noStrike" u="none">
                <a:solidFill>
                  <a:srgbClr val="16796C"/>
                </a:solidFill>
                <a:latin typeface="Noto Sans Bold"/>
                <a:ea typeface="Noto Sans Bold"/>
                <a:cs typeface="Noto Sans Bold"/>
                <a:sym typeface="Noto Sans Bold"/>
              </a:rPr>
              <a:t>63</a:t>
            </a:r>
          </a:p>
        </p:txBody>
      </p:sp>
      <p:sp>
        <p:nvSpPr>
          <p:cNvPr name="TextBox 23" id="23"/>
          <p:cNvSpPr txBox="true"/>
          <p:nvPr/>
        </p:nvSpPr>
        <p:spPr>
          <a:xfrm rot="0">
            <a:off x="6785610" y="5048250"/>
            <a:ext cx="4716780" cy="314325"/>
          </a:xfrm>
          <a:prstGeom prst="rect">
            <a:avLst/>
          </a:prstGeom>
        </p:spPr>
        <p:txBody>
          <a:bodyPr anchor="t" rtlCol="false" tIns="0" lIns="0" bIns="0" rIns="0">
            <a:spAutoFit/>
          </a:bodyPr>
          <a:lstStyle/>
          <a:p>
            <a:pPr algn="ctr">
              <a:lnSpc>
                <a:spcPts val="2520"/>
              </a:lnSpc>
              <a:spcBef>
                <a:spcPct val="0"/>
              </a:spcBef>
            </a:pPr>
            <a:r>
              <a:rPr lang="en-US" sz="2100" strike="noStrike" u="none">
                <a:solidFill>
                  <a:srgbClr val="53666E"/>
                </a:solidFill>
                <a:latin typeface="Noto Sans"/>
                <a:ea typeface="Noto Sans"/>
                <a:cs typeface="Noto Sans"/>
                <a:sym typeface="Noto Sans"/>
              </a:rPr>
              <a:t>수동 5개·이벤트 1개 제외</a:t>
            </a:r>
          </a:p>
        </p:txBody>
      </p:sp>
      <p:grpSp>
        <p:nvGrpSpPr>
          <p:cNvPr name="Group 24" id="24"/>
          <p:cNvGrpSpPr/>
          <p:nvPr/>
        </p:nvGrpSpPr>
        <p:grpSpPr>
          <a:xfrm rot="0">
            <a:off x="12462510" y="3048000"/>
            <a:ext cx="4716780" cy="436884"/>
            <a:chOff x="0" y="0"/>
            <a:chExt cx="6289040" cy="582512"/>
          </a:xfrm>
        </p:grpSpPr>
        <p:sp>
          <p:nvSpPr>
            <p:cNvPr name="Freeform 25" id="25"/>
            <p:cNvSpPr/>
            <p:nvPr/>
          </p:nvSpPr>
          <p:spPr>
            <a:xfrm flipH="false" flipV="false" rot="0">
              <a:off x="0" y="0"/>
              <a:ext cx="6289040" cy="582512"/>
            </a:xfrm>
            <a:custGeom>
              <a:avLst/>
              <a:gdLst/>
              <a:ahLst/>
              <a:cxnLst/>
              <a:rect r="r" b="b" t="t" l="l"/>
              <a:pathLst>
                <a:path h="582512" w="6289040">
                  <a:moveTo>
                    <a:pt x="0" y="0"/>
                  </a:moveTo>
                  <a:lnTo>
                    <a:pt x="6289040" y="0"/>
                  </a:lnTo>
                  <a:lnTo>
                    <a:pt x="6289040" y="582512"/>
                  </a:lnTo>
                  <a:lnTo>
                    <a:pt x="0" y="582512"/>
                  </a:lnTo>
                  <a:close/>
                </a:path>
              </a:pathLst>
            </a:custGeom>
            <a:blipFill>
              <a:blip r:embed="rId4">
                <a:alphaModFix amt="0"/>
              </a:blip>
              <a:stretch>
                <a:fillRect l="0" t="-223810" r="-39579" b="-263453"/>
              </a:stretch>
            </a:blipFill>
          </p:spPr>
        </p:sp>
        <p:sp>
          <p:nvSpPr>
            <p:cNvPr name="TextBox 26" id="26"/>
            <p:cNvSpPr txBox="true"/>
            <p:nvPr/>
          </p:nvSpPr>
          <p:spPr>
            <a:xfrm>
              <a:off x="0" y="9525"/>
              <a:ext cx="6289040" cy="572987"/>
            </a:xfrm>
            <a:prstGeom prst="rect">
              <a:avLst/>
            </a:prstGeom>
          </p:spPr>
          <p:txBody>
            <a:bodyPr anchor="ctr" rtlCol="false" tIns="0" lIns="0" bIns="0" rIns="0"/>
            <a:lstStyle/>
            <a:p>
              <a:pPr algn="ctr">
                <a:lnSpc>
                  <a:spcPts val="2699"/>
                </a:lnSpc>
                <a:spcBef>
                  <a:spcPct val="0"/>
                </a:spcBef>
              </a:pPr>
              <a:r>
                <a:rPr lang="en-US" b="true" sz="2250" strike="noStrike" u="none">
                  <a:solidFill>
                    <a:srgbClr val="16796C"/>
                  </a:solidFill>
                  <a:latin typeface="Noto Sans Bold"/>
                  <a:ea typeface="Noto Sans Bold"/>
                  <a:cs typeface="Noto Sans Bold"/>
                  <a:sym typeface="Noto Sans Bold"/>
                </a:rPr>
                <a:t>변동 판정</a:t>
              </a:r>
            </a:p>
          </p:txBody>
        </p:sp>
      </p:grpSp>
      <p:sp>
        <p:nvSpPr>
          <p:cNvPr name="TextBox 27" id="27"/>
          <p:cNvSpPr txBox="true"/>
          <p:nvPr/>
        </p:nvSpPr>
        <p:spPr>
          <a:xfrm rot="0">
            <a:off x="12462510" y="3619500"/>
            <a:ext cx="4716780" cy="1000125"/>
          </a:xfrm>
          <a:prstGeom prst="rect">
            <a:avLst/>
          </a:prstGeom>
        </p:spPr>
        <p:txBody>
          <a:bodyPr anchor="t" rtlCol="false" tIns="0" lIns="0" bIns="0" rIns="0">
            <a:spAutoFit/>
          </a:bodyPr>
          <a:lstStyle/>
          <a:p>
            <a:pPr algn="ctr">
              <a:lnSpc>
                <a:spcPts val="7920"/>
              </a:lnSpc>
              <a:spcBef>
                <a:spcPct val="0"/>
              </a:spcBef>
            </a:pPr>
            <a:r>
              <a:rPr lang="en-US" b="true" sz="6600" strike="noStrike" u="none">
                <a:solidFill>
                  <a:srgbClr val="16796C"/>
                </a:solidFill>
                <a:latin typeface="Noto Sans Bold"/>
                <a:ea typeface="Noto Sans Bold"/>
                <a:cs typeface="Noto Sans Bold"/>
                <a:sym typeface="Noto Sans Bold"/>
              </a:rPr>
              <a:t>60</a:t>
            </a:r>
          </a:p>
        </p:txBody>
      </p:sp>
      <p:sp>
        <p:nvSpPr>
          <p:cNvPr name="TextBox 28" id="28"/>
          <p:cNvSpPr txBox="true"/>
          <p:nvPr/>
        </p:nvSpPr>
        <p:spPr>
          <a:xfrm rot="0">
            <a:off x="12462510" y="5048250"/>
            <a:ext cx="4716780" cy="314325"/>
          </a:xfrm>
          <a:prstGeom prst="rect">
            <a:avLst/>
          </a:prstGeom>
        </p:spPr>
        <p:txBody>
          <a:bodyPr anchor="t" rtlCol="false" tIns="0" lIns="0" bIns="0" rIns="0">
            <a:spAutoFit/>
          </a:bodyPr>
          <a:lstStyle/>
          <a:p>
            <a:pPr algn="ctr">
              <a:lnSpc>
                <a:spcPts val="2520"/>
              </a:lnSpc>
              <a:spcBef>
                <a:spcPct val="0"/>
              </a:spcBef>
            </a:pPr>
            <a:r>
              <a:rPr lang="en-US" sz="2100" strike="noStrike" u="none">
                <a:solidFill>
                  <a:srgbClr val="53666E"/>
                </a:solidFill>
                <a:latin typeface="Noto Sans"/>
                <a:ea typeface="Noto Sans"/>
                <a:cs typeface="Noto Sans"/>
                <a:sym typeface="Noto Sans"/>
              </a:rPr>
              <a:t>비변동 상태 3개 추가 제외</a:t>
            </a:r>
          </a:p>
        </p:txBody>
      </p:sp>
      <p:sp>
        <p:nvSpPr>
          <p:cNvPr name="TextBox 29" id="29"/>
          <p:cNvSpPr txBox="true"/>
          <p:nvPr/>
        </p:nvSpPr>
        <p:spPr>
          <a:xfrm rot="0">
            <a:off x="1234440" y="6858000"/>
            <a:ext cx="15811500" cy="381000"/>
          </a:xfrm>
          <a:prstGeom prst="rect">
            <a:avLst/>
          </a:prstGeom>
        </p:spPr>
        <p:txBody>
          <a:bodyPr anchor="t" rtlCol="false" tIns="0" lIns="0" bIns="0" rIns="0">
            <a:spAutoFit/>
          </a:bodyPr>
          <a:lstStyle/>
          <a:p>
            <a:pPr algn="l">
              <a:lnSpc>
                <a:spcPts val="3060"/>
              </a:lnSpc>
              <a:spcBef>
                <a:spcPct val="0"/>
              </a:spcBef>
            </a:pPr>
            <a:r>
              <a:rPr lang="en-US" b="true" sz="2550" strike="noStrike" u="none">
                <a:solidFill>
                  <a:srgbClr val="203238"/>
                </a:solidFill>
                <a:latin typeface="Noto Sans Bold"/>
                <a:ea typeface="Noto Sans Bold"/>
                <a:cs typeface="Noto Sans Bold"/>
                <a:sym typeface="Noto Sans Bold"/>
              </a:rPr>
              <a:t>기준 적합·보정 → 후보 고정 → 새 평가</a:t>
            </a:r>
          </a:p>
        </p:txBody>
      </p:sp>
      <p:sp>
        <p:nvSpPr>
          <p:cNvPr name="TextBox 30" id="30"/>
          <p:cNvSpPr txBox="true"/>
          <p:nvPr/>
        </p:nvSpPr>
        <p:spPr>
          <a:xfrm rot="0">
            <a:off x="1234440" y="7524750"/>
            <a:ext cx="15811500" cy="314325"/>
          </a:xfrm>
          <a:prstGeom prst="rect">
            <a:avLst/>
          </a:prstGeom>
        </p:spPr>
        <p:txBody>
          <a:bodyPr anchor="t" rtlCol="false" tIns="0" lIns="0" bIns="0" rIns="0">
            <a:spAutoFit/>
          </a:bodyPr>
          <a:lstStyle/>
          <a:p>
            <a:pPr algn="l">
              <a:lnSpc>
                <a:spcPts val="2520"/>
              </a:lnSpc>
              <a:spcBef>
                <a:spcPct val="0"/>
              </a:spcBef>
            </a:pPr>
            <a:r>
              <a:rPr lang="en-US" sz="2100" strike="noStrike" u="none">
                <a:solidFill>
                  <a:srgbClr val="53666E"/>
                </a:solidFill>
                <a:latin typeface="Noto Sans"/>
                <a:ea typeface="Noto Sans"/>
                <a:cs typeface="Noto Sans"/>
                <a:sym typeface="Noto Sans"/>
              </a:rPr>
              <a:t>고장 정답은 분석 입력과 분리</a:t>
            </a:r>
          </a:p>
        </p:txBody>
      </p:sp>
      <p:grpSp>
        <p:nvGrpSpPr>
          <p:cNvPr name="Group 31" id="31"/>
          <p:cNvGrpSpPr/>
          <p:nvPr/>
        </p:nvGrpSpPr>
        <p:grpSpPr>
          <a:xfrm rot="0">
            <a:off x="1234440" y="8858250"/>
            <a:ext cx="15811500" cy="349411"/>
            <a:chOff x="0" y="0"/>
            <a:chExt cx="21082000" cy="465882"/>
          </a:xfrm>
        </p:grpSpPr>
        <p:sp>
          <p:nvSpPr>
            <p:cNvPr name="Freeform 32" id="32"/>
            <p:cNvSpPr/>
            <p:nvPr/>
          </p:nvSpPr>
          <p:spPr>
            <a:xfrm flipH="false" flipV="false" rot="0">
              <a:off x="0" y="0"/>
              <a:ext cx="21082000" cy="465882"/>
            </a:xfrm>
            <a:custGeom>
              <a:avLst/>
              <a:gdLst/>
              <a:ahLst/>
              <a:cxnLst/>
              <a:rect r="r" b="b" t="t" l="l"/>
              <a:pathLst>
                <a:path h="465882" w="21082000">
                  <a:moveTo>
                    <a:pt x="0" y="0"/>
                  </a:moveTo>
                  <a:lnTo>
                    <a:pt x="21082000" y="0"/>
                  </a:lnTo>
                  <a:lnTo>
                    <a:pt x="21082000" y="465882"/>
                  </a:lnTo>
                  <a:lnTo>
                    <a:pt x="0" y="465882"/>
                  </a:lnTo>
                  <a:close/>
                </a:path>
              </a:pathLst>
            </a:custGeom>
            <a:blipFill>
              <a:blip r:embed="rId4">
                <a:alphaModFix amt="0"/>
              </a:blip>
              <a:stretch>
                <a:fillRect l="0" t="-869143" r="-5250" b="-886907"/>
              </a:stretch>
            </a:blipFill>
          </p:spPr>
        </p:sp>
        <p:sp>
          <p:nvSpPr>
            <p:cNvPr name="TextBox 33" id="33"/>
            <p:cNvSpPr txBox="true"/>
            <p:nvPr/>
          </p:nvSpPr>
          <p:spPr>
            <a:xfrm>
              <a:off x="0" y="9525"/>
              <a:ext cx="21082000" cy="456357"/>
            </a:xfrm>
            <a:prstGeom prst="rect">
              <a:avLst/>
            </a:prstGeom>
          </p:spPr>
          <p:txBody>
            <a:bodyPr anchor="ctr" rtlCol="false" tIns="0" lIns="0" bIns="0" rIns="0"/>
            <a:lstStyle/>
            <a:p>
              <a:pPr algn="l">
                <a:lnSpc>
                  <a:spcPts val="2160"/>
                </a:lnSpc>
                <a:spcBef>
                  <a:spcPct val="0"/>
                </a:spcBef>
              </a:pPr>
              <a:r>
                <a:rPr lang="en-US" sz="1800" strike="noStrike" u="none">
                  <a:solidFill>
                    <a:srgbClr val="53666E"/>
                  </a:solidFill>
                  <a:latin typeface="Noto Sans"/>
                  <a:ea typeface="Noto Sans"/>
                  <a:cs typeface="Noto Sans"/>
                  <a:sym typeface="Noto Sans"/>
                </a:rPr>
                <a:t>합성 데이터 · 같은 생성 가정 공유 · 실제 공장 일반화 미검증</a:t>
              </a:r>
            </a:p>
          </p:txBody>
        </p:sp>
      </p:grpSp>
      <p:sp>
        <p:nvSpPr>
          <p:cNvPr name="TextBox 34" id="34"/>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a:solidFill>
                  <a:srgbClr val="6B787A"/>
                </a:solidFill>
                <a:latin typeface="Noto Sans"/>
                <a:ea typeface="Noto Sans"/>
                <a:cs typeface="Noto Sans"/>
                <a:sym typeface="Noto Sans"/>
              </a:rPr>
              <a:t>29</a:t>
            </a:r>
          </a:p>
        </p:txBody>
      </p:sp>
      <p:grpSp>
        <p:nvGrpSpPr>
          <p:cNvPr name="Group 35" id="35"/>
          <p:cNvGrpSpPr/>
          <p:nvPr/>
        </p:nvGrpSpPr>
        <p:grpSpPr>
          <a:xfrm rot="0">
            <a:off x="5818352" y="9710928"/>
            <a:ext cx="4070985" cy="419672"/>
            <a:chOff x="0" y="0"/>
            <a:chExt cx="5427980" cy="559562"/>
          </a:xfrm>
        </p:grpSpPr>
        <p:grpSp>
          <p:nvGrpSpPr>
            <p:cNvPr name="Group 36" id="36"/>
            <p:cNvGrpSpPr/>
            <p:nvPr/>
          </p:nvGrpSpPr>
          <p:grpSpPr>
            <a:xfrm rot="0">
              <a:off x="0" y="0"/>
              <a:ext cx="1680845" cy="559562"/>
              <a:chOff x="0" y="0"/>
              <a:chExt cx="1680845" cy="559562"/>
            </a:xfrm>
          </p:grpSpPr>
          <p:sp>
            <p:nvSpPr>
              <p:cNvPr name="Freeform 37" id="37"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5"/>
                <a:stretch>
                  <a:fillRect l="0" t="-265" r="0" b="-267"/>
                </a:stretch>
              </a:blipFill>
            </p:spPr>
          </p:sp>
        </p:grpSp>
        <p:grpSp>
          <p:nvGrpSpPr>
            <p:cNvPr name="Group 38" id="38"/>
            <p:cNvGrpSpPr/>
            <p:nvPr/>
          </p:nvGrpSpPr>
          <p:grpSpPr>
            <a:xfrm rot="0">
              <a:off x="2069490" y="124358"/>
              <a:ext cx="1189101" cy="310896"/>
              <a:chOff x="0" y="0"/>
              <a:chExt cx="1189101" cy="310896"/>
            </a:xfrm>
          </p:grpSpPr>
          <p:sp>
            <p:nvSpPr>
              <p:cNvPr name="Freeform 39" id="39"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6"/>
                <a:stretch>
                  <a:fillRect l="-30" t="0" r="-32" b="0"/>
                </a:stretch>
              </a:blipFill>
            </p:spPr>
          </p:sp>
        </p:grpSp>
        <p:grpSp>
          <p:nvGrpSpPr>
            <p:cNvPr name="Group 40" id="40"/>
            <p:cNvGrpSpPr/>
            <p:nvPr/>
          </p:nvGrpSpPr>
          <p:grpSpPr>
            <a:xfrm rot="0">
              <a:off x="3647186" y="124358"/>
              <a:ext cx="1780794" cy="310896"/>
              <a:chOff x="0" y="0"/>
              <a:chExt cx="1780794" cy="310896"/>
            </a:xfrm>
          </p:grpSpPr>
          <p:sp>
            <p:nvSpPr>
              <p:cNvPr name="Freeform 41" id="41"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7"/>
                <a:stretch>
                  <a:fillRect l="0" t="-118" r="0" b="-122"/>
                </a:stretch>
              </a:blipFill>
            </p:spPr>
          </p:sp>
        </p:grpSp>
      </p:grpSp>
      <p:sp>
        <p:nvSpPr>
          <p:cNvPr name="Freeform 42" id="42" descr="전달·선택·변동 분석 범위를 잇는 도형 화살표"/>
          <p:cNvSpPr/>
          <p:nvPr/>
        </p:nvSpPr>
        <p:spPr>
          <a:xfrm flipH="false" flipV="false" rot="0">
            <a:off x="6122670" y="3929062"/>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3" id="43" descr="전달·선택·변동 분석 범위를 잇는 도형 화살표"/>
          <p:cNvSpPr/>
          <p:nvPr/>
        </p:nvSpPr>
        <p:spPr>
          <a:xfrm flipH="false" flipV="false" rot="0">
            <a:off x="11799570" y="3929062"/>
            <a:ext cx="381000" cy="381000"/>
          </a:xfrm>
          <a:custGeom>
            <a:avLst/>
            <a:gdLst/>
            <a:ahLst/>
            <a:cxnLst/>
            <a:rect r="r" b="b" t="t" l="l"/>
            <a:pathLst>
              <a:path h="381000" w="381000">
                <a:moveTo>
                  <a:pt x="0" y="0"/>
                </a:moveTo>
                <a:lnTo>
                  <a:pt x="381000" y="0"/>
                </a:lnTo>
                <a:lnTo>
                  <a:pt x="381000" y="381000"/>
                </a:lnTo>
                <a:lnTo>
                  <a:pt x="0" y="3810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3050" r="0" b="-333050"/>
              </a:stretch>
            </a:blipFill>
          </p:spPr>
        </p:sp>
        <p:sp>
          <p:nvSpPr>
            <p:cNvPr name="TextBox 6" id="6"/>
            <p:cNvSpPr txBox="true"/>
            <p:nvPr/>
          </p:nvSpPr>
          <p:spPr>
            <a:xfrm>
              <a:off x="0" y="-9525"/>
              <a:ext cx="10972800" cy="567690"/>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7" id="7"/>
          <p:cNvGrpSpPr/>
          <p:nvPr/>
        </p:nvGrpSpPr>
        <p:grpSpPr>
          <a:xfrm rot="0">
            <a:off x="822960" y="438912"/>
            <a:ext cx="4114800" cy="384048"/>
            <a:chOff x="0" y="0"/>
            <a:chExt cx="5486400" cy="512064"/>
          </a:xfrm>
        </p:grpSpPr>
        <p:sp>
          <p:nvSpPr>
            <p:cNvPr name="Freeform 8" id="8"/>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4">
                <a:alphaModFix amt="0"/>
              </a:blip>
              <a:stretch>
                <a:fillRect l="0" t="-158768" r="0" b="-158768"/>
              </a:stretch>
            </a:blipFill>
          </p:spPr>
        </p:sp>
        <p:sp>
          <p:nvSpPr>
            <p:cNvPr name="TextBox 9" id="9"/>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03  AI 모델</a:t>
              </a:r>
            </a:p>
          </p:txBody>
        </p:sp>
      </p:grpSp>
      <p:grpSp>
        <p:nvGrpSpPr>
          <p:cNvPr name="Group 10" id="10"/>
          <p:cNvGrpSpPr/>
          <p:nvPr/>
        </p:nvGrpSpPr>
        <p:grpSpPr>
          <a:xfrm rot="0">
            <a:off x="822960" y="822960"/>
            <a:ext cx="16642080" cy="850392"/>
            <a:chOff x="0" y="0"/>
            <a:chExt cx="22189440" cy="1133856"/>
          </a:xfrm>
        </p:grpSpPr>
        <p:sp>
          <p:nvSpPr>
            <p:cNvPr name="Freeform 11" id="11"/>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4">
                <a:alphaModFix amt="0"/>
              </a:blip>
              <a:stretch>
                <a:fillRect l="0" t="-331309" r="2" b="-331309"/>
              </a:stretch>
            </a:blipFill>
          </p:spPr>
        </p:sp>
        <p:sp>
          <p:nvSpPr>
            <p:cNvPr name="TextBox 12" id="12"/>
            <p:cNvSpPr txBox="true"/>
            <p:nvPr/>
          </p:nvSpPr>
          <p:spPr>
            <a:xfrm>
              <a:off x="0" y="-9525"/>
              <a:ext cx="22189440" cy="1143381"/>
            </a:xfrm>
            <a:prstGeom prst="rect">
              <a:avLst/>
            </a:prstGeom>
          </p:spPr>
          <p:txBody>
            <a:bodyPr anchor="ctr" rtlCol="false" tIns="0" lIns="0" bIns="0" rIns="0"/>
            <a:lstStyle/>
            <a:p>
              <a:pPr algn="l" marL="0" indent="0" lvl="0">
                <a:lnSpc>
                  <a:spcPts val="4500"/>
                </a:lnSpc>
                <a:spcBef>
                  <a:spcPct val="0"/>
                </a:spcBef>
              </a:pPr>
              <a:r>
                <a:rPr lang="en-US" b="true" sz="3750" strike="noStrike" u="none">
                  <a:solidFill>
                    <a:srgbClr val="203238"/>
                  </a:solidFill>
                  <a:latin typeface="Noto Sans Bold"/>
                  <a:ea typeface="Noto Sans Bold"/>
                  <a:cs typeface="Noto Sans Bold"/>
                  <a:sym typeface="Noto Sans Bold"/>
                </a:rPr>
                <a:t>09  탐지 방법 — Timestral 제외</a:t>
              </a:r>
            </a:p>
          </p:txBody>
        </p:sp>
      </p:grpSp>
      <p:grpSp>
        <p:nvGrpSpPr>
          <p:cNvPr name="Group 13" id="13"/>
          <p:cNvGrpSpPr/>
          <p:nvPr/>
        </p:nvGrpSpPr>
        <p:grpSpPr>
          <a:xfrm rot="0">
            <a:off x="822960" y="1762125"/>
            <a:ext cx="16640175" cy="571500"/>
            <a:chOff x="0" y="0"/>
            <a:chExt cx="22186900" cy="762000"/>
          </a:xfrm>
        </p:grpSpPr>
        <p:sp>
          <p:nvSpPr>
            <p:cNvPr name="Freeform 14" id="14"/>
            <p:cNvSpPr/>
            <p:nvPr/>
          </p:nvSpPr>
          <p:spPr>
            <a:xfrm flipH="false" flipV="false" rot="0">
              <a:off x="0" y="0"/>
              <a:ext cx="22186900" cy="762000"/>
            </a:xfrm>
            <a:custGeom>
              <a:avLst/>
              <a:gdLst/>
              <a:ahLst/>
              <a:cxnLst/>
              <a:rect r="r" b="b" t="t" l="l"/>
              <a:pathLst>
                <a:path h="762000" w="22186900">
                  <a:moveTo>
                    <a:pt x="0" y="0"/>
                  </a:moveTo>
                  <a:lnTo>
                    <a:pt x="22186900" y="0"/>
                  </a:lnTo>
                  <a:lnTo>
                    <a:pt x="22186900" y="762000"/>
                  </a:lnTo>
                  <a:lnTo>
                    <a:pt x="0" y="762000"/>
                  </a:lnTo>
                  <a:close/>
                </a:path>
              </a:pathLst>
            </a:custGeom>
            <a:blipFill>
              <a:blip r:embed="rId4">
                <a:alphaModFix amt="0"/>
              </a:blip>
              <a:stretch>
                <a:fillRect l="0" t="-517613" r="-8" b="-517163"/>
              </a:stretch>
            </a:blipFill>
          </p:spPr>
        </p:sp>
        <p:sp>
          <p:nvSpPr>
            <p:cNvPr name="TextBox 15" id="15"/>
            <p:cNvSpPr txBox="true"/>
            <p:nvPr/>
          </p:nvSpPr>
          <p:spPr>
            <a:xfrm>
              <a:off x="0" y="9525"/>
              <a:ext cx="22186900" cy="752475"/>
            </a:xfrm>
            <a:prstGeom prst="rect">
              <a:avLst/>
            </a:prstGeom>
          </p:spPr>
          <p:txBody>
            <a:bodyPr anchor="ctr" rtlCol="false" tIns="0" lIns="0" bIns="0" rIns="0"/>
            <a:lstStyle/>
            <a:p>
              <a:pPr algn="l" marL="0" indent="0" lvl="0">
                <a:lnSpc>
                  <a:spcPts val="2699"/>
                </a:lnSpc>
                <a:spcBef>
                  <a:spcPct val="0"/>
                </a:spcBef>
              </a:pPr>
              <a:r>
                <a:rPr lang="en-US" sz="2250" strike="noStrike" u="none">
                  <a:solidFill>
                    <a:srgbClr val="53666E"/>
                  </a:solidFill>
                  <a:latin typeface="Noto Sans"/>
                  <a:ea typeface="Noto Sans"/>
                  <a:cs typeface="Noto Sans"/>
                  <a:sym typeface="Noto Sans"/>
                </a:rPr>
                <a:t>동일 합성 36건 재생 · Timestral과 고착 검사를 분리해 확인</a:t>
              </a:r>
            </a:p>
          </p:txBody>
        </p:sp>
      </p:grpSp>
      <p:grpSp>
        <p:nvGrpSpPr>
          <p:cNvPr name="Group 16" id="16"/>
          <p:cNvGrpSpPr/>
          <p:nvPr/>
        </p:nvGrpSpPr>
        <p:grpSpPr>
          <a:xfrm rot="0">
            <a:off x="1234440" y="2667000"/>
            <a:ext cx="7429500" cy="436884"/>
            <a:chOff x="0" y="0"/>
            <a:chExt cx="9906000" cy="582512"/>
          </a:xfrm>
        </p:grpSpPr>
        <p:sp>
          <p:nvSpPr>
            <p:cNvPr name="Freeform 17" id="17"/>
            <p:cNvSpPr/>
            <p:nvPr/>
          </p:nvSpPr>
          <p:spPr>
            <a:xfrm flipH="false" flipV="false" rot="0">
              <a:off x="0" y="0"/>
              <a:ext cx="9906000" cy="582512"/>
            </a:xfrm>
            <a:custGeom>
              <a:avLst/>
              <a:gdLst/>
              <a:ahLst/>
              <a:cxnLst/>
              <a:rect r="r" b="b" t="t" l="l"/>
              <a:pathLst>
                <a:path h="582512" w="9906000">
                  <a:moveTo>
                    <a:pt x="0" y="0"/>
                  </a:moveTo>
                  <a:lnTo>
                    <a:pt x="9906000" y="0"/>
                  </a:lnTo>
                  <a:lnTo>
                    <a:pt x="9906000" y="582512"/>
                  </a:lnTo>
                  <a:lnTo>
                    <a:pt x="0" y="582512"/>
                  </a:lnTo>
                  <a:close/>
                </a:path>
              </a:pathLst>
            </a:custGeom>
            <a:blipFill>
              <a:blip r:embed="rId4">
                <a:alphaModFix amt="0"/>
              </a:blip>
              <a:stretch>
                <a:fillRect l="0" t="-223810" r="11384" b="-263453"/>
              </a:stretch>
            </a:blipFill>
          </p:spPr>
        </p:sp>
        <p:sp>
          <p:nvSpPr>
            <p:cNvPr name="TextBox 18" id="18"/>
            <p:cNvSpPr txBox="true"/>
            <p:nvPr/>
          </p:nvSpPr>
          <p:spPr>
            <a:xfrm>
              <a:off x="0" y="9525"/>
              <a:ext cx="9906000" cy="572987"/>
            </a:xfrm>
            <a:prstGeom prst="rect">
              <a:avLst/>
            </a:prstGeom>
          </p:spPr>
          <p:txBody>
            <a:bodyPr anchor="ctr" rtlCol="false" tIns="0" lIns="0" bIns="0" rIns="0"/>
            <a:lstStyle/>
            <a:p>
              <a:pPr algn="l">
                <a:lnSpc>
                  <a:spcPts val="2699"/>
                </a:lnSpc>
                <a:spcBef>
                  <a:spcPct val="0"/>
                </a:spcBef>
              </a:pPr>
              <a:r>
                <a:rPr lang="en-US" b="true" sz="2250" strike="noStrike" u="none">
                  <a:solidFill>
                    <a:srgbClr val="53666E"/>
                  </a:solidFill>
                  <a:latin typeface="Noto Sans Bold"/>
                  <a:ea typeface="Noto Sans Bold"/>
                  <a:cs typeface="Noto Sans Bold"/>
                  <a:sym typeface="Noto Sans Bold"/>
                </a:rPr>
                <a:t>비교 방법</a:t>
              </a:r>
            </a:p>
          </p:txBody>
        </p:sp>
      </p:grpSp>
      <p:sp>
        <p:nvSpPr>
          <p:cNvPr name="TextBox 19" id="19"/>
          <p:cNvSpPr txBox="true"/>
          <p:nvPr/>
        </p:nvSpPr>
        <p:spPr>
          <a:xfrm rot="0">
            <a:off x="1234440" y="3524250"/>
            <a:ext cx="7429500" cy="381000"/>
          </a:xfrm>
          <a:prstGeom prst="rect">
            <a:avLst/>
          </a:prstGeom>
        </p:spPr>
        <p:txBody>
          <a:bodyPr anchor="t" rtlCol="false" tIns="0" lIns="0" bIns="0" rIns="0">
            <a:spAutoFit/>
          </a:bodyPr>
          <a:lstStyle/>
          <a:p>
            <a:pPr algn="l" marL="0" indent="0" lvl="0">
              <a:lnSpc>
                <a:spcPts val="3060"/>
              </a:lnSpc>
              <a:spcBef>
                <a:spcPct val="0"/>
              </a:spcBef>
            </a:pPr>
            <a:r>
              <a:rPr lang="en-US" sz="2550" strike="noStrike" u="none">
                <a:solidFill>
                  <a:srgbClr val="203238"/>
                </a:solidFill>
                <a:latin typeface="Noto Sans"/>
                <a:ea typeface="Noto Sans"/>
                <a:cs typeface="Noto Sans"/>
                <a:sym typeface="Noto Sans"/>
              </a:rPr>
              <a:t>Timestral 단독</a:t>
            </a:r>
          </a:p>
        </p:txBody>
      </p:sp>
      <p:sp>
        <p:nvSpPr>
          <p:cNvPr name="TextBox 20" id="20"/>
          <p:cNvSpPr txBox="true"/>
          <p:nvPr/>
        </p:nvSpPr>
        <p:spPr>
          <a:xfrm rot="0">
            <a:off x="9779508" y="3333750"/>
            <a:ext cx="7429500" cy="685800"/>
          </a:xfrm>
          <a:prstGeom prst="rect">
            <a:avLst/>
          </a:prstGeom>
        </p:spPr>
        <p:txBody>
          <a:bodyPr anchor="t" rtlCol="false" tIns="0" lIns="0" bIns="0" rIns="0">
            <a:spAutoFit/>
          </a:bodyPr>
          <a:lstStyle/>
          <a:p>
            <a:pPr algn="ctr" marL="0" indent="0" lvl="0">
              <a:lnSpc>
                <a:spcPts val="5400"/>
              </a:lnSpc>
              <a:spcBef>
                <a:spcPct val="0"/>
              </a:spcBef>
            </a:pPr>
            <a:r>
              <a:rPr lang="en-US" b="true" sz="4500" strike="noStrike" u="none">
                <a:solidFill>
                  <a:srgbClr val="53666E"/>
                </a:solidFill>
                <a:latin typeface="Noto Sans Bold"/>
                <a:ea typeface="Noto Sans Bold"/>
                <a:cs typeface="Noto Sans Bold"/>
                <a:sym typeface="Noto Sans Bold"/>
              </a:rPr>
              <a:t>0/36</a:t>
            </a:r>
          </a:p>
        </p:txBody>
      </p:sp>
      <p:sp>
        <p:nvSpPr>
          <p:cNvPr name="TextBox 21" id="21"/>
          <p:cNvSpPr txBox="true"/>
          <p:nvPr/>
        </p:nvSpPr>
        <p:spPr>
          <a:xfrm rot="0">
            <a:off x="1234440" y="4629150"/>
            <a:ext cx="7429500" cy="352425"/>
          </a:xfrm>
          <a:prstGeom prst="rect">
            <a:avLst/>
          </a:prstGeom>
        </p:spPr>
        <p:txBody>
          <a:bodyPr anchor="t" rtlCol="false" tIns="0" lIns="0" bIns="0" rIns="0">
            <a:spAutoFit/>
          </a:bodyPr>
          <a:lstStyle/>
          <a:p>
            <a:pPr algn="l" marL="0" indent="0" lvl="0">
              <a:lnSpc>
                <a:spcPts val="2879"/>
              </a:lnSpc>
              <a:spcBef>
                <a:spcPct val="0"/>
              </a:spcBef>
            </a:pPr>
            <a:r>
              <a:rPr lang="en-US" sz="2400" strike="noStrike" u="none">
                <a:solidFill>
                  <a:srgbClr val="203238"/>
                </a:solidFill>
                <a:latin typeface="Noto Sans"/>
                <a:ea typeface="Noto Sans"/>
                <a:cs typeface="Noto Sans"/>
                <a:sym typeface="Noto Sans"/>
              </a:rPr>
              <a:t>강건 EWMA 단독</a:t>
            </a:r>
          </a:p>
        </p:txBody>
      </p:sp>
      <p:sp>
        <p:nvSpPr>
          <p:cNvPr name="TextBox 22" id="22"/>
          <p:cNvSpPr txBox="true"/>
          <p:nvPr/>
        </p:nvSpPr>
        <p:spPr>
          <a:xfrm rot="0">
            <a:off x="9779508" y="4429125"/>
            <a:ext cx="7429500" cy="685800"/>
          </a:xfrm>
          <a:prstGeom prst="rect">
            <a:avLst/>
          </a:prstGeom>
        </p:spPr>
        <p:txBody>
          <a:bodyPr anchor="t" rtlCol="false" tIns="0" lIns="0" bIns="0" rIns="0">
            <a:spAutoFit/>
          </a:bodyPr>
          <a:lstStyle/>
          <a:p>
            <a:pPr algn="ctr" marL="0" indent="0" lvl="0">
              <a:lnSpc>
                <a:spcPts val="5400"/>
              </a:lnSpc>
              <a:spcBef>
                <a:spcPct val="0"/>
              </a:spcBef>
            </a:pPr>
            <a:r>
              <a:rPr lang="en-US" b="true" sz="4500" strike="noStrike" u="none">
                <a:solidFill>
                  <a:srgbClr val="16796C"/>
                </a:solidFill>
                <a:latin typeface="Noto Sans Bold"/>
                <a:ea typeface="Noto Sans Bold"/>
                <a:cs typeface="Noto Sans Bold"/>
                <a:sym typeface="Noto Sans Bold"/>
              </a:rPr>
              <a:t>24/36</a:t>
            </a:r>
          </a:p>
        </p:txBody>
      </p:sp>
      <p:sp>
        <p:nvSpPr>
          <p:cNvPr name="TextBox 23" id="23"/>
          <p:cNvSpPr txBox="true"/>
          <p:nvPr/>
        </p:nvSpPr>
        <p:spPr>
          <a:xfrm rot="0">
            <a:off x="1234440" y="5715000"/>
            <a:ext cx="7429500" cy="381000"/>
          </a:xfrm>
          <a:prstGeom prst="rect">
            <a:avLst/>
          </a:prstGeom>
        </p:spPr>
        <p:txBody>
          <a:bodyPr anchor="t" rtlCol="false" tIns="0" lIns="0" bIns="0" rIns="0">
            <a:spAutoFit/>
          </a:bodyPr>
          <a:lstStyle/>
          <a:p>
            <a:pPr algn="l">
              <a:lnSpc>
                <a:spcPts val="3060"/>
              </a:lnSpc>
              <a:spcBef>
                <a:spcPct val="0"/>
              </a:spcBef>
            </a:pPr>
            <a:r>
              <a:rPr lang="en-US" b="true" sz="2550" strike="noStrike" u="none">
                <a:solidFill>
                  <a:srgbClr val="16796C"/>
                </a:solidFill>
                <a:latin typeface="Noto Sans Bold"/>
                <a:ea typeface="Noto Sans Bold"/>
                <a:cs typeface="Noto Sans Bold"/>
                <a:sym typeface="Noto Sans Bold"/>
              </a:rPr>
              <a:t>EWMA + 고착 검사</a:t>
            </a:r>
          </a:p>
        </p:txBody>
      </p:sp>
      <p:grpSp>
        <p:nvGrpSpPr>
          <p:cNvPr name="Group 24" id="24"/>
          <p:cNvGrpSpPr/>
          <p:nvPr/>
        </p:nvGrpSpPr>
        <p:grpSpPr>
          <a:xfrm rot="0">
            <a:off x="9779508" y="5524500"/>
            <a:ext cx="7429500" cy="883293"/>
            <a:chOff x="0" y="0"/>
            <a:chExt cx="9906000" cy="1177724"/>
          </a:xfrm>
        </p:grpSpPr>
        <p:sp>
          <p:nvSpPr>
            <p:cNvPr name="Freeform 25" id="25"/>
            <p:cNvSpPr/>
            <p:nvPr/>
          </p:nvSpPr>
          <p:spPr>
            <a:xfrm flipH="false" flipV="false" rot="0">
              <a:off x="0" y="0"/>
              <a:ext cx="9906000" cy="1177724"/>
            </a:xfrm>
            <a:custGeom>
              <a:avLst/>
              <a:gdLst/>
              <a:ahLst/>
              <a:cxnLst/>
              <a:rect r="r" b="b" t="t" l="l"/>
              <a:pathLst>
                <a:path h="1177724" w="9906000">
                  <a:moveTo>
                    <a:pt x="0" y="0"/>
                  </a:moveTo>
                  <a:lnTo>
                    <a:pt x="9906000" y="0"/>
                  </a:lnTo>
                  <a:lnTo>
                    <a:pt x="9906000" y="1177724"/>
                  </a:lnTo>
                  <a:lnTo>
                    <a:pt x="0" y="1177724"/>
                  </a:lnTo>
                  <a:close/>
                </a:path>
              </a:pathLst>
            </a:custGeom>
            <a:blipFill>
              <a:blip r:embed="rId4">
                <a:alphaModFix amt="0"/>
              </a:blip>
              <a:stretch>
                <a:fillRect l="0" t="-110698" r="11384" b="-79767"/>
              </a:stretch>
            </a:blipFill>
          </p:spPr>
        </p:sp>
        <p:sp>
          <p:nvSpPr>
            <p:cNvPr name="TextBox 26" id="26"/>
            <p:cNvSpPr txBox="true"/>
            <p:nvPr/>
          </p:nvSpPr>
          <p:spPr>
            <a:xfrm>
              <a:off x="0" y="9525"/>
              <a:ext cx="9906000" cy="1168199"/>
            </a:xfrm>
            <a:prstGeom prst="rect">
              <a:avLst/>
            </a:prstGeom>
          </p:spPr>
          <p:txBody>
            <a:bodyPr anchor="ctr" rtlCol="false" tIns="0" lIns="0" bIns="0" rIns="0"/>
            <a:lstStyle/>
            <a:p>
              <a:pPr algn="ctr">
                <a:lnSpc>
                  <a:spcPts val="5398"/>
                </a:lnSpc>
                <a:spcBef>
                  <a:spcPct val="0"/>
                </a:spcBef>
              </a:pPr>
              <a:r>
                <a:rPr lang="en-US" b="true" sz="4500" strike="noStrike" u="none">
                  <a:solidFill>
                    <a:srgbClr val="16796C"/>
                  </a:solidFill>
                  <a:latin typeface="Noto Sans Bold"/>
                  <a:ea typeface="Noto Sans Bold"/>
                  <a:cs typeface="Noto Sans Bold"/>
                  <a:sym typeface="Noto Sans Bold"/>
                </a:rPr>
                <a:t>36/36</a:t>
              </a:r>
            </a:p>
          </p:txBody>
        </p:sp>
      </p:grpSp>
      <p:sp>
        <p:nvSpPr>
          <p:cNvPr name="TextBox 27" id="27"/>
          <p:cNvSpPr txBox="true"/>
          <p:nvPr/>
        </p:nvSpPr>
        <p:spPr>
          <a:xfrm rot="0">
            <a:off x="1234440" y="7181850"/>
            <a:ext cx="15811500" cy="419100"/>
          </a:xfrm>
          <a:prstGeom prst="rect">
            <a:avLst/>
          </a:prstGeom>
        </p:spPr>
        <p:txBody>
          <a:bodyPr anchor="t" rtlCol="false" tIns="0" lIns="0" bIns="0" rIns="0">
            <a:spAutoFit/>
          </a:bodyPr>
          <a:lstStyle/>
          <a:p>
            <a:pPr algn="l" marL="0" indent="0" lvl="0">
              <a:lnSpc>
                <a:spcPts val="3240"/>
              </a:lnSpc>
              <a:spcBef>
                <a:spcPct val="0"/>
              </a:spcBef>
            </a:pPr>
            <a:r>
              <a:rPr lang="en-US" b="true" sz="2700" strike="noStrike" u="none">
                <a:solidFill>
                  <a:srgbClr val="16796C"/>
                </a:solidFill>
                <a:latin typeface="Noto Sans Bold"/>
                <a:ea typeface="Noto Sans Bold"/>
                <a:cs typeface="Noto Sans Bold"/>
                <a:sym typeface="Noto Sans Bold"/>
              </a:rPr>
              <a:t>Timestral 제외 · EWMA + 고착 검사 채택</a:t>
            </a:r>
          </a:p>
        </p:txBody>
      </p:sp>
      <p:sp>
        <p:nvSpPr>
          <p:cNvPr name="TextBox 28" id="28"/>
          <p:cNvSpPr txBox="true"/>
          <p:nvPr/>
        </p:nvSpPr>
        <p:spPr>
          <a:xfrm rot="0">
            <a:off x="1234440" y="7858125"/>
            <a:ext cx="15811500" cy="314325"/>
          </a:xfrm>
          <a:prstGeom prst="rect">
            <a:avLst/>
          </a:prstGeom>
        </p:spPr>
        <p:txBody>
          <a:bodyPr anchor="t" rtlCol="false" tIns="0" lIns="0" bIns="0" rIns="0">
            <a:spAutoFit/>
          </a:bodyPr>
          <a:lstStyle/>
          <a:p>
            <a:pPr algn="l" marL="0" indent="0" lvl="0">
              <a:lnSpc>
                <a:spcPts val="2520"/>
              </a:lnSpc>
              <a:spcBef>
                <a:spcPct val="0"/>
              </a:spcBef>
            </a:pPr>
            <a:r>
              <a:rPr lang="en-US" sz="2100" strike="noStrike" u="none">
                <a:solidFill>
                  <a:srgbClr val="53666E"/>
                </a:solidFill>
                <a:latin typeface="Noto Sans"/>
                <a:ea typeface="Noto Sans"/>
                <a:cs typeface="Noto Sans"/>
                <a:sym typeface="Noto Sans"/>
              </a:rPr>
              <a:t>Timestral + EWMA + 고착도 36/36 · 통지 시각 동일</a:t>
            </a:r>
          </a:p>
        </p:txBody>
      </p:sp>
      <p:sp>
        <p:nvSpPr>
          <p:cNvPr name="TextBox 29" id="29"/>
          <p:cNvSpPr txBox="true"/>
          <p:nvPr/>
        </p:nvSpPr>
        <p:spPr>
          <a:xfrm rot="0">
            <a:off x="9779508" y="2667000"/>
            <a:ext cx="7429500" cy="342900"/>
          </a:xfrm>
          <a:prstGeom prst="rect">
            <a:avLst/>
          </a:prstGeom>
        </p:spPr>
        <p:txBody>
          <a:bodyPr anchor="t" rtlCol="false" tIns="0" lIns="0" bIns="0" rIns="0">
            <a:spAutoFit/>
          </a:bodyPr>
          <a:lstStyle/>
          <a:p>
            <a:pPr algn="ctr">
              <a:lnSpc>
                <a:spcPts val="2700"/>
              </a:lnSpc>
              <a:spcBef>
                <a:spcPct val="0"/>
              </a:spcBef>
            </a:pPr>
            <a:r>
              <a:rPr lang="en-US" b="true" sz="2250" strike="noStrike" u="none">
                <a:solidFill>
                  <a:srgbClr val="53666E"/>
                </a:solidFill>
                <a:latin typeface="Noto Sans Bold"/>
                <a:ea typeface="Noto Sans Bold"/>
                <a:cs typeface="Noto Sans Bold"/>
                <a:sym typeface="Noto Sans Bold"/>
              </a:rPr>
              <a:t>사건 매칭</a:t>
            </a:r>
          </a:p>
        </p:txBody>
      </p:sp>
      <p:sp>
        <p:nvSpPr>
          <p:cNvPr name="TextBox 30" id="30"/>
          <p:cNvSpPr txBox="true"/>
          <p:nvPr/>
        </p:nvSpPr>
        <p:spPr>
          <a:xfrm rot="0">
            <a:off x="1234440" y="8372475"/>
            <a:ext cx="15811500" cy="304800"/>
          </a:xfrm>
          <a:prstGeom prst="rect">
            <a:avLst/>
          </a:prstGeom>
        </p:spPr>
        <p:txBody>
          <a:bodyPr anchor="t" rtlCol="false" tIns="0" lIns="0" bIns="0" rIns="0">
            <a:spAutoFit/>
          </a:bodyPr>
          <a:lstStyle/>
          <a:p>
            <a:pPr algn="l" marL="0" indent="0" lvl="0">
              <a:lnSpc>
                <a:spcPts val="2340"/>
              </a:lnSpc>
              <a:spcBef>
                <a:spcPct val="0"/>
              </a:spcBef>
            </a:pPr>
            <a:r>
              <a:rPr lang="en-US" sz="1950" strike="noStrike" u="none">
                <a:solidFill>
                  <a:srgbClr val="53666E"/>
                </a:solidFill>
                <a:latin typeface="Noto Sans"/>
                <a:ea typeface="Noto Sans"/>
                <a:cs typeface="Noto Sans"/>
                <a:sym typeface="Noto Sans"/>
              </a:rPr>
              <a:t>5프레임 중앙값 필터: 임계 초과 2,420 → 0 채널×프레임</a:t>
            </a:r>
          </a:p>
        </p:txBody>
      </p:sp>
      <p:grpSp>
        <p:nvGrpSpPr>
          <p:cNvPr name="Group 31" id="31"/>
          <p:cNvGrpSpPr/>
          <p:nvPr/>
        </p:nvGrpSpPr>
        <p:grpSpPr>
          <a:xfrm rot="0">
            <a:off x="1234440" y="9048750"/>
            <a:ext cx="15811500" cy="323469"/>
            <a:chOff x="0" y="0"/>
            <a:chExt cx="21082000" cy="431292"/>
          </a:xfrm>
        </p:grpSpPr>
        <p:sp>
          <p:nvSpPr>
            <p:cNvPr name="Freeform 32" id="32"/>
            <p:cNvSpPr/>
            <p:nvPr/>
          </p:nvSpPr>
          <p:spPr>
            <a:xfrm flipH="false" flipV="false" rot="0">
              <a:off x="0" y="0"/>
              <a:ext cx="21082000" cy="431292"/>
            </a:xfrm>
            <a:custGeom>
              <a:avLst/>
              <a:gdLst/>
              <a:ahLst/>
              <a:cxnLst/>
              <a:rect r="r" b="b" t="t" l="l"/>
              <a:pathLst>
                <a:path h="431292" w="21082000">
                  <a:moveTo>
                    <a:pt x="0" y="0"/>
                  </a:moveTo>
                  <a:lnTo>
                    <a:pt x="21082000" y="0"/>
                  </a:lnTo>
                  <a:lnTo>
                    <a:pt x="21082000" y="431292"/>
                  </a:lnTo>
                  <a:lnTo>
                    <a:pt x="0" y="431292"/>
                  </a:lnTo>
                  <a:close/>
                </a:path>
              </a:pathLst>
            </a:custGeom>
            <a:blipFill>
              <a:blip r:embed="rId4">
                <a:alphaModFix amt="0"/>
              </a:blip>
              <a:stretch>
                <a:fillRect l="0" t="-938850" r="-5250" b="-966059"/>
              </a:stretch>
            </a:blipFill>
          </p:spPr>
        </p:sp>
        <p:sp>
          <p:nvSpPr>
            <p:cNvPr name="TextBox 33" id="33"/>
            <p:cNvSpPr txBox="true"/>
            <p:nvPr/>
          </p:nvSpPr>
          <p:spPr>
            <a:xfrm>
              <a:off x="0" y="0"/>
              <a:ext cx="21082000" cy="431292"/>
            </a:xfrm>
            <a:prstGeom prst="rect">
              <a:avLst/>
            </a:prstGeom>
          </p:spPr>
          <p:txBody>
            <a:bodyPr anchor="ctr" rtlCol="false" tIns="0" lIns="0" bIns="0" rIns="0"/>
            <a:lstStyle/>
            <a:p>
              <a:pPr algn="l" marL="0" indent="0" lvl="0">
                <a:lnSpc>
                  <a:spcPts val="1980"/>
                </a:lnSpc>
                <a:spcBef>
                  <a:spcPct val="0"/>
                </a:spcBef>
              </a:pPr>
              <a:r>
                <a:rPr lang="en-US" sz="1650" strike="noStrike" u="none">
                  <a:solidFill>
                    <a:srgbClr val="53666E"/>
                  </a:solidFill>
                  <a:latin typeface="Noto Sans"/>
                  <a:ea typeface="Noto Sans"/>
                  <a:cs typeface="Noto Sans"/>
                  <a:sym typeface="Noto Sans"/>
                </a:rPr>
                <a:t>현재 후처리에서 추가 기여 없음 · 모델별 후처리·정상 오통지는 새 평가 필요</a:t>
              </a:r>
            </a:p>
          </p:txBody>
        </p:sp>
      </p:grpSp>
      <p:sp>
        <p:nvSpPr>
          <p:cNvPr name="TextBox 34" id="34"/>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a:solidFill>
                  <a:srgbClr val="6B787A"/>
                </a:solidFill>
                <a:latin typeface="Noto Sans"/>
                <a:ea typeface="Noto Sans"/>
                <a:cs typeface="Noto Sans"/>
                <a:sym typeface="Noto Sans"/>
              </a:rPr>
              <a:t>30</a:t>
            </a:r>
          </a:p>
        </p:txBody>
      </p:sp>
      <p:grpSp>
        <p:nvGrpSpPr>
          <p:cNvPr name="Group 35" id="35"/>
          <p:cNvGrpSpPr/>
          <p:nvPr/>
        </p:nvGrpSpPr>
        <p:grpSpPr>
          <a:xfrm rot="0">
            <a:off x="5818352" y="9710928"/>
            <a:ext cx="4070985" cy="419672"/>
            <a:chOff x="0" y="0"/>
            <a:chExt cx="5427980" cy="559562"/>
          </a:xfrm>
        </p:grpSpPr>
        <p:grpSp>
          <p:nvGrpSpPr>
            <p:cNvPr name="Group 36" id="36"/>
            <p:cNvGrpSpPr/>
            <p:nvPr/>
          </p:nvGrpSpPr>
          <p:grpSpPr>
            <a:xfrm rot="0">
              <a:off x="0" y="0"/>
              <a:ext cx="1680845" cy="559562"/>
              <a:chOff x="0" y="0"/>
              <a:chExt cx="1680845" cy="559562"/>
            </a:xfrm>
          </p:grpSpPr>
          <p:sp>
            <p:nvSpPr>
              <p:cNvPr name="Freeform 37" id="37"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5"/>
                <a:stretch>
                  <a:fillRect l="0" t="-265" r="0" b="-267"/>
                </a:stretch>
              </a:blipFill>
            </p:spPr>
          </p:sp>
        </p:grpSp>
        <p:grpSp>
          <p:nvGrpSpPr>
            <p:cNvPr name="Group 38" id="38"/>
            <p:cNvGrpSpPr/>
            <p:nvPr/>
          </p:nvGrpSpPr>
          <p:grpSpPr>
            <a:xfrm rot="0">
              <a:off x="2069490" y="124358"/>
              <a:ext cx="1189101" cy="310896"/>
              <a:chOff x="0" y="0"/>
              <a:chExt cx="1189101" cy="310896"/>
            </a:xfrm>
          </p:grpSpPr>
          <p:sp>
            <p:nvSpPr>
              <p:cNvPr name="Freeform 39" id="39"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6"/>
                <a:stretch>
                  <a:fillRect l="-30" t="0" r="-32" b="0"/>
                </a:stretch>
              </a:blipFill>
            </p:spPr>
          </p:sp>
        </p:grpSp>
        <p:grpSp>
          <p:nvGrpSpPr>
            <p:cNvPr name="Group 40" id="40"/>
            <p:cNvGrpSpPr/>
            <p:nvPr/>
          </p:nvGrpSpPr>
          <p:grpSpPr>
            <a:xfrm rot="0">
              <a:off x="3647186" y="124358"/>
              <a:ext cx="1780794" cy="310896"/>
              <a:chOff x="0" y="0"/>
              <a:chExt cx="1780794" cy="310896"/>
            </a:xfrm>
          </p:grpSpPr>
          <p:sp>
            <p:nvSpPr>
              <p:cNvPr name="Freeform 41" id="41"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7"/>
                <a:stretch>
                  <a:fillRect l="0" t="-118" r="0" b="-122"/>
                </a:stretch>
              </a:blipFill>
            </p:spPr>
          </p:sp>
        </p:gr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3050" r="0" b="-333050"/>
              </a:stretch>
            </a:blipFill>
          </p:spPr>
        </p:sp>
        <p:sp>
          <p:nvSpPr>
            <p:cNvPr name="TextBox 6" id="6"/>
            <p:cNvSpPr txBox="true"/>
            <p:nvPr/>
          </p:nvSpPr>
          <p:spPr>
            <a:xfrm>
              <a:off x="0" y="-9525"/>
              <a:ext cx="10972800" cy="567690"/>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7" id="7"/>
          <p:cNvGrpSpPr/>
          <p:nvPr/>
        </p:nvGrpSpPr>
        <p:grpSpPr>
          <a:xfrm rot="0">
            <a:off x="822960" y="438912"/>
            <a:ext cx="4114800" cy="384048"/>
            <a:chOff x="0" y="0"/>
            <a:chExt cx="5486400" cy="512064"/>
          </a:xfrm>
        </p:grpSpPr>
        <p:sp>
          <p:nvSpPr>
            <p:cNvPr name="Freeform 8" id="8"/>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4">
                <a:alphaModFix amt="0"/>
              </a:blip>
              <a:stretch>
                <a:fillRect l="0" t="-158768" r="0" b="-158768"/>
              </a:stretch>
            </a:blipFill>
          </p:spPr>
        </p:sp>
        <p:sp>
          <p:nvSpPr>
            <p:cNvPr name="TextBox 9" id="9"/>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03  AI 모델</a:t>
              </a:r>
            </a:p>
          </p:txBody>
        </p:sp>
      </p:grpSp>
      <p:grpSp>
        <p:nvGrpSpPr>
          <p:cNvPr name="Group 10" id="10"/>
          <p:cNvGrpSpPr/>
          <p:nvPr/>
        </p:nvGrpSpPr>
        <p:grpSpPr>
          <a:xfrm rot="0">
            <a:off x="822960" y="822960"/>
            <a:ext cx="16642080" cy="850392"/>
            <a:chOff x="0" y="0"/>
            <a:chExt cx="22189440" cy="1133856"/>
          </a:xfrm>
        </p:grpSpPr>
        <p:sp>
          <p:nvSpPr>
            <p:cNvPr name="Freeform 11" id="11"/>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4">
                <a:alphaModFix amt="0"/>
              </a:blip>
              <a:stretch>
                <a:fillRect l="0" t="-331309" r="2" b="-331309"/>
              </a:stretch>
            </a:blipFill>
          </p:spPr>
        </p:sp>
        <p:sp>
          <p:nvSpPr>
            <p:cNvPr name="TextBox 12" id="12"/>
            <p:cNvSpPr txBox="true"/>
            <p:nvPr/>
          </p:nvSpPr>
          <p:spPr>
            <a:xfrm>
              <a:off x="0" y="-9525"/>
              <a:ext cx="22189440" cy="1143381"/>
            </a:xfrm>
            <a:prstGeom prst="rect">
              <a:avLst/>
            </a:prstGeom>
          </p:spPr>
          <p:txBody>
            <a:bodyPr anchor="ctr" rtlCol="false" tIns="0" lIns="0" bIns="0" rIns="0"/>
            <a:lstStyle/>
            <a:p>
              <a:pPr algn="l" marL="0" indent="0" lvl="0">
                <a:lnSpc>
                  <a:spcPts val="4500"/>
                </a:lnSpc>
                <a:spcBef>
                  <a:spcPct val="0"/>
                </a:spcBef>
              </a:pPr>
              <a:r>
                <a:rPr lang="en-US" b="true" sz="3750" strike="noStrike" u="none">
                  <a:solidFill>
                    <a:srgbClr val="203238"/>
                  </a:solidFill>
                  <a:latin typeface="Noto Sans Bold"/>
                  <a:ea typeface="Noto Sans Bold"/>
                  <a:cs typeface="Noto Sans Bold"/>
                  <a:sym typeface="Noto Sans Bold"/>
                </a:rPr>
                <a:t>10  Pi 검증 — 탐지 성능과 처리 시간</a:t>
              </a:r>
            </a:p>
          </p:txBody>
        </p:sp>
      </p:grpSp>
      <p:grpSp>
        <p:nvGrpSpPr>
          <p:cNvPr name="Group 13" id="13"/>
          <p:cNvGrpSpPr/>
          <p:nvPr/>
        </p:nvGrpSpPr>
        <p:grpSpPr>
          <a:xfrm rot="0">
            <a:off x="822960" y="1762125"/>
            <a:ext cx="16640175" cy="571500"/>
            <a:chOff x="0" y="0"/>
            <a:chExt cx="22186900" cy="762000"/>
          </a:xfrm>
        </p:grpSpPr>
        <p:sp>
          <p:nvSpPr>
            <p:cNvPr name="Freeform 14" id="14"/>
            <p:cNvSpPr/>
            <p:nvPr/>
          </p:nvSpPr>
          <p:spPr>
            <a:xfrm flipH="false" flipV="false" rot="0">
              <a:off x="0" y="0"/>
              <a:ext cx="22186900" cy="762000"/>
            </a:xfrm>
            <a:custGeom>
              <a:avLst/>
              <a:gdLst/>
              <a:ahLst/>
              <a:cxnLst/>
              <a:rect r="r" b="b" t="t" l="l"/>
              <a:pathLst>
                <a:path h="762000" w="22186900">
                  <a:moveTo>
                    <a:pt x="0" y="0"/>
                  </a:moveTo>
                  <a:lnTo>
                    <a:pt x="22186900" y="0"/>
                  </a:lnTo>
                  <a:lnTo>
                    <a:pt x="22186900" y="762000"/>
                  </a:lnTo>
                  <a:lnTo>
                    <a:pt x="0" y="762000"/>
                  </a:lnTo>
                  <a:close/>
                </a:path>
              </a:pathLst>
            </a:custGeom>
            <a:blipFill>
              <a:blip r:embed="rId4">
                <a:alphaModFix amt="0"/>
              </a:blip>
              <a:stretch>
                <a:fillRect l="0" t="-517613" r="-8" b="-517163"/>
              </a:stretch>
            </a:blipFill>
          </p:spPr>
        </p:sp>
        <p:sp>
          <p:nvSpPr>
            <p:cNvPr name="TextBox 15" id="15"/>
            <p:cNvSpPr txBox="true"/>
            <p:nvPr/>
          </p:nvSpPr>
          <p:spPr>
            <a:xfrm>
              <a:off x="0" y="9525"/>
              <a:ext cx="22186900" cy="752475"/>
            </a:xfrm>
            <a:prstGeom prst="rect">
              <a:avLst/>
            </a:prstGeom>
          </p:spPr>
          <p:txBody>
            <a:bodyPr anchor="ctr" rtlCol="false" tIns="0" lIns="0" bIns="0" rIns="0"/>
            <a:lstStyle/>
            <a:p>
              <a:pPr algn="l" marL="0" indent="0" lvl="0">
                <a:lnSpc>
                  <a:spcPts val="2699"/>
                </a:lnSpc>
                <a:spcBef>
                  <a:spcPct val="0"/>
                </a:spcBef>
              </a:pPr>
              <a:r>
                <a:rPr lang="en-US" sz="2250" strike="noStrike" u="none">
                  <a:solidFill>
                    <a:srgbClr val="53666E"/>
                  </a:solidFill>
                  <a:latin typeface="Noto Sans"/>
                  <a:ea typeface="Noto Sans"/>
                  <a:cs typeface="Noto Sans"/>
                  <a:sym typeface="Noto Sans"/>
                </a:rPr>
                <a:t>54실행 · 38,935프레임의 합성 평가</a:t>
              </a:r>
            </a:p>
          </p:txBody>
        </p:sp>
      </p:grpSp>
      <p:grpSp>
        <p:nvGrpSpPr>
          <p:cNvPr name="Group 16" id="16"/>
          <p:cNvGrpSpPr/>
          <p:nvPr/>
        </p:nvGrpSpPr>
        <p:grpSpPr>
          <a:xfrm rot="0">
            <a:off x="1234440" y="2762250"/>
            <a:ext cx="7429500" cy="436884"/>
            <a:chOff x="0" y="0"/>
            <a:chExt cx="9906000" cy="582512"/>
          </a:xfrm>
        </p:grpSpPr>
        <p:sp>
          <p:nvSpPr>
            <p:cNvPr name="Freeform 17" id="17"/>
            <p:cNvSpPr/>
            <p:nvPr/>
          </p:nvSpPr>
          <p:spPr>
            <a:xfrm flipH="false" flipV="false" rot="0">
              <a:off x="0" y="0"/>
              <a:ext cx="9906000" cy="582512"/>
            </a:xfrm>
            <a:custGeom>
              <a:avLst/>
              <a:gdLst/>
              <a:ahLst/>
              <a:cxnLst/>
              <a:rect r="r" b="b" t="t" l="l"/>
              <a:pathLst>
                <a:path h="582512" w="9906000">
                  <a:moveTo>
                    <a:pt x="0" y="0"/>
                  </a:moveTo>
                  <a:lnTo>
                    <a:pt x="9906000" y="0"/>
                  </a:lnTo>
                  <a:lnTo>
                    <a:pt x="9906000" y="582512"/>
                  </a:lnTo>
                  <a:lnTo>
                    <a:pt x="0" y="582512"/>
                  </a:lnTo>
                  <a:close/>
                </a:path>
              </a:pathLst>
            </a:custGeom>
            <a:blipFill>
              <a:blip r:embed="rId4">
                <a:alphaModFix amt="0"/>
              </a:blip>
              <a:stretch>
                <a:fillRect l="0" t="-223810" r="11384" b="-263453"/>
              </a:stretch>
            </a:blipFill>
          </p:spPr>
        </p:sp>
        <p:sp>
          <p:nvSpPr>
            <p:cNvPr name="TextBox 18" id="18"/>
            <p:cNvSpPr txBox="true"/>
            <p:nvPr/>
          </p:nvSpPr>
          <p:spPr>
            <a:xfrm>
              <a:off x="0" y="9525"/>
              <a:ext cx="9906000" cy="572987"/>
            </a:xfrm>
            <a:prstGeom prst="rect">
              <a:avLst/>
            </a:prstGeom>
          </p:spPr>
          <p:txBody>
            <a:bodyPr anchor="ctr" rtlCol="false" tIns="0" lIns="0" bIns="0" rIns="0"/>
            <a:lstStyle/>
            <a:p>
              <a:pPr algn="l">
                <a:lnSpc>
                  <a:spcPts val="2699"/>
                </a:lnSpc>
                <a:spcBef>
                  <a:spcPct val="0"/>
                </a:spcBef>
              </a:pPr>
              <a:r>
                <a:rPr lang="en-US" b="true" sz="2250" strike="noStrike" u="none">
                  <a:solidFill>
                    <a:srgbClr val="53666E"/>
                  </a:solidFill>
                  <a:latin typeface="Noto Sans Bold"/>
                  <a:ea typeface="Noto Sans Bold"/>
                  <a:cs typeface="Noto Sans Bold"/>
                  <a:sym typeface="Noto Sans Bold"/>
                </a:rPr>
                <a:t>이번 합성 평가 탐지</a:t>
              </a:r>
            </a:p>
          </p:txBody>
        </p:sp>
      </p:grpSp>
      <p:sp>
        <p:nvSpPr>
          <p:cNvPr name="TextBox 19" id="19"/>
          <p:cNvSpPr txBox="true"/>
          <p:nvPr/>
        </p:nvSpPr>
        <p:spPr>
          <a:xfrm rot="0">
            <a:off x="1234440" y="3333750"/>
            <a:ext cx="7429500" cy="1028700"/>
          </a:xfrm>
          <a:prstGeom prst="rect">
            <a:avLst/>
          </a:prstGeom>
        </p:spPr>
        <p:txBody>
          <a:bodyPr anchor="t" rtlCol="false" tIns="0" lIns="0" bIns="0" rIns="0">
            <a:spAutoFit/>
          </a:bodyPr>
          <a:lstStyle/>
          <a:p>
            <a:pPr algn="l">
              <a:lnSpc>
                <a:spcPts val="8100"/>
              </a:lnSpc>
              <a:spcBef>
                <a:spcPct val="0"/>
              </a:spcBef>
            </a:pPr>
            <a:r>
              <a:rPr lang="en-US" b="true" sz="6750" strike="noStrike" u="none">
                <a:solidFill>
                  <a:srgbClr val="16796C"/>
                </a:solidFill>
                <a:latin typeface="Noto Sans Bold"/>
                <a:ea typeface="Noto Sans Bold"/>
                <a:cs typeface="Noto Sans Bold"/>
                <a:sym typeface="Noto Sans Bold"/>
              </a:rPr>
              <a:t>38/38</a:t>
            </a:r>
          </a:p>
        </p:txBody>
      </p:sp>
      <p:sp>
        <p:nvSpPr>
          <p:cNvPr name="TextBox 20" id="20"/>
          <p:cNvSpPr txBox="true"/>
          <p:nvPr/>
        </p:nvSpPr>
        <p:spPr>
          <a:xfrm rot="0">
            <a:off x="1234440" y="4524375"/>
            <a:ext cx="7429500" cy="314325"/>
          </a:xfrm>
          <a:prstGeom prst="rect">
            <a:avLst/>
          </a:prstGeom>
        </p:spPr>
        <p:txBody>
          <a:bodyPr anchor="t" rtlCol="false" tIns="0" lIns="0" bIns="0" rIns="0">
            <a:spAutoFit/>
          </a:bodyPr>
          <a:lstStyle/>
          <a:p>
            <a:pPr algn="l">
              <a:lnSpc>
                <a:spcPts val="2520"/>
              </a:lnSpc>
              <a:spcBef>
                <a:spcPct val="0"/>
              </a:spcBef>
            </a:pPr>
            <a:r>
              <a:rPr lang="en-US" sz="2100" strike="noStrike" u="none">
                <a:solidFill>
                  <a:srgbClr val="53666E"/>
                </a:solidFill>
                <a:latin typeface="Noto Sans"/>
                <a:ea typeface="Noto Sans"/>
                <a:cs typeface="Noto Sans"/>
                <a:sym typeface="Noto Sans"/>
              </a:rPr>
              <a:t>공정 24건 + 지속 고착 14건</a:t>
            </a:r>
          </a:p>
        </p:txBody>
      </p:sp>
      <p:sp>
        <p:nvSpPr>
          <p:cNvPr name="TextBox 21" id="21"/>
          <p:cNvSpPr txBox="true"/>
          <p:nvPr/>
        </p:nvSpPr>
        <p:spPr>
          <a:xfrm rot="0">
            <a:off x="9779508" y="2762250"/>
            <a:ext cx="7429500" cy="342900"/>
          </a:xfrm>
          <a:prstGeom prst="rect">
            <a:avLst/>
          </a:prstGeom>
        </p:spPr>
        <p:txBody>
          <a:bodyPr anchor="t" rtlCol="false" tIns="0" lIns="0" bIns="0" rIns="0">
            <a:spAutoFit/>
          </a:bodyPr>
          <a:lstStyle/>
          <a:p>
            <a:pPr algn="l">
              <a:lnSpc>
                <a:spcPts val="2700"/>
              </a:lnSpc>
              <a:spcBef>
                <a:spcPct val="0"/>
              </a:spcBef>
            </a:pPr>
            <a:r>
              <a:rPr lang="en-US" b="true" sz="2250" strike="noStrike" u="none">
                <a:solidFill>
                  <a:srgbClr val="53666E"/>
                </a:solidFill>
                <a:latin typeface="Noto Sans Bold"/>
                <a:ea typeface="Noto Sans Bold"/>
                <a:cs typeface="Noto Sans Bold"/>
                <a:sym typeface="Noto Sans Bold"/>
              </a:rPr>
              <a:t>오통지·중복</a:t>
            </a:r>
          </a:p>
        </p:txBody>
      </p:sp>
      <p:sp>
        <p:nvSpPr>
          <p:cNvPr name="TextBox 22" id="22"/>
          <p:cNvSpPr txBox="true"/>
          <p:nvPr/>
        </p:nvSpPr>
        <p:spPr>
          <a:xfrm rot="0">
            <a:off x="9779508" y="3333750"/>
            <a:ext cx="7429500" cy="1028700"/>
          </a:xfrm>
          <a:prstGeom prst="rect">
            <a:avLst/>
          </a:prstGeom>
        </p:spPr>
        <p:txBody>
          <a:bodyPr anchor="t" rtlCol="false" tIns="0" lIns="0" bIns="0" rIns="0">
            <a:spAutoFit/>
          </a:bodyPr>
          <a:lstStyle/>
          <a:p>
            <a:pPr algn="l">
              <a:lnSpc>
                <a:spcPts val="8100"/>
              </a:lnSpc>
              <a:spcBef>
                <a:spcPct val="0"/>
              </a:spcBef>
            </a:pPr>
            <a:r>
              <a:rPr lang="en-US" b="true" sz="6750" strike="noStrike" u="none">
                <a:solidFill>
                  <a:srgbClr val="16796C"/>
                </a:solidFill>
                <a:latin typeface="Noto Sans Bold"/>
                <a:ea typeface="Noto Sans Bold"/>
                <a:cs typeface="Noto Sans Bold"/>
                <a:sym typeface="Noto Sans Bold"/>
              </a:rPr>
              <a:t>0건</a:t>
            </a:r>
          </a:p>
        </p:txBody>
      </p:sp>
      <p:sp>
        <p:nvSpPr>
          <p:cNvPr name="TextBox 23" id="23"/>
          <p:cNvSpPr txBox="true"/>
          <p:nvPr/>
        </p:nvSpPr>
        <p:spPr>
          <a:xfrm rot="0">
            <a:off x="9779508" y="4524375"/>
            <a:ext cx="7429500" cy="314325"/>
          </a:xfrm>
          <a:prstGeom prst="rect">
            <a:avLst/>
          </a:prstGeom>
        </p:spPr>
        <p:txBody>
          <a:bodyPr anchor="t" rtlCol="false" tIns="0" lIns="0" bIns="0" rIns="0">
            <a:spAutoFit/>
          </a:bodyPr>
          <a:lstStyle/>
          <a:p>
            <a:pPr algn="l">
              <a:lnSpc>
                <a:spcPts val="2520"/>
              </a:lnSpc>
              <a:spcBef>
                <a:spcPct val="0"/>
              </a:spcBef>
            </a:pPr>
            <a:r>
              <a:rPr lang="en-US" sz="2100" strike="noStrike" u="none">
                <a:solidFill>
                  <a:srgbClr val="53666E"/>
                </a:solidFill>
                <a:latin typeface="Noto Sans"/>
                <a:ea typeface="Noto Sans"/>
                <a:cs typeface="Noto Sans"/>
                <a:sym typeface="Noto Sans"/>
              </a:rPr>
              <a:t>정상 4시간 재생 · 비매칭도 0건</a:t>
            </a:r>
          </a:p>
        </p:txBody>
      </p:sp>
      <p:grpSp>
        <p:nvGrpSpPr>
          <p:cNvPr name="Group 24" id="24"/>
          <p:cNvGrpSpPr/>
          <p:nvPr/>
        </p:nvGrpSpPr>
        <p:grpSpPr>
          <a:xfrm rot="0">
            <a:off x="1234440" y="5905500"/>
            <a:ext cx="7429500" cy="944719"/>
            <a:chOff x="0" y="0"/>
            <a:chExt cx="9906000" cy="1259626"/>
          </a:xfrm>
        </p:grpSpPr>
        <p:sp>
          <p:nvSpPr>
            <p:cNvPr name="Freeform 25" id="25"/>
            <p:cNvSpPr/>
            <p:nvPr/>
          </p:nvSpPr>
          <p:spPr>
            <a:xfrm flipH="false" flipV="false" rot="0">
              <a:off x="0" y="0"/>
              <a:ext cx="9906000" cy="1259626"/>
            </a:xfrm>
            <a:custGeom>
              <a:avLst/>
              <a:gdLst/>
              <a:ahLst/>
              <a:cxnLst/>
              <a:rect r="r" b="b" t="t" l="l"/>
              <a:pathLst>
                <a:path h="1259626" w="9906000">
                  <a:moveTo>
                    <a:pt x="0" y="0"/>
                  </a:moveTo>
                  <a:lnTo>
                    <a:pt x="9906000" y="0"/>
                  </a:lnTo>
                  <a:lnTo>
                    <a:pt x="9906000" y="1259626"/>
                  </a:lnTo>
                  <a:lnTo>
                    <a:pt x="0" y="1259626"/>
                  </a:lnTo>
                  <a:close/>
                </a:path>
              </a:pathLst>
            </a:custGeom>
            <a:blipFill>
              <a:blip r:embed="rId4">
                <a:alphaModFix amt="0"/>
              </a:blip>
              <a:stretch>
                <a:fillRect l="0" t="-103501" r="11384" b="-68078"/>
              </a:stretch>
            </a:blipFill>
          </p:spPr>
        </p:sp>
        <p:sp>
          <p:nvSpPr>
            <p:cNvPr name="TextBox 26" id="26"/>
            <p:cNvSpPr txBox="true"/>
            <p:nvPr/>
          </p:nvSpPr>
          <p:spPr>
            <a:xfrm>
              <a:off x="0" y="9525"/>
              <a:ext cx="9906000" cy="1250101"/>
            </a:xfrm>
            <a:prstGeom prst="rect">
              <a:avLst/>
            </a:prstGeom>
          </p:spPr>
          <p:txBody>
            <a:bodyPr anchor="ctr" rtlCol="false" tIns="0" lIns="0" bIns="0" rIns="0"/>
            <a:lstStyle/>
            <a:p>
              <a:pPr algn="l">
                <a:lnSpc>
                  <a:spcPts val="5757"/>
                </a:lnSpc>
                <a:spcBef>
                  <a:spcPct val="0"/>
                </a:spcBef>
              </a:pPr>
              <a:r>
                <a:rPr lang="en-US" b="true" sz="4800" strike="noStrike" u="none">
                  <a:solidFill>
                    <a:srgbClr val="16796C"/>
                  </a:solidFill>
                  <a:latin typeface="Noto Sans Bold"/>
                  <a:ea typeface="Noto Sans Bold"/>
                  <a:cs typeface="Noto Sans Bold"/>
                  <a:sym typeface="Noto Sans Bold"/>
                </a:rPr>
                <a:t>25초</a:t>
              </a:r>
            </a:p>
          </p:txBody>
        </p:sp>
      </p:grpSp>
      <p:sp>
        <p:nvSpPr>
          <p:cNvPr name="TextBox 27" id="27"/>
          <p:cNvSpPr txBox="true"/>
          <p:nvPr/>
        </p:nvSpPr>
        <p:spPr>
          <a:xfrm rot="0">
            <a:off x="1234440" y="6858000"/>
            <a:ext cx="7429500" cy="314325"/>
          </a:xfrm>
          <a:prstGeom prst="rect">
            <a:avLst/>
          </a:prstGeom>
        </p:spPr>
        <p:txBody>
          <a:bodyPr anchor="t" rtlCol="false" tIns="0" lIns="0" bIns="0" rIns="0">
            <a:spAutoFit/>
          </a:bodyPr>
          <a:lstStyle/>
          <a:p>
            <a:pPr algn="l">
              <a:lnSpc>
                <a:spcPts val="2520"/>
              </a:lnSpc>
              <a:spcBef>
                <a:spcPct val="0"/>
              </a:spcBef>
            </a:pPr>
            <a:r>
              <a:rPr lang="en-US" sz="2100" strike="noStrike" u="none">
                <a:solidFill>
                  <a:srgbClr val="53666E"/>
                </a:solidFill>
                <a:latin typeface="Noto Sans"/>
                <a:ea typeface="Noto Sans"/>
                <a:cs typeface="Noto Sans"/>
                <a:sym typeface="Noto Sans"/>
              </a:rPr>
              <a:t>이상 시작부터 통지까지 · p95</a:t>
            </a:r>
          </a:p>
        </p:txBody>
      </p:sp>
      <p:sp>
        <p:nvSpPr>
          <p:cNvPr name="TextBox 28" id="28"/>
          <p:cNvSpPr txBox="true"/>
          <p:nvPr/>
        </p:nvSpPr>
        <p:spPr>
          <a:xfrm rot="0">
            <a:off x="9779508" y="5915025"/>
            <a:ext cx="7429500" cy="714375"/>
          </a:xfrm>
          <a:prstGeom prst="rect">
            <a:avLst/>
          </a:prstGeom>
        </p:spPr>
        <p:txBody>
          <a:bodyPr anchor="t" rtlCol="false" tIns="0" lIns="0" bIns="0" rIns="0">
            <a:spAutoFit/>
          </a:bodyPr>
          <a:lstStyle/>
          <a:p>
            <a:pPr algn="l">
              <a:lnSpc>
                <a:spcPts val="5759"/>
              </a:lnSpc>
              <a:spcBef>
                <a:spcPct val="0"/>
              </a:spcBef>
            </a:pPr>
            <a:r>
              <a:rPr lang="en-US" b="true" sz="4800" strike="noStrike" u="none">
                <a:solidFill>
                  <a:srgbClr val="203238"/>
                </a:solidFill>
                <a:latin typeface="Noto Sans Bold"/>
                <a:ea typeface="Noto Sans Bold"/>
                <a:cs typeface="Noto Sans Bold"/>
                <a:sym typeface="Noto Sans Bold"/>
              </a:rPr>
              <a:t>27.03ms</a:t>
            </a:r>
          </a:p>
        </p:txBody>
      </p:sp>
      <p:sp>
        <p:nvSpPr>
          <p:cNvPr name="TextBox 29" id="29"/>
          <p:cNvSpPr txBox="true"/>
          <p:nvPr/>
        </p:nvSpPr>
        <p:spPr>
          <a:xfrm rot="0">
            <a:off x="9779508" y="6858000"/>
            <a:ext cx="7429500" cy="314325"/>
          </a:xfrm>
          <a:prstGeom prst="rect">
            <a:avLst/>
          </a:prstGeom>
        </p:spPr>
        <p:txBody>
          <a:bodyPr anchor="t" rtlCol="false" tIns="0" lIns="0" bIns="0" rIns="0">
            <a:spAutoFit/>
          </a:bodyPr>
          <a:lstStyle/>
          <a:p>
            <a:pPr algn="l">
              <a:lnSpc>
                <a:spcPts val="2520"/>
              </a:lnSpc>
              <a:spcBef>
                <a:spcPct val="0"/>
              </a:spcBef>
            </a:pPr>
            <a:r>
              <a:rPr lang="en-US" sz="2100" strike="noStrike" u="none">
                <a:solidFill>
                  <a:srgbClr val="53666E"/>
                </a:solidFill>
                <a:latin typeface="Noto Sans"/>
                <a:ea typeface="Noto Sans"/>
                <a:cs typeface="Noto Sans"/>
                <a:sym typeface="Noto Sans"/>
              </a:rPr>
              <a:t>한 프레임 처리 · p95</a:t>
            </a:r>
          </a:p>
        </p:txBody>
      </p:sp>
      <p:sp>
        <p:nvSpPr>
          <p:cNvPr name="TextBox 30" id="30"/>
          <p:cNvSpPr txBox="true"/>
          <p:nvPr/>
        </p:nvSpPr>
        <p:spPr>
          <a:xfrm rot="0">
            <a:off x="1234440" y="8001000"/>
            <a:ext cx="15811500" cy="342900"/>
          </a:xfrm>
          <a:prstGeom prst="rect">
            <a:avLst/>
          </a:prstGeom>
        </p:spPr>
        <p:txBody>
          <a:bodyPr anchor="t" rtlCol="false" tIns="0" lIns="0" bIns="0" rIns="0">
            <a:spAutoFit/>
          </a:bodyPr>
          <a:lstStyle/>
          <a:p>
            <a:pPr algn="l">
              <a:lnSpc>
                <a:spcPts val="2700"/>
              </a:lnSpc>
              <a:spcBef>
                <a:spcPct val="0"/>
              </a:spcBef>
            </a:pPr>
            <a:r>
              <a:rPr lang="en-US" b="true" sz="2250" strike="noStrike" u="none">
                <a:solidFill>
                  <a:srgbClr val="203238"/>
                </a:solidFill>
                <a:latin typeface="Noto Sans Bold"/>
                <a:ea typeface="Noto Sans Bold"/>
                <a:cs typeface="Noto Sans Bold"/>
                <a:sym typeface="Noto Sans Bold"/>
              </a:rPr>
              <a:t>고착 확인의 절충: 7초 → 15초</a:t>
            </a:r>
          </a:p>
        </p:txBody>
      </p:sp>
      <p:grpSp>
        <p:nvGrpSpPr>
          <p:cNvPr name="Group 31" id="31"/>
          <p:cNvGrpSpPr/>
          <p:nvPr/>
        </p:nvGrpSpPr>
        <p:grpSpPr>
          <a:xfrm rot="0">
            <a:off x="1234440" y="8915400"/>
            <a:ext cx="15811500" cy="586740"/>
            <a:chOff x="0" y="0"/>
            <a:chExt cx="21082000" cy="782320"/>
          </a:xfrm>
        </p:grpSpPr>
        <p:sp>
          <p:nvSpPr>
            <p:cNvPr name="Freeform 32" id="32"/>
            <p:cNvSpPr/>
            <p:nvPr/>
          </p:nvSpPr>
          <p:spPr>
            <a:xfrm flipH="false" flipV="false" rot="0">
              <a:off x="0" y="0"/>
              <a:ext cx="21082000" cy="782320"/>
            </a:xfrm>
            <a:custGeom>
              <a:avLst/>
              <a:gdLst/>
              <a:ahLst/>
              <a:cxnLst/>
              <a:rect r="r" b="b" t="t" l="l"/>
              <a:pathLst>
                <a:path h="782320" w="21082000">
                  <a:moveTo>
                    <a:pt x="0" y="0"/>
                  </a:moveTo>
                  <a:lnTo>
                    <a:pt x="21082000" y="0"/>
                  </a:lnTo>
                  <a:lnTo>
                    <a:pt x="21082000" y="782320"/>
                  </a:lnTo>
                  <a:lnTo>
                    <a:pt x="0" y="782320"/>
                  </a:lnTo>
                  <a:close/>
                </a:path>
              </a:pathLst>
            </a:custGeom>
            <a:blipFill>
              <a:blip r:embed="rId4">
                <a:alphaModFix amt="0"/>
              </a:blip>
              <a:stretch>
                <a:fillRect l="0" t="-517586" r="-5250" b="-487716"/>
              </a:stretch>
            </a:blipFill>
          </p:spPr>
        </p:sp>
        <p:sp>
          <p:nvSpPr>
            <p:cNvPr name="TextBox 33" id="33"/>
            <p:cNvSpPr txBox="true"/>
            <p:nvPr/>
          </p:nvSpPr>
          <p:spPr>
            <a:xfrm>
              <a:off x="0" y="0"/>
              <a:ext cx="21082000" cy="782320"/>
            </a:xfrm>
            <a:prstGeom prst="rect">
              <a:avLst/>
            </a:prstGeom>
          </p:spPr>
          <p:txBody>
            <a:bodyPr anchor="ctr" rtlCol="false" tIns="0" lIns="0" bIns="0" rIns="0"/>
            <a:lstStyle/>
            <a:p>
              <a:pPr algn="l">
                <a:lnSpc>
                  <a:spcPts val="1980"/>
                </a:lnSpc>
                <a:spcBef>
                  <a:spcPct val="0"/>
                </a:spcBef>
              </a:pPr>
              <a:r>
                <a:rPr lang="en-US" sz="1650" strike="noStrike" u="none">
                  <a:solidFill>
                    <a:srgbClr val="53666E"/>
                  </a:solidFill>
                  <a:latin typeface="Noto Sans"/>
                  <a:ea typeface="Noto Sans"/>
                  <a:cs typeface="Noto Sans"/>
                  <a:sym typeface="Noto Sans"/>
                </a:rPr>
                <a:t>원본도 새 평가 오통지 0건 · 확인한 개선은 기존 2사례 회귀 제거</a:t>
              </a:r>
            </a:p>
            <a:p>
              <a:pPr algn="l">
                <a:lnSpc>
                  <a:spcPts val="1980"/>
                </a:lnSpc>
                <a:spcBef>
                  <a:spcPct val="0"/>
                </a:spcBef>
              </a:pPr>
              <a:r>
                <a:rPr lang="en-US" sz="1650" strike="noStrike" u="none">
                  <a:solidFill>
                    <a:srgbClr val="53666E"/>
                  </a:solidFill>
                  <a:latin typeface="Noto Sans"/>
                  <a:ea typeface="Noto Sans"/>
                  <a:cs typeface="Noto Sans"/>
                  <a:sym typeface="Noto Sans"/>
                </a:rPr>
                <a:t>합성 평가 범위 · 실제 공장·운영 물리 화면의 전체 지연은 별도 검증</a:t>
              </a:r>
            </a:p>
          </p:txBody>
        </p:sp>
      </p:grpSp>
      <p:sp>
        <p:nvSpPr>
          <p:cNvPr name="TextBox 34" id="34"/>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a:solidFill>
                  <a:srgbClr val="6B787A"/>
                </a:solidFill>
                <a:latin typeface="Noto Sans"/>
                <a:ea typeface="Noto Sans"/>
                <a:cs typeface="Noto Sans"/>
                <a:sym typeface="Noto Sans"/>
              </a:rPr>
              <a:t>31</a:t>
            </a:r>
          </a:p>
        </p:txBody>
      </p:sp>
      <p:grpSp>
        <p:nvGrpSpPr>
          <p:cNvPr name="Group 35" id="35"/>
          <p:cNvGrpSpPr/>
          <p:nvPr/>
        </p:nvGrpSpPr>
        <p:grpSpPr>
          <a:xfrm rot="0">
            <a:off x="5818352" y="9710928"/>
            <a:ext cx="4070985" cy="419672"/>
            <a:chOff x="0" y="0"/>
            <a:chExt cx="5427980" cy="559562"/>
          </a:xfrm>
        </p:grpSpPr>
        <p:grpSp>
          <p:nvGrpSpPr>
            <p:cNvPr name="Group 36" id="36"/>
            <p:cNvGrpSpPr/>
            <p:nvPr/>
          </p:nvGrpSpPr>
          <p:grpSpPr>
            <a:xfrm rot="0">
              <a:off x="0" y="0"/>
              <a:ext cx="1680845" cy="559562"/>
              <a:chOff x="0" y="0"/>
              <a:chExt cx="1680845" cy="559562"/>
            </a:xfrm>
          </p:grpSpPr>
          <p:sp>
            <p:nvSpPr>
              <p:cNvPr name="Freeform 37" id="37"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5"/>
                <a:stretch>
                  <a:fillRect l="0" t="-265" r="0" b="-267"/>
                </a:stretch>
              </a:blipFill>
            </p:spPr>
          </p:sp>
        </p:grpSp>
        <p:grpSp>
          <p:nvGrpSpPr>
            <p:cNvPr name="Group 38" id="38"/>
            <p:cNvGrpSpPr/>
            <p:nvPr/>
          </p:nvGrpSpPr>
          <p:grpSpPr>
            <a:xfrm rot="0">
              <a:off x="2069490" y="124358"/>
              <a:ext cx="1189101" cy="310896"/>
              <a:chOff x="0" y="0"/>
              <a:chExt cx="1189101" cy="310896"/>
            </a:xfrm>
          </p:grpSpPr>
          <p:sp>
            <p:nvSpPr>
              <p:cNvPr name="Freeform 39" id="39"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6"/>
                <a:stretch>
                  <a:fillRect l="-30" t="0" r="-32" b="0"/>
                </a:stretch>
              </a:blipFill>
            </p:spPr>
          </p:sp>
        </p:grpSp>
        <p:grpSp>
          <p:nvGrpSpPr>
            <p:cNvPr name="Group 40" id="40"/>
            <p:cNvGrpSpPr/>
            <p:nvPr/>
          </p:nvGrpSpPr>
          <p:grpSpPr>
            <a:xfrm rot="0">
              <a:off x="3647186" y="124358"/>
              <a:ext cx="1780794" cy="310896"/>
              <a:chOff x="0" y="0"/>
              <a:chExt cx="1780794" cy="310896"/>
            </a:xfrm>
          </p:grpSpPr>
          <p:sp>
            <p:nvSpPr>
              <p:cNvPr name="Freeform 41" id="41"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7"/>
                <a:stretch>
                  <a:fillRect l="0" t="-118" r="0" b="-122"/>
                </a:stretch>
              </a:blipFill>
            </p:spPr>
          </p:sp>
        </p:gr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492853" y="-16669"/>
            <a:ext cx="8811387" cy="10320338"/>
            <a:chOff x="0" y="0"/>
            <a:chExt cx="11748516" cy="13760450"/>
          </a:xfrm>
        </p:grpSpPr>
        <p:sp>
          <p:nvSpPr>
            <p:cNvPr name="Freeform 3" id="3"/>
            <p:cNvSpPr/>
            <p:nvPr/>
          </p:nvSpPr>
          <p:spPr>
            <a:xfrm flipH="false" flipV="false" rot="0">
              <a:off x="0" y="0"/>
              <a:ext cx="11748516" cy="13760450"/>
            </a:xfrm>
            <a:custGeom>
              <a:avLst/>
              <a:gdLst/>
              <a:ahLst/>
              <a:cxnLst/>
              <a:rect r="r" b="b" t="t" l="l"/>
              <a:pathLst>
                <a:path h="13760450" w="11748516">
                  <a:moveTo>
                    <a:pt x="0" y="0"/>
                  </a:moveTo>
                  <a:lnTo>
                    <a:pt x="11748516" y="0"/>
                  </a:lnTo>
                  <a:lnTo>
                    <a:pt x="11748516" y="13760450"/>
                  </a:lnTo>
                  <a:lnTo>
                    <a:pt x="0" y="13760450"/>
                  </a:lnTo>
                  <a:close/>
                </a:path>
              </a:pathLst>
            </a:custGeom>
            <a:solidFill>
              <a:srgbClr val="0E3B38"/>
            </a:solidFill>
            <a:ln w="19050" cap="sq">
              <a:solidFill>
                <a:srgbClr val="0E3B38"/>
              </a:solidFill>
              <a:prstDash val="solid"/>
              <a:miter/>
            </a:ln>
          </p:spPr>
        </p:sp>
      </p:grpSp>
      <p:grpSp>
        <p:nvGrpSpPr>
          <p:cNvPr name="Group 4" id="4"/>
          <p:cNvGrpSpPr/>
          <p:nvPr/>
        </p:nvGrpSpPr>
        <p:grpSpPr>
          <a:xfrm rot="0">
            <a:off x="9509522" y="4937760"/>
            <a:ext cx="8092221" cy="4937760"/>
            <a:chOff x="0" y="0"/>
            <a:chExt cx="10789628" cy="6583680"/>
          </a:xfrm>
        </p:grpSpPr>
        <p:sp>
          <p:nvSpPr>
            <p:cNvPr name="Freeform 5" id="5"/>
            <p:cNvSpPr/>
            <p:nvPr/>
          </p:nvSpPr>
          <p:spPr>
            <a:xfrm flipH="false" flipV="false" rot="0">
              <a:off x="0" y="0"/>
              <a:ext cx="10789666" cy="6583680"/>
            </a:xfrm>
            <a:custGeom>
              <a:avLst/>
              <a:gdLst/>
              <a:ahLst/>
              <a:cxnLst/>
              <a:rect r="r" b="b" t="t" l="l"/>
              <a:pathLst>
                <a:path h="6583680" w="10789666">
                  <a:moveTo>
                    <a:pt x="0" y="0"/>
                  </a:moveTo>
                  <a:lnTo>
                    <a:pt x="10789666" y="0"/>
                  </a:lnTo>
                  <a:lnTo>
                    <a:pt x="10789666" y="6583680"/>
                  </a:lnTo>
                  <a:lnTo>
                    <a:pt x="0" y="6583680"/>
                  </a:lnTo>
                  <a:close/>
                </a:path>
              </a:pathLst>
            </a:custGeom>
            <a:blipFill>
              <a:blip r:embed="rId3">
                <a:alphaModFix amt="0"/>
              </a:blip>
              <a:stretch>
                <a:fillRect l="-28343" t="0" r="-28343" b="0"/>
              </a:stretch>
            </a:blipFill>
          </p:spPr>
        </p:sp>
      </p:grpSp>
      <p:grpSp>
        <p:nvGrpSpPr>
          <p:cNvPr name="Group 6" id="6"/>
          <p:cNvGrpSpPr/>
          <p:nvPr/>
        </p:nvGrpSpPr>
        <p:grpSpPr>
          <a:xfrm rot="0">
            <a:off x="9509522" y="4930616"/>
            <a:ext cx="8092221" cy="4944904"/>
            <a:chOff x="0" y="0"/>
            <a:chExt cx="10789628" cy="6593205"/>
          </a:xfrm>
        </p:grpSpPr>
        <p:sp>
          <p:nvSpPr>
            <p:cNvPr name="Freeform 7" id="7"/>
            <p:cNvSpPr/>
            <p:nvPr/>
          </p:nvSpPr>
          <p:spPr>
            <a:xfrm flipH="false" flipV="false" rot="0">
              <a:off x="0" y="0"/>
              <a:ext cx="10789628" cy="6593205"/>
            </a:xfrm>
            <a:custGeom>
              <a:avLst/>
              <a:gdLst/>
              <a:ahLst/>
              <a:cxnLst/>
              <a:rect r="r" b="b" t="t" l="l"/>
              <a:pathLst>
                <a:path h="6593205" w="10789628">
                  <a:moveTo>
                    <a:pt x="0" y="0"/>
                  </a:moveTo>
                  <a:lnTo>
                    <a:pt x="10789628" y="0"/>
                  </a:lnTo>
                  <a:lnTo>
                    <a:pt x="10789628" y="6593205"/>
                  </a:lnTo>
                  <a:lnTo>
                    <a:pt x="0" y="6593205"/>
                  </a:lnTo>
                  <a:close/>
                </a:path>
              </a:pathLst>
            </a:custGeom>
            <a:blipFill>
              <a:blip r:embed="rId4">
                <a:alphaModFix amt="0"/>
              </a:blip>
              <a:stretch>
                <a:fillRect l="-28402" t="0" r="-28402" b="0"/>
              </a:stretch>
            </a:blipFill>
          </p:spPr>
        </p:sp>
        <p:sp>
          <p:nvSpPr>
            <p:cNvPr name="TextBox 8" id="8"/>
            <p:cNvSpPr txBox="true"/>
            <p:nvPr/>
          </p:nvSpPr>
          <p:spPr>
            <a:xfrm>
              <a:off x="0" y="-9525"/>
              <a:ext cx="10789628" cy="6602730"/>
            </a:xfrm>
            <a:prstGeom prst="rect">
              <a:avLst/>
            </a:prstGeom>
          </p:spPr>
          <p:txBody>
            <a:bodyPr anchor="b" rtlCol="false" tIns="0" lIns="0" bIns="0" rIns="0"/>
            <a:lstStyle/>
            <a:p>
              <a:pPr algn="r">
                <a:lnSpc>
                  <a:spcPts val="36000"/>
                </a:lnSpc>
              </a:pPr>
              <a:r>
                <a:rPr lang="en-US" sz="30000" b="true">
                  <a:solidFill>
                    <a:srgbClr val="FFFFFF"/>
                  </a:solidFill>
                  <a:latin typeface="Noto Sans Bold"/>
                  <a:ea typeface="Noto Sans Bold"/>
                  <a:cs typeface="Noto Sans Bold"/>
                  <a:sym typeface="Noto Sans Bold"/>
                </a:rPr>
                <a:t>04</a:t>
              </a:r>
            </a:p>
          </p:txBody>
        </p:sp>
      </p:grpSp>
      <p:sp>
        <p:nvSpPr>
          <p:cNvPr name="TextBox 9" id="9"/>
          <p:cNvSpPr txBox="true"/>
          <p:nvPr/>
        </p:nvSpPr>
        <p:spPr>
          <a:xfrm rot="0">
            <a:off x="1234440" y="3499485"/>
            <a:ext cx="7955280" cy="432435"/>
          </a:xfrm>
          <a:prstGeom prst="rect">
            <a:avLst/>
          </a:prstGeom>
        </p:spPr>
        <p:txBody>
          <a:bodyPr anchor="t" rtlCol="false" tIns="0" lIns="0" bIns="0" rIns="0">
            <a:spAutoFit/>
          </a:bodyPr>
          <a:lstStyle/>
          <a:p>
            <a:pPr algn="l">
              <a:lnSpc>
                <a:spcPts val="3600"/>
              </a:lnSpc>
              <a:spcBef>
                <a:spcPct val="0"/>
              </a:spcBef>
            </a:pPr>
            <a:r>
              <a:rPr lang="en-US" sz="2400" strike="noStrike" u="none">
                <a:solidFill>
                  <a:srgbClr val="16796C"/>
                </a:solidFill>
                <a:latin typeface="Noto Sans"/>
                <a:ea typeface="Noto Sans"/>
                <a:cs typeface="Noto Sans"/>
                <a:sym typeface="Noto Sans"/>
              </a:rPr>
              <a:t>01  통합 시연 영상</a:t>
            </a:r>
          </a:p>
        </p:txBody>
      </p:sp>
      <p:sp>
        <p:nvSpPr>
          <p:cNvPr name="TextBox 10" id="10"/>
          <p:cNvSpPr txBox="true"/>
          <p:nvPr/>
        </p:nvSpPr>
        <p:spPr>
          <a:xfrm rot="0">
            <a:off x="1234440" y="2047875"/>
            <a:ext cx="7955280" cy="819150"/>
          </a:xfrm>
          <a:prstGeom prst="rect">
            <a:avLst/>
          </a:prstGeom>
        </p:spPr>
        <p:txBody>
          <a:bodyPr anchor="t" rtlCol="false" tIns="0" lIns="0" bIns="0" rIns="0">
            <a:spAutoFit/>
          </a:bodyPr>
          <a:lstStyle/>
          <a:p>
            <a:pPr algn="l">
              <a:lnSpc>
                <a:spcPts val="6480"/>
              </a:lnSpc>
            </a:pPr>
            <a:r>
              <a:rPr lang="en-US" sz="5400" b="true">
                <a:solidFill>
                  <a:srgbClr val="203238"/>
                </a:solidFill>
                <a:latin typeface="Noto Sans Bold"/>
                <a:ea typeface="Noto Sans Bold"/>
                <a:cs typeface="Noto Sans Bold"/>
                <a:sym typeface="Noto Sans Bold"/>
              </a:rPr>
              <a:t>시연</a:t>
            </a:r>
          </a:p>
        </p:txBody>
      </p:sp>
      <p:grpSp>
        <p:nvGrpSpPr>
          <p:cNvPr name="Group 11" id="11"/>
          <p:cNvGrpSpPr/>
          <p:nvPr/>
        </p:nvGrpSpPr>
        <p:grpSpPr>
          <a:xfrm rot="0">
            <a:off x="12384195" y="9200483"/>
            <a:ext cx="5508498" cy="856298"/>
            <a:chOff x="0" y="0"/>
            <a:chExt cx="7344664" cy="1141730"/>
          </a:xfrm>
        </p:grpSpPr>
        <p:sp>
          <p:nvSpPr>
            <p:cNvPr name="Freeform 12" id="12"/>
            <p:cNvSpPr/>
            <p:nvPr/>
          </p:nvSpPr>
          <p:spPr>
            <a:xfrm flipH="false" flipV="false" rot="0">
              <a:off x="0" y="0"/>
              <a:ext cx="7344664" cy="1141730"/>
            </a:xfrm>
            <a:custGeom>
              <a:avLst/>
              <a:gdLst/>
              <a:ahLst/>
              <a:cxnLst/>
              <a:rect r="r" b="b" t="t" l="l"/>
              <a:pathLst>
                <a:path h="1141730" w="7344664">
                  <a:moveTo>
                    <a:pt x="0" y="0"/>
                  </a:moveTo>
                  <a:lnTo>
                    <a:pt x="7344664" y="0"/>
                  </a:lnTo>
                  <a:lnTo>
                    <a:pt x="7344664" y="1141730"/>
                  </a:lnTo>
                  <a:lnTo>
                    <a:pt x="0" y="11417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479425" y="241681"/>
              <a:ext cx="1977517" cy="658368"/>
              <a:chOff x="0" y="0"/>
              <a:chExt cx="1977517" cy="658368"/>
            </a:xfrm>
          </p:grpSpPr>
          <p:sp>
            <p:nvSpPr>
              <p:cNvPr name="Freeform 14" id="14" descr="C:\Users\abab9\AppData\Local\Temp\claude\C--Users-abab9-Desktop-Shiftlink\03368683-632b-4bf6-b41d-988cf517f7bf\scratchpad\build\logos\knda.png"/>
              <p:cNvSpPr/>
              <p:nvPr/>
            </p:nvSpPr>
            <p:spPr>
              <a:xfrm flipH="false" flipV="false" rot="0">
                <a:off x="0" y="0"/>
                <a:ext cx="1977517" cy="658368"/>
              </a:xfrm>
              <a:custGeom>
                <a:avLst/>
                <a:gdLst/>
                <a:ahLst/>
                <a:cxnLst/>
                <a:rect r="r" b="b" t="t" l="l"/>
                <a:pathLst>
                  <a:path h="658368" w="1977517">
                    <a:moveTo>
                      <a:pt x="0" y="0"/>
                    </a:moveTo>
                    <a:lnTo>
                      <a:pt x="1977517" y="0"/>
                    </a:lnTo>
                    <a:lnTo>
                      <a:pt x="1977517" y="658368"/>
                    </a:lnTo>
                    <a:lnTo>
                      <a:pt x="0" y="658368"/>
                    </a:lnTo>
                    <a:lnTo>
                      <a:pt x="0" y="0"/>
                    </a:lnTo>
                    <a:close/>
                  </a:path>
                </a:pathLst>
              </a:custGeom>
              <a:blipFill>
                <a:blip r:embed="rId7"/>
                <a:stretch>
                  <a:fillRect l="0" t="-262" r="0" b="-264"/>
                </a:stretch>
              </a:blipFill>
            </p:spPr>
          </p:sp>
        </p:grpSp>
        <p:grpSp>
          <p:nvGrpSpPr>
            <p:cNvPr name="Group 15" id="15"/>
            <p:cNvGrpSpPr/>
            <p:nvPr/>
          </p:nvGrpSpPr>
          <p:grpSpPr>
            <a:xfrm rot="0">
              <a:off x="2914129" y="387985"/>
              <a:ext cx="1398905" cy="365760"/>
              <a:chOff x="0" y="0"/>
              <a:chExt cx="1398905" cy="365760"/>
            </a:xfrm>
          </p:grpSpPr>
          <p:sp>
            <p:nvSpPr>
              <p:cNvPr name="Freeform 16" id="16" descr="C:\Users\abab9\AppData\Local\Temp\claude\C--Users-abab9-Desktop-Shiftlink\03368683-632b-4bf6-b41d-988cf517f7bf\scratchpad\build\logos\posco.png"/>
              <p:cNvSpPr/>
              <p:nvPr/>
            </p:nvSpPr>
            <p:spPr>
              <a:xfrm flipH="false" flipV="false" rot="0">
                <a:off x="0" y="0"/>
                <a:ext cx="1398905" cy="365760"/>
              </a:xfrm>
              <a:custGeom>
                <a:avLst/>
                <a:gdLst/>
                <a:ahLst/>
                <a:cxnLst/>
                <a:rect r="r" b="b" t="t" l="l"/>
                <a:pathLst>
                  <a:path h="365760" w="1398905">
                    <a:moveTo>
                      <a:pt x="0" y="0"/>
                    </a:moveTo>
                    <a:lnTo>
                      <a:pt x="1398905" y="0"/>
                    </a:lnTo>
                    <a:lnTo>
                      <a:pt x="1398905" y="365760"/>
                    </a:lnTo>
                    <a:lnTo>
                      <a:pt x="0" y="365760"/>
                    </a:lnTo>
                    <a:lnTo>
                      <a:pt x="0" y="0"/>
                    </a:lnTo>
                    <a:close/>
                  </a:path>
                </a:pathLst>
              </a:custGeom>
              <a:blipFill>
                <a:blip r:embed="rId8"/>
                <a:stretch>
                  <a:fillRect l="-32" t="0" r="-32" b="0"/>
                </a:stretch>
              </a:blipFill>
            </p:spPr>
          </p:sp>
        </p:grpSp>
        <p:grpSp>
          <p:nvGrpSpPr>
            <p:cNvPr name="Group 17" id="17"/>
            <p:cNvGrpSpPr/>
            <p:nvPr/>
          </p:nvGrpSpPr>
          <p:grpSpPr>
            <a:xfrm rot="0">
              <a:off x="4770247" y="387985"/>
              <a:ext cx="2094992" cy="365760"/>
              <a:chOff x="0" y="0"/>
              <a:chExt cx="2094992" cy="365760"/>
            </a:xfrm>
          </p:grpSpPr>
          <p:sp>
            <p:nvSpPr>
              <p:cNvPr name="Freeform 18" id="18" descr="C:\Users\abab9\AppData\Local\Temp\claude\C--Users-abab9-Desktop-Shiftlink\03368683-632b-4bf6-b41d-988cf517f7bf\scratchpad\build\logos\nextsurfer.png"/>
              <p:cNvSpPr/>
              <p:nvPr/>
            </p:nvSpPr>
            <p:spPr>
              <a:xfrm flipH="false" flipV="false" rot="0">
                <a:off x="0" y="0"/>
                <a:ext cx="2094992" cy="365760"/>
              </a:xfrm>
              <a:custGeom>
                <a:avLst/>
                <a:gdLst/>
                <a:ahLst/>
                <a:cxnLst/>
                <a:rect r="r" b="b" t="t" l="l"/>
                <a:pathLst>
                  <a:path h="365760" w="2094992">
                    <a:moveTo>
                      <a:pt x="0" y="0"/>
                    </a:moveTo>
                    <a:lnTo>
                      <a:pt x="2094992" y="0"/>
                    </a:lnTo>
                    <a:lnTo>
                      <a:pt x="2094992" y="365760"/>
                    </a:lnTo>
                    <a:lnTo>
                      <a:pt x="0" y="365760"/>
                    </a:lnTo>
                    <a:lnTo>
                      <a:pt x="0" y="0"/>
                    </a:lnTo>
                    <a:close/>
                  </a:path>
                </a:pathLst>
              </a:custGeom>
              <a:blipFill>
                <a:blip r:embed="rId9"/>
                <a:stretch>
                  <a:fillRect l="0" t="-118" r="0" b="-118"/>
                </a:stretch>
              </a:blipFill>
            </p:spPr>
          </p:sp>
        </p:grpSp>
      </p:gr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3050" r="0" b="-333050"/>
              </a:stretch>
            </a:blipFill>
          </p:spPr>
        </p:sp>
        <p:sp>
          <p:nvSpPr>
            <p:cNvPr name="TextBox 6" id="6"/>
            <p:cNvSpPr txBox="true"/>
            <p:nvPr/>
          </p:nvSpPr>
          <p:spPr>
            <a:xfrm>
              <a:off x="0" y="-9525"/>
              <a:ext cx="10972800" cy="567690"/>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7" id="7"/>
          <p:cNvGrpSpPr/>
          <p:nvPr/>
        </p:nvGrpSpPr>
        <p:grpSpPr>
          <a:xfrm rot="0">
            <a:off x="5818352" y="9710928"/>
            <a:ext cx="4070985" cy="419672"/>
            <a:chOff x="0" y="0"/>
            <a:chExt cx="5427980" cy="559562"/>
          </a:xfrm>
        </p:grpSpPr>
        <p:grpSp>
          <p:nvGrpSpPr>
            <p:cNvPr name="Group 8" id="8"/>
            <p:cNvGrpSpPr/>
            <p:nvPr/>
          </p:nvGrpSpPr>
          <p:grpSpPr>
            <a:xfrm rot="0">
              <a:off x="0" y="0"/>
              <a:ext cx="1680845" cy="559562"/>
              <a:chOff x="0" y="0"/>
              <a:chExt cx="1680845" cy="559562"/>
            </a:xfrm>
          </p:grpSpPr>
          <p:sp>
            <p:nvSpPr>
              <p:cNvPr name="Freeform 9" id="9"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5"/>
                <a:stretch>
                  <a:fillRect l="0" t="-265" r="0" b="-267"/>
                </a:stretch>
              </a:blipFill>
            </p:spPr>
          </p:sp>
        </p:grpSp>
        <p:grpSp>
          <p:nvGrpSpPr>
            <p:cNvPr name="Group 10" id="10"/>
            <p:cNvGrpSpPr/>
            <p:nvPr/>
          </p:nvGrpSpPr>
          <p:grpSpPr>
            <a:xfrm rot="0">
              <a:off x="2069490" y="124358"/>
              <a:ext cx="1189101" cy="310896"/>
              <a:chOff x="0" y="0"/>
              <a:chExt cx="1189101" cy="310896"/>
            </a:xfrm>
          </p:grpSpPr>
          <p:sp>
            <p:nvSpPr>
              <p:cNvPr name="Freeform 11" id="11"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6"/>
                <a:stretch>
                  <a:fillRect l="-30" t="0" r="-32" b="0"/>
                </a:stretch>
              </a:blipFill>
            </p:spPr>
          </p:sp>
        </p:grpSp>
        <p:grpSp>
          <p:nvGrpSpPr>
            <p:cNvPr name="Group 12" id="12"/>
            <p:cNvGrpSpPr/>
            <p:nvPr/>
          </p:nvGrpSpPr>
          <p:grpSpPr>
            <a:xfrm rot="0">
              <a:off x="3647186" y="124358"/>
              <a:ext cx="1780794" cy="310896"/>
              <a:chOff x="0" y="0"/>
              <a:chExt cx="1780794" cy="310896"/>
            </a:xfrm>
          </p:grpSpPr>
          <p:sp>
            <p:nvSpPr>
              <p:cNvPr name="Freeform 13" id="13"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7"/>
                <a:stretch>
                  <a:fillRect l="0" t="-118" r="0" b="-122"/>
                </a:stretch>
              </a:blipFill>
            </p:spPr>
          </p:sp>
        </p:grpSp>
      </p:grpSp>
      <p:pic>
        <p:nvPicPr>
          <p:cNvPr name="Picture 14" id="14">
            <a:hlinkClick action="ppaction://media"/>
          </p:cNvPr>
          <p:cNvPicPr>
            <a:picLocks noChangeAspect="true"/>
          </p:cNvPicPr>
          <p:nvPr>
            <a:videoFile r:link="rId9"/>
            <p:extLst>
              <p:ext uri="{DAA4B4D4-6D71-4841-9C94-3DE7FCFB9230}">
                <p14:media xmlns:p14="http://schemas.microsoft.com/office/powerpoint/2010/main" r:embed="rId10"/>
              </p:ext>
            </p:extLst>
          </p:nvPr>
        </p:nvPicPr>
        <p:blipFill>
          <a:blip r:embed="rId8"/>
          <a:srcRect l="0" t="211" r="0" b="4733"/>
          <a:stretch>
            <a:fillRect/>
          </a:stretch>
        </p:blipFill>
        <p:spPr>
          <a:xfrm flipH="false" flipV="false" rot="0">
            <a:off x="491123" y="296887"/>
            <a:ext cx="17305753" cy="9253119"/>
          </a:xfrm>
          <a:prstGeom prst="rect">
            <a:avLst/>
          </a:prstGeom>
        </p:spPr>
      </p:pic>
      <p:sp>
        <p:nvSpPr>
          <p:cNvPr name="TextBox 15" id="15"/>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a:solidFill>
                  <a:srgbClr val="6B787A"/>
                </a:solidFill>
                <a:latin typeface="Noto Sans"/>
                <a:ea typeface="Noto Sans"/>
                <a:cs typeface="Noto Sans"/>
                <a:sym typeface="Noto Sans"/>
              </a:rPr>
              <a:t>33</a:t>
            </a:r>
          </a:p>
        </p:txBody>
      </p:sp>
    </p:spTree>
  </p:cSld>
  <p:clrMapOvr>
    <a:masterClrMapping/>
  </p:clrMapOvr>
  <p:timing>
    <p:tnLst>
      <p:par>
        <p:cTn dur="indefinite" restart="never" nodeType="tmRoot">
          <p:childTnLst>
            <p:video>
              <p:cMediaNode vol="100000">
                <p:cTn fill="hold" display="false">
                  <p:stCondLst>
                    <p:cond delay="indefinite"/>
                  </p:stCondLst>
                </p:cTn>
                <p:tgtEl>
                  <p:spTgt spid="14"/>
                </p:tgtEl>
              </p:cMediaNode>
            </p:video>
          </p:childTnLst>
        </p:cTn>
      </p:par>
    </p:tnLst>
  </p:timing>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492853" y="-16669"/>
            <a:ext cx="8811387" cy="10320338"/>
            <a:chOff x="0" y="0"/>
            <a:chExt cx="11748516" cy="13760450"/>
          </a:xfrm>
        </p:grpSpPr>
        <p:sp>
          <p:nvSpPr>
            <p:cNvPr name="Freeform 3" id="3"/>
            <p:cNvSpPr/>
            <p:nvPr/>
          </p:nvSpPr>
          <p:spPr>
            <a:xfrm flipH="false" flipV="false" rot="0">
              <a:off x="0" y="0"/>
              <a:ext cx="11748516" cy="13760450"/>
            </a:xfrm>
            <a:custGeom>
              <a:avLst/>
              <a:gdLst/>
              <a:ahLst/>
              <a:cxnLst/>
              <a:rect r="r" b="b" t="t" l="l"/>
              <a:pathLst>
                <a:path h="13760450" w="11748516">
                  <a:moveTo>
                    <a:pt x="0" y="0"/>
                  </a:moveTo>
                  <a:lnTo>
                    <a:pt x="11748516" y="0"/>
                  </a:lnTo>
                  <a:lnTo>
                    <a:pt x="11748516" y="13760450"/>
                  </a:lnTo>
                  <a:lnTo>
                    <a:pt x="0" y="13760450"/>
                  </a:lnTo>
                  <a:close/>
                </a:path>
              </a:pathLst>
            </a:custGeom>
            <a:solidFill>
              <a:srgbClr val="0E3B38"/>
            </a:solidFill>
            <a:ln w="19050" cap="sq">
              <a:solidFill>
                <a:srgbClr val="0E3B38"/>
              </a:solidFill>
              <a:prstDash val="solid"/>
              <a:miter/>
            </a:ln>
          </p:spPr>
        </p:sp>
      </p:grpSp>
      <p:grpSp>
        <p:nvGrpSpPr>
          <p:cNvPr name="Group 4" id="4"/>
          <p:cNvGrpSpPr/>
          <p:nvPr/>
        </p:nvGrpSpPr>
        <p:grpSpPr>
          <a:xfrm rot="0">
            <a:off x="9509522" y="4937760"/>
            <a:ext cx="8092221" cy="4937760"/>
            <a:chOff x="0" y="0"/>
            <a:chExt cx="10789628" cy="6583680"/>
          </a:xfrm>
        </p:grpSpPr>
        <p:sp>
          <p:nvSpPr>
            <p:cNvPr name="Freeform 5" id="5"/>
            <p:cNvSpPr/>
            <p:nvPr/>
          </p:nvSpPr>
          <p:spPr>
            <a:xfrm flipH="false" flipV="false" rot="0">
              <a:off x="0" y="0"/>
              <a:ext cx="10789666" cy="6583680"/>
            </a:xfrm>
            <a:custGeom>
              <a:avLst/>
              <a:gdLst/>
              <a:ahLst/>
              <a:cxnLst/>
              <a:rect r="r" b="b" t="t" l="l"/>
              <a:pathLst>
                <a:path h="6583680" w="10789666">
                  <a:moveTo>
                    <a:pt x="0" y="0"/>
                  </a:moveTo>
                  <a:lnTo>
                    <a:pt x="10789666" y="0"/>
                  </a:lnTo>
                  <a:lnTo>
                    <a:pt x="10789666" y="6583680"/>
                  </a:lnTo>
                  <a:lnTo>
                    <a:pt x="0" y="6583680"/>
                  </a:lnTo>
                  <a:close/>
                </a:path>
              </a:pathLst>
            </a:custGeom>
            <a:blipFill>
              <a:blip r:embed="rId3">
                <a:alphaModFix amt="0"/>
              </a:blip>
              <a:stretch>
                <a:fillRect l="-28343" t="0" r="-28343" b="0"/>
              </a:stretch>
            </a:blipFill>
          </p:spPr>
        </p:sp>
      </p:grpSp>
      <p:grpSp>
        <p:nvGrpSpPr>
          <p:cNvPr name="Group 6" id="6"/>
          <p:cNvGrpSpPr/>
          <p:nvPr/>
        </p:nvGrpSpPr>
        <p:grpSpPr>
          <a:xfrm rot="0">
            <a:off x="9509522" y="4930616"/>
            <a:ext cx="8092221" cy="4944904"/>
            <a:chOff x="0" y="0"/>
            <a:chExt cx="10789628" cy="6593205"/>
          </a:xfrm>
        </p:grpSpPr>
        <p:sp>
          <p:nvSpPr>
            <p:cNvPr name="Freeform 7" id="7"/>
            <p:cNvSpPr/>
            <p:nvPr/>
          </p:nvSpPr>
          <p:spPr>
            <a:xfrm flipH="false" flipV="false" rot="0">
              <a:off x="0" y="0"/>
              <a:ext cx="10789628" cy="6593205"/>
            </a:xfrm>
            <a:custGeom>
              <a:avLst/>
              <a:gdLst/>
              <a:ahLst/>
              <a:cxnLst/>
              <a:rect r="r" b="b" t="t" l="l"/>
              <a:pathLst>
                <a:path h="6593205" w="10789628">
                  <a:moveTo>
                    <a:pt x="0" y="0"/>
                  </a:moveTo>
                  <a:lnTo>
                    <a:pt x="10789628" y="0"/>
                  </a:lnTo>
                  <a:lnTo>
                    <a:pt x="10789628" y="6593205"/>
                  </a:lnTo>
                  <a:lnTo>
                    <a:pt x="0" y="6593205"/>
                  </a:lnTo>
                  <a:close/>
                </a:path>
              </a:pathLst>
            </a:custGeom>
            <a:blipFill>
              <a:blip r:embed="rId4">
                <a:alphaModFix amt="0"/>
              </a:blip>
              <a:stretch>
                <a:fillRect l="-28402" t="0" r="-28402" b="0"/>
              </a:stretch>
            </a:blipFill>
          </p:spPr>
        </p:sp>
        <p:sp>
          <p:nvSpPr>
            <p:cNvPr name="TextBox 8" id="8"/>
            <p:cNvSpPr txBox="true"/>
            <p:nvPr/>
          </p:nvSpPr>
          <p:spPr>
            <a:xfrm>
              <a:off x="0" y="-9525"/>
              <a:ext cx="10789628" cy="6602730"/>
            </a:xfrm>
            <a:prstGeom prst="rect">
              <a:avLst/>
            </a:prstGeom>
          </p:spPr>
          <p:txBody>
            <a:bodyPr anchor="b" rtlCol="false" tIns="0" lIns="0" bIns="0" rIns="0"/>
            <a:lstStyle/>
            <a:p>
              <a:pPr algn="r">
                <a:lnSpc>
                  <a:spcPts val="36000"/>
                </a:lnSpc>
              </a:pPr>
              <a:r>
                <a:rPr lang="en-US" sz="30000" b="true">
                  <a:solidFill>
                    <a:srgbClr val="FFFFFF"/>
                  </a:solidFill>
                  <a:latin typeface="Noto Sans Bold"/>
                  <a:ea typeface="Noto Sans Bold"/>
                  <a:cs typeface="Noto Sans Bold"/>
                  <a:sym typeface="Noto Sans Bold"/>
                </a:rPr>
                <a:t>05</a:t>
              </a:r>
            </a:p>
          </p:txBody>
        </p:sp>
      </p:grpSp>
      <p:sp>
        <p:nvSpPr>
          <p:cNvPr name="TextBox 9" id="9"/>
          <p:cNvSpPr txBox="true"/>
          <p:nvPr/>
        </p:nvSpPr>
        <p:spPr>
          <a:xfrm rot="0">
            <a:off x="1234440" y="1518285"/>
            <a:ext cx="7955280" cy="314325"/>
          </a:xfrm>
          <a:prstGeom prst="rect">
            <a:avLst/>
          </a:prstGeom>
        </p:spPr>
        <p:txBody>
          <a:bodyPr anchor="t" rtlCol="false" tIns="0" lIns="0" bIns="0" rIns="0">
            <a:spAutoFit/>
          </a:bodyPr>
          <a:lstStyle/>
          <a:p>
            <a:pPr algn="l">
              <a:lnSpc>
                <a:spcPts val="2520"/>
              </a:lnSpc>
            </a:pPr>
            <a:r>
              <a:rPr lang="en-US" sz="2100">
                <a:solidFill>
                  <a:srgbClr val="16796C"/>
                </a:solidFill>
                <a:latin typeface="Noto Sans"/>
                <a:ea typeface="Noto Sans"/>
                <a:cs typeface="Noto Sans"/>
                <a:sym typeface="Noto Sans"/>
              </a:rPr>
              <a:t>ShiftLink 최종 발표</a:t>
            </a:r>
          </a:p>
        </p:txBody>
      </p:sp>
      <p:sp>
        <p:nvSpPr>
          <p:cNvPr name="TextBox 10" id="10"/>
          <p:cNvSpPr txBox="true"/>
          <p:nvPr/>
        </p:nvSpPr>
        <p:spPr>
          <a:xfrm rot="0">
            <a:off x="1234440" y="2047875"/>
            <a:ext cx="7955280" cy="819150"/>
          </a:xfrm>
          <a:prstGeom prst="rect">
            <a:avLst/>
          </a:prstGeom>
        </p:spPr>
        <p:txBody>
          <a:bodyPr anchor="t" rtlCol="false" tIns="0" lIns="0" bIns="0" rIns="0">
            <a:spAutoFit/>
          </a:bodyPr>
          <a:lstStyle/>
          <a:p>
            <a:pPr algn="l">
              <a:lnSpc>
                <a:spcPts val="6480"/>
              </a:lnSpc>
            </a:pPr>
            <a:r>
              <a:rPr lang="en-US" sz="5400" b="true">
                <a:solidFill>
                  <a:srgbClr val="203238"/>
                </a:solidFill>
                <a:latin typeface="Noto Sans Bold"/>
                <a:ea typeface="Noto Sans Bold"/>
                <a:cs typeface="Noto Sans Bold"/>
                <a:sym typeface="Noto Sans Bold"/>
              </a:rPr>
              <a:t>프로젝트 소감</a:t>
            </a:r>
          </a:p>
        </p:txBody>
      </p:sp>
      <p:sp>
        <p:nvSpPr>
          <p:cNvPr name="TextBox 11" id="11"/>
          <p:cNvSpPr txBox="true"/>
          <p:nvPr/>
        </p:nvSpPr>
        <p:spPr>
          <a:xfrm rot="0">
            <a:off x="1234440" y="3499485"/>
            <a:ext cx="7955280" cy="1804035"/>
          </a:xfrm>
          <a:prstGeom prst="rect">
            <a:avLst/>
          </a:prstGeom>
        </p:spPr>
        <p:txBody>
          <a:bodyPr anchor="t" rtlCol="false" tIns="0" lIns="0" bIns="0" rIns="0">
            <a:spAutoFit/>
          </a:bodyPr>
          <a:lstStyle/>
          <a:p>
            <a:pPr algn="l">
              <a:lnSpc>
                <a:spcPts val="3600"/>
              </a:lnSpc>
              <a:spcBef>
                <a:spcPct val="0"/>
              </a:spcBef>
            </a:pPr>
            <a:r>
              <a:rPr lang="en-US" sz="2400" strike="noStrike" u="none">
                <a:solidFill>
                  <a:srgbClr val="45545A"/>
                </a:solidFill>
                <a:latin typeface="Noto Sans"/>
                <a:ea typeface="Noto Sans"/>
                <a:cs typeface="Noto Sans"/>
                <a:sym typeface="Noto Sans"/>
              </a:rPr>
              <a:t>01  요구사항 검증 결과</a:t>
            </a:r>
          </a:p>
          <a:p>
            <a:pPr algn="l">
              <a:lnSpc>
                <a:spcPts val="3600"/>
              </a:lnSpc>
              <a:spcBef>
                <a:spcPct val="0"/>
              </a:spcBef>
            </a:pPr>
            <a:r>
              <a:rPr lang="en-US" sz="2400" strike="noStrike" u="none">
                <a:solidFill>
                  <a:srgbClr val="45545A"/>
                </a:solidFill>
                <a:latin typeface="Noto Sans"/>
                <a:ea typeface="Noto Sans"/>
                <a:cs typeface="Noto Sans"/>
                <a:sym typeface="Noto Sans"/>
              </a:rPr>
              <a:t>02  기대 효과</a:t>
            </a:r>
          </a:p>
          <a:p>
            <a:pPr algn="l">
              <a:lnSpc>
                <a:spcPts val="3600"/>
              </a:lnSpc>
              <a:spcBef>
                <a:spcPct val="0"/>
              </a:spcBef>
            </a:pPr>
            <a:r>
              <a:rPr lang="en-US" sz="2400" strike="noStrike" u="none">
                <a:solidFill>
                  <a:srgbClr val="45545A"/>
                </a:solidFill>
                <a:latin typeface="Noto Sans"/>
                <a:ea typeface="Noto Sans"/>
                <a:cs typeface="Noto Sans"/>
                <a:sym typeface="Noto Sans"/>
              </a:rPr>
              <a:t>03  한계점과 개선 방향</a:t>
            </a:r>
          </a:p>
          <a:p>
            <a:pPr algn="l">
              <a:lnSpc>
                <a:spcPts val="3600"/>
              </a:lnSpc>
              <a:spcBef>
                <a:spcPct val="0"/>
              </a:spcBef>
            </a:pPr>
            <a:r>
              <a:rPr lang="en-US" sz="2400" strike="noStrike" u="none">
                <a:solidFill>
                  <a:srgbClr val="45545A"/>
                </a:solidFill>
                <a:latin typeface="Noto Sans"/>
                <a:ea typeface="Noto Sans"/>
                <a:cs typeface="Noto Sans"/>
                <a:sym typeface="Noto Sans"/>
              </a:rPr>
              <a:t>04  팀원 소감</a:t>
            </a:r>
          </a:p>
        </p:txBody>
      </p:sp>
      <p:grpSp>
        <p:nvGrpSpPr>
          <p:cNvPr name="Group 12" id="12"/>
          <p:cNvGrpSpPr/>
          <p:nvPr/>
        </p:nvGrpSpPr>
        <p:grpSpPr>
          <a:xfrm rot="0">
            <a:off x="12384195" y="9200483"/>
            <a:ext cx="5508498" cy="856298"/>
            <a:chOff x="0" y="0"/>
            <a:chExt cx="7344664" cy="1141730"/>
          </a:xfrm>
        </p:grpSpPr>
        <p:sp>
          <p:nvSpPr>
            <p:cNvPr name="Freeform 13" id="13"/>
            <p:cNvSpPr/>
            <p:nvPr/>
          </p:nvSpPr>
          <p:spPr>
            <a:xfrm flipH="false" flipV="false" rot="0">
              <a:off x="0" y="0"/>
              <a:ext cx="7344664" cy="1141730"/>
            </a:xfrm>
            <a:custGeom>
              <a:avLst/>
              <a:gdLst/>
              <a:ahLst/>
              <a:cxnLst/>
              <a:rect r="r" b="b" t="t" l="l"/>
              <a:pathLst>
                <a:path h="1141730" w="7344664">
                  <a:moveTo>
                    <a:pt x="0" y="0"/>
                  </a:moveTo>
                  <a:lnTo>
                    <a:pt x="7344664" y="0"/>
                  </a:lnTo>
                  <a:lnTo>
                    <a:pt x="7344664" y="1141730"/>
                  </a:lnTo>
                  <a:lnTo>
                    <a:pt x="0" y="11417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4" id="14"/>
            <p:cNvGrpSpPr/>
            <p:nvPr/>
          </p:nvGrpSpPr>
          <p:grpSpPr>
            <a:xfrm rot="0">
              <a:off x="479425" y="241681"/>
              <a:ext cx="1977517" cy="658368"/>
              <a:chOff x="0" y="0"/>
              <a:chExt cx="1977517" cy="658368"/>
            </a:xfrm>
          </p:grpSpPr>
          <p:sp>
            <p:nvSpPr>
              <p:cNvPr name="Freeform 15" id="15" descr="C:\Users\abab9\AppData\Local\Temp\claude\C--Users-abab9-Desktop-Shiftlink\03368683-632b-4bf6-b41d-988cf517f7bf\scratchpad\build\logos\knda.png"/>
              <p:cNvSpPr/>
              <p:nvPr/>
            </p:nvSpPr>
            <p:spPr>
              <a:xfrm flipH="false" flipV="false" rot="0">
                <a:off x="0" y="0"/>
                <a:ext cx="1977517" cy="658368"/>
              </a:xfrm>
              <a:custGeom>
                <a:avLst/>
                <a:gdLst/>
                <a:ahLst/>
                <a:cxnLst/>
                <a:rect r="r" b="b" t="t" l="l"/>
                <a:pathLst>
                  <a:path h="658368" w="1977517">
                    <a:moveTo>
                      <a:pt x="0" y="0"/>
                    </a:moveTo>
                    <a:lnTo>
                      <a:pt x="1977517" y="0"/>
                    </a:lnTo>
                    <a:lnTo>
                      <a:pt x="1977517" y="658368"/>
                    </a:lnTo>
                    <a:lnTo>
                      <a:pt x="0" y="658368"/>
                    </a:lnTo>
                    <a:lnTo>
                      <a:pt x="0" y="0"/>
                    </a:lnTo>
                    <a:close/>
                  </a:path>
                </a:pathLst>
              </a:custGeom>
              <a:blipFill>
                <a:blip r:embed="rId7"/>
                <a:stretch>
                  <a:fillRect l="0" t="-262" r="0" b="-264"/>
                </a:stretch>
              </a:blipFill>
            </p:spPr>
          </p:sp>
        </p:grpSp>
        <p:grpSp>
          <p:nvGrpSpPr>
            <p:cNvPr name="Group 16" id="16"/>
            <p:cNvGrpSpPr/>
            <p:nvPr/>
          </p:nvGrpSpPr>
          <p:grpSpPr>
            <a:xfrm rot="0">
              <a:off x="2914129" y="387985"/>
              <a:ext cx="1398905" cy="365760"/>
              <a:chOff x="0" y="0"/>
              <a:chExt cx="1398905" cy="365760"/>
            </a:xfrm>
          </p:grpSpPr>
          <p:sp>
            <p:nvSpPr>
              <p:cNvPr name="Freeform 17" id="17" descr="C:\Users\abab9\AppData\Local\Temp\claude\C--Users-abab9-Desktop-Shiftlink\03368683-632b-4bf6-b41d-988cf517f7bf\scratchpad\build\logos\posco.png"/>
              <p:cNvSpPr/>
              <p:nvPr/>
            </p:nvSpPr>
            <p:spPr>
              <a:xfrm flipH="false" flipV="false" rot="0">
                <a:off x="0" y="0"/>
                <a:ext cx="1398905" cy="365760"/>
              </a:xfrm>
              <a:custGeom>
                <a:avLst/>
                <a:gdLst/>
                <a:ahLst/>
                <a:cxnLst/>
                <a:rect r="r" b="b" t="t" l="l"/>
                <a:pathLst>
                  <a:path h="365760" w="1398905">
                    <a:moveTo>
                      <a:pt x="0" y="0"/>
                    </a:moveTo>
                    <a:lnTo>
                      <a:pt x="1398905" y="0"/>
                    </a:lnTo>
                    <a:lnTo>
                      <a:pt x="1398905" y="365760"/>
                    </a:lnTo>
                    <a:lnTo>
                      <a:pt x="0" y="365760"/>
                    </a:lnTo>
                    <a:lnTo>
                      <a:pt x="0" y="0"/>
                    </a:lnTo>
                    <a:close/>
                  </a:path>
                </a:pathLst>
              </a:custGeom>
              <a:blipFill>
                <a:blip r:embed="rId8"/>
                <a:stretch>
                  <a:fillRect l="-32" t="0" r="-32" b="0"/>
                </a:stretch>
              </a:blipFill>
            </p:spPr>
          </p:sp>
        </p:grpSp>
        <p:grpSp>
          <p:nvGrpSpPr>
            <p:cNvPr name="Group 18" id="18"/>
            <p:cNvGrpSpPr/>
            <p:nvPr/>
          </p:nvGrpSpPr>
          <p:grpSpPr>
            <a:xfrm rot="0">
              <a:off x="4770247" y="387985"/>
              <a:ext cx="2094992" cy="365760"/>
              <a:chOff x="0" y="0"/>
              <a:chExt cx="2094992" cy="365760"/>
            </a:xfrm>
          </p:grpSpPr>
          <p:sp>
            <p:nvSpPr>
              <p:cNvPr name="Freeform 19" id="19" descr="C:\Users\abab9\AppData\Local\Temp\claude\C--Users-abab9-Desktop-Shiftlink\03368683-632b-4bf6-b41d-988cf517f7bf\scratchpad\build\logos\nextsurfer.png"/>
              <p:cNvSpPr/>
              <p:nvPr/>
            </p:nvSpPr>
            <p:spPr>
              <a:xfrm flipH="false" flipV="false" rot="0">
                <a:off x="0" y="0"/>
                <a:ext cx="2094992" cy="365760"/>
              </a:xfrm>
              <a:custGeom>
                <a:avLst/>
                <a:gdLst/>
                <a:ahLst/>
                <a:cxnLst/>
                <a:rect r="r" b="b" t="t" l="l"/>
                <a:pathLst>
                  <a:path h="365760" w="2094992">
                    <a:moveTo>
                      <a:pt x="0" y="0"/>
                    </a:moveTo>
                    <a:lnTo>
                      <a:pt x="2094992" y="0"/>
                    </a:lnTo>
                    <a:lnTo>
                      <a:pt x="2094992" y="365760"/>
                    </a:lnTo>
                    <a:lnTo>
                      <a:pt x="0" y="365760"/>
                    </a:lnTo>
                    <a:lnTo>
                      <a:pt x="0" y="0"/>
                    </a:lnTo>
                    <a:close/>
                  </a:path>
                </a:pathLst>
              </a:custGeom>
              <a:blipFill>
                <a:blip r:embed="rId9"/>
                <a:stretch>
                  <a:fillRect l="0" t="-118" r="0" b="-118"/>
                </a:stretch>
              </a:blipFill>
            </p:spPr>
          </p:sp>
        </p:gr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3050" r="0" b="-333050"/>
              </a:stretch>
            </a:blipFill>
          </p:spPr>
        </p:sp>
        <p:sp>
          <p:nvSpPr>
            <p:cNvPr name="TextBox 6" id="6"/>
            <p:cNvSpPr txBox="true"/>
            <p:nvPr/>
          </p:nvSpPr>
          <p:spPr>
            <a:xfrm>
              <a:off x="0" y="-9525"/>
              <a:ext cx="10972800" cy="567690"/>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7" id="7"/>
          <p:cNvGrpSpPr/>
          <p:nvPr/>
        </p:nvGrpSpPr>
        <p:grpSpPr>
          <a:xfrm rot="0">
            <a:off x="822960" y="438912"/>
            <a:ext cx="4114800" cy="384048"/>
            <a:chOff x="0" y="0"/>
            <a:chExt cx="5486400" cy="512064"/>
          </a:xfrm>
        </p:grpSpPr>
        <p:sp>
          <p:nvSpPr>
            <p:cNvPr name="Freeform 8" id="8"/>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3">
                <a:alphaModFix amt="0"/>
              </a:blip>
              <a:stretch>
                <a:fillRect l="0" t="-158623" r="0" b="-158623"/>
              </a:stretch>
            </a:blipFill>
          </p:spPr>
        </p:sp>
      </p:grpSp>
      <p:grpSp>
        <p:nvGrpSpPr>
          <p:cNvPr name="Group 9" id="9"/>
          <p:cNvGrpSpPr/>
          <p:nvPr/>
        </p:nvGrpSpPr>
        <p:grpSpPr>
          <a:xfrm rot="0">
            <a:off x="822960" y="438912"/>
            <a:ext cx="4114800" cy="384048"/>
            <a:chOff x="0" y="0"/>
            <a:chExt cx="5486400" cy="512064"/>
          </a:xfrm>
        </p:grpSpPr>
        <p:sp>
          <p:nvSpPr>
            <p:cNvPr name="Freeform 10" id="10"/>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4">
                <a:alphaModFix amt="0"/>
              </a:blip>
              <a:stretch>
                <a:fillRect l="0" t="-158768" r="0" b="-158768"/>
              </a:stretch>
            </a:blipFill>
          </p:spPr>
        </p:sp>
        <p:sp>
          <p:nvSpPr>
            <p:cNvPr name="TextBox 11" id="11"/>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05  성과와 회고</a:t>
              </a:r>
            </a:p>
          </p:txBody>
        </p:sp>
      </p:grpSp>
      <p:grpSp>
        <p:nvGrpSpPr>
          <p:cNvPr name="Group 12" id="12"/>
          <p:cNvGrpSpPr/>
          <p:nvPr/>
        </p:nvGrpSpPr>
        <p:grpSpPr>
          <a:xfrm rot="0">
            <a:off x="822960" y="822960"/>
            <a:ext cx="16641623" cy="850392"/>
            <a:chOff x="0" y="0"/>
            <a:chExt cx="22188830" cy="1133856"/>
          </a:xfrm>
        </p:grpSpPr>
        <p:sp>
          <p:nvSpPr>
            <p:cNvPr name="Freeform 13" id="13"/>
            <p:cNvSpPr/>
            <p:nvPr/>
          </p:nvSpPr>
          <p:spPr>
            <a:xfrm flipH="false" flipV="false" rot="0">
              <a:off x="0" y="0"/>
              <a:ext cx="22188805" cy="1133856"/>
            </a:xfrm>
            <a:custGeom>
              <a:avLst/>
              <a:gdLst/>
              <a:ahLst/>
              <a:cxnLst/>
              <a:rect r="r" b="b" t="t" l="l"/>
              <a:pathLst>
                <a:path h="1133856" w="22188805">
                  <a:moveTo>
                    <a:pt x="0" y="0"/>
                  </a:moveTo>
                  <a:lnTo>
                    <a:pt x="22188805" y="0"/>
                  </a:lnTo>
                  <a:lnTo>
                    <a:pt x="22188805" y="1133856"/>
                  </a:lnTo>
                  <a:lnTo>
                    <a:pt x="0" y="1133856"/>
                  </a:lnTo>
                  <a:close/>
                </a:path>
              </a:pathLst>
            </a:custGeom>
            <a:blipFill>
              <a:blip r:embed="rId3">
                <a:alphaModFix amt="0"/>
              </a:blip>
              <a:stretch>
                <a:fillRect l="0" t="-331043" r="0" b="-331045"/>
              </a:stretch>
            </a:blipFill>
          </p:spPr>
        </p:sp>
      </p:grpSp>
      <p:grpSp>
        <p:nvGrpSpPr>
          <p:cNvPr name="Group 14" id="14"/>
          <p:cNvGrpSpPr/>
          <p:nvPr/>
        </p:nvGrpSpPr>
        <p:grpSpPr>
          <a:xfrm rot="0">
            <a:off x="822960" y="822960"/>
            <a:ext cx="16642080" cy="850392"/>
            <a:chOff x="0" y="0"/>
            <a:chExt cx="22189440" cy="1133856"/>
          </a:xfrm>
        </p:grpSpPr>
        <p:sp>
          <p:nvSpPr>
            <p:cNvPr name="Freeform 15" id="15"/>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4">
                <a:alphaModFix amt="0"/>
              </a:blip>
              <a:stretch>
                <a:fillRect l="0" t="-331309" r="2" b="-331309"/>
              </a:stretch>
            </a:blipFill>
          </p:spPr>
        </p:sp>
        <p:sp>
          <p:nvSpPr>
            <p:cNvPr name="TextBox 16" id="16"/>
            <p:cNvSpPr txBox="true"/>
            <p:nvPr/>
          </p:nvSpPr>
          <p:spPr>
            <a:xfrm>
              <a:off x="0" y="-9525"/>
              <a:ext cx="22189440" cy="1143381"/>
            </a:xfrm>
            <a:prstGeom prst="rect">
              <a:avLst/>
            </a:prstGeom>
          </p:spPr>
          <p:txBody>
            <a:bodyPr anchor="ctr" rtlCol="false" tIns="0" lIns="0" bIns="0" rIns="0"/>
            <a:lstStyle/>
            <a:p>
              <a:pPr algn="l">
                <a:lnSpc>
                  <a:spcPts val="4500"/>
                </a:lnSpc>
              </a:pPr>
              <a:r>
                <a:rPr lang="en-US" sz="3750" b="true">
                  <a:solidFill>
                    <a:srgbClr val="203238"/>
                  </a:solidFill>
                  <a:latin typeface="Noto Sans Bold"/>
                  <a:ea typeface="Noto Sans Bold"/>
                  <a:cs typeface="Noto Sans Bold"/>
                  <a:sym typeface="Noto Sans Bold"/>
                </a:rPr>
                <a:t>01  요구사항 검증 결과</a:t>
              </a:r>
            </a:p>
          </p:txBody>
        </p:sp>
      </p:grpSp>
      <p:graphicFrame>
        <p:nvGraphicFramePr>
          <p:cNvPr name="Table 17" id="17"/>
          <p:cNvGraphicFramePr>
            <a:graphicFrameLocks noGrp="true"/>
          </p:cNvGraphicFramePr>
          <p:nvPr/>
        </p:nvGraphicFramePr>
        <p:xfrm>
          <a:off x="822960" y="2125980"/>
          <a:ext cx="16560800" cy="6477000"/>
        </p:xfrm>
        <a:graphic>
          <a:graphicData uri="http://schemas.openxmlformats.org/drawingml/2006/table">
            <a:tbl>
              <a:tblPr/>
              <a:tblGrid>
                <a:gridCol w="1138268"/>
                <a:gridCol w="5844544"/>
                <a:gridCol w="7632929"/>
                <a:gridCol w="1945059"/>
              </a:tblGrid>
              <a:tr h="647700">
                <a:tc>
                  <a:txBody>
                    <a:bodyPr anchor="t" rtlCol="false"/>
                    <a:lstStyle/>
                    <a:p>
                      <a:pPr algn="l">
                        <a:lnSpc>
                          <a:spcPts val="2430"/>
                        </a:lnSpc>
                        <a:defRPr/>
                      </a:pPr>
                      <a:r>
                        <a:rPr lang="en-US" sz="2025" b="true">
                          <a:solidFill>
                            <a:srgbClr val="FFFFFF"/>
                          </a:solidFill>
                          <a:latin typeface="Noto Sans Bold"/>
                          <a:ea typeface="Noto Sans Bold"/>
                          <a:cs typeface="Noto Sans Bold"/>
                          <a:sym typeface="Noto Sans Bold"/>
                        </a:rPr>
                        <a:t>ID</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1F6F63"/>
                    </a:solidFill>
                  </a:tcPr>
                </a:tc>
                <a:tc>
                  <a:txBody>
                    <a:bodyPr anchor="t" rtlCol="false"/>
                    <a:lstStyle/>
                    <a:p>
                      <a:pPr algn="l">
                        <a:lnSpc>
                          <a:spcPts val="2430"/>
                        </a:lnSpc>
                        <a:defRPr/>
                      </a:pPr>
                      <a:r>
                        <a:rPr lang="en-US" sz="2025" b="true">
                          <a:solidFill>
                            <a:srgbClr val="FFFFFF"/>
                          </a:solidFill>
                          <a:latin typeface="Noto Sans Bold"/>
                          <a:ea typeface="Noto Sans Bold"/>
                          <a:cs typeface="Noto Sans Bold"/>
                          <a:sym typeface="Noto Sans Bold"/>
                        </a:rPr>
                        <a:t>요구사항</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1F6F63"/>
                    </a:solidFill>
                  </a:tcPr>
                </a:tc>
                <a:tc>
                  <a:txBody>
                    <a:bodyPr anchor="t" rtlCol="false"/>
                    <a:lstStyle/>
                    <a:p>
                      <a:pPr algn="l">
                        <a:lnSpc>
                          <a:spcPts val="2430"/>
                        </a:lnSpc>
                        <a:defRPr/>
                      </a:pPr>
                      <a:r>
                        <a:rPr lang="en-US" sz="2025" b="true">
                          <a:solidFill>
                            <a:srgbClr val="FFFFFF"/>
                          </a:solidFill>
                          <a:latin typeface="Noto Sans Bold"/>
                          <a:ea typeface="Noto Sans Bold"/>
                          <a:cs typeface="Noto Sans Bold"/>
                          <a:sym typeface="Noto Sans Bold"/>
                        </a:rPr>
                        <a:t>결과</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1F6F63"/>
                    </a:solidFill>
                  </a:tcPr>
                </a:tc>
                <a:tc>
                  <a:txBody>
                    <a:bodyPr anchor="t" rtlCol="false"/>
                    <a:lstStyle/>
                    <a:p>
                      <a:pPr algn="l">
                        <a:lnSpc>
                          <a:spcPts val="2430"/>
                        </a:lnSpc>
                        <a:defRPr/>
                      </a:pPr>
                      <a:r>
                        <a:rPr lang="en-US" sz="2025" b="true">
                          <a:solidFill>
                            <a:srgbClr val="FFFFFF"/>
                          </a:solidFill>
                          <a:latin typeface="Noto Sans Bold"/>
                          <a:ea typeface="Noto Sans Bold"/>
                          <a:cs typeface="Noto Sans Bold"/>
                          <a:sym typeface="Noto Sans Bold"/>
                        </a:rPr>
                        <a:t>판정</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solidFill>
                      <a:srgbClr val="1F6F63"/>
                    </a:solidFill>
                  </a:tcPr>
                </a:tc>
              </a:tr>
              <a:tr h="647700">
                <a:tc>
                  <a:txBody>
                    <a:bodyPr anchor="t" rtlCol="false"/>
                    <a:lstStyle/>
                    <a:p>
                      <a:pPr algn="ctr">
                        <a:lnSpc>
                          <a:spcPts val="2430"/>
                        </a:lnSpc>
                        <a:defRPr/>
                      </a:pPr>
                      <a:r>
                        <a:rPr lang="en-US" sz="2025" b="true">
                          <a:solidFill>
                            <a:srgbClr val="1B2B2E"/>
                          </a:solidFill>
                          <a:latin typeface="Noto Sans Bold"/>
                          <a:ea typeface="Noto Sans Bold"/>
                          <a:cs typeface="Noto Sans Bold"/>
                          <a:sym typeface="Noto Sans Bold"/>
                        </a:rPr>
                        <a:t>R1</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a:lnSpc>
                          <a:spcPts val="2430"/>
                        </a:lnSpc>
                        <a:defRPr/>
                      </a:pPr>
                      <a:r>
                        <a:rPr lang="en-US" sz="2025">
                          <a:solidFill>
                            <a:srgbClr val="1B2B2E"/>
                          </a:solidFill>
                          <a:latin typeface="Noto Sans"/>
                          <a:ea typeface="Noto Sans"/>
                          <a:cs typeface="Noto Sans"/>
                          <a:sym typeface="Noto Sans"/>
                        </a:rPr>
                        <a:t>답변마다 근거 인용, 수치 날조 금지</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a:lnSpc>
                          <a:spcPts val="2430"/>
                        </a:lnSpc>
                        <a:defRPr/>
                      </a:pPr>
                      <a:r>
                        <a:rPr lang="en-US" sz="2025">
                          <a:solidFill>
                            <a:srgbClr val="1B2B2E"/>
                          </a:solidFill>
                          <a:latin typeface="Noto Sans"/>
                          <a:ea typeface="Noto Sans"/>
                          <a:cs typeface="Noto Sans"/>
                          <a:sym typeface="Noto Sans"/>
                        </a:rPr>
                        <a:t>근거 밖 숫자 0~1건 · 답변 충실도(RAGAS) 0.76 → 0.86</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ctr">
                        <a:lnSpc>
                          <a:spcPts val="2430"/>
                        </a:lnSpc>
                        <a:defRPr/>
                      </a:pPr>
                      <a:r>
                        <a:rPr lang="en-US" sz="2025" b="true">
                          <a:solidFill>
                            <a:srgbClr val="1F6F63"/>
                          </a:solidFill>
                          <a:latin typeface="Noto Sans Bold"/>
                          <a:ea typeface="Noto Sans Bold"/>
                          <a:cs typeface="Noto Sans Bold"/>
                          <a:sym typeface="Noto Sans Bold"/>
                        </a:rPr>
                        <a:t>충족</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r>
              <a:tr h="647700">
                <a:tc>
                  <a:txBody>
                    <a:bodyPr anchor="t" rtlCol="false"/>
                    <a:lstStyle/>
                    <a:p>
                      <a:pPr algn="ctr">
                        <a:lnSpc>
                          <a:spcPts val="2430"/>
                        </a:lnSpc>
                        <a:defRPr/>
                      </a:pPr>
                      <a:r>
                        <a:rPr lang="en-US" sz="2025" b="true">
                          <a:solidFill>
                            <a:srgbClr val="1B2B2E"/>
                          </a:solidFill>
                          <a:latin typeface="Noto Sans Bold"/>
                          <a:ea typeface="Noto Sans Bold"/>
                          <a:cs typeface="Noto Sans Bold"/>
                          <a:sym typeface="Noto Sans Bold"/>
                        </a:rPr>
                        <a:t>R2</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a:lnSpc>
                          <a:spcPts val="2430"/>
                        </a:lnSpc>
                        <a:defRPr/>
                      </a:pPr>
                      <a:r>
                        <a:rPr lang="en-US" sz="2025">
                          <a:solidFill>
                            <a:srgbClr val="1B2B2E"/>
                          </a:solidFill>
                          <a:latin typeface="Noto Sans"/>
                          <a:ea typeface="Noto Sans"/>
                          <a:cs typeface="Noto Sans"/>
                          <a:sym typeface="Noto Sans"/>
                        </a:rPr>
                        <a:t>답 없는 질문 거절</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a:lnSpc>
                          <a:spcPts val="2430"/>
                        </a:lnSpc>
                        <a:defRPr/>
                      </a:pPr>
                      <a:r>
                        <a:rPr lang="en-US" sz="2025">
                          <a:solidFill>
                            <a:srgbClr val="1B2B2E"/>
                          </a:solidFill>
                          <a:latin typeface="Noto Sans"/>
                          <a:ea typeface="Noto Sans"/>
                          <a:cs typeface="Noto Sans"/>
                          <a:sym typeface="Noto Sans"/>
                        </a:rPr>
                        <a:t>홀드아웃 7/8 · 추가 테스트 17/19 거절</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ctr">
                        <a:lnSpc>
                          <a:spcPts val="2430"/>
                        </a:lnSpc>
                        <a:defRPr/>
                      </a:pPr>
                      <a:r>
                        <a:rPr lang="en-US" sz="2025" b="true">
                          <a:solidFill>
                            <a:srgbClr val="1F6F63"/>
                          </a:solidFill>
                          <a:latin typeface="Noto Sans Bold"/>
                          <a:ea typeface="Noto Sans Bold"/>
                          <a:cs typeface="Noto Sans Bold"/>
                          <a:sym typeface="Noto Sans Bold"/>
                        </a:rPr>
                        <a:t>충족</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r>
              <a:tr h="647700">
                <a:tc>
                  <a:txBody>
                    <a:bodyPr anchor="t" rtlCol="false"/>
                    <a:lstStyle/>
                    <a:p>
                      <a:pPr algn="ctr">
                        <a:lnSpc>
                          <a:spcPts val="2430"/>
                        </a:lnSpc>
                        <a:defRPr/>
                      </a:pPr>
                      <a:r>
                        <a:rPr lang="en-US" sz="2025" b="true">
                          <a:solidFill>
                            <a:srgbClr val="1B2B2E"/>
                          </a:solidFill>
                          <a:latin typeface="Noto Sans Bold"/>
                          <a:ea typeface="Noto Sans Bold"/>
                          <a:cs typeface="Noto Sans Bold"/>
                          <a:sym typeface="Noto Sans Bold"/>
                        </a:rPr>
                        <a:t>R3</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a:lnSpc>
                          <a:spcPts val="2430"/>
                        </a:lnSpc>
                        <a:defRPr/>
                      </a:pPr>
                      <a:r>
                        <a:rPr lang="en-US" sz="2025">
                          <a:solidFill>
                            <a:srgbClr val="1B2B2E"/>
                          </a:solidFill>
                          <a:latin typeface="Noto Sans"/>
                          <a:ea typeface="Noto Sans"/>
                          <a:cs typeface="Noto Sans"/>
                          <a:sym typeface="Noto Sans"/>
                        </a:rPr>
                        <a:t>중대 안전 오류 0건</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a:lnSpc>
                          <a:spcPts val="2430"/>
                        </a:lnSpc>
                        <a:defRPr/>
                      </a:pPr>
                      <a:r>
                        <a:rPr lang="en-US" sz="2025">
                          <a:solidFill>
                            <a:srgbClr val="1B2B2E"/>
                          </a:solidFill>
                          <a:latin typeface="Noto Sans"/>
                          <a:ea typeface="Noto Sans"/>
                          <a:cs typeface="Noto Sans"/>
                          <a:sym typeface="Noto Sans"/>
                        </a:rPr>
                        <a:t>추적 대상 4유형 모두 0건</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ctr">
                        <a:lnSpc>
                          <a:spcPts val="2430"/>
                        </a:lnSpc>
                        <a:defRPr/>
                      </a:pPr>
                      <a:r>
                        <a:rPr lang="en-US" sz="2025" b="true">
                          <a:solidFill>
                            <a:srgbClr val="1F6F63"/>
                          </a:solidFill>
                          <a:latin typeface="Noto Sans Bold"/>
                          <a:ea typeface="Noto Sans Bold"/>
                          <a:cs typeface="Noto Sans Bold"/>
                          <a:sym typeface="Noto Sans Bold"/>
                        </a:rPr>
                        <a:t>충족</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r>
              <a:tr h="647700">
                <a:tc>
                  <a:txBody>
                    <a:bodyPr anchor="t" rtlCol="false"/>
                    <a:lstStyle/>
                    <a:p>
                      <a:pPr algn="ctr">
                        <a:lnSpc>
                          <a:spcPts val="2430"/>
                        </a:lnSpc>
                        <a:defRPr/>
                      </a:pPr>
                      <a:r>
                        <a:rPr lang="en-US" sz="2025" b="true">
                          <a:solidFill>
                            <a:srgbClr val="1B2B2E"/>
                          </a:solidFill>
                          <a:latin typeface="Noto Sans Bold"/>
                          <a:ea typeface="Noto Sans Bold"/>
                          <a:cs typeface="Noto Sans Bold"/>
                          <a:sym typeface="Noto Sans Bold"/>
                        </a:rPr>
                        <a:t>R4</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a:lnSpc>
                          <a:spcPts val="2430"/>
                        </a:lnSpc>
                        <a:defRPr/>
                      </a:pPr>
                      <a:r>
                        <a:rPr lang="en-US" sz="2025">
                          <a:solidFill>
                            <a:srgbClr val="1B2B2E"/>
                          </a:solidFill>
                          <a:latin typeface="Noto Sans"/>
                          <a:ea typeface="Noto Sans"/>
                          <a:cs typeface="Noto Sans"/>
                          <a:sym typeface="Noto Sans"/>
                        </a:rPr>
                        <a:t>응답 p95 10초 이하</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a:lnSpc>
                          <a:spcPts val="2430"/>
                        </a:lnSpc>
                        <a:defRPr/>
                      </a:pPr>
                      <a:r>
                        <a:rPr lang="en-US" sz="2025">
                          <a:solidFill>
                            <a:srgbClr val="1B2B2E"/>
                          </a:solidFill>
                          <a:latin typeface="Noto Sans"/>
                          <a:ea typeface="Noto Sans"/>
                          <a:cs typeface="Noto Sans"/>
                          <a:sym typeface="Noto Sans"/>
                        </a:rPr>
                        <a:t>최종 구성 10.5초</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ctr">
                        <a:lnSpc>
                          <a:spcPts val="2430"/>
                        </a:lnSpc>
                        <a:defRPr/>
                      </a:pPr>
                      <a:r>
                        <a:rPr lang="en-US" sz="2025" b="true">
                          <a:solidFill>
                            <a:srgbClr val="D9433A"/>
                          </a:solidFill>
                          <a:latin typeface="Noto Sans Bold"/>
                          <a:ea typeface="Noto Sans Bold"/>
                          <a:cs typeface="Noto Sans Bold"/>
                          <a:sym typeface="Noto Sans Bold"/>
                        </a:rPr>
                        <a:t>미충족</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r>
              <a:tr h="647700">
                <a:tc>
                  <a:txBody>
                    <a:bodyPr anchor="t" rtlCol="false"/>
                    <a:lstStyle/>
                    <a:p>
                      <a:pPr algn="ctr">
                        <a:lnSpc>
                          <a:spcPts val="2430"/>
                        </a:lnSpc>
                        <a:defRPr/>
                      </a:pPr>
                      <a:r>
                        <a:rPr lang="en-US" sz="2025" b="true">
                          <a:solidFill>
                            <a:srgbClr val="1B2B2E"/>
                          </a:solidFill>
                          <a:latin typeface="Noto Sans Bold"/>
                          <a:ea typeface="Noto Sans Bold"/>
                          <a:cs typeface="Noto Sans Bold"/>
                          <a:sym typeface="Noto Sans Bold"/>
                        </a:rPr>
                        <a:t>R5</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a:lnSpc>
                          <a:spcPts val="2430"/>
                        </a:lnSpc>
                        <a:defRPr/>
                      </a:pPr>
                      <a:r>
                        <a:rPr lang="en-US" sz="2025">
                          <a:solidFill>
                            <a:srgbClr val="1B2B2E"/>
                          </a:solidFill>
                          <a:latin typeface="Noto Sans"/>
                          <a:ea typeface="Noto Sans"/>
                          <a:cs typeface="Noto Sans"/>
                          <a:sym typeface="Noto Sans"/>
                        </a:rPr>
                        <a:t>여유 메모리 1.0GiB 이상</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a:lnSpc>
                          <a:spcPts val="2430"/>
                        </a:lnSpc>
                        <a:defRPr/>
                      </a:pPr>
                      <a:r>
                        <a:rPr lang="en-US" sz="2025">
                          <a:solidFill>
                            <a:srgbClr val="1B2B2E"/>
                          </a:solidFill>
                          <a:latin typeface="Noto Sans"/>
                          <a:ea typeface="Noto Sans"/>
                          <a:cs typeface="Noto Sans"/>
                          <a:sym typeface="Noto Sans"/>
                        </a:rPr>
                        <a:t>최저 1,035MiB · 메모리 부족 종료 0건</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ctr">
                        <a:lnSpc>
                          <a:spcPts val="2430"/>
                        </a:lnSpc>
                        <a:defRPr/>
                      </a:pPr>
                      <a:r>
                        <a:rPr lang="en-US" sz="2025" b="true">
                          <a:solidFill>
                            <a:srgbClr val="1F6F63"/>
                          </a:solidFill>
                          <a:latin typeface="Noto Sans Bold"/>
                          <a:ea typeface="Noto Sans Bold"/>
                          <a:cs typeface="Noto Sans Bold"/>
                          <a:sym typeface="Noto Sans Bold"/>
                        </a:rPr>
                        <a:t>충족</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r>
              <a:tr h="647700">
                <a:tc>
                  <a:txBody>
                    <a:bodyPr anchor="t" rtlCol="false"/>
                    <a:lstStyle/>
                    <a:p>
                      <a:pPr algn="ctr">
                        <a:lnSpc>
                          <a:spcPts val="2430"/>
                        </a:lnSpc>
                        <a:defRPr/>
                      </a:pPr>
                      <a:r>
                        <a:rPr lang="en-US" sz="2025" b="true">
                          <a:solidFill>
                            <a:srgbClr val="1B2B2E"/>
                          </a:solidFill>
                          <a:latin typeface="Noto Sans Bold"/>
                          <a:ea typeface="Noto Sans Bold"/>
                          <a:cs typeface="Noto Sans Bold"/>
                          <a:sym typeface="Noto Sans Bold"/>
                        </a:rPr>
                        <a:t>R6</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a:lnSpc>
                          <a:spcPts val="2430"/>
                        </a:lnSpc>
                        <a:defRPr/>
                      </a:pPr>
                      <a:r>
                        <a:rPr lang="en-US" sz="2025">
                          <a:solidFill>
                            <a:srgbClr val="1B2B2E"/>
                          </a:solidFill>
                          <a:latin typeface="Noto Sans"/>
                          <a:ea typeface="Noto Sans"/>
                          <a:cs typeface="Noto Sans"/>
                          <a:sym typeface="Noto Sans"/>
                        </a:rPr>
                        <a:t>카드 밖 질문 대응</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a:lnSpc>
                          <a:spcPts val="2430"/>
                        </a:lnSpc>
                        <a:defRPr/>
                      </a:pPr>
                      <a:r>
                        <a:rPr lang="en-US" sz="2025">
                          <a:solidFill>
                            <a:srgbClr val="1B2B2E"/>
                          </a:solidFill>
                          <a:latin typeface="Noto Sans"/>
                          <a:ea typeface="Noto Sans"/>
                          <a:cs typeface="Noto Sans"/>
                          <a:sym typeface="Noto Sans"/>
                        </a:rPr>
                        <a:t>홀드아웃 답변 25/35 (초기 구성 6/35)</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ctr">
                        <a:lnSpc>
                          <a:spcPts val="2430"/>
                        </a:lnSpc>
                        <a:defRPr/>
                      </a:pPr>
                      <a:r>
                        <a:rPr lang="en-US" sz="2025" b="true">
                          <a:solidFill>
                            <a:srgbClr val="1F6F63"/>
                          </a:solidFill>
                          <a:latin typeface="Noto Sans Bold"/>
                          <a:ea typeface="Noto Sans Bold"/>
                          <a:cs typeface="Noto Sans Bold"/>
                          <a:sym typeface="Noto Sans Bold"/>
                        </a:rPr>
                        <a:t>충족</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r>
              <a:tr h="647700">
                <a:tc>
                  <a:txBody>
                    <a:bodyPr anchor="t" rtlCol="false"/>
                    <a:lstStyle/>
                    <a:p>
                      <a:pPr algn="ctr">
                        <a:lnSpc>
                          <a:spcPts val="2430"/>
                        </a:lnSpc>
                        <a:defRPr/>
                      </a:pPr>
                      <a:r>
                        <a:rPr lang="en-US" sz="2025" b="true">
                          <a:solidFill>
                            <a:srgbClr val="1B2B2E"/>
                          </a:solidFill>
                          <a:latin typeface="Noto Sans Bold"/>
                          <a:ea typeface="Noto Sans Bold"/>
                          <a:cs typeface="Noto Sans Bold"/>
                          <a:sym typeface="Noto Sans Bold"/>
                        </a:rPr>
                        <a:t>R7</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a:lnSpc>
                          <a:spcPts val="2430"/>
                        </a:lnSpc>
                        <a:defRPr/>
                      </a:pPr>
                      <a:r>
                        <a:rPr lang="en-US" sz="2025">
                          <a:solidFill>
                            <a:srgbClr val="1B2B2E"/>
                          </a:solidFill>
                          <a:latin typeface="Noto Sans"/>
                          <a:ea typeface="Noto Sans"/>
                          <a:cs typeface="Noto Sans"/>
                          <a:sym typeface="Noto Sans"/>
                        </a:rPr>
                        <a:t>현재 상태 반영, 모순 0건</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a:lnSpc>
                          <a:spcPts val="2430"/>
                        </a:lnSpc>
                        <a:defRPr/>
                      </a:pPr>
                      <a:r>
                        <a:rPr lang="en-US" sz="2025">
                          <a:solidFill>
                            <a:srgbClr val="1B2B2E"/>
                          </a:solidFill>
                          <a:latin typeface="Noto Sans"/>
                          <a:ea typeface="Noto Sans"/>
                          <a:cs typeface="Noto Sans"/>
                          <a:sym typeface="Noto Sans"/>
                        </a:rPr>
                        <a:t>현재값 표시 42/42 · 경보 구분 7/8 · 모순 0건</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ctr">
                        <a:lnSpc>
                          <a:spcPts val="2430"/>
                        </a:lnSpc>
                        <a:defRPr/>
                      </a:pPr>
                      <a:r>
                        <a:rPr lang="en-US" sz="2025" b="true">
                          <a:solidFill>
                            <a:srgbClr val="1F6F63"/>
                          </a:solidFill>
                          <a:latin typeface="Noto Sans Bold"/>
                          <a:ea typeface="Noto Sans Bold"/>
                          <a:cs typeface="Noto Sans Bold"/>
                          <a:sym typeface="Noto Sans Bold"/>
                        </a:rPr>
                        <a:t>충족</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r>
              <a:tr h="647700">
                <a:tc>
                  <a:txBody>
                    <a:bodyPr anchor="t" rtlCol="false"/>
                    <a:lstStyle/>
                    <a:p>
                      <a:pPr algn="ctr">
                        <a:lnSpc>
                          <a:spcPts val="2430"/>
                        </a:lnSpc>
                        <a:defRPr/>
                      </a:pPr>
                      <a:r>
                        <a:rPr lang="en-US" sz="2025" b="true">
                          <a:solidFill>
                            <a:srgbClr val="1B2B2E"/>
                          </a:solidFill>
                          <a:latin typeface="Noto Sans Bold"/>
                          <a:ea typeface="Noto Sans Bold"/>
                          <a:cs typeface="Noto Sans Bold"/>
                          <a:sym typeface="Noto Sans Bold"/>
                        </a:rPr>
                        <a:t>R8</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a:lnSpc>
                          <a:spcPts val="2430"/>
                        </a:lnSpc>
                        <a:defRPr/>
                      </a:pPr>
                      <a:r>
                        <a:rPr lang="en-US" sz="2025">
                          <a:solidFill>
                            <a:srgbClr val="1B2B2E"/>
                          </a:solidFill>
                          <a:latin typeface="Noto Sans"/>
                          <a:ea typeface="Noto Sans"/>
                          <a:cs typeface="Noto Sans"/>
                          <a:sym typeface="Noto Sans"/>
                        </a:rPr>
                        <a:t>지식 질문 정확도 유지</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a:lnSpc>
                          <a:spcPts val="2430"/>
                        </a:lnSpc>
                        <a:defRPr/>
                      </a:pPr>
                      <a:r>
                        <a:rPr lang="en-US" sz="2025">
                          <a:solidFill>
                            <a:srgbClr val="1B2B2E"/>
                          </a:solidFill>
                          <a:latin typeface="Noto Sans"/>
                          <a:ea typeface="Noto Sans"/>
                          <a:cs typeface="Noto Sans"/>
                          <a:sym typeface="Noto Sans"/>
                        </a:rPr>
                        <a:t>개발셋 60% (MES 전용 경로 44%에서 회복)</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ctr">
                        <a:lnSpc>
                          <a:spcPts val="2430"/>
                        </a:lnSpc>
                        <a:defRPr/>
                      </a:pPr>
                      <a:r>
                        <a:rPr lang="en-US" sz="2025" b="true">
                          <a:solidFill>
                            <a:srgbClr val="1F6F63"/>
                          </a:solidFill>
                          <a:latin typeface="Noto Sans Bold"/>
                          <a:ea typeface="Noto Sans Bold"/>
                          <a:cs typeface="Noto Sans Bold"/>
                          <a:sym typeface="Noto Sans Bold"/>
                        </a:rPr>
                        <a:t>충족</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r>
              <a:tr h="647700">
                <a:tc>
                  <a:txBody>
                    <a:bodyPr anchor="t" rtlCol="false"/>
                    <a:lstStyle/>
                    <a:p>
                      <a:pPr algn="ctr">
                        <a:lnSpc>
                          <a:spcPts val="2430"/>
                        </a:lnSpc>
                        <a:defRPr/>
                      </a:pPr>
                      <a:r>
                        <a:rPr lang="en-US" sz="2025" b="true">
                          <a:solidFill>
                            <a:srgbClr val="1B2B2E"/>
                          </a:solidFill>
                          <a:latin typeface="Noto Sans Bold"/>
                          <a:ea typeface="Noto Sans Bold"/>
                          <a:cs typeface="Noto Sans Bold"/>
                          <a:sym typeface="Noto Sans Bold"/>
                        </a:rPr>
                        <a:t>R9</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a:lnSpc>
                          <a:spcPts val="2430"/>
                        </a:lnSpc>
                        <a:defRPr/>
                      </a:pPr>
                      <a:r>
                        <a:rPr lang="en-US" sz="2025">
                          <a:solidFill>
                            <a:srgbClr val="1B2B2E"/>
                          </a:solidFill>
                          <a:latin typeface="Noto Sans"/>
                          <a:ea typeface="Noto Sans"/>
                          <a:cs typeface="Noto Sans"/>
                          <a:sym typeface="Noto Sans"/>
                        </a:rPr>
                        <a:t>블라인드 테스트 1회 측정</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l">
                        <a:lnSpc>
                          <a:spcPts val="2430"/>
                        </a:lnSpc>
                        <a:defRPr/>
                      </a:pPr>
                      <a:r>
                        <a:rPr lang="en-US" sz="2025">
                          <a:solidFill>
                            <a:srgbClr val="1B2B2E"/>
                          </a:solidFill>
                          <a:latin typeface="Noto Sans"/>
                          <a:ea typeface="Noto Sans"/>
                          <a:cs typeface="Noto Sans"/>
                          <a:sym typeface="Noto Sans"/>
                        </a:rPr>
                        <a:t>블라인드 테스트셋 올바른 대응 48%</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c>
                  <a:txBody>
                    <a:bodyPr anchor="t" rtlCol="false"/>
                    <a:lstStyle/>
                    <a:p>
                      <a:pPr algn="ctr">
                        <a:lnSpc>
                          <a:spcPts val="2430"/>
                        </a:lnSpc>
                        <a:defRPr/>
                      </a:pPr>
                      <a:r>
                        <a:rPr lang="en-US" sz="2025" b="true">
                          <a:solidFill>
                            <a:srgbClr val="D9433A"/>
                          </a:solidFill>
                          <a:latin typeface="Noto Sans Bold"/>
                          <a:ea typeface="Noto Sans Bold"/>
                          <a:cs typeface="Noto Sans Bold"/>
                          <a:sym typeface="Noto Sans Bold"/>
                        </a:rPr>
                        <a:t>과제</a:t>
                      </a:r>
                      <a:endParaRPr lang="en-US" sz="1100"/>
                    </a:p>
                  </a:txBody>
                  <a:tcPr marL="91440" marR="91440" marT="91440" marB="91440" anchor="ctr">
                    <a:lnL cmpd="sng" algn="ctr" cap="flat" w="12700">
                      <a:solidFill>
                        <a:srgbClr val="D7E0DE"/>
                      </a:solidFill>
                      <a:prstDash val="solid"/>
                      <a:round/>
                      <a:headEnd type="none" w="med" len="med"/>
                      <a:tailEnd type="none" w="med" len="med"/>
                    </a:lnL>
                    <a:lnR cmpd="sng" algn="ctr" cap="flat" w="12700">
                      <a:solidFill>
                        <a:srgbClr val="D7E0DE"/>
                      </a:solidFill>
                      <a:prstDash val="solid"/>
                      <a:round/>
                      <a:headEnd type="none" w="med" len="med"/>
                      <a:tailEnd type="none" w="med" len="med"/>
                    </a:lnR>
                    <a:lnT cmpd="sng" algn="ctr" cap="flat" w="12700">
                      <a:solidFill>
                        <a:srgbClr val="D7E0DE"/>
                      </a:solidFill>
                      <a:prstDash val="solid"/>
                      <a:round/>
                      <a:headEnd type="none" w="med" len="med"/>
                      <a:tailEnd type="none" w="med" len="med"/>
                    </a:lnT>
                    <a:lnB cmpd="sng" algn="ctr" cap="flat" w="12700">
                      <a:solidFill>
                        <a:srgbClr val="D7E0DE"/>
                      </a:solidFill>
                      <a:prstDash val="solid"/>
                      <a:round/>
                      <a:headEnd type="none" w="med" len="med"/>
                      <a:tailEnd type="none" w="med" len="med"/>
                    </a:lnB>
                  </a:tcPr>
                </a:tc>
              </a:tr>
            </a:tbl>
          </a:graphicData>
        </a:graphic>
      </p:graphicFrame>
      <p:grpSp>
        <p:nvGrpSpPr>
          <p:cNvPr name="Group 18" id="18"/>
          <p:cNvGrpSpPr/>
          <p:nvPr/>
        </p:nvGrpSpPr>
        <p:grpSpPr>
          <a:xfrm rot="0">
            <a:off x="785460" y="4721952"/>
            <a:ext cx="16587683" cy="733377"/>
            <a:chOff x="0" y="0"/>
            <a:chExt cx="22116910" cy="977836"/>
          </a:xfrm>
        </p:grpSpPr>
        <p:sp>
          <p:nvSpPr>
            <p:cNvPr name="Freeform 19" id="19"/>
            <p:cNvSpPr/>
            <p:nvPr/>
          </p:nvSpPr>
          <p:spPr>
            <a:xfrm flipH="false" flipV="false" rot="0">
              <a:off x="0" y="0"/>
              <a:ext cx="22116847" cy="977773"/>
            </a:xfrm>
            <a:custGeom>
              <a:avLst/>
              <a:gdLst/>
              <a:ahLst/>
              <a:cxnLst/>
              <a:rect r="r" b="b" t="t" l="l"/>
              <a:pathLst>
                <a:path h="977773" w="22116847">
                  <a:moveTo>
                    <a:pt x="0" y="0"/>
                  </a:moveTo>
                  <a:lnTo>
                    <a:pt x="22116847" y="0"/>
                  </a:lnTo>
                  <a:lnTo>
                    <a:pt x="22116847" y="977773"/>
                  </a:lnTo>
                  <a:lnTo>
                    <a:pt x="0" y="977773"/>
                  </a:lnTo>
                  <a:close/>
                </a:path>
              </a:pathLst>
            </a:custGeom>
            <a:blipFill>
              <a:blip r:embed="rId3">
                <a:alphaModFix amt="0"/>
              </a:blip>
              <a:stretch>
                <a:fillRect l="0" t="-390435" r="0" b="-390442"/>
              </a:stretch>
            </a:blipFill>
            <a:ln w="42862" cap="sq">
              <a:solidFill>
                <a:srgbClr val="D9433A"/>
              </a:solidFill>
              <a:prstDash val="solid"/>
              <a:miter/>
            </a:ln>
          </p:spPr>
        </p:sp>
      </p:grpSp>
      <p:grpSp>
        <p:nvGrpSpPr>
          <p:cNvPr name="Group 20" id="20"/>
          <p:cNvGrpSpPr/>
          <p:nvPr/>
        </p:nvGrpSpPr>
        <p:grpSpPr>
          <a:xfrm rot="0">
            <a:off x="785460" y="7937592"/>
            <a:ext cx="16598300" cy="733377"/>
            <a:chOff x="0" y="0"/>
            <a:chExt cx="22131067" cy="977836"/>
          </a:xfrm>
        </p:grpSpPr>
        <p:sp>
          <p:nvSpPr>
            <p:cNvPr name="Freeform 21" id="21"/>
            <p:cNvSpPr/>
            <p:nvPr/>
          </p:nvSpPr>
          <p:spPr>
            <a:xfrm flipH="false" flipV="false" rot="0">
              <a:off x="0" y="0"/>
              <a:ext cx="22131004" cy="977773"/>
            </a:xfrm>
            <a:custGeom>
              <a:avLst/>
              <a:gdLst/>
              <a:ahLst/>
              <a:cxnLst/>
              <a:rect r="r" b="b" t="t" l="l"/>
              <a:pathLst>
                <a:path h="977773" w="22131004">
                  <a:moveTo>
                    <a:pt x="0" y="0"/>
                  </a:moveTo>
                  <a:lnTo>
                    <a:pt x="22131004" y="0"/>
                  </a:lnTo>
                  <a:lnTo>
                    <a:pt x="22131004" y="977773"/>
                  </a:lnTo>
                  <a:lnTo>
                    <a:pt x="0" y="977773"/>
                  </a:lnTo>
                  <a:close/>
                </a:path>
              </a:pathLst>
            </a:custGeom>
            <a:blipFill>
              <a:blip r:embed="rId3">
                <a:alphaModFix amt="0"/>
              </a:blip>
              <a:stretch>
                <a:fillRect l="0" t="-390717" r="0" b="-390723"/>
              </a:stretch>
            </a:blipFill>
            <a:ln w="42862" cap="sq">
              <a:solidFill>
                <a:srgbClr val="D9433A"/>
              </a:solidFill>
              <a:prstDash val="solid"/>
              <a:miter/>
            </a:ln>
          </p:spPr>
        </p:sp>
      </p:grpSp>
      <p:sp>
        <p:nvSpPr>
          <p:cNvPr name="TextBox 22" id="22"/>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a:solidFill>
                  <a:srgbClr val="6B787A"/>
                </a:solidFill>
                <a:latin typeface="Noto Sans"/>
                <a:ea typeface="Noto Sans"/>
                <a:cs typeface="Noto Sans"/>
                <a:sym typeface="Noto Sans"/>
              </a:rPr>
              <a:t>35</a:t>
            </a:r>
          </a:p>
        </p:txBody>
      </p:sp>
      <p:grpSp>
        <p:nvGrpSpPr>
          <p:cNvPr name="Group 23" id="23"/>
          <p:cNvGrpSpPr/>
          <p:nvPr/>
        </p:nvGrpSpPr>
        <p:grpSpPr>
          <a:xfrm rot="0">
            <a:off x="5818352" y="9710928"/>
            <a:ext cx="4070985" cy="419672"/>
            <a:chOff x="0" y="0"/>
            <a:chExt cx="5427980" cy="559562"/>
          </a:xfrm>
        </p:grpSpPr>
        <p:grpSp>
          <p:nvGrpSpPr>
            <p:cNvPr name="Group 24" id="24"/>
            <p:cNvGrpSpPr/>
            <p:nvPr/>
          </p:nvGrpSpPr>
          <p:grpSpPr>
            <a:xfrm rot="0">
              <a:off x="0" y="0"/>
              <a:ext cx="1680845" cy="559562"/>
              <a:chOff x="0" y="0"/>
              <a:chExt cx="1680845" cy="559562"/>
            </a:xfrm>
          </p:grpSpPr>
          <p:sp>
            <p:nvSpPr>
              <p:cNvPr name="Freeform 25" id="25"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5"/>
                <a:stretch>
                  <a:fillRect l="0" t="-265" r="0" b="-267"/>
                </a:stretch>
              </a:blipFill>
            </p:spPr>
          </p:sp>
        </p:grpSp>
        <p:grpSp>
          <p:nvGrpSpPr>
            <p:cNvPr name="Group 26" id="26"/>
            <p:cNvGrpSpPr/>
            <p:nvPr/>
          </p:nvGrpSpPr>
          <p:grpSpPr>
            <a:xfrm rot="0">
              <a:off x="2069490" y="124358"/>
              <a:ext cx="1189101" cy="310896"/>
              <a:chOff x="0" y="0"/>
              <a:chExt cx="1189101" cy="310896"/>
            </a:xfrm>
          </p:grpSpPr>
          <p:sp>
            <p:nvSpPr>
              <p:cNvPr name="Freeform 27" id="27"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6"/>
                <a:stretch>
                  <a:fillRect l="-30" t="0" r="-32" b="0"/>
                </a:stretch>
              </a:blipFill>
            </p:spPr>
          </p:sp>
        </p:grpSp>
        <p:grpSp>
          <p:nvGrpSpPr>
            <p:cNvPr name="Group 28" id="28"/>
            <p:cNvGrpSpPr/>
            <p:nvPr/>
          </p:nvGrpSpPr>
          <p:grpSpPr>
            <a:xfrm rot="0">
              <a:off x="3647186" y="124358"/>
              <a:ext cx="1780794" cy="310896"/>
              <a:chOff x="0" y="0"/>
              <a:chExt cx="1780794" cy="310896"/>
            </a:xfrm>
          </p:grpSpPr>
          <p:sp>
            <p:nvSpPr>
              <p:cNvPr name="Freeform 29" id="29"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7"/>
                <a:stretch>
                  <a:fillRect l="0" t="-118" r="0" b="-122"/>
                </a:stretch>
              </a:blipFill>
            </p:spPr>
          </p:sp>
        </p:grpSp>
      </p:gr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3050" r="0" b="-333050"/>
              </a:stretch>
            </a:blipFill>
          </p:spPr>
        </p:sp>
        <p:sp>
          <p:nvSpPr>
            <p:cNvPr name="TextBox 6" id="6"/>
            <p:cNvSpPr txBox="true"/>
            <p:nvPr/>
          </p:nvSpPr>
          <p:spPr>
            <a:xfrm>
              <a:off x="0" y="-9525"/>
              <a:ext cx="10972800" cy="567690"/>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7" id="7"/>
          <p:cNvGrpSpPr/>
          <p:nvPr/>
        </p:nvGrpSpPr>
        <p:grpSpPr>
          <a:xfrm rot="0">
            <a:off x="822960" y="438912"/>
            <a:ext cx="4114800" cy="384048"/>
            <a:chOff x="0" y="0"/>
            <a:chExt cx="5486400" cy="512064"/>
          </a:xfrm>
        </p:grpSpPr>
        <p:sp>
          <p:nvSpPr>
            <p:cNvPr name="Freeform 8" id="8"/>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3">
                <a:alphaModFix amt="0"/>
              </a:blip>
              <a:stretch>
                <a:fillRect l="0" t="-158623" r="0" b="-158623"/>
              </a:stretch>
            </a:blipFill>
          </p:spPr>
        </p:sp>
      </p:grpSp>
      <p:grpSp>
        <p:nvGrpSpPr>
          <p:cNvPr name="Group 9" id="9"/>
          <p:cNvGrpSpPr/>
          <p:nvPr/>
        </p:nvGrpSpPr>
        <p:grpSpPr>
          <a:xfrm rot="0">
            <a:off x="822960" y="438912"/>
            <a:ext cx="4114800" cy="384048"/>
            <a:chOff x="0" y="0"/>
            <a:chExt cx="5486400" cy="512064"/>
          </a:xfrm>
        </p:grpSpPr>
        <p:sp>
          <p:nvSpPr>
            <p:cNvPr name="Freeform 10" id="10"/>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4">
                <a:alphaModFix amt="0"/>
              </a:blip>
              <a:stretch>
                <a:fillRect l="0" t="-158768" r="0" b="-158768"/>
              </a:stretch>
            </a:blipFill>
          </p:spPr>
        </p:sp>
        <p:sp>
          <p:nvSpPr>
            <p:cNvPr name="TextBox 11" id="11"/>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05  성과와 회고</a:t>
              </a:r>
            </a:p>
          </p:txBody>
        </p:sp>
      </p:grpSp>
      <p:grpSp>
        <p:nvGrpSpPr>
          <p:cNvPr name="Group 12" id="12"/>
          <p:cNvGrpSpPr/>
          <p:nvPr/>
        </p:nvGrpSpPr>
        <p:grpSpPr>
          <a:xfrm rot="0">
            <a:off x="822960" y="822960"/>
            <a:ext cx="16641623" cy="850392"/>
            <a:chOff x="0" y="0"/>
            <a:chExt cx="22188830" cy="1133856"/>
          </a:xfrm>
        </p:grpSpPr>
        <p:sp>
          <p:nvSpPr>
            <p:cNvPr name="Freeform 13" id="13"/>
            <p:cNvSpPr/>
            <p:nvPr/>
          </p:nvSpPr>
          <p:spPr>
            <a:xfrm flipH="false" flipV="false" rot="0">
              <a:off x="0" y="0"/>
              <a:ext cx="22188805" cy="1133856"/>
            </a:xfrm>
            <a:custGeom>
              <a:avLst/>
              <a:gdLst/>
              <a:ahLst/>
              <a:cxnLst/>
              <a:rect r="r" b="b" t="t" l="l"/>
              <a:pathLst>
                <a:path h="1133856" w="22188805">
                  <a:moveTo>
                    <a:pt x="0" y="0"/>
                  </a:moveTo>
                  <a:lnTo>
                    <a:pt x="22188805" y="0"/>
                  </a:lnTo>
                  <a:lnTo>
                    <a:pt x="22188805" y="1133856"/>
                  </a:lnTo>
                  <a:lnTo>
                    <a:pt x="0" y="1133856"/>
                  </a:lnTo>
                  <a:close/>
                </a:path>
              </a:pathLst>
            </a:custGeom>
            <a:blipFill>
              <a:blip r:embed="rId3">
                <a:alphaModFix amt="0"/>
              </a:blip>
              <a:stretch>
                <a:fillRect l="0" t="-331043" r="0" b="-331045"/>
              </a:stretch>
            </a:blipFill>
          </p:spPr>
        </p:sp>
      </p:grpSp>
      <p:grpSp>
        <p:nvGrpSpPr>
          <p:cNvPr name="Group 14" id="14"/>
          <p:cNvGrpSpPr/>
          <p:nvPr/>
        </p:nvGrpSpPr>
        <p:grpSpPr>
          <a:xfrm rot="0">
            <a:off x="822960" y="822960"/>
            <a:ext cx="16642080" cy="850392"/>
            <a:chOff x="0" y="0"/>
            <a:chExt cx="22189440" cy="1133856"/>
          </a:xfrm>
        </p:grpSpPr>
        <p:sp>
          <p:nvSpPr>
            <p:cNvPr name="Freeform 15" id="15"/>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4">
                <a:alphaModFix amt="0"/>
              </a:blip>
              <a:stretch>
                <a:fillRect l="0" t="-331309" r="2" b="-331309"/>
              </a:stretch>
            </a:blipFill>
          </p:spPr>
        </p:sp>
        <p:sp>
          <p:nvSpPr>
            <p:cNvPr name="TextBox 16" id="16"/>
            <p:cNvSpPr txBox="true"/>
            <p:nvPr/>
          </p:nvSpPr>
          <p:spPr>
            <a:xfrm>
              <a:off x="0" y="-9525"/>
              <a:ext cx="22189440" cy="1143381"/>
            </a:xfrm>
            <a:prstGeom prst="rect">
              <a:avLst/>
            </a:prstGeom>
          </p:spPr>
          <p:txBody>
            <a:bodyPr anchor="ctr" rtlCol="false" tIns="0" lIns="0" bIns="0" rIns="0"/>
            <a:lstStyle/>
            <a:p>
              <a:pPr algn="l">
                <a:lnSpc>
                  <a:spcPts val="4500"/>
                </a:lnSpc>
              </a:pPr>
              <a:r>
                <a:rPr lang="en-US" sz="3750" b="true">
                  <a:solidFill>
                    <a:srgbClr val="203238"/>
                  </a:solidFill>
                  <a:latin typeface="Noto Sans Bold"/>
                  <a:ea typeface="Noto Sans Bold"/>
                  <a:cs typeface="Noto Sans Bold"/>
                  <a:sym typeface="Noto Sans Bold"/>
                </a:rPr>
                <a:t>02  기대 효과</a:t>
              </a:r>
            </a:p>
          </p:txBody>
        </p:sp>
      </p:grpSp>
      <p:grpSp>
        <p:nvGrpSpPr>
          <p:cNvPr name="Group 17" id="17"/>
          <p:cNvGrpSpPr/>
          <p:nvPr/>
        </p:nvGrpSpPr>
        <p:grpSpPr>
          <a:xfrm rot="0">
            <a:off x="822960" y="1755648"/>
            <a:ext cx="16641623" cy="576072"/>
            <a:chOff x="0" y="0"/>
            <a:chExt cx="22188830" cy="768096"/>
          </a:xfrm>
        </p:grpSpPr>
        <p:sp>
          <p:nvSpPr>
            <p:cNvPr name="Freeform 18" id="18"/>
            <p:cNvSpPr/>
            <p:nvPr/>
          </p:nvSpPr>
          <p:spPr>
            <a:xfrm flipH="false" flipV="false" rot="0">
              <a:off x="0" y="0"/>
              <a:ext cx="22188805" cy="768096"/>
            </a:xfrm>
            <a:custGeom>
              <a:avLst/>
              <a:gdLst/>
              <a:ahLst/>
              <a:cxnLst/>
              <a:rect r="r" b="b" t="t" l="l"/>
              <a:pathLst>
                <a:path h="768096" w="22188805">
                  <a:moveTo>
                    <a:pt x="0" y="0"/>
                  </a:moveTo>
                  <a:lnTo>
                    <a:pt x="22188805" y="0"/>
                  </a:lnTo>
                  <a:lnTo>
                    <a:pt x="22188805" y="768096"/>
                  </a:lnTo>
                  <a:lnTo>
                    <a:pt x="0" y="768096"/>
                  </a:lnTo>
                  <a:close/>
                </a:path>
              </a:pathLst>
            </a:custGeom>
            <a:blipFill>
              <a:blip r:embed="rId3">
                <a:alphaModFix amt="0"/>
              </a:blip>
              <a:stretch>
                <a:fillRect l="0" t="-512493" r="0" b="-512495"/>
              </a:stretch>
            </a:blipFill>
          </p:spPr>
        </p:sp>
      </p:grpSp>
      <p:grpSp>
        <p:nvGrpSpPr>
          <p:cNvPr name="Group 19" id="19"/>
          <p:cNvGrpSpPr/>
          <p:nvPr/>
        </p:nvGrpSpPr>
        <p:grpSpPr>
          <a:xfrm rot="0">
            <a:off x="822960" y="1762125"/>
            <a:ext cx="16641623" cy="568928"/>
            <a:chOff x="0" y="0"/>
            <a:chExt cx="22188830" cy="758571"/>
          </a:xfrm>
        </p:grpSpPr>
        <p:sp>
          <p:nvSpPr>
            <p:cNvPr name="Freeform 20" id="20"/>
            <p:cNvSpPr/>
            <p:nvPr/>
          </p:nvSpPr>
          <p:spPr>
            <a:xfrm flipH="false" flipV="false" rot="0">
              <a:off x="0" y="0"/>
              <a:ext cx="22188830" cy="758571"/>
            </a:xfrm>
            <a:custGeom>
              <a:avLst/>
              <a:gdLst/>
              <a:ahLst/>
              <a:cxnLst/>
              <a:rect r="r" b="b" t="t" l="l"/>
              <a:pathLst>
                <a:path h="758571" w="22188830">
                  <a:moveTo>
                    <a:pt x="0" y="0"/>
                  </a:moveTo>
                  <a:lnTo>
                    <a:pt x="22188830" y="0"/>
                  </a:lnTo>
                  <a:lnTo>
                    <a:pt x="22188830" y="758571"/>
                  </a:lnTo>
                  <a:lnTo>
                    <a:pt x="0" y="758571"/>
                  </a:lnTo>
                  <a:close/>
                </a:path>
              </a:pathLst>
            </a:custGeom>
            <a:blipFill>
              <a:blip r:embed="rId4">
                <a:alphaModFix amt="0"/>
              </a:blip>
              <a:stretch>
                <a:fillRect l="0" t="-519953" r="0" b="-519953"/>
              </a:stretch>
            </a:blipFill>
          </p:spPr>
        </p:sp>
        <p:sp>
          <p:nvSpPr>
            <p:cNvPr name="TextBox 21" id="21"/>
            <p:cNvSpPr txBox="true"/>
            <p:nvPr/>
          </p:nvSpPr>
          <p:spPr>
            <a:xfrm>
              <a:off x="0" y="9525"/>
              <a:ext cx="22188830" cy="749046"/>
            </a:xfrm>
            <a:prstGeom prst="rect">
              <a:avLst/>
            </a:prstGeom>
          </p:spPr>
          <p:txBody>
            <a:bodyPr anchor="ctr" rtlCol="false" tIns="0" lIns="0" bIns="0" rIns="0"/>
            <a:lstStyle/>
            <a:p>
              <a:pPr algn="l">
                <a:lnSpc>
                  <a:spcPts val="2878"/>
                </a:lnSpc>
              </a:pPr>
              <a:r>
                <a:rPr lang="en-US" sz="2400">
                  <a:solidFill>
                    <a:srgbClr val="53666E"/>
                  </a:solidFill>
                  <a:latin typeface="Noto Sans"/>
                  <a:ea typeface="Noto Sans"/>
                  <a:cs typeface="Noto Sans"/>
                  <a:sym typeface="Noto Sans"/>
                </a:rPr>
                <a:t>숙련자의 경험을 </a:t>
              </a:r>
              <a:r>
                <a:rPr lang="en-US" sz="2400" b="true">
                  <a:solidFill>
                    <a:srgbClr val="53666E"/>
                  </a:solidFill>
                  <a:latin typeface="Noto Sans Bold"/>
                  <a:ea typeface="Noto Sans Bold"/>
                  <a:cs typeface="Noto Sans Bold"/>
                  <a:sym typeface="Noto Sans Bold"/>
                </a:rPr>
                <a:t>근거가 붙은 지식</a:t>
              </a:r>
              <a:r>
                <a:rPr lang="en-US" sz="2400">
                  <a:solidFill>
                    <a:srgbClr val="53666E"/>
                  </a:solidFill>
                  <a:latin typeface="Noto Sans"/>
                  <a:ea typeface="Noto Sans"/>
                  <a:cs typeface="Noto Sans"/>
                  <a:sym typeface="Noto Sans"/>
                </a:rPr>
                <a:t>으로 축적해 다음 교대로 전달</a:t>
              </a:r>
            </a:p>
          </p:txBody>
        </p:sp>
      </p:grpSp>
      <p:sp>
        <p:nvSpPr>
          <p:cNvPr name="Freeform 22" id="22"/>
          <p:cNvSpPr/>
          <p:nvPr/>
        </p:nvSpPr>
        <p:spPr>
          <a:xfrm flipH="false" flipV="false" rot="0">
            <a:off x="806291" y="2657951"/>
            <a:ext cx="5313997" cy="5451158"/>
          </a:xfrm>
          <a:custGeom>
            <a:avLst/>
            <a:gdLst/>
            <a:ahLst/>
            <a:cxnLst/>
            <a:rect r="r" b="b" t="t" l="l"/>
            <a:pathLst>
              <a:path h="5451158" w="5313997">
                <a:moveTo>
                  <a:pt x="0" y="0"/>
                </a:moveTo>
                <a:lnTo>
                  <a:pt x="5313998" y="0"/>
                </a:lnTo>
                <a:lnTo>
                  <a:pt x="5313998" y="5451158"/>
                </a:lnTo>
                <a:lnTo>
                  <a:pt x="0" y="54511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3" id="23"/>
          <p:cNvSpPr/>
          <p:nvPr/>
        </p:nvSpPr>
        <p:spPr>
          <a:xfrm flipH="false" flipV="false" rot="0">
            <a:off x="1080611" y="2891123"/>
            <a:ext cx="938594" cy="938594"/>
          </a:xfrm>
          <a:custGeom>
            <a:avLst/>
            <a:gdLst/>
            <a:ahLst/>
            <a:cxnLst/>
            <a:rect r="r" b="b" t="t" l="l"/>
            <a:pathLst>
              <a:path h="938594" w="938594">
                <a:moveTo>
                  <a:pt x="0" y="0"/>
                </a:moveTo>
                <a:lnTo>
                  <a:pt x="938594" y="0"/>
                </a:lnTo>
                <a:lnTo>
                  <a:pt x="938594" y="938594"/>
                </a:lnTo>
                <a:lnTo>
                  <a:pt x="0" y="9385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24" id="24"/>
          <p:cNvGrpSpPr/>
          <p:nvPr/>
        </p:nvGrpSpPr>
        <p:grpSpPr>
          <a:xfrm rot="0">
            <a:off x="1275588" y="3086100"/>
            <a:ext cx="548640" cy="548640"/>
            <a:chOff x="0" y="0"/>
            <a:chExt cx="731520" cy="731520"/>
          </a:xfrm>
        </p:grpSpPr>
        <p:sp>
          <p:nvSpPr>
            <p:cNvPr name="Freeform 25" id="25"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9"/>
              <a:stretch>
                <a:fillRect l="0" t="0" r="0" b="0"/>
              </a:stretch>
            </a:blipFill>
          </p:spPr>
        </p:sp>
      </p:grpSp>
      <p:grpSp>
        <p:nvGrpSpPr>
          <p:cNvPr name="Group 26" id="26"/>
          <p:cNvGrpSpPr/>
          <p:nvPr/>
        </p:nvGrpSpPr>
        <p:grpSpPr>
          <a:xfrm rot="0">
            <a:off x="2194560" y="2907792"/>
            <a:ext cx="3771900" cy="905256"/>
            <a:chOff x="0" y="0"/>
            <a:chExt cx="5029200" cy="1207008"/>
          </a:xfrm>
        </p:grpSpPr>
        <p:sp>
          <p:nvSpPr>
            <p:cNvPr name="Freeform 27" id="27"/>
            <p:cNvSpPr/>
            <p:nvPr/>
          </p:nvSpPr>
          <p:spPr>
            <a:xfrm flipH="false" flipV="false" rot="0">
              <a:off x="0" y="0"/>
              <a:ext cx="5029200" cy="1207008"/>
            </a:xfrm>
            <a:custGeom>
              <a:avLst/>
              <a:gdLst/>
              <a:ahLst/>
              <a:cxnLst/>
              <a:rect r="r" b="b" t="t" l="l"/>
              <a:pathLst>
                <a:path h="1207008" w="5029200">
                  <a:moveTo>
                    <a:pt x="0" y="0"/>
                  </a:moveTo>
                  <a:lnTo>
                    <a:pt x="5029200" y="0"/>
                  </a:lnTo>
                  <a:lnTo>
                    <a:pt x="5029200" y="1207008"/>
                  </a:lnTo>
                  <a:lnTo>
                    <a:pt x="0" y="1207008"/>
                  </a:lnTo>
                  <a:close/>
                </a:path>
              </a:pathLst>
            </a:custGeom>
            <a:blipFill>
              <a:blip r:embed="rId3">
                <a:alphaModFix amt="0"/>
              </a:blip>
              <a:stretch>
                <a:fillRect l="0" t="-31131" r="0" b="-31131"/>
              </a:stretch>
            </a:blipFill>
          </p:spPr>
        </p:sp>
      </p:grpSp>
      <p:grpSp>
        <p:nvGrpSpPr>
          <p:cNvPr name="Group 28" id="28"/>
          <p:cNvGrpSpPr/>
          <p:nvPr/>
        </p:nvGrpSpPr>
        <p:grpSpPr>
          <a:xfrm rot="0">
            <a:off x="2194560" y="2907792"/>
            <a:ext cx="3771900" cy="905256"/>
            <a:chOff x="0" y="0"/>
            <a:chExt cx="5029200" cy="1207008"/>
          </a:xfrm>
        </p:grpSpPr>
        <p:sp>
          <p:nvSpPr>
            <p:cNvPr name="Freeform 29" id="29"/>
            <p:cNvSpPr/>
            <p:nvPr/>
          </p:nvSpPr>
          <p:spPr>
            <a:xfrm flipH="false" flipV="false" rot="0">
              <a:off x="0" y="0"/>
              <a:ext cx="5029200" cy="1207008"/>
            </a:xfrm>
            <a:custGeom>
              <a:avLst/>
              <a:gdLst/>
              <a:ahLst/>
              <a:cxnLst/>
              <a:rect r="r" b="b" t="t" l="l"/>
              <a:pathLst>
                <a:path h="1207008" w="5029200">
                  <a:moveTo>
                    <a:pt x="0" y="0"/>
                  </a:moveTo>
                  <a:lnTo>
                    <a:pt x="5029200" y="0"/>
                  </a:lnTo>
                  <a:lnTo>
                    <a:pt x="5029200" y="1207008"/>
                  </a:lnTo>
                  <a:lnTo>
                    <a:pt x="0" y="1207008"/>
                  </a:lnTo>
                  <a:close/>
                </a:path>
              </a:pathLst>
            </a:custGeom>
            <a:blipFill>
              <a:blip r:embed="rId4">
                <a:alphaModFix amt="0"/>
              </a:blip>
              <a:stretch>
                <a:fillRect l="0" t="-31187" r="0" b="-31187"/>
              </a:stretch>
            </a:blipFill>
          </p:spPr>
        </p:sp>
        <p:sp>
          <p:nvSpPr>
            <p:cNvPr name="TextBox 30" id="30"/>
            <p:cNvSpPr txBox="true"/>
            <p:nvPr/>
          </p:nvSpPr>
          <p:spPr>
            <a:xfrm>
              <a:off x="0" y="0"/>
              <a:ext cx="5029200" cy="1207008"/>
            </a:xfrm>
            <a:prstGeom prst="rect">
              <a:avLst/>
            </a:prstGeom>
          </p:spPr>
          <p:txBody>
            <a:bodyPr anchor="ctr" rtlCol="false" tIns="0" lIns="0" bIns="0" rIns="0"/>
            <a:lstStyle/>
            <a:p>
              <a:pPr algn="l">
                <a:lnSpc>
                  <a:spcPts val="3060"/>
                </a:lnSpc>
              </a:pPr>
              <a:r>
                <a:rPr lang="en-US" sz="2550" b="true">
                  <a:solidFill>
                    <a:srgbClr val="1B2B2E"/>
                  </a:solidFill>
                  <a:latin typeface="Noto Sans Bold"/>
                  <a:ea typeface="Noto Sans Bold"/>
                  <a:cs typeface="Noto Sans Bold"/>
                  <a:sym typeface="Noto Sans Bold"/>
                </a:rPr>
                <a:t>작업자</a:t>
              </a:r>
            </a:p>
          </p:txBody>
        </p:sp>
      </p:grpSp>
      <p:sp>
        <p:nvSpPr>
          <p:cNvPr name="TextBox 31" id="31"/>
          <p:cNvSpPr txBox="true"/>
          <p:nvPr/>
        </p:nvSpPr>
        <p:spPr>
          <a:xfrm rot="0">
            <a:off x="1097280" y="4076700"/>
            <a:ext cx="4732020" cy="2406396"/>
          </a:xfrm>
          <a:prstGeom prst="rect">
            <a:avLst/>
          </a:prstGeom>
        </p:spPr>
        <p:txBody>
          <a:bodyPr anchor="t" rtlCol="false" tIns="0" lIns="0" bIns="0" rIns="0">
            <a:spAutoFit/>
          </a:bodyPr>
          <a:lstStyle/>
          <a:p>
            <a:pPr algn="l" marL="443389" indent="-147796" lvl="2">
              <a:lnSpc>
                <a:spcPts val="2772"/>
              </a:lnSpc>
              <a:buFont typeface="Arial"/>
              <a:buChar char="⚬"/>
            </a:pPr>
            <a:r>
              <a:rPr lang="en-US" sz="2100">
                <a:solidFill>
                  <a:srgbClr val="1B2B2E"/>
                </a:solidFill>
                <a:latin typeface="Noto Sans"/>
                <a:ea typeface="Noto Sans"/>
                <a:cs typeface="Noto Sans"/>
                <a:sym typeface="Noto Sans"/>
              </a:rPr>
              <a:t>증상 질문 시 근거 문서와 설비 현재 상태를 한 화면에서 확인</a:t>
            </a:r>
          </a:p>
          <a:p>
            <a:pPr algn="l" marL="443389" indent="-147796" lvl="2">
              <a:lnSpc>
                <a:spcPts val="2772"/>
              </a:lnSpc>
              <a:buFont typeface="Arial"/>
              <a:buChar char="⚬"/>
            </a:pPr>
            <a:r>
              <a:rPr lang="en-US" sz="2100">
                <a:solidFill>
                  <a:srgbClr val="1B2B2E"/>
                </a:solidFill>
                <a:latin typeface="Noto Sans"/>
                <a:ea typeface="Noto Sans"/>
                <a:cs typeface="Noto Sans"/>
                <a:sym typeface="Noto Sans"/>
              </a:rPr>
              <a:t>근거 없는 질문은 추측 대신 ‘해당 지식 없음’과 확인 경로 안내 – 잘못된 조치 예방</a:t>
            </a:r>
          </a:p>
          <a:p>
            <a:pPr algn="l" marL="443389" indent="-147796" lvl="2">
              <a:lnSpc>
                <a:spcPts val="2772"/>
              </a:lnSpc>
              <a:buFont typeface="Arial"/>
              <a:buChar char="⚬"/>
            </a:pPr>
            <a:r>
              <a:rPr lang="en-US" sz="2100">
                <a:solidFill>
                  <a:srgbClr val="1B2B2E"/>
                </a:solidFill>
                <a:latin typeface="Noto Sans"/>
                <a:ea typeface="Noto Sans"/>
                <a:cs typeface="Noto Sans"/>
                <a:sym typeface="Noto Sans"/>
              </a:rPr>
              <a:t>이전 교대의 미해결 사항을 설비 별로 확인</a:t>
            </a:r>
          </a:p>
        </p:txBody>
      </p:sp>
      <p:sp>
        <p:nvSpPr>
          <p:cNvPr name="Freeform 32" id="32"/>
          <p:cNvSpPr/>
          <p:nvPr/>
        </p:nvSpPr>
        <p:spPr>
          <a:xfrm flipH="false" flipV="false" rot="0">
            <a:off x="6486773" y="2657951"/>
            <a:ext cx="5313997" cy="5451158"/>
          </a:xfrm>
          <a:custGeom>
            <a:avLst/>
            <a:gdLst/>
            <a:ahLst/>
            <a:cxnLst/>
            <a:rect r="r" b="b" t="t" l="l"/>
            <a:pathLst>
              <a:path h="5451158" w="5313997">
                <a:moveTo>
                  <a:pt x="0" y="0"/>
                </a:moveTo>
                <a:lnTo>
                  <a:pt x="5313997" y="0"/>
                </a:lnTo>
                <a:lnTo>
                  <a:pt x="5313997" y="5451158"/>
                </a:lnTo>
                <a:lnTo>
                  <a:pt x="0" y="54511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3" id="33"/>
          <p:cNvSpPr/>
          <p:nvPr/>
        </p:nvSpPr>
        <p:spPr>
          <a:xfrm flipH="false" flipV="false" rot="0">
            <a:off x="6761093" y="2891123"/>
            <a:ext cx="938593" cy="938594"/>
          </a:xfrm>
          <a:custGeom>
            <a:avLst/>
            <a:gdLst/>
            <a:ahLst/>
            <a:cxnLst/>
            <a:rect r="r" b="b" t="t" l="l"/>
            <a:pathLst>
              <a:path h="938594" w="938593">
                <a:moveTo>
                  <a:pt x="0" y="0"/>
                </a:moveTo>
                <a:lnTo>
                  <a:pt x="938593" y="0"/>
                </a:lnTo>
                <a:lnTo>
                  <a:pt x="938593" y="938594"/>
                </a:lnTo>
                <a:lnTo>
                  <a:pt x="0" y="9385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34" id="34"/>
          <p:cNvGrpSpPr/>
          <p:nvPr/>
        </p:nvGrpSpPr>
        <p:grpSpPr>
          <a:xfrm rot="0">
            <a:off x="6956069" y="3086100"/>
            <a:ext cx="548640" cy="548640"/>
            <a:chOff x="0" y="0"/>
            <a:chExt cx="731520" cy="731520"/>
          </a:xfrm>
        </p:grpSpPr>
        <p:sp>
          <p:nvSpPr>
            <p:cNvPr name="Freeform 35" id="35"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10"/>
              <a:stretch>
                <a:fillRect l="0" t="0" r="0" b="0"/>
              </a:stretch>
            </a:blipFill>
          </p:spPr>
        </p:sp>
      </p:grpSp>
      <p:grpSp>
        <p:nvGrpSpPr>
          <p:cNvPr name="Group 36" id="36"/>
          <p:cNvGrpSpPr/>
          <p:nvPr/>
        </p:nvGrpSpPr>
        <p:grpSpPr>
          <a:xfrm rot="0">
            <a:off x="7875041" y="2907792"/>
            <a:ext cx="3771900" cy="905256"/>
            <a:chOff x="0" y="0"/>
            <a:chExt cx="5029200" cy="1207008"/>
          </a:xfrm>
        </p:grpSpPr>
        <p:sp>
          <p:nvSpPr>
            <p:cNvPr name="Freeform 37" id="37"/>
            <p:cNvSpPr/>
            <p:nvPr/>
          </p:nvSpPr>
          <p:spPr>
            <a:xfrm flipH="false" flipV="false" rot="0">
              <a:off x="0" y="0"/>
              <a:ext cx="5029200" cy="1207008"/>
            </a:xfrm>
            <a:custGeom>
              <a:avLst/>
              <a:gdLst/>
              <a:ahLst/>
              <a:cxnLst/>
              <a:rect r="r" b="b" t="t" l="l"/>
              <a:pathLst>
                <a:path h="1207008" w="5029200">
                  <a:moveTo>
                    <a:pt x="0" y="0"/>
                  </a:moveTo>
                  <a:lnTo>
                    <a:pt x="5029200" y="0"/>
                  </a:lnTo>
                  <a:lnTo>
                    <a:pt x="5029200" y="1207008"/>
                  </a:lnTo>
                  <a:lnTo>
                    <a:pt x="0" y="1207008"/>
                  </a:lnTo>
                  <a:close/>
                </a:path>
              </a:pathLst>
            </a:custGeom>
            <a:blipFill>
              <a:blip r:embed="rId3">
                <a:alphaModFix amt="0"/>
              </a:blip>
              <a:stretch>
                <a:fillRect l="0" t="-31131" r="0" b="-31131"/>
              </a:stretch>
            </a:blipFill>
          </p:spPr>
        </p:sp>
      </p:grpSp>
      <p:grpSp>
        <p:nvGrpSpPr>
          <p:cNvPr name="Group 38" id="38"/>
          <p:cNvGrpSpPr/>
          <p:nvPr/>
        </p:nvGrpSpPr>
        <p:grpSpPr>
          <a:xfrm rot="0">
            <a:off x="7875041" y="2907792"/>
            <a:ext cx="3771900" cy="905256"/>
            <a:chOff x="0" y="0"/>
            <a:chExt cx="5029200" cy="1207008"/>
          </a:xfrm>
        </p:grpSpPr>
        <p:sp>
          <p:nvSpPr>
            <p:cNvPr name="Freeform 39" id="39"/>
            <p:cNvSpPr/>
            <p:nvPr/>
          </p:nvSpPr>
          <p:spPr>
            <a:xfrm flipH="false" flipV="false" rot="0">
              <a:off x="0" y="0"/>
              <a:ext cx="5029200" cy="1207008"/>
            </a:xfrm>
            <a:custGeom>
              <a:avLst/>
              <a:gdLst/>
              <a:ahLst/>
              <a:cxnLst/>
              <a:rect r="r" b="b" t="t" l="l"/>
              <a:pathLst>
                <a:path h="1207008" w="5029200">
                  <a:moveTo>
                    <a:pt x="0" y="0"/>
                  </a:moveTo>
                  <a:lnTo>
                    <a:pt x="5029200" y="0"/>
                  </a:lnTo>
                  <a:lnTo>
                    <a:pt x="5029200" y="1207008"/>
                  </a:lnTo>
                  <a:lnTo>
                    <a:pt x="0" y="1207008"/>
                  </a:lnTo>
                  <a:close/>
                </a:path>
              </a:pathLst>
            </a:custGeom>
            <a:blipFill>
              <a:blip r:embed="rId4">
                <a:alphaModFix amt="0"/>
              </a:blip>
              <a:stretch>
                <a:fillRect l="0" t="-31187" r="0" b="-31187"/>
              </a:stretch>
            </a:blipFill>
          </p:spPr>
        </p:sp>
        <p:sp>
          <p:nvSpPr>
            <p:cNvPr name="TextBox 40" id="40"/>
            <p:cNvSpPr txBox="true"/>
            <p:nvPr/>
          </p:nvSpPr>
          <p:spPr>
            <a:xfrm>
              <a:off x="0" y="0"/>
              <a:ext cx="5029200" cy="1207008"/>
            </a:xfrm>
            <a:prstGeom prst="rect">
              <a:avLst/>
            </a:prstGeom>
          </p:spPr>
          <p:txBody>
            <a:bodyPr anchor="ctr" rtlCol="false" tIns="0" lIns="0" bIns="0" rIns="0"/>
            <a:lstStyle/>
            <a:p>
              <a:pPr algn="l">
                <a:lnSpc>
                  <a:spcPts val="3060"/>
                </a:lnSpc>
              </a:pPr>
              <a:r>
                <a:rPr lang="en-US" sz="2550" b="true">
                  <a:solidFill>
                    <a:srgbClr val="1B2B2E"/>
                  </a:solidFill>
                  <a:latin typeface="Noto Sans Bold"/>
                  <a:ea typeface="Noto Sans Bold"/>
                  <a:cs typeface="Noto Sans Bold"/>
                  <a:sym typeface="Noto Sans Bold"/>
                </a:rPr>
                <a:t>교대 조장 · 관리자</a:t>
              </a:r>
            </a:p>
          </p:txBody>
        </p:sp>
      </p:grpSp>
      <p:sp>
        <p:nvSpPr>
          <p:cNvPr name="TextBox 41" id="41"/>
          <p:cNvSpPr txBox="true"/>
          <p:nvPr/>
        </p:nvSpPr>
        <p:spPr>
          <a:xfrm rot="0">
            <a:off x="6777761" y="4076700"/>
            <a:ext cx="4732020" cy="2063496"/>
          </a:xfrm>
          <a:prstGeom prst="rect">
            <a:avLst/>
          </a:prstGeom>
        </p:spPr>
        <p:txBody>
          <a:bodyPr anchor="t" rtlCol="false" tIns="0" lIns="0" bIns="0" rIns="0">
            <a:spAutoFit/>
          </a:bodyPr>
          <a:lstStyle/>
          <a:p>
            <a:pPr algn="l" marL="443389" indent="-147796" lvl="2">
              <a:lnSpc>
                <a:spcPts val="2772"/>
              </a:lnSpc>
              <a:buFont typeface="Arial"/>
              <a:buChar char="⚬"/>
            </a:pPr>
            <a:r>
              <a:rPr lang="en-US" sz="2100">
                <a:solidFill>
                  <a:srgbClr val="1B2B2E"/>
                </a:solidFill>
                <a:latin typeface="Noto Sans"/>
                <a:ea typeface="Noto Sans"/>
                <a:cs typeface="Noto Sans"/>
                <a:sym typeface="Noto Sans"/>
              </a:rPr>
              <a:t>질의 · 조치 · 근무일지를 당시 MES 상태와 함께 기록 – 사후 원인 추적</a:t>
            </a:r>
          </a:p>
          <a:p>
            <a:pPr algn="l" marL="443389" indent="-147796" lvl="2">
              <a:lnSpc>
                <a:spcPts val="2772"/>
              </a:lnSpc>
              <a:buFont typeface="Arial"/>
              <a:buChar char="⚬"/>
            </a:pPr>
            <a:r>
              <a:rPr lang="en-US" sz="2100">
                <a:solidFill>
                  <a:srgbClr val="1B2B2E"/>
                </a:solidFill>
                <a:latin typeface="Noto Sans"/>
                <a:ea typeface="Noto Sans"/>
                <a:cs typeface="Noto Sans"/>
                <a:sym typeface="Noto Sans"/>
              </a:rPr>
              <a:t>반복 증상 · 지식 공백 집계로 설비 상태에 맞게 정비 지식 보완</a:t>
            </a:r>
          </a:p>
          <a:p>
            <a:pPr algn="l" marL="443389" indent="-147796" lvl="2">
              <a:lnSpc>
                <a:spcPts val="2772"/>
              </a:lnSpc>
              <a:buFont typeface="Arial"/>
              <a:buChar char="⚬"/>
            </a:pPr>
            <a:r>
              <a:rPr lang="en-US" sz="2100">
                <a:solidFill>
                  <a:srgbClr val="1B2B2E"/>
                </a:solidFill>
                <a:latin typeface="Noto Sans"/>
                <a:ea typeface="Noto Sans"/>
                <a:cs typeface="Noto Sans"/>
                <a:sym typeface="Noto Sans"/>
              </a:rPr>
              <a:t>현장 해결 기록을 검수해 새 지식 카드로 게시</a:t>
            </a:r>
          </a:p>
        </p:txBody>
      </p:sp>
      <p:sp>
        <p:nvSpPr>
          <p:cNvPr name="Freeform 42" id="42"/>
          <p:cNvSpPr/>
          <p:nvPr/>
        </p:nvSpPr>
        <p:spPr>
          <a:xfrm flipH="false" flipV="false" rot="0">
            <a:off x="12167254" y="2657951"/>
            <a:ext cx="5313997" cy="5451158"/>
          </a:xfrm>
          <a:custGeom>
            <a:avLst/>
            <a:gdLst/>
            <a:ahLst/>
            <a:cxnLst/>
            <a:rect r="r" b="b" t="t" l="l"/>
            <a:pathLst>
              <a:path h="5451158" w="5313997">
                <a:moveTo>
                  <a:pt x="0" y="0"/>
                </a:moveTo>
                <a:lnTo>
                  <a:pt x="5313998" y="0"/>
                </a:lnTo>
                <a:lnTo>
                  <a:pt x="5313998" y="5451158"/>
                </a:lnTo>
                <a:lnTo>
                  <a:pt x="0" y="545115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3" id="43"/>
          <p:cNvSpPr/>
          <p:nvPr/>
        </p:nvSpPr>
        <p:spPr>
          <a:xfrm flipH="false" flipV="false" rot="0">
            <a:off x="12441574" y="2891123"/>
            <a:ext cx="938593" cy="938594"/>
          </a:xfrm>
          <a:custGeom>
            <a:avLst/>
            <a:gdLst/>
            <a:ahLst/>
            <a:cxnLst/>
            <a:rect r="r" b="b" t="t" l="l"/>
            <a:pathLst>
              <a:path h="938594" w="938593">
                <a:moveTo>
                  <a:pt x="0" y="0"/>
                </a:moveTo>
                <a:lnTo>
                  <a:pt x="938594" y="0"/>
                </a:lnTo>
                <a:lnTo>
                  <a:pt x="938594" y="938594"/>
                </a:lnTo>
                <a:lnTo>
                  <a:pt x="0" y="9385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44" id="44"/>
          <p:cNvGrpSpPr/>
          <p:nvPr/>
        </p:nvGrpSpPr>
        <p:grpSpPr>
          <a:xfrm rot="0">
            <a:off x="12636551" y="3086100"/>
            <a:ext cx="548640" cy="548640"/>
            <a:chOff x="0" y="0"/>
            <a:chExt cx="731520" cy="731520"/>
          </a:xfrm>
        </p:grpSpPr>
        <p:sp>
          <p:nvSpPr>
            <p:cNvPr name="Freeform 45" id="45"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11"/>
              <a:stretch>
                <a:fillRect l="0" t="0" r="0" b="0"/>
              </a:stretch>
            </a:blipFill>
          </p:spPr>
        </p:sp>
      </p:grpSp>
      <p:grpSp>
        <p:nvGrpSpPr>
          <p:cNvPr name="Group 46" id="46"/>
          <p:cNvGrpSpPr/>
          <p:nvPr/>
        </p:nvGrpSpPr>
        <p:grpSpPr>
          <a:xfrm rot="0">
            <a:off x="13555523" y="2907792"/>
            <a:ext cx="3771900" cy="905256"/>
            <a:chOff x="0" y="0"/>
            <a:chExt cx="5029200" cy="1207008"/>
          </a:xfrm>
        </p:grpSpPr>
        <p:sp>
          <p:nvSpPr>
            <p:cNvPr name="Freeform 47" id="47"/>
            <p:cNvSpPr/>
            <p:nvPr/>
          </p:nvSpPr>
          <p:spPr>
            <a:xfrm flipH="false" flipV="false" rot="0">
              <a:off x="0" y="0"/>
              <a:ext cx="5029200" cy="1207008"/>
            </a:xfrm>
            <a:custGeom>
              <a:avLst/>
              <a:gdLst/>
              <a:ahLst/>
              <a:cxnLst/>
              <a:rect r="r" b="b" t="t" l="l"/>
              <a:pathLst>
                <a:path h="1207008" w="5029200">
                  <a:moveTo>
                    <a:pt x="0" y="0"/>
                  </a:moveTo>
                  <a:lnTo>
                    <a:pt x="5029200" y="0"/>
                  </a:lnTo>
                  <a:lnTo>
                    <a:pt x="5029200" y="1207008"/>
                  </a:lnTo>
                  <a:lnTo>
                    <a:pt x="0" y="1207008"/>
                  </a:lnTo>
                  <a:close/>
                </a:path>
              </a:pathLst>
            </a:custGeom>
            <a:blipFill>
              <a:blip r:embed="rId3">
                <a:alphaModFix amt="0"/>
              </a:blip>
              <a:stretch>
                <a:fillRect l="0" t="-31131" r="0" b="-31131"/>
              </a:stretch>
            </a:blipFill>
          </p:spPr>
        </p:sp>
      </p:grpSp>
      <p:grpSp>
        <p:nvGrpSpPr>
          <p:cNvPr name="Group 48" id="48"/>
          <p:cNvGrpSpPr/>
          <p:nvPr/>
        </p:nvGrpSpPr>
        <p:grpSpPr>
          <a:xfrm rot="0">
            <a:off x="13555523" y="2907792"/>
            <a:ext cx="3771900" cy="905256"/>
            <a:chOff x="0" y="0"/>
            <a:chExt cx="5029200" cy="1207008"/>
          </a:xfrm>
        </p:grpSpPr>
        <p:sp>
          <p:nvSpPr>
            <p:cNvPr name="Freeform 49" id="49"/>
            <p:cNvSpPr/>
            <p:nvPr/>
          </p:nvSpPr>
          <p:spPr>
            <a:xfrm flipH="false" flipV="false" rot="0">
              <a:off x="0" y="0"/>
              <a:ext cx="5029200" cy="1207008"/>
            </a:xfrm>
            <a:custGeom>
              <a:avLst/>
              <a:gdLst/>
              <a:ahLst/>
              <a:cxnLst/>
              <a:rect r="r" b="b" t="t" l="l"/>
              <a:pathLst>
                <a:path h="1207008" w="5029200">
                  <a:moveTo>
                    <a:pt x="0" y="0"/>
                  </a:moveTo>
                  <a:lnTo>
                    <a:pt x="5029200" y="0"/>
                  </a:lnTo>
                  <a:lnTo>
                    <a:pt x="5029200" y="1207008"/>
                  </a:lnTo>
                  <a:lnTo>
                    <a:pt x="0" y="1207008"/>
                  </a:lnTo>
                  <a:close/>
                </a:path>
              </a:pathLst>
            </a:custGeom>
            <a:blipFill>
              <a:blip r:embed="rId4">
                <a:alphaModFix amt="0"/>
              </a:blip>
              <a:stretch>
                <a:fillRect l="0" t="-31187" r="0" b="-31187"/>
              </a:stretch>
            </a:blipFill>
          </p:spPr>
        </p:sp>
        <p:sp>
          <p:nvSpPr>
            <p:cNvPr name="TextBox 50" id="50"/>
            <p:cNvSpPr txBox="true"/>
            <p:nvPr/>
          </p:nvSpPr>
          <p:spPr>
            <a:xfrm>
              <a:off x="0" y="0"/>
              <a:ext cx="5029200" cy="1207008"/>
            </a:xfrm>
            <a:prstGeom prst="rect">
              <a:avLst/>
            </a:prstGeom>
          </p:spPr>
          <p:txBody>
            <a:bodyPr anchor="ctr" rtlCol="false" tIns="0" lIns="0" bIns="0" rIns="0"/>
            <a:lstStyle/>
            <a:p>
              <a:pPr algn="l">
                <a:lnSpc>
                  <a:spcPts val="3060"/>
                </a:lnSpc>
              </a:pPr>
              <a:r>
                <a:rPr lang="en-US" sz="2550" b="true">
                  <a:solidFill>
                    <a:srgbClr val="1B2B2E"/>
                  </a:solidFill>
                  <a:latin typeface="Noto Sans Bold"/>
                  <a:ea typeface="Noto Sans Bold"/>
                  <a:cs typeface="Noto Sans Bold"/>
                  <a:sym typeface="Noto Sans Bold"/>
                </a:rPr>
                <a:t>회사</a:t>
              </a:r>
            </a:p>
          </p:txBody>
        </p:sp>
      </p:grpSp>
      <p:sp>
        <p:nvSpPr>
          <p:cNvPr name="TextBox 51" id="51"/>
          <p:cNvSpPr txBox="true"/>
          <p:nvPr/>
        </p:nvSpPr>
        <p:spPr>
          <a:xfrm rot="0">
            <a:off x="12458243" y="4076700"/>
            <a:ext cx="4732020" cy="2406396"/>
          </a:xfrm>
          <a:prstGeom prst="rect">
            <a:avLst/>
          </a:prstGeom>
        </p:spPr>
        <p:txBody>
          <a:bodyPr anchor="t" rtlCol="false" tIns="0" lIns="0" bIns="0" rIns="0">
            <a:spAutoFit/>
          </a:bodyPr>
          <a:lstStyle/>
          <a:p>
            <a:pPr algn="l" marL="443389" indent="-147796" lvl="2">
              <a:lnSpc>
                <a:spcPts val="2772"/>
              </a:lnSpc>
              <a:buFont typeface="Arial"/>
              <a:buChar char="⚬"/>
            </a:pPr>
            <a:r>
              <a:rPr lang="en-US" sz="2100">
                <a:solidFill>
                  <a:srgbClr val="1B2B2E"/>
                </a:solidFill>
                <a:latin typeface="Noto Sans"/>
                <a:ea typeface="Noto Sans"/>
                <a:cs typeface="Noto Sans"/>
                <a:sym typeface="Noto Sans"/>
              </a:rPr>
              <a:t>숙련자 노하우를 적용 조건이 붙은 지식 카드로 축적 – 퇴직 · 이동에 따른 지식 손실 완화</a:t>
            </a:r>
          </a:p>
          <a:p>
            <a:pPr algn="l" marL="443389" indent="-147796" lvl="2">
              <a:lnSpc>
                <a:spcPts val="2772"/>
              </a:lnSpc>
              <a:buFont typeface="Arial"/>
              <a:buChar char="⚬"/>
            </a:pPr>
            <a:r>
              <a:rPr lang="en-US" sz="2100">
                <a:solidFill>
                  <a:srgbClr val="1B2B2E"/>
                </a:solidFill>
                <a:latin typeface="Noto Sans"/>
                <a:ea typeface="Noto Sans"/>
                <a:cs typeface="Noto Sans"/>
                <a:sym typeface="Noto Sans"/>
              </a:rPr>
              <a:t>외부망 없는 단일 장비 구동 – 망분리 · 보안 환경에 적용 가능</a:t>
            </a:r>
          </a:p>
          <a:p>
            <a:pPr algn="l" marL="443389" indent="-147796" lvl="2">
              <a:lnSpc>
                <a:spcPts val="2772"/>
              </a:lnSpc>
              <a:buFont typeface="Arial"/>
              <a:buChar char="⚬"/>
            </a:pPr>
            <a:r>
              <a:rPr lang="en-US" sz="2100">
                <a:solidFill>
                  <a:srgbClr val="1B2B2E"/>
                </a:solidFill>
                <a:latin typeface="Noto Sans"/>
                <a:ea typeface="Noto Sans"/>
                <a:cs typeface="Noto Sans"/>
                <a:sym typeface="Noto Sans"/>
              </a:rPr>
              <a:t>공식 MES · 설비 제어와 분리된 읽기 전용 – 기존 시스템 영향 없이 도입</a:t>
            </a:r>
          </a:p>
        </p:txBody>
      </p:sp>
      <p:sp>
        <p:nvSpPr>
          <p:cNvPr name="Freeform 52" id="52"/>
          <p:cNvSpPr/>
          <p:nvPr/>
        </p:nvSpPr>
        <p:spPr>
          <a:xfrm flipH="false" flipV="false" rot="0">
            <a:off x="2452211" y="8377523"/>
            <a:ext cx="13383101" cy="719138"/>
          </a:xfrm>
          <a:custGeom>
            <a:avLst/>
            <a:gdLst/>
            <a:ahLst/>
            <a:cxnLst/>
            <a:rect r="r" b="b" t="t" l="l"/>
            <a:pathLst>
              <a:path h="719138" w="13383101">
                <a:moveTo>
                  <a:pt x="0" y="0"/>
                </a:moveTo>
                <a:lnTo>
                  <a:pt x="13383101" y="0"/>
                </a:lnTo>
                <a:lnTo>
                  <a:pt x="13383101" y="719138"/>
                </a:lnTo>
                <a:lnTo>
                  <a:pt x="0" y="71913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53" id="53"/>
          <p:cNvGrpSpPr/>
          <p:nvPr/>
        </p:nvGrpSpPr>
        <p:grpSpPr>
          <a:xfrm rot="0">
            <a:off x="2468880" y="8394192"/>
            <a:ext cx="13349783" cy="685800"/>
            <a:chOff x="0" y="0"/>
            <a:chExt cx="17799710" cy="914400"/>
          </a:xfrm>
        </p:grpSpPr>
        <p:sp>
          <p:nvSpPr>
            <p:cNvPr name="Freeform 54" id="54"/>
            <p:cNvSpPr/>
            <p:nvPr/>
          </p:nvSpPr>
          <p:spPr>
            <a:xfrm flipH="false" flipV="false" rot="0">
              <a:off x="0" y="0"/>
              <a:ext cx="17799686" cy="914400"/>
            </a:xfrm>
            <a:custGeom>
              <a:avLst/>
              <a:gdLst/>
              <a:ahLst/>
              <a:cxnLst/>
              <a:rect r="r" b="b" t="t" l="l"/>
              <a:pathLst>
                <a:path h="914400" w="17799686">
                  <a:moveTo>
                    <a:pt x="0" y="0"/>
                  </a:moveTo>
                  <a:lnTo>
                    <a:pt x="17799686" y="0"/>
                  </a:lnTo>
                  <a:lnTo>
                    <a:pt x="17799686" y="914400"/>
                  </a:lnTo>
                  <a:lnTo>
                    <a:pt x="0" y="914400"/>
                  </a:lnTo>
                  <a:close/>
                </a:path>
              </a:pathLst>
            </a:custGeom>
            <a:blipFill>
              <a:blip r:embed="rId3">
                <a:alphaModFix amt="0"/>
              </a:blip>
              <a:stretch>
                <a:fillRect l="0" t="-329031" r="0" b="-329031"/>
              </a:stretch>
            </a:blipFill>
          </p:spPr>
        </p:sp>
      </p:grpSp>
      <p:grpSp>
        <p:nvGrpSpPr>
          <p:cNvPr name="Group 55" id="55"/>
          <p:cNvGrpSpPr/>
          <p:nvPr/>
        </p:nvGrpSpPr>
        <p:grpSpPr>
          <a:xfrm rot="0">
            <a:off x="2468880" y="8394192"/>
            <a:ext cx="13349783" cy="685800"/>
            <a:chOff x="0" y="0"/>
            <a:chExt cx="17799710" cy="914400"/>
          </a:xfrm>
        </p:grpSpPr>
        <p:sp>
          <p:nvSpPr>
            <p:cNvPr name="Freeform 56" id="56"/>
            <p:cNvSpPr/>
            <p:nvPr/>
          </p:nvSpPr>
          <p:spPr>
            <a:xfrm flipH="false" flipV="false" rot="0">
              <a:off x="0" y="0"/>
              <a:ext cx="17799710" cy="914400"/>
            </a:xfrm>
            <a:custGeom>
              <a:avLst/>
              <a:gdLst/>
              <a:ahLst/>
              <a:cxnLst/>
              <a:rect r="r" b="b" t="t" l="l"/>
              <a:pathLst>
                <a:path h="914400" w="17799710">
                  <a:moveTo>
                    <a:pt x="0" y="0"/>
                  </a:moveTo>
                  <a:lnTo>
                    <a:pt x="17799710" y="0"/>
                  </a:lnTo>
                  <a:lnTo>
                    <a:pt x="17799710" y="914400"/>
                  </a:lnTo>
                  <a:lnTo>
                    <a:pt x="0" y="914400"/>
                  </a:lnTo>
                  <a:close/>
                </a:path>
              </a:pathLst>
            </a:custGeom>
            <a:blipFill>
              <a:blip r:embed="rId4">
                <a:alphaModFix amt="0"/>
              </a:blip>
              <a:stretch>
                <a:fillRect l="0" t="-329295" r="0" b="-329295"/>
              </a:stretch>
            </a:blipFill>
          </p:spPr>
        </p:sp>
        <p:sp>
          <p:nvSpPr>
            <p:cNvPr name="TextBox 57" id="57"/>
            <p:cNvSpPr txBox="true"/>
            <p:nvPr/>
          </p:nvSpPr>
          <p:spPr>
            <a:xfrm>
              <a:off x="0" y="0"/>
              <a:ext cx="17799710" cy="914400"/>
            </a:xfrm>
            <a:prstGeom prst="rect">
              <a:avLst/>
            </a:prstGeom>
          </p:spPr>
          <p:txBody>
            <a:bodyPr anchor="ctr" rtlCol="false" tIns="0" lIns="0" bIns="0" rIns="0"/>
            <a:lstStyle/>
            <a:p>
              <a:pPr algn="ctr">
                <a:lnSpc>
                  <a:spcPts val="2700"/>
                </a:lnSpc>
              </a:pPr>
              <a:r>
                <a:rPr lang="en-US" sz="2250" b="true">
                  <a:solidFill>
                    <a:srgbClr val="FFFFFF"/>
                  </a:solidFill>
                  <a:latin typeface="Noto Sans Bold"/>
                  <a:ea typeface="Noto Sans Bold"/>
                  <a:cs typeface="Noto Sans Bold"/>
                  <a:sym typeface="Noto Sans Bold"/>
                </a:rPr>
                <a:t>숙련자가 사라져도 노하우가 남는 시스템</a:t>
              </a:r>
            </a:p>
          </p:txBody>
        </p:sp>
      </p:grpSp>
      <p:sp>
        <p:nvSpPr>
          <p:cNvPr name="TextBox 58" id="58"/>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a:solidFill>
                  <a:srgbClr val="6B787A"/>
                </a:solidFill>
                <a:latin typeface="Noto Sans"/>
                <a:ea typeface="Noto Sans"/>
                <a:cs typeface="Noto Sans"/>
                <a:sym typeface="Noto Sans"/>
              </a:rPr>
              <a:t>36</a:t>
            </a:r>
          </a:p>
        </p:txBody>
      </p:sp>
      <p:grpSp>
        <p:nvGrpSpPr>
          <p:cNvPr name="Group 59" id="59"/>
          <p:cNvGrpSpPr/>
          <p:nvPr/>
        </p:nvGrpSpPr>
        <p:grpSpPr>
          <a:xfrm rot="0">
            <a:off x="5818352" y="9710928"/>
            <a:ext cx="4070985" cy="419672"/>
            <a:chOff x="0" y="0"/>
            <a:chExt cx="5427980" cy="559562"/>
          </a:xfrm>
        </p:grpSpPr>
        <p:grpSp>
          <p:nvGrpSpPr>
            <p:cNvPr name="Group 60" id="60"/>
            <p:cNvGrpSpPr/>
            <p:nvPr/>
          </p:nvGrpSpPr>
          <p:grpSpPr>
            <a:xfrm rot="0">
              <a:off x="0" y="0"/>
              <a:ext cx="1680845" cy="559562"/>
              <a:chOff x="0" y="0"/>
              <a:chExt cx="1680845" cy="559562"/>
            </a:xfrm>
          </p:grpSpPr>
          <p:sp>
            <p:nvSpPr>
              <p:cNvPr name="Freeform 61" id="61"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14"/>
                <a:stretch>
                  <a:fillRect l="0" t="-265" r="0" b="-267"/>
                </a:stretch>
              </a:blipFill>
            </p:spPr>
          </p:sp>
        </p:grpSp>
        <p:grpSp>
          <p:nvGrpSpPr>
            <p:cNvPr name="Group 62" id="62"/>
            <p:cNvGrpSpPr/>
            <p:nvPr/>
          </p:nvGrpSpPr>
          <p:grpSpPr>
            <a:xfrm rot="0">
              <a:off x="2069490" y="124358"/>
              <a:ext cx="1189101" cy="310896"/>
              <a:chOff x="0" y="0"/>
              <a:chExt cx="1189101" cy="310896"/>
            </a:xfrm>
          </p:grpSpPr>
          <p:sp>
            <p:nvSpPr>
              <p:cNvPr name="Freeform 63" id="63"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15"/>
                <a:stretch>
                  <a:fillRect l="-30" t="0" r="-32" b="0"/>
                </a:stretch>
              </a:blipFill>
            </p:spPr>
          </p:sp>
        </p:grpSp>
        <p:grpSp>
          <p:nvGrpSpPr>
            <p:cNvPr name="Group 64" id="64"/>
            <p:cNvGrpSpPr/>
            <p:nvPr/>
          </p:nvGrpSpPr>
          <p:grpSpPr>
            <a:xfrm rot="0">
              <a:off x="3647186" y="124358"/>
              <a:ext cx="1780794" cy="310896"/>
              <a:chOff x="0" y="0"/>
              <a:chExt cx="1780794" cy="310896"/>
            </a:xfrm>
          </p:grpSpPr>
          <p:sp>
            <p:nvSpPr>
              <p:cNvPr name="Freeform 65" id="65"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16"/>
                <a:stretch>
                  <a:fillRect l="0" t="-118" r="0" b="-122"/>
                </a:stretch>
              </a:blipFill>
            </p:spPr>
          </p:sp>
        </p:grpSp>
      </p:gr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4">
                <a:alphaModFix amt="0"/>
              </a:blip>
              <a:stretch>
                <a:fillRect l="0" t="-333050" r="0" b="-333050"/>
              </a:stretch>
            </a:blipFill>
          </p:spPr>
        </p:sp>
        <p:sp>
          <p:nvSpPr>
            <p:cNvPr name="TextBox 6" id="6"/>
            <p:cNvSpPr txBox="true"/>
            <p:nvPr/>
          </p:nvSpPr>
          <p:spPr>
            <a:xfrm>
              <a:off x="0" y="-9525"/>
              <a:ext cx="10972800" cy="567690"/>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7" id="7"/>
          <p:cNvGrpSpPr/>
          <p:nvPr/>
        </p:nvGrpSpPr>
        <p:grpSpPr>
          <a:xfrm rot="0">
            <a:off x="822960" y="438912"/>
            <a:ext cx="4114800" cy="384048"/>
            <a:chOff x="0" y="0"/>
            <a:chExt cx="5486400" cy="512064"/>
          </a:xfrm>
        </p:grpSpPr>
        <p:sp>
          <p:nvSpPr>
            <p:cNvPr name="Freeform 8" id="8"/>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3">
                <a:alphaModFix amt="0"/>
              </a:blip>
              <a:stretch>
                <a:fillRect l="0" t="-158623" r="0" b="-158623"/>
              </a:stretch>
            </a:blipFill>
          </p:spPr>
        </p:sp>
      </p:grpSp>
      <p:grpSp>
        <p:nvGrpSpPr>
          <p:cNvPr name="Group 9" id="9"/>
          <p:cNvGrpSpPr/>
          <p:nvPr/>
        </p:nvGrpSpPr>
        <p:grpSpPr>
          <a:xfrm rot="0">
            <a:off x="822960" y="438912"/>
            <a:ext cx="4114800" cy="384048"/>
            <a:chOff x="0" y="0"/>
            <a:chExt cx="5486400" cy="512064"/>
          </a:xfrm>
        </p:grpSpPr>
        <p:sp>
          <p:nvSpPr>
            <p:cNvPr name="Freeform 10" id="10"/>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4">
                <a:alphaModFix amt="0"/>
              </a:blip>
              <a:stretch>
                <a:fillRect l="0" t="-158768" r="0" b="-158768"/>
              </a:stretch>
            </a:blipFill>
          </p:spPr>
        </p:sp>
        <p:sp>
          <p:nvSpPr>
            <p:cNvPr name="TextBox 11" id="11"/>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05  성과와 회고</a:t>
              </a:r>
            </a:p>
          </p:txBody>
        </p:sp>
      </p:grpSp>
      <p:grpSp>
        <p:nvGrpSpPr>
          <p:cNvPr name="Group 12" id="12"/>
          <p:cNvGrpSpPr/>
          <p:nvPr/>
        </p:nvGrpSpPr>
        <p:grpSpPr>
          <a:xfrm rot="0">
            <a:off x="822960" y="822960"/>
            <a:ext cx="16641623" cy="850392"/>
            <a:chOff x="0" y="0"/>
            <a:chExt cx="22188830" cy="1133856"/>
          </a:xfrm>
        </p:grpSpPr>
        <p:sp>
          <p:nvSpPr>
            <p:cNvPr name="Freeform 13" id="13"/>
            <p:cNvSpPr/>
            <p:nvPr/>
          </p:nvSpPr>
          <p:spPr>
            <a:xfrm flipH="false" flipV="false" rot="0">
              <a:off x="0" y="0"/>
              <a:ext cx="22188805" cy="1133856"/>
            </a:xfrm>
            <a:custGeom>
              <a:avLst/>
              <a:gdLst/>
              <a:ahLst/>
              <a:cxnLst/>
              <a:rect r="r" b="b" t="t" l="l"/>
              <a:pathLst>
                <a:path h="1133856" w="22188805">
                  <a:moveTo>
                    <a:pt x="0" y="0"/>
                  </a:moveTo>
                  <a:lnTo>
                    <a:pt x="22188805" y="0"/>
                  </a:lnTo>
                  <a:lnTo>
                    <a:pt x="22188805" y="1133856"/>
                  </a:lnTo>
                  <a:lnTo>
                    <a:pt x="0" y="1133856"/>
                  </a:lnTo>
                  <a:close/>
                </a:path>
              </a:pathLst>
            </a:custGeom>
            <a:blipFill>
              <a:blip r:embed="rId3">
                <a:alphaModFix amt="0"/>
              </a:blip>
              <a:stretch>
                <a:fillRect l="0" t="-331043" r="0" b="-331045"/>
              </a:stretch>
            </a:blipFill>
          </p:spPr>
        </p:sp>
      </p:grpSp>
      <p:grpSp>
        <p:nvGrpSpPr>
          <p:cNvPr name="Group 14" id="14"/>
          <p:cNvGrpSpPr/>
          <p:nvPr/>
        </p:nvGrpSpPr>
        <p:grpSpPr>
          <a:xfrm rot="0">
            <a:off x="822960" y="822960"/>
            <a:ext cx="16642080" cy="850392"/>
            <a:chOff x="0" y="0"/>
            <a:chExt cx="22189440" cy="1133856"/>
          </a:xfrm>
        </p:grpSpPr>
        <p:sp>
          <p:nvSpPr>
            <p:cNvPr name="Freeform 15" id="15"/>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4">
                <a:alphaModFix amt="0"/>
              </a:blip>
              <a:stretch>
                <a:fillRect l="0" t="-331309" r="2" b="-331309"/>
              </a:stretch>
            </a:blipFill>
          </p:spPr>
        </p:sp>
        <p:sp>
          <p:nvSpPr>
            <p:cNvPr name="TextBox 16" id="16"/>
            <p:cNvSpPr txBox="true"/>
            <p:nvPr/>
          </p:nvSpPr>
          <p:spPr>
            <a:xfrm>
              <a:off x="0" y="-9525"/>
              <a:ext cx="22189440" cy="1143381"/>
            </a:xfrm>
            <a:prstGeom prst="rect">
              <a:avLst/>
            </a:prstGeom>
          </p:spPr>
          <p:txBody>
            <a:bodyPr anchor="ctr" rtlCol="false" tIns="0" lIns="0" bIns="0" rIns="0"/>
            <a:lstStyle/>
            <a:p>
              <a:pPr algn="l">
                <a:lnSpc>
                  <a:spcPts val="4500"/>
                </a:lnSpc>
              </a:pPr>
              <a:r>
                <a:rPr lang="en-US" sz="3750" b="true">
                  <a:solidFill>
                    <a:srgbClr val="203238"/>
                  </a:solidFill>
                  <a:latin typeface="Noto Sans Bold"/>
                  <a:ea typeface="Noto Sans Bold"/>
                  <a:cs typeface="Noto Sans Bold"/>
                  <a:sym typeface="Noto Sans Bold"/>
                </a:rPr>
                <a:t>03  한계점과 개선 방향</a:t>
              </a:r>
            </a:p>
          </p:txBody>
        </p:sp>
      </p:grpSp>
      <p:grpSp>
        <p:nvGrpSpPr>
          <p:cNvPr name="Group 17" id="17"/>
          <p:cNvGrpSpPr/>
          <p:nvPr/>
        </p:nvGrpSpPr>
        <p:grpSpPr>
          <a:xfrm rot="0">
            <a:off x="822960" y="1755648"/>
            <a:ext cx="16641623" cy="576072"/>
            <a:chOff x="0" y="0"/>
            <a:chExt cx="22188830" cy="768096"/>
          </a:xfrm>
        </p:grpSpPr>
        <p:sp>
          <p:nvSpPr>
            <p:cNvPr name="Freeform 18" id="18"/>
            <p:cNvSpPr/>
            <p:nvPr/>
          </p:nvSpPr>
          <p:spPr>
            <a:xfrm flipH="false" flipV="false" rot="0">
              <a:off x="0" y="0"/>
              <a:ext cx="22188805" cy="768096"/>
            </a:xfrm>
            <a:custGeom>
              <a:avLst/>
              <a:gdLst/>
              <a:ahLst/>
              <a:cxnLst/>
              <a:rect r="r" b="b" t="t" l="l"/>
              <a:pathLst>
                <a:path h="768096" w="22188805">
                  <a:moveTo>
                    <a:pt x="0" y="0"/>
                  </a:moveTo>
                  <a:lnTo>
                    <a:pt x="22188805" y="0"/>
                  </a:lnTo>
                  <a:lnTo>
                    <a:pt x="22188805" y="768096"/>
                  </a:lnTo>
                  <a:lnTo>
                    <a:pt x="0" y="768096"/>
                  </a:lnTo>
                  <a:close/>
                </a:path>
              </a:pathLst>
            </a:custGeom>
            <a:blipFill>
              <a:blip r:embed="rId3">
                <a:alphaModFix amt="0"/>
              </a:blip>
              <a:stretch>
                <a:fillRect l="0" t="-512493" r="0" b="-512495"/>
              </a:stretch>
            </a:blipFill>
          </p:spPr>
        </p:sp>
      </p:grpSp>
      <p:grpSp>
        <p:nvGrpSpPr>
          <p:cNvPr name="Group 19" id="19"/>
          <p:cNvGrpSpPr/>
          <p:nvPr/>
        </p:nvGrpSpPr>
        <p:grpSpPr>
          <a:xfrm rot="0">
            <a:off x="822960" y="1762125"/>
            <a:ext cx="16641623" cy="568928"/>
            <a:chOff x="0" y="0"/>
            <a:chExt cx="22188830" cy="758571"/>
          </a:xfrm>
        </p:grpSpPr>
        <p:sp>
          <p:nvSpPr>
            <p:cNvPr name="Freeform 20" id="20"/>
            <p:cNvSpPr/>
            <p:nvPr/>
          </p:nvSpPr>
          <p:spPr>
            <a:xfrm flipH="false" flipV="false" rot="0">
              <a:off x="0" y="0"/>
              <a:ext cx="22188830" cy="758571"/>
            </a:xfrm>
            <a:custGeom>
              <a:avLst/>
              <a:gdLst/>
              <a:ahLst/>
              <a:cxnLst/>
              <a:rect r="r" b="b" t="t" l="l"/>
              <a:pathLst>
                <a:path h="758571" w="22188830">
                  <a:moveTo>
                    <a:pt x="0" y="0"/>
                  </a:moveTo>
                  <a:lnTo>
                    <a:pt x="22188830" y="0"/>
                  </a:lnTo>
                  <a:lnTo>
                    <a:pt x="22188830" y="758571"/>
                  </a:lnTo>
                  <a:lnTo>
                    <a:pt x="0" y="758571"/>
                  </a:lnTo>
                  <a:close/>
                </a:path>
              </a:pathLst>
            </a:custGeom>
            <a:blipFill>
              <a:blip r:embed="rId4">
                <a:alphaModFix amt="0"/>
              </a:blip>
              <a:stretch>
                <a:fillRect l="0" t="-519953" r="0" b="-519953"/>
              </a:stretch>
            </a:blipFill>
          </p:spPr>
        </p:sp>
        <p:sp>
          <p:nvSpPr>
            <p:cNvPr name="TextBox 21" id="21"/>
            <p:cNvSpPr txBox="true"/>
            <p:nvPr/>
          </p:nvSpPr>
          <p:spPr>
            <a:xfrm>
              <a:off x="0" y="9525"/>
              <a:ext cx="22188830" cy="749046"/>
            </a:xfrm>
            <a:prstGeom prst="rect">
              <a:avLst/>
            </a:prstGeom>
          </p:spPr>
          <p:txBody>
            <a:bodyPr anchor="ctr" rtlCol="false" tIns="0" lIns="0" bIns="0" rIns="0"/>
            <a:lstStyle/>
            <a:p>
              <a:pPr algn="l">
                <a:lnSpc>
                  <a:spcPts val="2878"/>
                </a:lnSpc>
              </a:pPr>
              <a:r>
                <a:rPr lang="en-US" sz="2400">
                  <a:solidFill>
                    <a:srgbClr val="53666E"/>
                  </a:solidFill>
                  <a:latin typeface="Noto Sans"/>
                  <a:ea typeface="Noto Sans"/>
                  <a:cs typeface="Noto Sans"/>
                  <a:sym typeface="Noto Sans"/>
                </a:rPr>
                <a:t>가장 큰 한계는 검색 – 블라인드 테스트 오답 30건 중 </a:t>
              </a:r>
              <a:r>
                <a:rPr lang="en-US" sz="2400" b="true">
                  <a:solidFill>
                    <a:srgbClr val="53666E"/>
                  </a:solidFill>
                  <a:latin typeface="Noto Sans Bold"/>
                  <a:ea typeface="Noto Sans Bold"/>
                  <a:cs typeface="Noto Sans Bold"/>
                  <a:sym typeface="Noto Sans Bold"/>
                </a:rPr>
                <a:t>17건이 검색 누락</a:t>
              </a:r>
            </a:p>
          </p:txBody>
        </p:sp>
      </p:grpSp>
      <p:sp>
        <p:nvSpPr>
          <p:cNvPr name="TextBox 22" id="22"/>
          <p:cNvSpPr txBox="true"/>
          <p:nvPr/>
        </p:nvSpPr>
        <p:spPr>
          <a:xfrm rot="0">
            <a:off x="822960" y="3154680"/>
            <a:ext cx="1303020" cy="548640"/>
          </a:xfrm>
          <a:prstGeom prst="rect">
            <a:avLst/>
          </a:prstGeom>
        </p:spPr>
        <p:txBody>
          <a:bodyPr anchor="t" rtlCol="false" tIns="0" lIns="0" bIns="0" rIns="0">
            <a:spAutoFit/>
          </a:bodyPr>
          <a:lstStyle/>
          <a:p>
            <a:pPr algn="l">
              <a:lnSpc>
                <a:spcPts val="2700"/>
              </a:lnSpc>
            </a:pPr>
            <a:r>
              <a:rPr lang="en-US" sz="2250" b="true">
                <a:solidFill>
                  <a:srgbClr val="D9433A"/>
                </a:solidFill>
                <a:latin typeface="Noto Sans Bold"/>
                <a:ea typeface="Noto Sans Bold"/>
                <a:cs typeface="Noto Sans Bold"/>
                <a:sym typeface="Noto Sans Bold"/>
              </a:rPr>
              <a:t>한계점</a:t>
            </a:r>
          </a:p>
        </p:txBody>
      </p:sp>
      <p:sp>
        <p:nvSpPr>
          <p:cNvPr name="TextBox 23" id="23"/>
          <p:cNvSpPr txBox="true"/>
          <p:nvPr/>
        </p:nvSpPr>
        <p:spPr>
          <a:xfrm rot="0">
            <a:off x="822960" y="5966460"/>
            <a:ext cx="1303020" cy="891540"/>
          </a:xfrm>
          <a:prstGeom prst="rect">
            <a:avLst/>
          </a:prstGeom>
        </p:spPr>
        <p:txBody>
          <a:bodyPr anchor="t" rtlCol="false" tIns="0" lIns="0" bIns="0" rIns="0">
            <a:spAutoFit/>
          </a:bodyPr>
          <a:lstStyle/>
          <a:p>
            <a:pPr algn="l">
              <a:lnSpc>
                <a:spcPts val="2700"/>
              </a:lnSpc>
            </a:pPr>
            <a:r>
              <a:rPr lang="en-US" sz="2250" b="true">
                <a:solidFill>
                  <a:srgbClr val="1F6F63"/>
                </a:solidFill>
                <a:latin typeface="Noto Sans Bold"/>
                <a:ea typeface="Noto Sans Bold"/>
                <a:cs typeface="Noto Sans Bold"/>
                <a:sym typeface="Noto Sans Bold"/>
              </a:rPr>
              <a:t>향후 계획</a:t>
            </a:r>
          </a:p>
        </p:txBody>
      </p:sp>
      <p:sp>
        <p:nvSpPr>
          <p:cNvPr name="Freeform 24" id="24"/>
          <p:cNvSpPr/>
          <p:nvPr/>
        </p:nvSpPr>
        <p:spPr>
          <a:xfrm flipH="false" flipV="false" rot="0">
            <a:off x="2246471" y="2657951"/>
            <a:ext cx="5067300" cy="2433638"/>
          </a:xfrm>
          <a:custGeom>
            <a:avLst/>
            <a:gdLst/>
            <a:ahLst/>
            <a:cxnLst/>
            <a:rect r="r" b="b" t="t" l="l"/>
            <a:pathLst>
              <a:path h="2433638" w="5067300">
                <a:moveTo>
                  <a:pt x="0" y="0"/>
                </a:moveTo>
                <a:lnTo>
                  <a:pt x="5067300" y="0"/>
                </a:lnTo>
                <a:lnTo>
                  <a:pt x="5067300" y="2433638"/>
                </a:lnTo>
                <a:lnTo>
                  <a:pt x="0" y="2433638"/>
                </a:lnTo>
                <a:lnTo>
                  <a:pt x="0" y="0"/>
                </a:lnTo>
                <a:close/>
              </a:path>
            </a:pathLst>
          </a:custGeom>
          <a:blipFill>
            <a:blip r:embed="rId5">
              <a:extLst>
                <a:ext uri="{96DAC541-7B7A-43D3-8B79-37D633B846F1}">
                  <asvg:svgBlip xmlns:asvg="http://schemas.microsoft.com/office/drawing/2016/SVG/main" r:embed="rId6"/>
                </a:ext>
              </a:extLst>
            </a:blip>
            <a:stretch>
              <a:fillRect l="0" t="0" r="0" b="-33166"/>
            </a:stretch>
          </a:blipFill>
        </p:spPr>
      </p:sp>
      <p:grpSp>
        <p:nvGrpSpPr>
          <p:cNvPr name="Group 25" id="25"/>
          <p:cNvGrpSpPr/>
          <p:nvPr/>
        </p:nvGrpSpPr>
        <p:grpSpPr>
          <a:xfrm rot="0">
            <a:off x="2537460" y="2880360"/>
            <a:ext cx="548640" cy="548640"/>
            <a:chOff x="0" y="0"/>
            <a:chExt cx="731520" cy="731520"/>
          </a:xfrm>
        </p:grpSpPr>
        <p:sp>
          <p:nvSpPr>
            <p:cNvPr name="Freeform 26" id="26"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7"/>
              <a:stretch>
                <a:fillRect l="0" t="0" r="0" b="0"/>
              </a:stretch>
            </a:blipFill>
          </p:spPr>
        </p:sp>
      </p:grpSp>
      <p:grpSp>
        <p:nvGrpSpPr>
          <p:cNvPr name="Group 27" id="27"/>
          <p:cNvGrpSpPr/>
          <p:nvPr/>
        </p:nvGrpSpPr>
        <p:grpSpPr>
          <a:xfrm rot="0">
            <a:off x="3223260" y="2880360"/>
            <a:ext cx="3867150" cy="548640"/>
            <a:chOff x="0" y="0"/>
            <a:chExt cx="5156200" cy="731520"/>
          </a:xfrm>
        </p:grpSpPr>
        <p:sp>
          <p:nvSpPr>
            <p:cNvPr name="Freeform 28" id="28"/>
            <p:cNvSpPr/>
            <p:nvPr/>
          </p:nvSpPr>
          <p:spPr>
            <a:xfrm flipH="false" flipV="false" rot="0">
              <a:off x="0" y="0"/>
              <a:ext cx="5156200" cy="731520"/>
            </a:xfrm>
            <a:custGeom>
              <a:avLst/>
              <a:gdLst/>
              <a:ahLst/>
              <a:cxnLst/>
              <a:rect r="r" b="b" t="t" l="l"/>
              <a:pathLst>
                <a:path h="731520" w="5156200">
                  <a:moveTo>
                    <a:pt x="0" y="0"/>
                  </a:moveTo>
                  <a:lnTo>
                    <a:pt x="5156200" y="0"/>
                  </a:lnTo>
                  <a:lnTo>
                    <a:pt x="5156200" y="731520"/>
                  </a:lnTo>
                  <a:lnTo>
                    <a:pt x="0" y="731520"/>
                  </a:lnTo>
                  <a:close/>
                </a:path>
              </a:pathLst>
            </a:custGeom>
            <a:blipFill>
              <a:blip r:embed="rId3">
                <a:alphaModFix amt="0"/>
              </a:blip>
              <a:stretch>
                <a:fillRect l="0" t="-63051" r="0" b="-111442"/>
              </a:stretch>
            </a:blipFill>
          </p:spPr>
        </p:sp>
      </p:grpSp>
      <p:grpSp>
        <p:nvGrpSpPr>
          <p:cNvPr name="Group 29" id="29"/>
          <p:cNvGrpSpPr/>
          <p:nvPr/>
        </p:nvGrpSpPr>
        <p:grpSpPr>
          <a:xfrm rot="0">
            <a:off x="3223260" y="2880360"/>
            <a:ext cx="3867150" cy="548640"/>
            <a:chOff x="0" y="0"/>
            <a:chExt cx="5156200" cy="731520"/>
          </a:xfrm>
        </p:grpSpPr>
        <p:sp>
          <p:nvSpPr>
            <p:cNvPr name="Freeform 30" id="30"/>
            <p:cNvSpPr/>
            <p:nvPr/>
          </p:nvSpPr>
          <p:spPr>
            <a:xfrm flipH="false" flipV="false" rot="0">
              <a:off x="0" y="0"/>
              <a:ext cx="5156200" cy="731520"/>
            </a:xfrm>
            <a:custGeom>
              <a:avLst/>
              <a:gdLst/>
              <a:ahLst/>
              <a:cxnLst/>
              <a:rect r="r" b="b" t="t" l="l"/>
              <a:pathLst>
                <a:path h="731520" w="5156200">
                  <a:moveTo>
                    <a:pt x="0" y="0"/>
                  </a:moveTo>
                  <a:lnTo>
                    <a:pt x="5156200" y="0"/>
                  </a:lnTo>
                  <a:lnTo>
                    <a:pt x="5156200" y="731520"/>
                  </a:lnTo>
                  <a:lnTo>
                    <a:pt x="0" y="731520"/>
                  </a:lnTo>
                  <a:close/>
                </a:path>
              </a:pathLst>
            </a:custGeom>
            <a:blipFill>
              <a:blip r:embed="rId4">
                <a:alphaModFix amt="0"/>
              </a:blip>
              <a:stretch>
                <a:fillRect l="0" t="-42553" r="32610" b="-42553"/>
              </a:stretch>
            </a:blipFill>
          </p:spPr>
        </p:sp>
        <p:sp>
          <p:nvSpPr>
            <p:cNvPr name="TextBox 31" id="31"/>
            <p:cNvSpPr txBox="true"/>
            <p:nvPr/>
          </p:nvSpPr>
          <p:spPr>
            <a:xfrm>
              <a:off x="0" y="0"/>
              <a:ext cx="5156200" cy="731520"/>
            </a:xfrm>
            <a:prstGeom prst="rect">
              <a:avLst/>
            </a:prstGeom>
          </p:spPr>
          <p:txBody>
            <a:bodyPr anchor="ctr" rtlCol="false" tIns="0" lIns="0" bIns="0" rIns="0"/>
            <a:lstStyle/>
            <a:p>
              <a:pPr algn="l">
                <a:lnSpc>
                  <a:spcPts val="2700"/>
                </a:lnSpc>
              </a:pPr>
              <a:r>
                <a:rPr lang="en-US" sz="2250" b="true">
                  <a:solidFill>
                    <a:srgbClr val="1B2B2E"/>
                  </a:solidFill>
                  <a:latin typeface="Noto Sans Bold"/>
                  <a:ea typeface="Noto Sans Bold"/>
                  <a:cs typeface="Noto Sans Bold"/>
                  <a:sym typeface="Noto Sans Bold"/>
                </a:rPr>
                <a:t>검색 누락</a:t>
              </a:r>
            </a:p>
          </p:txBody>
        </p:sp>
      </p:grpSp>
      <p:sp>
        <p:nvSpPr>
          <p:cNvPr name="TextBox 32" id="32"/>
          <p:cNvSpPr txBox="true"/>
          <p:nvPr/>
        </p:nvSpPr>
        <p:spPr>
          <a:xfrm rot="0">
            <a:off x="2537460" y="3634740"/>
            <a:ext cx="4486275" cy="571500"/>
          </a:xfrm>
          <a:prstGeom prst="rect">
            <a:avLst/>
          </a:prstGeom>
        </p:spPr>
        <p:txBody>
          <a:bodyPr anchor="t" rtlCol="false" tIns="0" lIns="0" bIns="0" rIns="0">
            <a:spAutoFit/>
          </a:bodyPr>
          <a:lstStyle/>
          <a:p>
            <a:pPr algn="l">
              <a:lnSpc>
                <a:spcPts val="2250"/>
              </a:lnSpc>
            </a:pPr>
            <a:r>
              <a:rPr lang="en-US" sz="1875">
                <a:solidFill>
                  <a:srgbClr val="45545A"/>
                </a:solidFill>
                <a:latin typeface="Noto Sans"/>
                <a:ea typeface="Noto Sans"/>
                <a:cs typeface="Noto Sans"/>
                <a:sym typeface="Noto Sans"/>
              </a:rPr>
              <a:t>블라인드 테스트 오답 17/30이 검색 단계 실패</a:t>
            </a:r>
          </a:p>
        </p:txBody>
      </p:sp>
      <p:sp>
        <p:nvSpPr>
          <p:cNvPr name="Freeform 33" id="33"/>
          <p:cNvSpPr/>
          <p:nvPr/>
        </p:nvSpPr>
        <p:spPr>
          <a:xfrm flipH="false" flipV="false" rot="0">
            <a:off x="2246471" y="5469731"/>
            <a:ext cx="5067300" cy="2433638"/>
          </a:xfrm>
          <a:custGeom>
            <a:avLst/>
            <a:gdLst/>
            <a:ahLst/>
            <a:cxnLst/>
            <a:rect r="r" b="b" t="t" l="l"/>
            <a:pathLst>
              <a:path h="2433638" w="5067300">
                <a:moveTo>
                  <a:pt x="0" y="0"/>
                </a:moveTo>
                <a:lnTo>
                  <a:pt x="5067300" y="0"/>
                </a:lnTo>
                <a:lnTo>
                  <a:pt x="5067300" y="2433638"/>
                </a:lnTo>
                <a:lnTo>
                  <a:pt x="0" y="2433638"/>
                </a:lnTo>
                <a:lnTo>
                  <a:pt x="0" y="0"/>
                </a:lnTo>
                <a:close/>
              </a:path>
            </a:pathLst>
          </a:custGeom>
          <a:blipFill>
            <a:blip r:embed="rId8">
              <a:extLst>
                <a:ext uri="{96DAC541-7B7A-43D3-8B79-37D633B846F1}">
                  <asvg:svgBlip xmlns:asvg="http://schemas.microsoft.com/office/drawing/2016/SVG/main" r:embed="rId9"/>
                </a:ext>
              </a:extLst>
            </a:blip>
            <a:stretch>
              <a:fillRect l="0" t="0" r="0" b="-33166"/>
            </a:stretch>
          </a:blipFill>
        </p:spPr>
      </p:sp>
      <p:sp>
        <p:nvSpPr>
          <p:cNvPr name="TextBox 34" id="34"/>
          <p:cNvSpPr txBox="true"/>
          <p:nvPr/>
        </p:nvSpPr>
        <p:spPr>
          <a:xfrm rot="0">
            <a:off x="2537460" y="5692140"/>
            <a:ext cx="4486275" cy="314325"/>
          </a:xfrm>
          <a:prstGeom prst="rect">
            <a:avLst/>
          </a:prstGeom>
        </p:spPr>
        <p:txBody>
          <a:bodyPr anchor="t" rtlCol="false" tIns="0" lIns="0" bIns="0" rIns="0">
            <a:spAutoFit/>
          </a:bodyPr>
          <a:lstStyle/>
          <a:p>
            <a:pPr algn="l">
              <a:lnSpc>
                <a:spcPts val="2520"/>
              </a:lnSpc>
            </a:pPr>
            <a:r>
              <a:rPr lang="en-US" sz="2100" b="true">
                <a:solidFill>
                  <a:srgbClr val="1F6F63"/>
                </a:solidFill>
                <a:latin typeface="Noto Sans Bold"/>
                <a:ea typeface="Noto Sans Bold"/>
                <a:cs typeface="Noto Sans Bold"/>
                <a:sym typeface="Noto Sans Bold"/>
              </a:rPr>
              <a:t>카드 우선 검색 + 인계 기록 전용 경로</a:t>
            </a:r>
          </a:p>
        </p:txBody>
      </p:sp>
      <p:sp>
        <p:nvSpPr>
          <p:cNvPr name="TextBox 35" id="35"/>
          <p:cNvSpPr txBox="true"/>
          <p:nvPr/>
        </p:nvSpPr>
        <p:spPr>
          <a:xfrm rot="0">
            <a:off x="2537460" y="6789420"/>
            <a:ext cx="4486275" cy="285750"/>
          </a:xfrm>
          <a:prstGeom prst="rect">
            <a:avLst/>
          </a:prstGeom>
        </p:spPr>
        <p:txBody>
          <a:bodyPr anchor="t" rtlCol="false" tIns="0" lIns="0" bIns="0" rIns="0">
            <a:spAutoFit/>
          </a:bodyPr>
          <a:lstStyle/>
          <a:p>
            <a:pPr algn="l">
              <a:lnSpc>
                <a:spcPts val="2250"/>
              </a:lnSpc>
            </a:pPr>
            <a:r>
              <a:rPr lang="en-US" sz="1875">
                <a:solidFill>
                  <a:srgbClr val="1B2B2E"/>
                </a:solidFill>
                <a:latin typeface="Noto Sans"/>
                <a:ea typeface="Noto Sans"/>
                <a:cs typeface="Noto Sans"/>
                <a:sym typeface="Noto Sans"/>
              </a:rPr>
              <a:t>시뮬레이션 104 → 113/128</a:t>
            </a:r>
          </a:p>
        </p:txBody>
      </p:sp>
      <p:sp>
        <p:nvSpPr>
          <p:cNvPr name="Freeform 36" id="36"/>
          <p:cNvSpPr/>
          <p:nvPr/>
        </p:nvSpPr>
        <p:spPr>
          <a:xfrm flipH="false" flipV="false" rot="0">
            <a:off x="4557712" y="5085683"/>
            <a:ext cx="444817" cy="376238"/>
          </a:xfrm>
          <a:custGeom>
            <a:avLst/>
            <a:gdLst/>
            <a:ahLst/>
            <a:cxnLst/>
            <a:rect r="r" b="b" t="t" l="l"/>
            <a:pathLst>
              <a:path h="376238" w="444817">
                <a:moveTo>
                  <a:pt x="0" y="0"/>
                </a:moveTo>
                <a:lnTo>
                  <a:pt x="444818" y="0"/>
                </a:lnTo>
                <a:lnTo>
                  <a:pt x="444818" y="376238"/>
                </a:lnTo>
                <a:lnTo>
                  <a:pt x="0" y="37623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7" id="37"/>
          <p:cNvSpPr/>
          <p:nvPr/>
        </p:nvSpPr>
        <p:spPr>
          <a:xfrm flipH="false" flipV="false" rot="0">
            <a:off x="7318534" y="2657951"/>
            <a:ext cx="5067300" cy="2433638"/>
          </a:xfrm>
          <a:custGeom>
            <a:avLst/>
            <a:gdLst/>
            <a:ahLst/>
            <a:cxnLst/>
            <a:rect r="r" b="b" t="t" l="l"/>
            <a:pathLst>
              <a:path h="2433638" w="5067300">
                <a:moveTo>
                  <a:pt x="0" y="0"/>
                </a:moveTo>
                <a:lnTo>
                  <a:pt x="5067300" y="0"/>
                </a:lnTo>
                <a:lnTo>
                  <a:pt x="5067300" y="2433638"/>
                </a:lnTo>
                <a:lnTo>
                  <a:pt x="0" y="2433638"/>
                </a:lnTo>
                <a:lnTo>
                  <a:pt x="0" y="0"/>
                </a:lnTo>
                <a:close/>
              </a:path>
            </a:pathLst>
          </a:custGeom>
          <a:blipFill>
            <a:blip r:embed="rId5">
              <a:extLst>
                <a:ext uri="{96DAC541-7B7A-43D3-8B79-37D633B846F1}">
                  <asvg:svgBlip xmlns:asvg="http://schemas.microsoft.com/office/drawing/2016/SVG/main" r:embed="rId6"/>
                </a:ext>
              </a:extLst>
            </a:blip>
            <a:stretch>
              <a:fillRect l="0" t="0" r="0" b="-33166"/>
            </a:stretch>
          </a:blipFill>
        </p:spPr>
      </p:sp>
      <p:grpSp>
        <p:nvGrpSpPr>
          <p:cNvPr name="Group 38" id="38"/>
          <p:cNvGrpSpPr/>
          <p:nvPr/>
        </p:nvGrpSpPr>
        <p:grpSpPr>
          <a:xfrm rot="0">
            <a:off x="7609523" y="2880360"/>
            <a:ext cx="548640" cy="548640"/>
            <a:chOff x="0" y="0"/>
            <a:chExt cx="731520" cy="731520"/>
          </a:xfrm>
        </p:grpSpPr>
        <p:sp>
          <p:nvSpPr>
            <p:cNvPr name="Freeform 39" id="39"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12"/>
              <a:stretch>
                <a:fillRect l="0" t="0" r="0" b="0"/>
              </a:stretch>
            </a:blipFill>
          </p:spPr>
        </p:sp>
      </p:grpSp>
      <p:grpSp>
        <p:nvGrpSpPr>
          <p:cNvPr name="Group 40" id="40"/>
          <p:cNvGrpSpPr/>
          <p:nvPr/>
        </p:nvGrpSpPr>
        <p:grpSpPr>
          <a:xfrm rot="0">
            <a:off x="8295323" y="2880360"/>
            <a:ext cx="3867150" cy="548640"/>
            <a:chOff x="0" y="0"/>
            <a:chExt cx="5156200" cy="731520"/>
          </a:xfrm>
        </p:grpSpPr>
        <p:sp>
          <p:nvSpPr>
            <p:cNvPr name="Freeform 41" id="41"/>
            <p:cNvSpPr/>
            <p:nvPr/>
          </p:nvSpPr>
          <p:spPr>
            <a:xfrm flipH="false" flipV="false" rot="0">
              <a:off x="0" y="0"/>
              <a:ext cx="5156200" cy="731520"/>
            </a:xfrm>
            <a:custGeom>
              <a:avLst/>
              <a:gdLst/>
              <a:ahLst/>
              <a:cxnLst/>
              <a:rect r="r" b="b" t="t" l="l"/>
              <a:pathLst>
                <a:path h="731520" w="5156200">
                  <a:moveTo>
                    <a:pt x="0" y="0"/>
                  </a:moveTo>
                  <a:lnTo>
                    <a:pt x="5156200" y="0"/>
                  </a:lnTo>
                  <a:lnTo>
                    <a:pt x="5156200" y="731520"/>
                  </a:lnTo>
                  <a:lnTo>
                    <a:pt x="0" y="731520"/>
                  </a:lnTo>
                  <a:close/>
                </a:path>
              </a:pathLst>
            </a:custGeom>
            <a:blipFill>
              <a:blip r:embed="rId3">
                <a:alphaModFix amt="0"/>
              </a:blip>
              <a:stretch>
                <a:fillRect l="0" t="-63051" r="0" b="-111442"/>
              </a:stretch>
            </a:blipFill>
          </p:spPr>
        </p:sp>
      </p:grpSp>
      <p:grpSp>
        <p:nvGrpSpPr>
          <p:cNvPr name="Group 42" id="42"/>
          <p:cNvGrpSpPr/>
          <p:nvPr/>
        </p:nvGrpSpPr>
        <p:grpSpPr>
          <a:xfrm rot="0">
            <a:off x="8295323" y="2880360"/>
            <a:ext cx="3867150" cy="548640"/>
            <a:chOff x="0" y="0"/>
            <a:chExt cx="5156200" cy="731520"/>
          </a:xfrm>
        </p:grpSpPr>
        <p:sp>
          <p:nvSpPr>
            <p:cNvPr name="Freeform 43" id="43"/>
            <p:cNvSpPr/>
            <p:nvPr/>
          </p:nvSpPr>
          <p:spPr>
            <a:xfrm flipH="false" flipV="false" rot="0">
              <a:off x="0" y="0"/>
              <a:ext cx="5156200" cy="731520"/>
            </a:xfrm>
            <a:custGeom>
              <a:avLst/>
              <a:gdLst/>
              <a:ahLst/>
              <a:cxnLst/>
              <a:rect r="r" b="b" t="t" l="l"/>
              <a:pathLst>
                <a:path h="731520" w="5156200">
                  <a:moveTo>
                    <a:pt x="0" y="0"/>
                  </a:moveTo>
                  <a:lnTo>
                    <a:pt x="5156200" y="0"/>
                  </a:lnTo>
                  <a:lnTo>
                    <a:pt x="5156200" y="731520"/>
                  </a:lnTo>
                  <a:lnTo>
                    <a:pt x="0" y="731520"/>
                  </a:lnTo>
                  <a:close/>
                </a:path>
              </a:pathLst>
            </a:custGeom>
            <a:blipFill>
              <a:blip r:embed="rId4">
                <a:alphaModFix amt="0"/>
              </a:blip>
              <a:stretch>
                <a:fillRect l="0" t="-42553" r="32610" b="-42553"/>
              </a:stretch>
            </a:blipFill>
          </p:spPr>
        </p:sp>
        <p:sp>
          <p:nvSpPr>
            <p:cNvPr name="TextBox 44" id="44"/>
            <p:cNvSpPr txBox="true"/>
            <p:nvPr/>
          </p:nvSpPr>
          <p:spPr>
            <a:xfrm>
              <a:off x="0" y="0"/>
              <a:ext cx="5156200" cy="731520"/>
            </a:xfrm>
            <a:prstGeom prst="rect">
              <a:avLst/>
            </a:prstGeom>
          </p:spPr>
          <p:txBody>
            <a:bodyPr anchor="ctr" rtlCol="false" tIns="0" lIns="0" bIns="0" rIns="0"/>
            <a:lstStyle/>
            <a:p>
              <a:pPr algn="l">
                <a:lnSpc>
                  <a:spcPts val="2700"/>
                </a:lnSpc>
              </a:pPr>
              <a:r>
                <a:rPr lang="en-US" sz="2250" b="true">
                  <a:solidFill>
                    <a:srgbClr val="1B2B2E"/>
                  </a:solidFill>
                  <a:latin typeface="Noto Sans Bold"/>
                  <a:ea typeface="Noto Sans Bold"/>
                  <a:cs typeface="Noto Sans Bold"/>
                  <a:sym typeface="Noto Sans Bold"/>
                </a:rPr>
                <a:t>장비 자원</a:t>
              </a:r>
            </a:p>
          </p:txBody>
        </p:sp>
      </p:grpSp>
      <p:sp>
        <p:nvSpPr>
          <p:cNvPr name="TextBox 45" id="45"/>
          <p:cNvSpPr txBox="true"/>
          <p:nvPr/>
        </p:nvSpPr>
        <p:spPr>
          <a:xfrm rot="0">
            <a:off x="7609523" y="3634740"/>
            <a:ext cx="4486275" cy="285750"/>
          </a:xfrm>
          <a:prstGeom prst="rect">
            <a:avLst/>
          </a:prstGeom>
        </p:spPr>
        <p:txBody>
          <a:bodyPr anchor="t" rtlCol="false" tIns="0" lIns="0" bIns="0" rIns="0">
            <a:spAutoFit/>
          </a:bodyPr>
          <a:lstStyle/>
          <a:p>
            <a:pPr algn="l">
              <a:lnSpc>
                <a:spcPts val="2250"/>
              </a:lnSpc>
            </a:pPr>
            <a:r>
              <a:rPr lang="en-US" sz="1875">
                <a:solidFill>
                  <a:srgbClr val="45545A"/>
                </a:solidFill>
                <a:latin typeface="Noto Sans"/>
                <a:ea typeface="Noto Sans"/>
                <a:cs typeface="Noto Sans"/>
                <a:sym typeface="Noto Sans"/>
              </a:rPr>
              <a:t>p95 10.5초 · 여유 메모리 1,035MiB</a:t>
            </a:r>
          </a:p>
        </p:txBody>
      </p:sp>
      <p:sp>
        <p:nvSpPr>
          <p:cNvPr name="Freeform 46" id="46"/>
          <p:cNvSpPr/>
          <p:nvPr/>
        </p:nvSpPr>
        <p:spPr>
          <a:xfrm flipH="false" flipV="false" rot="0">
            <a:off x="7318534" y="5469731"/>
            <a:ext cx="5067300" cy="2433638"/>
          </a:xfrm>
          <a:custGeom>
            <a:avLst/>
            <a:gdLst/>
            <a:ahLst/>
            <a:cxnLst/>
            <a:rect r="r" b="b" t="t" l="l"/>
            <a:pathLst>
              <a:path h="2433638" w="5067300">
                <a:moveTo>
                  <a:pt x="0" y="0"/>
                </a:moveTo>
                <a:lnTo>
                  <a:pt x="5067300" y="0"/>
                </a:lnTo>
                <a:lnTo>
                  <a:pt x="5067300" y="2433638"/>
                </a:lnTo>
                <a:lnTo>
                  <a:pt x="0" y="2433638"/>
                </a:lnTo>
                <a:lnTo>
                  <a:pt x="0" y="0"/>
                </a:lnTo>
                <a:close/>
              </a:path>
            </a:pathLst>
          </a:custGeom>
          <a:blipFill>
            <a:blip r:embed="rId8">
              <a:extLst>
                <a:ext uri="{96DAC541-7B7A-43D3-8B79-37D633B846F1}">
                  <asvg:svgBlip xmlns:asvg="http://schemas.microsoft.com/office/drawing/2016/SVG/main" r:embed="rId9"/>
                </a:ext>
              </a:extLst>
            </a:blip>
            <a:stretch>
              <a:fillRect l="0" t="0" r="0" b="-33166"/>
            </a:stretch>
          </a:blipFill>
        </p:spPr>
      </p:sp>
      <p:sp>
        <p:nvSpPr>
          <p:cNvPr name="TextBox 47" id="47"/>
          <p:cNvSpPr txBox="true"/>
          <p:nvPr/>
        </p:nvSpPr>
        <p:spPr>
          <a:xfrm rot="0">
            <a:off x="7609523" y="5692140"/>
            <a:ext cx="4486275" cy="314325"/>
          </a:xfrm>
          <a:prstGeom prst="rect">
            <a:avLst/>
          </a:prstGeom>
        </p:spPr>
        <p:txBody>
          <a:bodyPr anchor="t" rtlCol="false" tIns="0" lIns="0" bIns="0" rIns="0">
            <a:spAutoFit/>
          </a:bodyPr>
          <a:lstStyle/>
          <a:p>
            <a:pPr algn="l">
              <a:lnSpc>
                <a:spcPts val="2520"/>
              </a:lnSpc>
            </a:pPr>
            <a:r>
              <a:rPr lang="en-US" sz="2100" b="true">
                <a:solidFill>
                  <a:srgbClr val="1F6F63"/>
                </a:solidFill>
                <a:latin typeface="Noto Sans Bold"/>
                <a:ea typeface="Noto Sans Bold"/>
                <a:cs typeface="Noto Sans Bold"/>
                <a:sym typeface="Noto Sans Bold"/>
              </a:rPr>
              <a:t>판정 호출 축소 · 모델 통합</a:t>
            </a:r>
          </a:p>
        </p:txBody>
      </p:sp>
      <p:sp>
        <p:nvSpPr>
          <p:cNvPr name="TextBox 48" id="48"/>
          <p:cNvSpPr txBox="true"/>
          <p:nvPr/>
        </p:nvSpPr>
        <p:spPr>
          <a:xfrm rot="0">
            <a:off x="7609523" y="6789420"/>
            <a:ext cx="4486275" cy="285750"/>
          </a:xfrm>
          <a:prstGeom prst="rect">
            <a:avLst/>
          </a:prstGeom>
        </p:spPr>
        <p:txBody>
          <a:bodyPr anchor="t" rtlCol="false" tIns="0" lIns="0" bIns="0" rIns="0">
            <a:spAutoFit/>
          </a:bodyPr>
          <a:lstStyle/>
          <a:p>
            <a:pPr algn="l">
              <a:lnSpc>
                <a:spcPts val="2250"/>
              </a:lnSpc>
            </a:pPr>
            <a:r>
              <a:rPr lang="en-US" sz="1875">
                <a:solidFill>
                  <a:srgbClr val="1B2B2E"/>
                </a:solidFill>
                <a:latin typeface="Noto Sans"/>
                <a:ea typeface="Noto Sans"/>
                <a:cs typeface="Noto Sans"/>
                <a:sym typeface="Noto Sans"/>
              </a:rPr>
              <a:t>응답 10초 이내 목표</a:t>
            </a:r>
          </a:p>
        </p:txBody>
      </p:sp>
      <p:sp>
        <p:nvSpPr>
          <p:cNvPr name="Freeform 49" id="49"/>
          <p:cNvSpPr/>
          <p:nvPr/>
        </p:nvSpPr>
        <p:spPr>
          <a:xfrm flipH="false" flipV="false" rot="0">
            <a:off x="9629775" y="5085683"/>
            <a:ext cx="444817" cy="376238"/>
          </a:xfrm>
          <a:custGeom>
            <a:avLst/>
            <a:gdLst/>
            <a:ahLst/>
            <a:cxnLst/>
            <a:rect r="r" b="b" t="t" l="l"/>
            <a:pathLst>
              <a:path h="376238" w="444817">
                <a:moveTo>
                  <a:pt x="0" y="0"/>
                </a:moveTo>
                <a:lnTo>
                  <a:pt x="444817" y="0"/>
                </a:lnTo>
                <a:lnTo>
                  <a:pt x="444817" y="376238"/>
                </a:lnTo>
                <a:lnTo>
                  <a:pt x="0" y="37623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50" id="50"/>
          <p:cNvSpPr/>
          <p:nvPr/>
        </p:nvSpPr>
        <p:spPr>
          <a:xfrm flipH="false" flipV="false" rot="0">
            <a:off x="12390596" y="2657951"/>
            <a:ext cx="5067300" cy="2433638"/>
          </a:xfrm>
          <a:custGeom>
            <a:avLst/>
            <a:gdLst/>
            <a:ahLst/>
            <a:cxnLst/>
            <a:rect r="r" b="b" t="t" l="l"/>
            <a:pathLst>
              <a:path h="2433638" w="5067300">
                <a:moveTo>
                  <a:pt x="0" y="0"/>
                </a:moveTo>
                <a:lnTo>
                  <a:pt x="5067300" y="0"/>
                </a:lnTo>
                <a:lnTo>
                  <a:pt x="5067300" y="2433638"/>
                </a:lnTo>
                <a:lnTo>
                  <a:pt x="0" y="2433638"/>
                </a:lnTo>
                <a:lnTo>
                  <a:pt x="0" y="0"/>
                </a:lnTo>
                <a:close/>
              </a:path>
            </a:pathLst>
          </a:custGeom>
          <a:blipFill>
            <a:blip r:embed="rId5">
              <a:extLst>
                <a:ext uri="{96DAC541-7B7A-43D3-8B79-37D633B846F1}">
                  <asvg:svgBlip xmlns:asvg="http://schemas.microsoft.com/office/drawing/2016/SVG/main" r:embed="rId6"/>
                </a:ext>
              </a:extLst>
            </a:blip>
            <a:stretch>
              <a:fillRect l="0" t="0" r="0" b="-33166"/>
            </a:stretch>
          </a:blipFill>
        </p:spPr>
      </p:sp>
      <p:grpSp>
        <p:nvGrpSpPr>
          <p:cNvPr name="Group 51" id="51"/>
          <p:cNvGrpSpPr/>
          <p:nvPr/>
        </p:nvGrpSpPr>
        <p:grpSpPr>
          <a:xfrm rot="0">
            <a:off x="12681585" y="2880360"/>
            <a:ext cx="548640" cy="548640"/>
            <a:chOff x="0" y="0"/>
            <a:chExt cx="731520" cy="731520"/>
          </a:xfrm>
        </p:grpSpPr>
        <p:sp>
          <p:nvSpPr>
            <p:cNvPr name="Freeform 52" id="52"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13"/>
              <a:stretch>
                <a:fillRect l="0" t="0" r="0" b="0"/>
              </a:stretch>
            </a:blipFill>
          </p:spPr>
        </p:sp>
      </p:grpSp>
      <p:grpSp>
        <p:nvGrpSpPr>
          <p:cNvPr name="Group 53" id="53"/>
          <p:cNvGrpSpPr/>
          <p:nvPr/>
        </p:nvGrpSpPr>
        <p:grpSpPr>
          <a:xfrm rot="0">
            <a:off x="13367385" y="2880360"/>
            <a:ext cx="3867150" cy="548640"/>
            <a:chOff x="0" y="0"/>
            <a:chExt cx="5156200" cy="731520"/>
          </a:xfrm>
        </p:grpSpPr>
        <p:sp>
          <p:nvSpPr>
            <p:cNvPr name="Freeform 54" id="54"/>
            <p:cNvSpPr/>
            <p:nvPr/>
          </p:nvSpPr>
          <p:spPr>
            <a:xfrm flipH="false" flipV="false" rot="0">
              <a:off x="0" y="0"/>
              <a:ext cx="5156200" cy="731520"/>
            </a:xfrm>
            <a:custGeom>
              <a:avLst/>
              <a:gdLst/>
              <a:ahLst/>
              <a:cxnLst/>
              <a:rect r="r" b="b" t="t" l="l"/>
              <a:pathLst>
                <a:path h="731520" w="5156200">
                  <a:moveTo>
                    <a:pt x="0" y="0"/>
                  </a:moveTo>
                  <a:lnTo>
                    <a:pt x="5156200" y="0"/>
                  </a:lnTo>
                  <a:lnTo>
                    <a:pt x="5156200" y="731520"/>
                  </a:lnTo>
                  <a:lnTo>
                    <a:pt x="0" y="731520"/>
                  </a:lnTo>
                  <a:close/>
                </a:path>
              </a:pathLst>
            </a:custGeom>
            <a:blipFill>
              <a:blip r:embed="rId3">
                <a:alphaModFix amt="0"/>
              </a:blip>
              <a:stretch>
                <a:fillRect l="0" t="-63051" r="0" b="-111442"/>
              </a:stretch>
            </a:blipFill>
          </p:spPr>
        </p:sp>
      </p:grpSp>
      <p:grpSp>
        <p:nvGrpSpPr>
          <p:cNvPr name="Group 55" id="55"/>
          <p:cNvGrpSpPr/>
          <p:nvPr/>
        </p:nvGrpSpPr>
        <p:grpSpPr>
          <a:xfrm rot="0">
            <a:off x="13367385" y="2880360"/>
            <a:ext cx="3867150" cy="548640"/>
            <a:chOff x="0" y="0"/>
            <a:chExt cx="5156200" cy="731520"/>
          </a:xfrm>
        </p:grpSpPr>
        <p:sp>
          <p:nvSpPr>
            <p:cNvPr name="Freeform 56" id="56"/>
            <p:cNvSpPr/>
            <p:nvPr/>
          </p:nvSpPr>
          <p:spPr>
            <a:xfrm flipH="false" flipV="false" rot="0">
              <a:off x="0" y="0"/>
              <a:ext cx="5156200" cy="731520"/>
            </a:xfrm>
            <a:custGeom>
              <a:avLst/>
              <a:gdLst/>
              <a:ahLst/>
              <a:cxnLst/>
              <a:rect r="r" b="b" t="t" l="l"/>
              <a:pathLst>
                <a:path h="731520" w="5156200">
                  <a:moveTo>
                    <a:pt x="0" y="0"/>
                  </a:moveTo>
                  <a:lnTo>
                    <a:pt x="5156200" y="0"/>
                  </a:lnTo>
                  <a:lnTo>
                    <a:pt x="5156200" y="731520"/>
                  </a:lnTo>
                  <a:lnTo>
                    <a:pt x="0" y="731520"/>
                  </a:lnTo>
                  <a:close/>
                </a:path>
              </a:pathLst>
            </a:custGeom>
            <a:blipFill>
              <a:blip r:embed="rId4">
                <a:alphaModFix amt="0"/>
              </a:blip>
              <a:stretch>
                <a:fillRect l="0" t="-42553" r="32610" b="-42553"/>
              </a:stretch>
            </a:blipFill>
          </p:spPr>
        </p:sp>
        <p:sp>
          <p:nvSpPr>
            <p:cNvPr name="TextBox 57" id="57"/>
            <p:cNvSpPr txBox="true"/>
            <p:nvPr/>
          </p:nvSpPr>
          <p:spPr>
            <a:xfrm>
              <a:off x="0" y="0"/>
              <a:ext cx="5156200" cy="731520"/>
            </a:xfrm>
            <a:prstGeom prst="rect">
              <a:avLst/>
            </a:prstGeom>
          </p:spPr>
          <p:txBody>
            <a:bodyPr anchor="ctr" rtlCol="false" tIns="0" lIns="0" bIns="0" rIns="0"/>
            <a:lstStyle/>
            <a:p>
              <a:pPr algn="l" marL="0" indent="0" lvl="0">
                <a:lnSpc>
                  <a:spcPts val="2700"/>
                </a:lnSpc>
                <a:spcBef>
                  <a:spcPct val="0"/>
                </a:spcBef>
              </a:pPr>
              <a:r>
                <a:rPr lang="en-US" b="true" sz="2250" strike="noStrike" u="none">
                  <a:solidFill>
                    <a:srgbClr val="1B2B2E"/>
                  </a:solidFill>
                  <a:latin typeface="Noto Sans Bold"/>
                  <a:ea typeface="Noto Sans Bold"/>
                  <a:cs typeface="Noto Sans Bold"/>
                  <a:sym typeface="Noto Sans Bold"/>
                </a:rPr>
                <a:t>데이터 변동성</a:t>
              </a:r>
            </a:p>
          </p:txBody>
        </p:sp>
      </p:grpSp>
      <p:sp>
        <p:nvSpPr>
          <p:cNvPr name="TextBox 58" id="58"/>
          <p:cNvSpPr txBox="true"/>
          <p:nvPr/>
        </p:nvSpPr>
        <p:spPr>
          <a:xfrm rot="0">
            <a:off x="12681585" y="3634740"/>
            <a:ext cx="4486275" cy="571500"/>
          </a:xfrm>
          <a:prstGeom prst="rect">
            <a:avLst/>
          </a:prstGeom>
        </p:spPr>
        <p:txBody>
          <a:bodyPr anchor="t" rtlCol="false" tIns="0" lIns="0" bIns="0" rIns="0">
            <a:spAutoFit/>
          </a:bodyPr>
          <a:lstStyle/>
          <a:p>
            <a:pPr algn="l" marL="0" indent="0" lvl="0">
              <a:lnSpc>
                <a:spcPts val="2250"/>
              </a:lnSpc>
              <a:spcBef>
                <a:spcPct val="0"/>
              </a:spcBef>
            </a:pPr>
            <a:r>
              <a:rPr lang="en-US" sz="1875" strike="noStrike" u="none">
                <a:solidFill>
                  <a:srgbClr val="45545A"/>
                </a:solidFill>
                <a:latin typeface="Noto Sans"/>
                <a:ea typeface="Noto Sans"/>
                <a:cs typeface="Noto Sans"/>
                <a:sym typeface="Noto Sans"/>
              </a:rPr>
              <a:t>운전 조건 · 계절 · 마모에 따라 같은 설비도 정상값이 달라짐</a:t>
            </a:r>
          </a:p>
        </p:txBody>
      </p:sp>
      <p:sp>
        <p:nvSpPr>
          <p:cNvPr name="Freeform 59" id="59"/>
          <p:cNvSpPr/>
          <p:nvPr/>
        </p:nvSpPr>
        <p:spPr>
          <a:xfrm flipH="false" flipV="false" rot="0">
            <a:off x="12390596" y="5469731"/>
            <a:ext cx="5067300" cy="2433638"/>
          </a:xfrm>
          <a:custGeom>
            <a:avLst/>
            <a:gdLst/>
            <a:ahLst/>
            <a:cxnLst/>
            <a:rect r="r" b="b" t="t" l="l"/>
            <a:pathLst>
              <a:path h="2433638" w="5067300">
                <a:moveTo>
                  <a:pt x="0" y="0"/>
                </a:moveTo>
                <a:lnTo>
                  <a:pt x="5067300" y="0"/>
                </a:lnTo>
                <a:lnTo>
                  <a:pt x="5067300" y="2433638"/>
                </a:lnTo>
                <a:lnTo>
                  <a:pt x="0" y="2433638"/>
                </a:lnTo>
                <a:lnTo>
                  <a:pt x="0" y="0"/>
                </a:lnTo>
                <a:close/>
              </a:path>
            </a:pathLst>
          </a:custGeom>
          <a:blipFill>
            <a:blip r:embed="rId8">
              <a:extLst>
                <a:ext uri="{96DAC541-7B7A-43D3-8B79-37D633B846F1}">
                  <asvg:svgBlip xmlns:asvg="http://schemas.microsoft.com/office/drawing/2016/SVG/main" r:embed="rId9"/>
                </a:ext>
              </a:extLst>
            </a:blip>
            <a:stretch>
              <a:fillRect l="0" t="0" r="0" b="-33166"/>
            </a:stretch>
          </a:blipFill>
        </p:spPr>
      </p:sp>
      <p:sp>
        <p:nvSpPr>
          <p:cNvPr name="TextBox 60" id="60"/>
          <p:cNvSpPr txBox="true"/>
          <p:nvPr/>
        </p:nvSpPr>
        <p:spPr>
          <a:xfrm rot="0">
            <a:off x="12681585" y="5692140"/>
            <a:ext cx="4486275" cy="314325"/>
          </a:xfrm>
          <a:prstGeom prst="rect">
            <a:avLst/>
          </a:prstGeom>
        </p:spPr>
        <p:txBody>
          <a:bodyPr anchor="t" rtlCol="false" tIns="0" lIns="0" bIns="0" rIns="0">
            <a:spAutoFit/>
          </a:bodyPr>
          <a:lstStyle/>
          <a:p>
            <a:pPr algn="l" marL="0" indent="0" lvl="0">
              <a:lnSpc>
                <a:spcPts val="2520"/>
              </a:lnSpc>
              <a:spcBef>
                <a:spcPct val="0"/>
              </a:spcBef>
            </a:pPr>
            <a:r>
              <a:rPr lang="en-US" b="true" sz="2100" strike="noStrike" u="none">
                <a:solidFill>
                  <a:srgbClr val="1F6F63"/>
                </a:solidFill>
                <a:latin typeface="Noto Sans Bold"/>
                <a:ea typeface="Noto Sans Bold"/>
                <a:cs typeface="Noto Sans Bold"/>
                <a:sym typeface="Noto Sans Bold"/>
              </a:rPr>
              <a:t>변동 반영 · 현장 검증</a:t>
            </a:r>
          </a:p>
        </p:txBody>
      </p:sp>
      <p:sp>
        <p:nvSpPr>
          <p:cNvPr name="TextBox 61" id="61"/>
          <p:cNvSpPr txBox="true"/>
          <p:nvPr/>
        </p:nvSpPr>
        <p:spPr>
          <a:xfrm rot="0">
            <a:off x="12681585" y="6789420"/>
            <a:ext cx="4486275" cy="285750"/>
          </a:xfrm>
          <a:prstGeom prst="rect">
            <a:avLst/>
          </a:prstGeom>
        </p:spPr>
        <p:txBody>
          <a:bodyPr anchor="t" rtlCol="false" tIns="0" lIns="0" bIns="0" rIns="0">
            <a:spAutoFit/>
          </a:bodyPr>
          <a:lstStyle/>
          <a:p>
            <a:pPr algn="l" marL="0" indent="0" lvl="0">
              <a:lnSpc>
                <a:spcPts val="2250"/>
              </a:lnSpc>
              <a:spcBef>
                <a:spcPct val="0"/>
              </a:spcBef>
            </a:pPr>
            <a:r>
              <a:rPr lang="en-US" sz="1875" strike="noStrike" u="none">
                <a:solidFill>
                  <a:srgbClr val="1B2B2E"/>
                </a:solidFill>
                <a:latin typeface="Noto Sans"/>
                <a:ea typeface="Noto Sans"/>
                <a:cs typeface="Noto Sans"/>
                <a:sym typeface="Noto Sans"/>
              </a:rPr>
              <a:t>실제 설비 데이터로 정상 범위 보정</a:t>
            </a:r>
          </a:p>
        </p:txBody>
      </p:sp>
      <p:sp>
        <p:nvSpPr>
          <p:cNvPr name="Freeform 62" id="62"/>
          <p:cNvSpPr/>
          <p:nvPr/>
        </p:nvSpPr>
        <p:spPr>
          <a:xfrm flipH="false" flipV="false" rot="0">
            <a:off x="14701838" y="5085683"/>
            <a:ext cx="444818" cy="376238"/>
          </a:xfrm>
          <a:custGeom>
            <a:avLst/>
            <a:gdLst/>
            <a:ahLst/>
            <a:cxnLst/>
            <a:rect r="r" b="b" t="t" l="l"/>
            <a:pathLst>
              <a:path h="376238" w="444818">
                <a:moveTo>
                  <a:pt x="0" y="0"/>
                </a:moveTo>
                <a:lnTo>
                  <a:pt x="444817" y="0"/>
                </a:lnTo>
                <a:lnTo>
                  <a:pt x="444817" y="376238"/>
                </a:lnTo>
                <a:lnTo>
                  <a:pt x="0" y="37623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63" id="63"/>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a:solidFill>
                  <a:srgbClr val="6B787A"/>
                </a:solidFill>
                <a:latin typeface="Noto Sans"/>
                <a:ea typeface="Noto Sans"/>
                <a:cs typeface="Noto Sans"/>
                <a:sym typeface="Noto Sans"/>
              </a:rPr>
              <a:t>37</a:t>
            </a:r>
          </a:p>
        </p:txBody>
      </p:sp>
      <p:grpSp>
        <p:nvGrpSpPr>
          <p:cNvPr name="Group 64" id="64"/>
          <p:cNvGrpSpPr/>
          <p:nvPr/>
        </p:nvGrpSpPr>
        <p:grpSpPr>
          <a:xfrm rot="0">
            <a:off x="5818352" y="9710928"/>
            <a:ext cx="4070985" cy="419672"/>
            <a:chOff x="0" y="0"/>
            <a:chExt cx="5427980" cy="559562"/>
          </a:xfrm>
        </p:grpSpPr>
        <p:grpSp>
          <p:nvGrpSpPr>
            <p:cNvPr name="Group 65" id="65"/>
            <p:cNvGrpSpPr/>
            <p:nvPr/>
          </p:nvGrpSpPr>
          <p:grpSpPr>
            <a:xfrm rot="0">
              <a:off x="0" y="0"/>
              <a:ext cx="1680845" cy="559562"/>
              <a:chOff x="0" y="0"/>
              <a:chExt cx="1680845" cy="559562"/>
            </a:xfrm>
          </p:grpSpPr>
          <p:sp>
            <p:nvSpPr>
              <p:cNvPr name="Freeform 66" id="66" descr="C:\Users\abab9\AppData\Local\Temp\claude\C--Users-abab9-Desktop-Shiftlink\03368683-632b-4bf6-b41d-988cf517f7bf\scratchpad\build\logos\knda.png"/>
              <p:cNvSpPr/>
              <p:nvPr/>
            </p:nvSpPr>
            <p:spPr>
              <a:xfrm flipH="false" flipV="false" rot="0">
                <a:off x="0" y="0"/>
                <a:ext cx="1680845" cy="559562"/>
              </a:xfrm>
              <a:custGeom>
                <a:avLst/>
                <a:gdLst/>
                <a:ahLst/>
                <a:cxnLst/>
                <a:rect r="r" b="b" t="t" l="l"/>
                <a:pathLst>
                  <a:path h="559562" w="1680845">
                    <a:moveTo>
                      <a:pt x="0" y="0"/>
                    </a:moveTo>
                    <a:lnTo>
                      <a:pt x="1680845" y="0"/>
                    </a:lnTo>
                    <a:lnTo>
                      <a:pt x="1680845" y="559562"/>
                    </a:lnTo>
                    <a:lnTo>
                      <a:pt x="0" y="559562"/>
                    </a:lnTo>
                    <a:lnTo>
                      <a:pt x="0" y="0"/>
                    </a:lnTo>
                    <a:close/>
                  </a:path>
                </a:pathLst>
              </a:custGeom>
              <a:blipFill>
                <a:blip r:embed="rId14"/>
                <a:stretch>
                  <a:fillRect l="0" t="-265" r="0" b="-267"/>
                </a:stretch>
              </a:blipFill>
            </p:spPr>
          </p:sp>
        </p:grpSp>
        <p:grpSp>
          <p:nvGrpSpPr>
            <p:cNvPr name="Group 67" id="67"/>
            <p:cNvGrpSpPr/>
            <p:nvPr/>
          </p:nvGrpSpPr>
          <p:grpSpPr>
            <a:xfrm rot="0">
              <a:off x="2069490" y="124358"/>
              <a:ext cx="1189101" cy="310896"/>
              <a:chOff x="0" y="0"/>
              <a:chExt cx="1189101" cy="310896"/>
            </a:xfrm>
          </p:grpSpPr>
          <p:sp>
            <p:nvSpPr>
              <p:cNvPr name="Freeform 68" id="68" descr="C:\Users\abab9\AppData\Local\Temp\claude\C--Users-abab9-Desktop-Shiftlink\03368683-632b-4bf6-b41d-988cf517f7bf\scratchpad\build\logos\posco.png"/>
              <p:cNvSpPr/>
              <p:nvPr/>
            </p:nvSpPr>
            <p:spPr>
              <a:xfrm flipH="false" flipV="false" rot="0">
                <a:off x="0" y="0"/>
                <a:ext cx="1189101" cy="310896"/>
              </a:xfrm>
              <a:custGeom>
                <a:avLst/>
                <a:gdLst/>
                <a:ahLst/>
                <a:cxnLst/>
                <a:rect r="r" b="b" t="t" l="l"/>
                <a:pathLst>
                  <a:path h="310896" w="1189101">
                    <a:moveTo>
                      <a:pt x="0" y="0"/>
                    </a:moveTo>
                    <a:lnTo>
                      <a:pt x="1189101" y="0"/>
                    </a:lnTo>
                    <a:lnTo>
                      <a:pt x="1189101" y="310896"/>
                    </a:lnTo>
                    <a:lnTo>
                      <a:pt x="0" y="310896"/>
                    </a:lnTo>
                    <a:lnTo>
                      <a:pt x="0" y="0"/>
                    </a:lnTo>
                    <a:close/>
                  </a:path>
                </a:pathLst>
              </a:custGeom>
              <a:blipFill>
                <a:blip r:embed="rId15"/>
                <a:stretch>
                  <a:fillRect l="-30" t="0" r="-32" b="0"/>
                </a:stretch>
              </a:blipFill>
            </p:spPr>
          </p:sp>
        </p:grpSp>
        <p:grpSp>
          <p:nvGrpSpPr>
            <p:cNvPr name="Group 69" id="69"/>
            <p:cNvGrpSpPr/>
            <p:nvPr/>
          </p:nvGrpSpPr>
          <p:grpSpPr>
            <a:xfrm rot="0">
              <a:off x="3647186" y="124358"/>
              <a:ext cx="1780794" cy="310896"/>
              <a:chOff x="0" y="0"/>
              <a:chExt cx="1780794" cy="310896"/>
            </a:xfrm>
          </p:grpSpPr>
          <p:sp>
            <p:nvSpPr>
              <p:cNvPr name="Freeform 70" id="70" descr="C:\Users\abab9\AppData\Local\Temp\claude\C--Users-abab9-Desktop-Shiftlink\03368683-632b-4bf6-b41d-988cf517f7bf\scratchpad\build\logos\nextsurfer.png"/>
              <p:cNvSpPr/>
              <p:nvPr/>
            </p:nvSpPr>
            <p:spPr>
              <a:xfrm flipH="false" flipV="false" rot="0">
                <a:off x="0" y="0"/>
                <a:ext cx="1780794" cy="310896"/>
              </a:xfrm>
              <a:custGeom>
                <a:avLst/>
                <a:gdLst/>
                <a:ahLst/>
                <a:cxnLst/>
                <a:rect r="r" b="b" t="t" l="l"/>
                <a:pathLst>
                  <a:path h="310896" w="1780794">
                    <a:moveTo>
                      <a:pt x="0" y="0"/>
                    </a:moveTo>
                    <a:lnTo>
                      <a:pt x="1780794" y="0"/>
                    </a:lnTo>
                    <a:lnTo>
                      <a:pt x="1780794" y="310896"/>
                    </a:lnTo>
                    <a:lnTo>
                      <a:pt x="0" y="310896"/>
                    </a:lnTo>
                    <a:lnTo>
                      <a:pt x="0" y="0"/>
                    </a:lnTo>
                    <a:close/>
                  </a:path>
                </a:pathLst>
              </a:custGeom>
              <a:blipFill>
                <a:blip r:embed="rId16"/>
                <a:stretch>
                  <a:fillRect l="0" t="-118" r="0" b="-122"/>
                </a:stretch>
              </a:blipFill>
            </p:spPr>
          </p:sp>
        </p:grpSp>
      </p:gr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9710928"/>
            <a:ext cx="8229600" cy="411480"/>
            <a:chOff x="0" y="0"/>
            <a:chExt cx="10972800" cy="548640"/>
          </a:xfrm>
        </p:grpSpPr>
        <p:sp>
          <p:nvSpPr>
            <p:cNvPr name="Freeform 3" id="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430" r="0" b="-339428"/>
              </a:stretch>
            </a:blipFill>
          </p:spPr>
        </p:sp>
      </p:grpSp>
      <p:grpSp>
        <p:nvGrpSpPr>
          <p:cNvPr name="Group 4" id="4"/>
          <p:cNvGrpSpPr/>
          <p:nvPr/>
        </p:nvGrpSpPr>
        <p:grpSpPr>
          <a:xfrm rot="0">
            <a:off x="822960" y="9703784"/>
            <a:ext cx="8229600" cy="418624"/>
            <a:chOff x="0" y="0"/>
            <a:chExt cx="10972800" cy="558165"/>
          </a:xfrm>
        </p:grpSpPr>
        <p:sp>
          <p:nvSpPr>
            <p:cNvPr name="Freeform 5" id="5"/>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3">
                <a:alphaModFix amt="0"/>
              </a:blip>
              <a:stretch>
                <a:fillRect l="0" t="-333050" r="0" b="-333050"/>
              </a:stretch>
            </a:blipFill>
          </p:spPr>
        </p:sp>
        <p:sp>
          <p:nvSpPr>
            <p:cNvPr name="TextBox 6" id="6"/>
            <p:cNvSpPr txBox="true"/>
            <p:nvPr/>
          </p:nvSpPr>
          <p:spPr>
            <a:xfrm>
              <a:off x="0" y="-9525"/>
              <a:ext cx="10972800" cy="567690"/>
            </a:xfrm>
            <a:prstGeom prst="rect">
              <a:avLst/>
            </a:prstGeom>
          </p:spPr>
          <p:txBody>
            <a:bodyPr anchor="ctr" rtlCol="false" tIns="0" lIns="0" bIns="0" rIns="0"/>
            <a:lstStyle/>
            <a:p>
              <a:pPr algn="l">
                <a:lnSpc>
                  <a:spcPts val="1620"/>
                </a:lnSpc>
              </a:pPr>
              <a:r>
                <a:rPr lang="en-US" sz="1350">
                  <a:solidFill>
                    <a:srgbClr val="6B787A"/>
                  </a:solidFill>
                  <a:latin typeface="Noto Sans"/>
                  <a:ea typeface="Noto Sans"/>
                  <a:cs typeface="Noto Sans"/>
                  <a:sym typeface="Noto Sans"/>
                </a:rPr>
                <a:t>ShiftLink  |  현장 지식과 설비 상태를 잇는 온디바이스 AI 에이전트</a:t>
              </a:r>
            </a:p>
          </p:txBody>
        </p:sp>
      </p:grpSp>
      <p:grpSp>
        <p:nvGrpSpPr>
          <p:cNvPr name="Group 7" id="7"/>
          <p:cNvGrpSpPr/>
          <p:nvPr/>
        </p:nvGrpSpPr>
        <p:grpSpPr>
          <a:xfrm rot="0">
            <a:off x="822960" y="438912"/>
            <a:ext cx="4114800" cy="384048"/>
            <a:chOff x="0" y="0"/>
            <a:chExt cx="5486400" cy="512064"/>
          </a:xfrm>
        </p:grpSpPr>
        <p:sp>
          <p:nvSpPr>
            <p:cNvPr name="Freeform 8" id="8"/>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2">
                <a:alphaModFix amt="0"/>
              </a:blip>
              <a:stretch>
                <a:fillRect l="0" t="-158623" r="0" b="-158623"/>
              </a:stretch>
            </a:blipFill>
          </p:spPr>
        </p:sp>
      </p:grpSp>
      <p:grpSp>
        <p:nvGrpSpPr>
          <p:cNvPr name="Group 9" id="9"/>
          <p:cNvGrpSpPr/>
          <p:nvPr/>
        </p:nvGrpSpPr>
        <p:grpSpPr>
          <a:xfrm rot="0">
            <a:off x="822960" y="438912"/>
            <a:ext cx="4114800" cy="384048"/>
            <a:chOff x="0" y="0"/>
            <a:chExt cx="5486400" cy="512064"/>
          </a:xfrm>
        </p:grpSpPr>
        <p:sp>
          <p:nvSpPr>
            <p:cNvPr name="Freeform 10" id="10"/>
            <p:cNvSpPr/>
            <p:nvPr/>
          </p:nvSpPr>
          <p:spPr>
            <a:xfrm flipH="false" flipV="false" rot="0">
              <a:off x="0" y="0"/>
              <a:ext cx="5486400" cy="512064"/>
            </a:xfrm>
            <a:custGeom>
              <a:avLst/>
              <a:gdLst/>
              <a:ahLst/>
              <a:cxnLst/>
              <a:rect r="r" b="b" t="t" l="l"/>
              <a:pathLst>
                <a:path h="512064" w="5486400">
                  <a:moveTo>
                    <a:pt x="0" y="0"/>
                  </a:moveTo>
                  <a:lnTo>
                    <a:pt x="5486400" y="0"/>
                  </a:lnTo>
                  <a:lnTo>
                    <a:pt x="5486400" y="512064"/>
                  </a:lnTo>
                  <a:lnTo>
                    <a:pt x="0" y="512064"/>
                  </a:lnTo>
                  <a:close/>
                </a:path>
              </a:pathLst>
            </a:custGeom>
            <a:blipFill>
              <a:blip r:embed="rId3">
                <a:alphaModFix amt="0"/>
              </a:blip>
              <a:stretch>
                <a:fillRect l="0" t="-158768" r="0" b="-158768"/>
              </a:stretch>
            </a:blipFill>
          </p:spPr>
        </p:sp>
        <p:sp>
          <p:nvSpPr>
            <p:cNvPr name="TextBox 11" id="11"/>
            <p:cNvSpPr txBox="true"/>
            <p:nvPr/>
          </p:nvSpPr>
          <p:spPr>
            <a:xfrm>
              <a:off x="0" y="0"/>
              <a:ext cx="5486400" cy="512064"/>
            </a:xfrm>
            <a:prstGeom prst="rect">
              <a:avLst/>
            </a:prstGeom>
          </p:spPr>
          <p:txBody>
            <a:bodyPr anchor="ctr" rtlCol="false" tIns="0" lIns="0" bIns="0" rIns="0"/>
            <a:lstStyle/>
            <a:p>
              <a:pPr algn="l">
                <a:lnSpc>
                  <a:spcPts val="1800"/>
                </a:lnSpc>
              </a:pPr>
              <a:r>
                <a:rPr lang="en-US" sz="1500" b="true">
                  <a:solidFill>
                    <a:srgbClr val="16796C"/>
                  </a:solidFill>
                  <a:latin typeface="Noto Sans Bold"/>
                  <a:ea typeface="Noto Sans Bold"/>
                  <a:cs typeface="Noto Sans Bold"/>
                  <a:sym typeface="Noto Sans Bold"/>
                </a:rPr>
                <a:t>05  성과와 회고</a:t>
              </a:r>
            </a:p>
          </p:txBody>
        </p:sp>
      </p:grpSp>
      <p:grpSp>
        <p:nvGrpSpPr>
          <p:cNvPr name="Group 12" id="12"/>
          <p:cNvGrpSpPr/>
          <p:nvPr/>
        </p:nvGrpSpPr>
        <p:grpSpPr>
          <a:xfrm rot="0">
            <a:off x="822960" y="822960"/>
            <a:ext cx="16641623" cy="850392"/>
            <a:chOff x="0" y="0"/>
            <a:chExt cx="22188830" cy="1133856"/>
          </a:xfrm>
        </p:grpSpPr>
        <p:sp>
          <p:nvSpPr>
            <p:cNvPr name="Freeform 13" id="13"/>
            <p:cNvSpPr/>
            <p:nvPr/>
          </p:nvSpPr>
          <p:spPr>
            <a:xfrm flipH="false" flipV="false" rot="0">
              <a:off x="0" y="0"/>
              <a:ext cx="22188805" cy="1133856"/>
            </a:xfrm>
            <a:custGeom>
              <a:avLst/>
              <a:gdLst/>
              <a:ahLst/>
              <a:cxnLst/>
              <a:rect r="r" b="b" t="t" l="l"/>
              <a:pathLst>
                <a:path h="1133856" w="22188805">
                  <a:moveTo>
                    <a:pt x="0" y="0"/>
                  </a:moveTo>
                  <a:lnTo>
                    <a:pt x="22188805" y="0"/>
                  </a:lnTo>
                  <a:lnTo>
                    <a:pt x="22188805" y="1133856"/>
                  </a:lnTo>
                  <a:lnTo>
                    <a:pt x="0" y="1133856"/>
                  </a:lnTo>
                  <a:close/>
                </a:path>
              </a:pathLst>
            </a:custGeom>
            <a:blipFill>
              <a:blip r:embed="rId2">
                <a:alphaModFix amt="0"/>
              </a:blip>
              <a:stretch>
                <a:fillRect l="0" t="-331043" r="0" b="-331045"/>
              </a:stretch>
            </a:blipFill>
          </p:spPr>
        </p:sp>
      </p:grpSp>
      <p:grpSp>
        <p:nvGrpSpPr>
          <p:cNvPr name="Group 14" id="14"/>
          <p:cNvGrpSpPr/>
          <p:nvPr/>
        </p:nvGrpSpPr>
        <p:grpSpPr>
          <a:xfrm rot="0">
            <a:off x="822960" y="822960"/>
            <a:ext cx="16642080" cy="850392"/>
            <a:chOff x="0" y="0"/>
            <a:chExt cx="22189440" cy="1133856"/>
          </a:xfrm>
        </p:grpSpPr>
        <p:sp>
          <p:nvSpPr>
            <p:cNvPr name="Freeform 15" id="15"/>
            <p:cNvSpPr/>
            <p:nvPr/>
          </p:nvSpPr>
          <p:spPr>
            <a:xfrm flipH="false" flipV="false" rot="0">
              <a:off x="0" y="0"/>
              <a:ext cx="22189439" cy="1133856"/>
            </a:xfrm>
            <a:custGeom>
              <a:avLst/>
              <a:gdLst/>
              <a:ahLst/>
              <a:cxnLst/>
              <a:rect r="r" b="b" t="t" l="l"/>
              <a:pathLst>
                <a:path h="1133856" w="22189439">
                  <a:moveTo>
                    <a:pt x="0" y="0"/>
                  </a:moveTo>
                  <a:lnTo>
                    <a:pt x="22189439" y="0"/>
                  </a:lnTo>
                  <a:lnTo>
                    <a:pt x="22189439" y="1133856"/>
                  </a:lnTo>
                  <a:lnTo>
                    <a:pt x="0" y="1133856"/>
                  </a:lnTo>
                  <a:close/>
                </a:path>
              </a:pathLst>
            </a:custGeom>
            <a:blipFill>
              <a:blip r:embed="rId3">
                <a:alphaModFix amt="0"/>
              </a:blip>
              <a:stretch>
                <a:fillRect l="0" t="-331309" r="2" b="-331309"/>
              </a:stretch>
            </a:blipFill>
          </p:spPr>
        </p:sp>
        <p:sp>
          <p:nvSpPr>
            <p:cNvPr name="TextBox 16" id="16"/>
            <p:cNvSpPr txBox="true"/>
            <p:nvPr/>
          </p:nvSpPr>
          <p:spPr>
            <a:xfrm>
              <a:off x="0" y="-9525"/>
              <a:ext cx="22189440" cy="1143381"/>
            </a:xfrm>
            <a:prstGeom prst="rect">
              <a:avLst/>
            </a:prstGeom>
          </p:spPr>
          <p:txBody>
            <a:bodyPr anchor="ctr" rtlCol="false" tIns="0" lIns="0" bIns="0" rIns="0"/>
            <a:lstStyle/>
            <a:p>
              <a:pPr algn="l">
                <a:lnSpc>
                  <a:spcPts val="4500"/>
                </a:lnSpc>
              </a:pPr>
              <a:r>
                <a:rPr lang="en-US" sz="3750" b="true">
                  <a:solidFill>
                    <a:srgbClr val="203238"/>
                  </a:solidFill>
                  <a:latin typeface="Noto Sans Bold"/>
                  <a:ea typeface="Noto Sans Bold"/>
                  <a:cs typeface="Noto Sans Bold"/>
                  <a:sym typeface="Noto Sans Bold"/>
                </a:rPr>
                <a:t>04  팀원 소감 – 프로젝트를 마치며</a:t>
              </a:r>
            </a:p>
          </p:txBody>
        </p:sp>
      </p:grpSp>
      <p:grpSp>
        <p:nvGrpSpPr>
          <p:cNvPr name="Group 17" id="17"/>
          <p:cNvGrpSpPr/>
          <p:nvPr/>
        </p:nvGrpSpPr>
        <p:grpSpPr>
          <a:xfrm rot="0">
            <a:off x="1577340" y="1783080"/>
            <a:ext cx="15087600" cy="3419856"/>
            <a:chOff x="0" y="0"/>
            <a:chExt cx="20116800" cy="4559808"/>
          </a:xfrm>
        </p:grpSpPr>
        <p:sp>
          <p:nvSpPr>
            <p:cNvPr name="Freeform 18" id="18" descr="C:\Users\abab9\AppData\Local\Temp\claude\C--Users-abab9-Desktop-Shiftlink\03368683-632b-4bf6-b41d-988cf517f7bf\scratchpad\build\team_head.png"/>
            <p:cNvSpPr/>
            <p:nvPr/>
          </p:nvSpPr>
          <p:spPr>
            <a:xfrm flipH="false" flipV="false" rot="0">
              <a:off x="0" y="0"/>
              <a:ext cx="20116800" cy="4559808"/>
            </a:xfrm>
            <a:custGeom>
              <a:avLst/>
              <a:gdLst/>
              <a:ahLst/>
              <a:cxnLst/>
              <a:rect r="r" b="b" t="t" l="l"/>
              <a:pathLst>
                <a:path h="4559808" w="20116800">
                  <a:moveTo>
                    <a:pt x="0" y="0"/>
                  </a:moveTo>
                  <a:lnTo>
                    <a:pt x="20116800" y="0"/>
                  </a:lnTo>
                  <a:lnTo>
                    <a:pt x="20116800" y="4559808"/>
                  </a:lnTo>
                  <a:lnTo>
                    <a:pt x="0" y="4559808"/>
                  </a:lnTo>
                  <a:lnTo>
                    <a:pt x="0" y="0"/>
                  </a:lnTo>
                  <a:close/>
                </a:path>
              </a:pathLst>
            </a:custGeom>
            <a:blipFill>
              <a:blip r:embed="rId4"/>
              <a:stretch>
                <a:fillRect l="0" t="0" r="0" b="0"/>
              </a:stretch>
            </a:blipFill>
          </p:spPr>
        </p:sp>
      </p:grpSp>
      <p:sp>
        <p:nvSpPr>
          <p:cNvPr name="Freeform 19" id="19"/>
          <p:cNvSpPr/>
          <p:nvPr/>
        </p:nvSpPr>
        <p:spPr>
          <a:xfrm flipH="false" flipV="false" rot="0">
            <a:off x="1560671" y="5186267"/>
            <a:ext cx="3805238" cy="4267009"/>
          </a:xfrm>
          <a:custGeom>
            <a:avLst/>
            <a:gdLst/>
            <a:ahLst/>
            <a:cxnLst/>
            <a:rect r="r" b="b" t="t" l="l"/>
            <a:pathLst>
              <a:path h="4267009" w="3805238">
                <a:moveTo>
                  <a:pt x="0" y="0"/>
                </a:moveTo>
                <a:lnTo>
                  <a:pt x="3805238" y="0"/>
                </a:lnTo>
                <a:lnTo>
                  <a:pt x="3805238" y="4267010"/>
                </a:lnTo>
                <a:lnTo>
                  <a:pt x="0" y="42670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0" id="20"/>
          <p:cNvSpPr txBox="true"/>
          <p:nvPr/>
        </p:nvSpPr>
        <p:spPr>
          <a:xfrm rot="0">
            <a:off x="1577340" y="5340096"/>
            <a:ext cx="3771900" cy="548640"/>
          </a:xfrm>
          <a:prstGeom prst="rect">
            <a:avLst/>
          </a:prstGeom>
        </p:spPr>
        <p:txBody>
          <a:bodyPr anchor="t" rtlCol="false" tIns="0" lIns="0" bIns="0" rIns="0">
            <a:spAutoFit/>
          </a:bodyPr>
          <a:lstStyle/>
          <a:p>
            <a:pPr algn="ctr">
              <a:lnSpc>
                <a:spcPts val="3060"/>
              </a:lnSpc>
            </a:pPr>
            <a:r>
              <a:rPr lang="en-US" sz="2550" b="true">
                <a:solidFill>
                  <a:srgbClr val="1B2B2E"/>
                </a:solidFill>
                <a:latin typeface="Noto Sans Bold"/>
                <a:ea typeface="Noto Sans Bold"/>
                <a:cs typeface="Noto Sans Bold"/>
                <a:sym typeface="Noto Sans Bold"/>
              </a:rPr>
              <a:t>최재영</a:t>
            </a:r>
          </a:p>
        </p:txBody>
      </p:sp>
      <p:sp>
        <p:nvSpPr>
          <p:cNvPr name="TextBox 21" id="21"/>
          <p:cNvSpPr txBox="true"/>
          <p:nvPr/>
        </p:nvSpPr>
        <p:spPr>
          <a:xfrm rot="0">
            <a:off x="1577340" y="5880354"/>
            <a:ext cx="3771900" cy="364998"/>
          </a:xfrm>
          <a:prstGeom prst="rect">
            <a:avLst/>
          </a:prstGeom>
        </p:spPr>
        <p:txBody>
          <a:bodyPr anchor="t" rtlCol="false" tIns="0" lIns="0" bIns="0" rIns="0">
            <a:spAutoFit/>
          </a:bodyPr>
          <a:lstStyle/>
          <a:p>
            <a:pPr algn="ctr">
              <a:lnSpc>
                <a:spcPts val="2160"/>
              </a:lnSpc>
            </a:pPr>
            <a:r>
              <a:rPr lang="en-US" sz="1800" b="true">
                <a:solidFill>
                  <a:srgbClr val="1F6F63"/>
                </a:solidFill>
                <a:latin typeface="Noto Sans Bold"/>
                <a:ea typeface="Noto Sans Bold"/>
                <a:cs typeface="Noto Sans Bold"/>
                <a:sym typeface="Noto Sans Bold"/>
              </a:rPr>
              <a:t>AI 개발</a:t>
            </a:r>
          </a:p>
        </p:txBody>
      </p:sp>
      <p:sp>
        <p:nvSpPr>
          <p:cNvPr name="TextBox 22" id="22"/>
          <p:cNvSpPr txBox="true"/>
          <p:nvPr/>
        </p:nvSpPr>
        <p:spPr>
          <a:xfrm rot="0">
            <a:off x="1851660" y="6409944"/>
            <a:ext cx="3223260" cy="2916936"/>
          </a:xfrm>
          <a:prstGeom prst="rect">
            <a:avLst/>
          </a:prstGeom>
        </p:spPr>
        <p:txBody>
          <a:bodyPr anchor="t" rtlCol="false" tIns="0" lIns="0" bIns="0" rIns="0">
            <a:spAutoFit/>
          </a:bodyPr>
          <a:lstStyle/>
          <a:p>
            <a:pPr algn="l">
              <a:lnSpc>
                <a:spcPts val="2268"/>
              </a:lnSpc>
            </a:pPr>
            <a:r>
              <a:rPr lang="en-US" sz="1800">
                <a:solidFill>
                  <a:srgbClr val="1B2B2E"/>
                </a:solidFill>
                <a:latin typeface="Noto Sans"/>
                <a:ea typeface="Noto Sans"/>
                <a:cs typeface="Noto Sans"/>
                <a:sym typeface="Noto Sans"/>
              </a:rPr>
              <a:t>모델 성능을 높이는 것만큼, 신뢰할 수 있는 데이터를 만들고 답변을 검증하는 과정이 중요하다는 것을 배웠습니다. 기대와 다른 결과가 나올 때마다 원인을 추적하고 개선하면서, AI를 실제로 쓸 수 있는 시스템으로 만드는 어려움과 보람을 느꼈습니다.</a:t>
            </a:r>
          </a:p>
        </p:txBody>
      </p:sp>
      <p:sp>
        <p:nvSpPr>
          <p:cNvPr name="Freeform 23" id="23"/>
          <p:cNvSpPr/>
          <p:nvPr/>
        </p:nvSpPr>
        <p:spPr>
          <a:xfrm flipH="false" flipV="false" rot="0">
            <a:off x="5332571" y="5186267"/>
            <a:ext cx="3805238" cy="4267009"/>
          </a:xfrm>
          <a:custGeom>
            <a:avLst/>
            <a:gdLst/>
            <a:ahLst/>
            <a:cxnLst/>
            <a:rect r="r" b="b" t="t" l="l"/>
            <a:pathLst>
              <a:path h="4267009" w="3805238">
                <a:moveTo>
                  <a:pt x="0" y="0"/>
                </a:moveTo>
                <a:lnTo>
                  <a:pt x="3805238" y="0"/>
                </a:lnTo>
                <a:lnTo>
                  <a:pt x="3805238" y="4267010"/>
                </a:lnTo>
                <a:lnTo>
                  <a:pt x="0" y="42670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4" id="24"/>
          <p:cNvSpPr txBox="true"/>
          <p:nvPr/>
        </p:nvSpPr>
        <p:spPr>
          <a:xfrm rot="0">
            <a:off x="5349240" y="5340096"/>
            <a:ext cx="3771900" cy="548640"/>
          </a:xfrm>
          <a:prstGeom prst="rect">
            <a:avLst/>
          </a:prstGeom>
        </p:spPr>
        <p:txBody>
          <a:bodyPr anchor="t" rtlCol="false" tIns="0" lIns="0" bIns="0" rIns="0">
            <a:spAutoFit/>
          </a:bodyPr>
          <a:lstStyle/>
          <a:p>
            <a:pPr algn="ctr">
              <a:lnSpc>
                <a:spcPts val="3060"/>
              </a:lnSpc>
            </a:pPr>
            <a:r>
              <a:rPr lang="en-US" sz="2550" b="true">
                <a:solidFill>
                  <a:srgbClr val="1B2B2E"/>
                </a:solidFill>
                <a:latin typeface="Noto Sans Bold"/>
                <a:ea typeface="Noto Sans Bold"/>
                <a:cs typeface="Noto Sans Bold"/>
                <a:sym typeface="Noto Sans Bold"/>
              </a:rPr>
              <a:t>유현준</a:t>
            </a:r>
          </a:p>
        </p:txBody>
      </p:sp>
      <p:sp>
        <p:nvSpPr>
          <p:cNvPr name="TextBox 25" id="25"/>
          <p:cNvSpPr txBox="true"/>
          <p:nvPr/>
        </p:nvSpPr>
        <p:spPr>
          <a:xfrm rot="0">
            <a:off x="5349240" y="5880354"/>
            <a:ext cx="3771900" cy="364998"/>
          </a:xfrm>
          <a:prstGeom prst="rect">
            <a:avLst/>
          </a:prstGeom>
        </p:spPr>
        <p:txBody>
          <a:bodyPr anchor="t" rtlCol="false" tIns="0" lIns="0" bIns="0" rIns="0">
            <a:spAutoFit/>
          </a:bodyPr>
          <a:lstStyle/>
          <a:p>
            <a:pPr algn="ctr">
              <a:lnSpc>
                <a:spcPts val="2160"/>
              </a:lnSpc>
            </a:pPr>
            <a:r>
              <a:rPr lang="en-US" sz="1800" b="true">
                <a:solidFill>
                  <a:srgbClr val="1F6F63"/>
                </a:solidFill>
                <a:latin typeface="Noto Sans Bold"/>
                <a:ea typeface="Noto Sans Bold"/>
                <a:cs typeface="Noto Sans Bold"/>
                <a:sym typeface="Noto Sans Bold"/>
              </a:rPr>
              <a:t>팀장 · 시스템</a:t>
            </a:r>
          </a:p>
        </p:txBody>
      </p:sp>
      <p:sp>
        <p:nvSpPr>
          <p:cNvPr name="TextBox 26" id="26"/>
          <p:cNvSpPr txBox="true"/>
          <p:nvPr/>
        </p:nvSpPr>
        <p:spPr>
          <a:xfrm rot="0">
            <a:off x="5623560" y="6409944"/>
            <a:ext cx="3223260" cy="2916936"/>
          </a:xfrm>
          <a:prstGeom prst="rect">
            <a:avLst/>
          </a:prstGeom>
        </p:spPr>
        <p:txBody>
          <a:bodyPr anchor="t" rtlCol="false" tIns="0" lIns="0" bIns="0" rIns="0">
            <a:spAutoFit/>
          </a:bodyPr>
          <a:lstStyle/>
          <a:p>
            <a:pPr algn="l">
              <a:lnSpc>
                <a:spcPts val="2268"/>
              </a:lnSpc>
            </a:pPr>
            <a:r>
              <a:rPr lang="en-US" sz="1800">
                <a:solidFill>
                  <a:srgbClr val="1B2B2E"/>
                </a:solidFill>
                <a:latin typeface="Noto Sans"/>
                <a:ea typeface="Noto Sans"/>
                <a:cs typeface="Noto Sans"/>
                <a:sym typeface="Noto Sans"/>
              </a:rPr>
              <a:t>현장의 노하우 전달과 교대 인계를 주제로 선정하고 개발하면서, 모델 성능뿐 아니라 자원 제약과 실제 사용 환경을 함께 고려하는 것이 중요하다는 점을 배웠습니다.</a:t>
            </a:r>
          </a:p>
        </p:txBody>
      </p:sp>
      <p:sp>
        <p:nvSpPr>
          <p:cNvPr name="Freeform 27" id="27"/>
          <p:cNvSpPr/>
          <p:nvPr/>
        </p:nvSpPr>
        <p:spPr>
          <a:xfrm flipH="false" flipV="false" rot="0">
            <a:off x="9104471" y="5186267"/>
            <a:ext cx="3805238" cy="4267009"/>
          </a:xfrm>
          <a:custGeom>
            <a:avLst/>
            <a:gdLst/>
            <a:ahLst/>
            <a:cxnLst/>
            <a:rect r="r" b="b" t="t" l="l"/>
            <a:pathLst>
              <a:path h="4267009" w="3805238">
                <a:moveTo>
                  <a:pt x="0" y="0"/>
                </a:moveTo>
                <a:lnTo>
                  <a:pt x="3805238" y="0"/>
                </a:lnTo>
                <a:lnTo>
                  <a:pt x="3805238" y="4267010"/>
                </a:lnTo>
                <a:lnTo>
                  <a:pt x="0" y="42670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8" id="28"/>
          <p:cNvSpPr txBox="true"/>
          <p:nvPr/>
        </p:nvSpPr>
        <p:spPr>
          <a:xfrm rot="0">
            <a:off x="9121140" y="5340096"/>
            <a:ext cx="3771900" cy="548640"/>
          </a:xfrm>
          <a:prstGeom prst="rect">
            <a:avLst/>
          </a:prstGeom>
        </p:spPr>
        <p:txBody>
          <a:bodyPr anchor="t" rtlCol="false" tIns="0" lIns="0" bIns="0" rIns="0">
            <a:spAutoFit/>
          </a:bodyPr>
          <a:lstStyle/>
          <a:p>
            <a:pPr algn="ctr">
              <a:lnSpc>
                <a:spcPts val="3060"/>
              </a:lnSpc>
            </a:pPr>
            <a:r>
              <a:rPr lang="en-US" sz="2550" b="true">
                <a:solidFill>
                  <a:srgbClr val="1B2B2E"/>
                </a:solidFill>
                <a:latin typeface="Noto Sans Bold"/>
                <a:ea typeface="Noto Sans Bold"/>
                <a:cs typeface="Noto Sans Bold"/>
                <a:sym typeface="Noto Sans Bold"/>
              </a:rPr>
              <a:t>전혜민</a:t>
            </a:r>
          </a:p>
        </p:txBody>
      </p:sp>
      <p:sp>
        <p:nvSpPr>
          <p:cNvPr name="TextBox 29" id="29"/>
          <p:cNvSpPr txBox="true"/>
          <p:nvPr/>
        </p:nvSpPr>
        <p:spPr>
          <a:xfrm rot="0">
            <a:off x="9121140" y="5880354"/>
            <a:ext cx="3771900" cy="364998"/>
          </a:xfrm>
          <a:prstGeom prst="rect">
            <a:avLst/>
          </a:prstGeom>
        </p:spPr>
        <p:txBody>
          <a:bodyPr anchor="t" rtlCol="false" tIns="0" lIns="0" bIns="0" rIns="0">
            <a:spAutoFit/>
          </a:bodyPr>
          <a:lstStyle/>
          <a:p>
            <a:pPr algn="ctr">
              <a:lnSpc>
                <a:spcPts val="2160"/>
              </a:lnSpc>
            </a:pPr>
            <a:r>
              <a:rPr lang="en-US" sz="1800" b="true">
                <a:solidFill>
                  <a:srgbClr val="1F6F63"/>
                </a:solidFill>
                <a:latin typeface="Noto Sans Bold"/>
                <a:ea typeface="Noto Sans Bold"/>
                <a:cs typeface="Noto Sans Bold"/>
                <a:sym typeface="Noto Sans Bold"/>
              </a:rPr>
              <a:t>PM · QA</a:t>
            </a:r>
          </a:p>
        </p:txBody>
      </p:sp>
      <p:sp>
        <p:nvSpPr>
          <p:cNvPr name="TextBox 30" id="30"/>
          <p:cNvSpPr txBox="true"/>
          <p:nvPr/>
        </p:nvSpPr>
        <p:spPr>
          <a:xfrm rot="0">
            <a:off x="9395460" y="6409944"/>
            <a:ext cx="3223260" cy="2916936"/>
          </a:xfrm>
          <a:prstGeom prst="rect">
            <a:avLst/>
          </a:prstGeom>
        </p:spPr>
        <p:txBody>
          <a:bodyPr anchor="t" rtlCol="false" tIns="0" lIns="0" bIns="0" rIns="0">
            <a:spAutoFit/>
          </a:bodyPr>
          <a:lstStyle/>
          <a:p>
            <a:pPr algn="l">
              <a:lnSpc>
                <a:spcPts val="2268"/>
              </a:lnSpc>
            </a:pPr>
            <a:r>
              <a:rPr lang="en-US" sz="1800">
                <a:solidFill>
                  <a:srgbClr val="1B2B2E"/>
                </a:solidFill>
                <a:latin typeface="Noto Sans"/>
                <a:ea typeface="Noto Sans"/>
                <a:cs typeface="Noto Sans"/>
                <a:sym typeface="Noto Sans"/>
              </a:rPr>
              <a:t>일정 관리와 시연 준비를 맡으면서 팀원들이 만든 기능을 직접 확인하고 발표 흐름을 정리했습니다. 각자 만든 기능도 막상 연결하면 예상과 다른 부분이 있어서, 함께 맞춰 보고 확인하는 과정이 생각보다 중요했습니다.</a:t>
            </a:r>
          </a:p>
        </p:txBody>
      </p:sp>
      <p:sp>
        <p:nvSpPr>
          <p:cNvPr name="Freeform 31" id="31"/>
          <p:cNvSpPr/>
          <p:nvPr/>
        </p:nvSpPr>
        <p:spPr>
          <a:xfrm flipH="false" flipV="false" rot="0">
            <a:off x="12876371" y="5186267"/>
            <a:ext cx="3805237" cy="4267009"/>
          </a:xfrm>
          <a:custGeom>
            <a:avLst/>
            <a:gdLst/>
            <a:ahLst/>
            <a:cxnLst/>
            <a:rect r="r" b="b" t="t" l="l"/>
            <a:pathLst>
              <a:path h="4267009" w="3805237">
                <a:moveTo>
                  <a:pt x="0" y="0"/>
                </a:moveTo>
                <a:lnTo>
                  <a:pt x="3805238" y="0"/>
                </a:lnTo>
                <a:lnTo>
                  <a:pt x="3805238" y="4267010"/>
                </a:lnTo>
                <a:lnTo>
                  <a:pt x="0" y="426701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32" id="32"/>
          <p:cNvSpPr txBox="true"/>
          <p:nvPr/>
        </p:nvSpPr>
        <p:spPr>
          <a:xfrm rot="0">
            <a:off x="12893040" y="5340096"/>
            <a:ext cx="3771900" cy="548640"/>
          </a:xfrm>
          <a:prstGeom prst="rect">
            <a:avLst/>
          </a:prstGeom>
        </p:spPr>
        <p:txBody>
          <a:bodyPr anchor="t" rtlCol="false" tIns="0" lIns="0" bIns="0" rIns="0">
            <a:spAutoFit/>
          </a:bodyPr>
          <a:lstStyle/>
          <a:p>
            <a:pPr algn="ctr">
              <a:lnSpc>
                <a:spcPts val="3060"/>
              </a:lnSpc>
            </a:pPr>
            <a:r>
              <a:rPr lang="en-US" sz="2550" b="true">
                <a:solidFill>
                  <a:srgbClr val="1B2B2E"/>
                </a:solidFill>
                <a:latin typeface="Noto Sans Bold"/>
                <a:ea typeface="Noto Sans Bold"/>
                <a:cs typeface="Noto Sans Bold"/>
                <a:sym typeface="Noto Sans Bold"/>
              </a:rPr>
              <a:t>허재원</a:t>
            </a:r>
          </a:p>
        </p:txBody>
      </p:sp>
      <p:sp>
        <p:nvSpPr>
          <p:cNvPr name="TextBox 33" id="33"/>
          <p:cNvSpPr txBox="true"/>
          <p:nvPr/>
        </p:nvSpPr>
        <p:spPr>
          <a:xfrm rot="0">
            <a:off x="12893040" y="5880354"/>
            <a:ext cx="3771900" cy="364998"/>
          </a:xfrm>
          <a:prstGeom prst="rect">
            <a:avLst/>
          </a:prstGeom>
        </p:spPr>
        <p:txBody>
          <a:bodyPr anchor="t" rtlCol="false" tIns="0" lIns="0" bIns="0" rIns="0">
            <a:spAutoFit/>
          </a:bodyPr>
          <a:lstStyle/>
          <a:p>
            <a:pPr algn="ctr">
              <a:lnSpc>
                <a:spcPts val="2160"/>
              </a:lnSpc>
            </a:pPr>
            <a:r>
              <a:rPr lang="en-US" sz="1800" b="true">
                <a:solidFill>
                  <a:srgbClr val="1F6F63"/>
                </a:solidFill>
                <a:latin typeface="Noto Sans Bold"/>
                <a:ea typeface="Noto Sans Bold"/>
                <a:cs typeface="Noto Sans Bold"/>
                <a:sym typeface="Noto Sans Bold"/>
              </a:rPr>
              <a:t>임베디드</a:t>
            </a:r>
          </a:p>
        </p:txBody>
      </p:sp>
      <p:sp>
        <p:nvSpPr>
          <p:cNvPr name="TextBox 34" id="34"/>
          <p:cNvSpPr txBox="true"/>
          <p:nvPr/>
        </p:nvSpPr>
        <p:spPr>
          <a:xfrm rot="0">
            <a:off x="13167360" y="6409944"/>
            <a:ext cx="3223260" cy="2916936"/>
          </a:xfrm>
          <a:prstGeom prst="rect">
            <a:avLst/>
          </a:prstGeom>
        </p:spPr>
        <p:txBody>
          <a:bodyPr anchor="t" rtlCol="false" tIns="0" lIns="0" bIns="0" rIns="0">
            <a:spAutoFit/>
          </a:bodyPr>
          <a:lstStyle/>
          <a:p>
            <a:pPr algn="l">
              <a:lnSpc>
                <a:spcPts val="2268"/>
              </a:lnSpc>
            </a:pPr>
            <a:r>
              <a:rPr lang="en-US" sz="1800">
                <a:solidFill>
                  <a:srgbClr val="1B2B2E"/>
                </a:solidFill>
                <a:latin typeface="Noto Sans"/>
                <a:ea typeface="Noto Sans"/>
                <a:cs typeface="Noto Sans"/>
                <a:sym typeface="Noto Sans"/>
              </a:rPr>
              <a:t>AI를 활용해 프로젝트를 진행하면서 어떤 기준으로 검증하고 판단해야 신뢰할 수 있는 결과물이 나오는지 고민하고, 이를 실제 공장 현장에 대입해 신뢰도를 높이는 작업이 인상깊었습니다.</a:t>
            </a:r>
          </a:p>
        </p:txBody>
      </p:sp>
      <p:sp>
        <p:nvSpPr>
          <p:cNvPr name="TextBox 35" id="35"/>
          <p:cNvSpPr txBox="true"/>
          <p:nvPr/>
        </p:nvSpPr>
        <p:spPr>
          <a:xfrm rot="0">
            <a:off x="16733063" y="9737598"/>
            <a:ext cx="640080" cy="209550"/>
          </a:xfrm>
          <a:prstGeom prst="rect">
            <a:avLst/>
          </a:prstGeom>
        </p:spPr>
        <p:txBody>
          <a:bodyPr anchor="t" rtlCol="false" tIns="0" lIns="0" bIns="0" rIns="0">
            <a:spAutoFit/>
          </a:bodyPr>
          <a:lstStyle/>
          <a:p>
            <a:pPr algn="r" marL="0" indent="0" lvl="0">
              <a:lnSpc>
                <a:spcPts val="1620"/>
              </a:lnSpc>
              <a:spcBef>
                <a:spcPct val="0"/>
              </a:spcBef>
            </a:pPr>
            <a:r>
              <a:rPr lang="en-US" sz="1350">
                <a:solidFill>
                  <a:srgbClr val="6B787A"/>
                </a:solidFill>
                <a:latin typeface="Noto Sans"/>
                <a:ea typeface="Noto Sans"/>
                <a:cs typeface="Noto Sans"/>
                <a:sym typeface="Noto Sans"/>
              </a:rPr>
              <a:t>38</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0E3B3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7524" cy="10287000"/>
            <a:chOff x="0" y="0"/>
            <a:chExt cx="24383365" cy="13716000"/>
          </a:xfrm>
        </p:grpSpPr>
        <p:sp>
          <p:nvSpPr>
            <p:cNvPr name="Freeform 3" id="3" descr="C:\Users\abab9\AppData\Local\Temp\claude\C--Users-abab9-Desktop-Shiftlink\03368683-632b-4bf6-b41d-988cf517f7bf\scratchpad\deck\media\image2.png"/>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lnTo>
                    <a:pt x="0" y="0"/>
                  </a:lnTo>
                  <a:close/>
                </a:path>
              </a:pathLst>
            </a:custGeom>
            <a:blipFill>
              <a:blip r:embed="rId3">
                <a:alphaModFix amt="30000"/>
              </a:blip>
              <a:stretch>
                <a:fillRect l="-1" t="0" r="-1" b="0"/>
              </a:stretch>
            </a:blipFill>
          </p:spPr>
        </p:sp>
      </p:grpSp>
      <p:sp>
        <p:nvSpPr>
          <p:cNvPr name="TextBox 4" id="4"/>
          <p:cNvSpPr txBox="true"/>
          <p:nvPr/>
        </p:nvSpPr>
        <p:spPr>
          <a:xfrm rot="0">
            <a:off x="1234440" y="2487930"/>
            <a:ext cx="15773400" cy="1438403"/>
          </a:xfrm>
          <a:prstGeom prst="rect">
            <a:avLst/>
          </a:prstGeom>
        </p:spPr>
        <p:txBody>
          <a:bodyPr anchor="t" rtlCol="false" tIns="0" lIns="0" bIns="0" rIns="0">
            <a:spAutoFit/>
          </a:bodyPr>
          <a:lstStyle/>
          <a:p>
            <a:pPr algn="l">
              <a:lnSpc>
                <a:spcPts val="5758"/>
              </a:lnSpc>
            </a:pPr>
            <a:r>
              <a:rPr lang="en-US" sz="4800" b="true">
                <a:solidFill>
                  <a:srgbClr val="FFFFFF"/>
                </a:solidFill>
                <a:latin typeface="Noto Sans Bold"/>
                <a:ea typeface="Noto Sans Bold"/>
                <a:cs typeface="Noto Sans Bold"/>
                <a:sym typeface="Noto Sans Bold"/>
              </a:rPr>
              <a:t>떠나는 노하우는 남는 지식으로,</a:t>
            </a:r>
          </a:p>
          <a:p>
            <a:pPr algn="l">
              <a:lnSpc>
                <a:spcPts val="5758"/>
              </a:lnSpc>
            </a:pPr>
            <a:r>
              <a:rPr lang="en-US" sz="4800" b="true">
                <a:solidFill>
                  <a:srgbClr val="FFFFFF"/>
                </a:solidFill>
                <a:latin typeface="Noto Sans Bold"/>
                <a:ea typeface="Noto Sans Bold"/>
                <a:cs typeface="Noto Sans Bold"/>
                <a:sym typeface="Noto Sans Bold"/>
              </a:rPr>
              <a:t>오늘의 조치는 다음 교대의 근거로</a:t>
            </a:r>
          </a:p>
        </p:txBody>
      </p:sp>
      <p:sp>
        <p:nvSpPr>
          <p:cNvPr name="TextBox 5" id="5"/>
          <p:cNvSpPr txBox="true"/>
          <p:nvPr/>
        </p:nvSpPr>
        <p:spPr>
          <a:xfrm rot="0">
            <a:off x="1234440" y="5760720"/>
            <a:ext cx="8229600" cy="1234440"/>
          </a:xfrm>
          <a:prstGeom prst="rect">
            <a:avLst/>
          </a:prstGeom>
        </p:spPr>
        <p:txBody>
          <a:bodyPr anchor="t" rtlCol="false" tIns="0" lIns="0" bIns="0" rIns="0">
            <a:spAutoFit/>
          </a:bodyPr>
          <a:lstStyle/>
          <a:p>
            <a:pPr algn="l">
              <a:lnSpc>
                <a:spcPts val="7200"/>
              </a:lnSpc>
            </a:pPr>
            <a:r>
              <a:rPr lang="en-US" sz="6000" b="true">
                <a:solidFill>
                  <a:srgbClr val="FFE27A"/>
                </a:solidFill>
                <a:latin typeface="Noto Sans Bold"/>
                <a:ea typeface="Noto Sans Bold"/>
                <a:cs typeface="Noto Sans Bold"/>
                <a:sym typeface="Noto Sans Bold"/>
              </a:rPr>
              <a:t>감사합니다</a:t>
            </a:r>
          </a:p>
        </p:txBody>
      </p:sp>
      <p:sp>
        <p:nvSpPr>
          <p:cNvPr name="TextBox 6" id="6"/>
          <p:cNvSpPr txBox="true"/>
          <p:nvPr/>
        </p:nvSpPr>
        <p:spPr>
          <a:xfrm rot="0">
            <a:off x="1234440" y="6995160"/>
            <a:ext cx="8229600" cy="822960"/>
          </a:xfrm>
          <a:prstGeom prst="rect">
            <a:avLst/>
          </a:prstGeom>
        </p:spPr>
        <p:txBody>
          <a:bodyPr anchor="t" rtlCol="false" tIns="0" lIns="0" bIns="0" rIns="0">
            <a:spAutoFit/>
          </a:bodyPr>
          <a:lstStyle/>
          <a:p>
            <a:pPr algn="l">
              <a:lnSpc>
                <a:spcPts val="3600"/>
              </a:lnSpc>
            </a:pPr>
            <a:r>
              <a:rPr lang="en-US" sz="3000">
                <a:solidFill>
                  <a:srgbClr val="CFE7DF"/>
                </a:solidFill>
                <a:latin typeface="Noto Sans"/>
                <a:ea typeface="Noto Sans"/>
                <a:cs typeface="Noto Sans"/>
                <a:sym typeface="Noto Sans"/>
              </a:rPr>
              <a:t>Q &amp; A</a:t>
            </a:r>
          </a:p>
        </p:txBody>
      </p:sp>
      <p:sp>
        <p:nvSpPr>
          <p:cNvPr name="TextBox 7" id="7"/>
          <p:cNvSpPr txBox="true"/>
          <p:nvPr/>
        </p:nvSpPr>
        <p:spPr>
          <a:xfrm rot="0">
            <a:off x="1234440" y="8759190"/>
            <a:ext cx="8229600" cy="499110"/>
          </a:xfrm>
          <a:prstGeom prst="rect">
            <a:avLst/>
          </a:prstGeom>
        </p:spPr>
        <p:txBody>
          <a:bodyPr anchor="t" rtlCol="false" tIns="0" lIns="0" bIns="0" rIns="0">
            <a:spAutoFit/>
          </a:bodyPr>
          <a:lstStyle/>
          <a:p>
            <a:pPr algn="l">
              <a:lnSpc>
                <a:spcPts val="2340"/>
              </a:lnSpc>
            </a:pPr>
            <a:r>
              <a:rPr lang="en-US" sz="1950">
                <a:solidFill>
                  <a:srgbClr val="CFE7DF"/>
                </a:solidFill>
                <a:latin typeface="Noto Sans"/>
                <a:ea typeface="Noto Sans"/>
                <a:cs typeface="Noto Sans"/>
                <a:sym typeface="Noto Sans"/>
              </a:rPr>
              <a:t>github.com/hyjuy/ShiftLink</a:t>
            </a:r>
          </a:p>
        </p:txBody>
      </p:sp>
      <p:grpSp>
        <p:nvGrpSpPr>
          <p:cNvPr name="Group 8" id="8"/>
          <p:cNvGrpSpPr/>
          <p:nvPr/>
        </p:nvGrpSpPr>
        <p:grpSpPr>
          <a:xfrm rot="0">
            <a:off x="12384195" y="9200483"/>
            <a:ext cx="5508498" cy="856298"/>
            <a:chOff x="0" y="0"/>
            <a:chExt cx="7344664" cy="1141730"/>
          </a:xfrm>
        </p:grpSpPr>
        <p:sp>
          <p:nvSpPr>
            <p:cNvPr name="Freeform 9" id="9"/>
            <p:cNvSpPr/>
            <p:nvPr/>
          </p:nvSpPr>
          <p:spPr>
            <a:xfrm flipH="false" flipV="false" rot="0">
              <a:off x="0" y="0"/>
              <a:ext cx="7344664" cy="1141730"/>
            </a:xfrm>
            <a:custGeom>
              <a:avLst/>
              <a:gdLst/>
              <a:ahLst/>
              <a:cxnLst/>
              <a:rect r="r" b="b" t="t" l="l"/>
              <a:pathLst>
                <a:path h="1141730" w="7344664">
                  <a:moveTo>
                    <a:pt x="0" y="0"/>
                  </a:moveTo>
                  <a:lnTo>
                    <a:pt x="7344664" y="0"/>
                  </a:lnTo>
                  <a:lnTo>
                    <a:pt x="7344664" y="1141730"/>
                  </a:lnTo>
                  <a:lnTo>
                    <a:pt x="0" y="11417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479425" y="241681"/>
              <a:ext cx="1977517" cy="658368"/>
              <a:chOff x="0" y="0"/>
              <a:chExt cx="1977517" cy="658368"/>
            </a:xfrm>
          </p:grpSpPr>
          <p:sp>
            <p:nvSpPr>
              <p:cNvPr name="Freeform 11" id="11" descr="C:\Users\abab9\AppData\Local\Temp\claude\C--Users-abab9-Desktop-Shiftlink\03368683-632b-4bf6-b41d-988cf517f7bf\scratchpad\build\logos\knda.png"/>
              <p:cNvSpPr/>
              <p:nvPr/>
            </p:nvSpPr>
            <p:spPr>
              <a:xfrm flipH="false" flipV="false" rot="0">
                <a:off x="0" y="0"/>
                <a:ext cx="1977517" cy="658368"/>
              </a:xfrm>
              <a:custGeom>
                <a:avLst/>
                <a:gdLst/>
                <a:ahLst/>
                <a:cxnLst/>
                <a:rect r="r" b="b" t="t" l="l"/>
                <a:pathLst>
                  <a:path h="658368" w="1977517">
                    <a:moveTo>
                      <a:pt x="0" y="0"/>
                    </a:moveTo>
                    <a:lnTo>
                      <a:pt x="1977517" y="0"/>
                    </a:lnTo>
                    <a:lnTo>
                      <a:pt x="1977517" y="658368"/>
                    </a:lnTo>
                    <a:lnTo>
                      <a:pt x="0" y="658368"/>
                    </a:lnTo>
                    <a:lnTo>
                      <a:pt x="0" y="0"/>
                    </a:lnTo>
                    <a:close/>
                  </a:path>
                </a:pathLst>
              </a:custGeom>
              <a:blipFill>
                <a:blip r:embed="rId6"/>
                <a:stretch>
                  <a:fillRect l="0" t="-262" r="0" b="-264"/>
                </a:stretch>
              </a:blipFill>
            </p:spPr>
          </p:sp>
        </p:grpSp>
        <p:grpSp>
          <p:nvGrpSpPr>
            <p:cNvPr name="Group 12" id="12"/>
            <p:cNvGrpSpPr/>
            <p:nvPr/>
          </p:nvGrpSpPr>
          <p:grpSpPr>
            <a:xfrm rot="0">
              <a:off x="2914129" y="387985"/>
              <a:ext cx="1398905" cy="365760"/>
              <a:chOff x="0" y="0"/>
              <a:chExt cx="1398905" cy="365760"/>
            </a:xfrm>
          </p:grpSpPr>
          <p:sp>
            <p:nvSpPr>
              <p:cNvPr name="Freeform 13" id="13" descr="C:\Users\abab9\AppData\Local\Temp\claude\C--Users-abab9-Desktop-Shiftlink\03368683-632b-4bf6-b41d-988cf517f7bf\scratchpad\build\logos\posco.png"/>
              <p:cNvSpPr/>
              <p:nvPr/>
            </p:nvSpPr>
            <p:spPr>
              <a:xfrm flipH="false" flipV="false" rot="0">
                <a:off x="0" y="0"/>
                <a:ext cx="1398905" cy="365760"/>
              </a:xfrm>
              <a:custGeom>
                <a:avLst/>
                <a:gdLst/>
                <a:ahLst/>
                <a:cxnLst/>
                <a:rect r="r" b="b" t="t" l="l"/>
                <a:pathLst>
                  <a:path h="365760" w="1398905">
                    <a:moveTo>
                      <a:pt x="0" y="0"/>
                    </a:moveTo>
                    <a:lnTo>
                      <a:pt x="1398905" y="0"/>
                    </a:lnTo>
                    <a:lnTo>
                      <a:pt x="1398905" y="365760"/>
                    </a:lnTo>
                    <a:lnTo>
                      <a:pt x="0" y="365760"/>
                    </a:lnTo>
                    <a:lnTo>
                      <a:pt x="0" y="0"/>
                    </a:lnTo>
                    <a:close/>
                  </a:path>
                </a:pathLst>
              </a:custGeom>
              <a:blipFill>
                <a:blip r:embed="rId7"/>
                <a:stretch>
                  <a:fillRect l="-32" t="0" r="-32" b="0"/>
                </a:stretch>
              </a:blipFill>
            </p:spPr>
          </p:sp>
        </p:grpSp>
        <p:grpSp>
          <p:nvGrpSpPr>
            <p:cNvPr name="Group 14" id="14"/>
            <p:cNvGrpSpPr/>
            <p:nvPr/>
          </p:nvGrpSpPr>
          <p:grpSpPr>
            <a:xfrm rot="0">
              <a:off x="4770247" y="387985"/>
              <a:ext cx="2094992" cy="365760"/>
              <a:chOff x="0" y="0"/>
              <a:chExt cx="2094992" cy="365760"/>
            </a:xfrm>
          </p:grpSpPr>
          <p:sp>
            <p:nvSpPr>
              <p:cNvPr name="Freeform 15" id="15" descr="C:\Users\abab9\AppData\Local\Temp\claude\C--Users-abab9-Desktop-Shiftlink\03368683-632b-4bf6-b41d-988cf517f7bf\scratchpad\build\logos\nextsurfer.png"/>
              <p:cNvSpPr/>
              <p:nvPr/>
            </p:nvSpPr>
            <p:spPr>
              <a:xfrm flipH="false" flipV="false" rot="0">
                <a:off x="0" y="0"/>
                <a:ext cx="2094992" cy="365760"/>
              </a:xfrm>
              <a:custGeom>
                <a:avLst/>
                <a:gdLst/>
                <a:ahLst/>
                <a:cxnLst/>
                <a:rect r="r" b="b" t="t" l="l"/>
                <a:pathLst>
                  <a:path h="365760" w="2094992">
                    <a:moveTo>
                      <a:pt x="0" y="0"/>
                    </a:moveTo>
                    <a:lnTo>
                      <a:pt x="2094992" y="0"/>
                    </a:lnTo>
                    <a:lnTo>
                      <a:pt x="2094992" y="365760"/>
                    </a:lnTo>
                    <a:lnTo>
                      <a:pt x="0" y="365760"/>
                    </a:lnTo>
                    <a:lnTo>
                      <a:pt x="0" y="0"/>
                    </a:lnTo>
                    <a:close/>
                  </a:path>
                </a:pathLst>
              </a:custGeom>
              <a:blipFill>
                <a:blip r:embed="rId8"/>
                <a:stretch>
                  <a:fillRect l="0" t="-118" r="0" b="-118"/>
                </a:stretch>
              </a:blipFill>
            </p:spPr>
          </p:sp>
        </p:gr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DAHY7CPZoRE</dc:identifier>
  <dcterms:modified xsi:type="dcterms:W3CDTF">2011-08-01T06:04:30Z</dcterms:modified>
  <cp:revision>1</cp:revision>
  <dc:title>ShiftLink_발표_최종_T6추가.pptx</dc:title>
</cp:coreProperties>
</file>