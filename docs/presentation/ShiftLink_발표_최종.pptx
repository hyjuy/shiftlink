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Noto Sans" charset="1" panose="020B0502040504020204"/>
      <p:regular r:id="rId40"/>
    </p:embeddedFont>
    <p:embeddedFont>
      <p:font typeface="Noto Sans Italics" charset="1" panose="020B0502040504090204"/>
      <p:regular r:id="rId41"/>
    </p:embeddedFont>
    <p:embeddedFont>
      <p:font typeface="Noto Sans Bold" charset="1" panose="020B080204050402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3.xml" Type="http://schemas.openxmlformats.org/officeDocument/2006/relationships/notesSlide"/><Relationship Id="rId45" Target="notesSlides/notesSlide4.xml" Type="http://schemas.openxmlformats.org/officeDocument/2006/relationships/notesSlide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58" Target="notesSlides/notesSlide17.xml" Type="http://schemas.openxmlformats.org/officeDocument/2006/relationships/notesSlide"/><Relationship Id="rId59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9.xml" Type="http://schemas.openxmlformats.org/officeDocument/2006/relationships/notesSlide"/><Relationship Id="rId61" Target="notesSlides/notesSlide20.xml" Type="http://schemas.openxmlformats.org/officeDocument/2006/relationships/notesSlide"/><Relationship Id="rId62" Target="notesSlides/notesSlide21.xml" Type="http://schemas.openxmlformats.org/officeDocument/2006/relationships/notesSlide"/><Relationship Id="rId63" Target="notesSlides/notesSlide22.xml" Type="http://schemas.openxmlformats.org/officeDocument/2006/relationships/notesSlide"/><Relationship Id="rId64" Target="notesSlides/notesSlide23.xml" Type="http://schemas.openxmlformats.org/officeDocument/2006/relationships/notesSlide"/><Relationship Id="rId65" Target="notesSlides/notesSlide24.xml" Type="http://schemas.openxmlformats.org/officeDocument/2006/relationships/notesSlide"/><Relationship Id="rId66" Target="notesSlides/notesSlide25.xml" Type="http://schemas.openxmlformats.org/officeDocument/2006/relationships/notesSlide"/><Relationship Id="rId67" Target="notesSlides/notesSlide26.xml" Type="http://schemas.openxmlformats.org/officeDocument/2006/relationships/notesSlide"/><Relationship Id="rId68" Target="notesSlides/notesSlide27.xml" Type="http://schemas.openxmlformats.org/officeDocument/2006/relationships/notesSlide"/><Relationship Id="rId69" Target="notesSlides/notesSlide28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9.xml" Type="http://schemas.openxmlformats.org/officeDocument/2006/relationships/notesSlide"/><Relationship Id="rId71" Target="notesSlides/notesSlide30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1.jpeg" Type="http://schemas.openxmlformats.org/officeDocument/2006/relationships/image"/><Relationship Id="rId8" Target="../media/VAHY0PzLb34.mp4" Type="http://schemas.openxmlformats.org/officeDocument/2006/relationships/video"/><Relationship Id="rId9" Target="../media/VAHY0PzLb34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2.jpeg" Type="http://schemas.openxmlformats.org/officeDocument/2006/relationships/image"/><Relationship Id="rId8" Target="../media/VAHY0N1iLTA.mp4" Type="http://schemas.openxmlformats.org/officeDocument/2006/relationships/video"/><Relationship Id="rId9" Target="../media/VAHY0N1iLTA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5.jpeg" Type="http://schemas.openxmlformats.org/officeDocument/2006/relationships/image"/><Relationship Id="rId8" Target="../media/VAHY0CdmBLc.mp4" Type="http://schemas.openxmlformats.org/officeDocument/2006/relationships/video"/><Relationship Id="rId9" Target="../media/VAHY0CdmBLc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0.jpeg" Type="http://schemas.openxmlformats.org/officeDocument/2006/relationships/image"/><Relationship Id="rId8" Target="../media/VAHY0M9ctmk.mp4" Type="http://schemas.openxmlformats.org/officeDocument/2006/relationships/video"/><Relationship Id="rId9" Target="../media/VAHY0M9ctmk.mp4" Type="http://schemas.microsoft.com/office/2007/relationships/media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7.pn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8.png" Type="http://schemas.openxmlformats.org/officeDocument/2006/relationships/image"/><Relationship Id="rId8" Target="../media/image26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notesSlides/notesSlide25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1.png" Type="http://schemas.openxmlformats.org/officeDocument/2006/relationships/image"/><Relationship Id="rId8" Target="../media/image8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34.png" Type="http://schemas.openxmlformats.org/officeDocument/2006/relationships/image"/><Relationship Id="rId8" Target="../media/image10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notesSlides/notesSlide29.xml" Type="http://schemas.openxmlformats.org/officeDocument/2006/relationships/notesSlid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C:\Users\abab9\AppData\Local\Temp\claude\C--Users-abab9-Desktop-Shiftlink\03368683-632b-4bf6-b41d-988cf517f7bf\scratchpad\deck\media\image2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4999"/>
              </a:blip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0443210" cy="10306050"/>
            <a:chOff x="0" y="0"/>
            <a:chExt cx="1392428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242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3924280">
                  <a:moveTo>
                    <a:pt x="0" y="0"/>
                  </a:moveTo>
                  <a:lnTo>
                    <a:pt x="13924280" y="0"/>
                  </a:lnTo>
                  <a:lnTo>
                    <a:pt x="139242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E3B38">
                <a:alpha val="84314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97280" y="1028700"/>
            <a:ext cx="9052560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FE7DF"/>
                </a:solidFill>
                <a:latin typeface="Noto Sans"/>
                <a:ea typeface="Noto Sans"/>
                <a:cs typeface="Noto Sans"/>
                <a:sym typeface="Noto Sans"/>
              </a:rPr>
              <a:t>2026 온디바이스 AI 프로젝트 최종 발표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05494"/>
            <a:ext cx="891540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온디바이스 </a:t>
            </a:r>
          </a:p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에이전트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7280" y="6377940"/>
            <a:ext cx="90525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i="true">
                <a:solidFill>
                  <a:srgbClr val="FFE27A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“현장의 질문에, 현장의 데이터로 답하다.”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9267825"/>
            <a:ext cx="89154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FE7DF"/>
                </a:solidFill>
                <a:latin typeface="Noto Sans"/>
                <a:ea typeface="Noto Sans"/>
                <a:cs typeface="Noto Sans"/>
                <a:sym typeface="Noto Sans"/>
              </a:rPr>
              <a:t>팀명 : Shiftlink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391339" y="9207627"/>
            <a:ext cx="5494249" cy="842010"/>
            <a:chOff x="0" y="0"/>
            <a:chExt cx="7325665" cy="1122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25614" cy="1122680"/>
            </a:xfrm>
            <a:custGeom>
              <a:avLst/>
              <a:gdLst/>
              <a:ahLst/>
              <a:cxnLst/>
              <a:rect r="r" b="b" t="t" l="l"/>
              <a:pathLst>
                <a:path h="1122680" w="7325614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lnTo>
                    <a:pt x="6764274" y="0"/>
                  </a:lnTo>
                  <a:cubicBezTo>
                    <a:pt x="7074281" y="0"/>
                    <a:pt x="7325614" y="251333"/>
                    <a:pt x="7325614" y="561340"/>
                  </a:cubicBezTo>
                  <a:cubicBezTo>
                    <a:pt x="7325614" y="871347"/>
                    <a:pt x="7074281" y="1122680"/>
                    <a:pt x="6764274" y="1122680"/>
                  </a:cubicBezTo>
                  <a:lnTo>
                    <a:pt x="561340" y="1122680"/>
                  </a:ln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743764" y="9381744"/>
            <a:ext cx="1483128" cy="493776"/>
            <a:chOff x="0" y="0"/>
            <a:chExt cx="1977504" cy="658368"/>
          </a:xfrm>
        </p:grpSpPr>
        <p:sp>
          <p:nvSpPr>
            <p:cNvPr name="Freeform 13" id="13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977517" cy="658368"/>
            </a:xfrm>
            <a:custGeom>
              <a:avLst/>
              <a:gdLst/>
              <a:ahLst/>
              <a:cxnLst/>
              <a:rect r="r" b="b" t="t" l="l"/>
              <a:pathLst>
                <a:path h="658368" w="1977517">
                  <a:moveTo>
                    <a:pt x="0" y="0"/>
                  </a:moveTo>
                  <a:lnTo>
                    <a:pt x="1977517" y="0"/>
                  </a:lnTo>
                  <a:lnTo>
                    <a:pt x="1977517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569792" y="9491472"/>
            <a:ext cx="1049188" cy="274320"/>
            <a:chOff x="0" y="0"/>
            <a:chExt cx="1398918" cy="365760"/>
          </a:xfrm>
        </p:grpSpPr>
        <p:sp>
          <p:nvSpPr>
            <p:cNvPr name="Freeform 15" id="15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398905" cy="365760"/>
            </a:xfrm>
            <a:custGeom>
              <a:avLst/>
              <a:gdLst/>
              <a:ahLst/>
              <a:cxnLst/>
              <a:rect r="r" b="b" t="t" l="l"/>
              <a:pathLst>
                <a:path h="365760" w="1398905">
                  <a:moveTo>
                    <a:pt x="0" y="0"/>
                  </a:moveTo>
                  <a:lnTo>
                    <a:pt x="1398905" y="0"/>
                  </a:lnTo>
                  <a:lnTo>
                    <a:pt x="1398905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961881" y="9491472"/>
            <a:ext cx="1571282" cy="274320"/>
            <a:chOff x="0" y="0"/>
            <a:chExt cx="2095043" cy="365760"/>
          </a:xfrm>
        </p:grpSpPr>
        <p:sp>
          <p:nvSpPr>
            <p:cNvPr name="Freeform 17" id="17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2094992" cy="365760"/>
            </a:xfrm>
            <a:custGeom>
              <a:avLst/>
              <a:gdLst/>
              <a:ahLst/>
              <a:cxnLst/>
              <a:rect r="r" b="b" t="t" l="l"/>
              <a:pathLst>
                <a:path h="365760" w="2094992">
                  <a:moveTo>
                    <a:pt x="0" y="0"/>
                  </a:moveTo>
                  <a:lnTo>
                    <a:pt x="2094992" y="0"/>
                  </a:lnTo>
                  <a:lnTo>
                    <a:pt x="2094992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" y="960120"/>
            <a:ext cx="16641623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 spc="900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CONTENTS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4663440" y="2468880"/>
          <a:ext cx="8877300" cy="5334000"/>
        </p:xfrm>
        <a:graphic>
          <a:graphicData uri="http://schemas.openxmlformats.org/drawingml/2006/table">
            <a:tbl>
              <a:tblPr/>
              <a:tblGrid>
                <a:gridCol w="1229165"/>
                <a:gridCol w="6009249"/>
                <a:gridCol w="1638886"/>
              </a:tblGrid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01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프로젝트 개요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6B787A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p.04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시스템 구성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6B787A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p.08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03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AI 모델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6B787A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p.14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04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시연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6B787A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p.22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05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성과와 회고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6B787A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p.26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" y="438912"/>
            <a:ext cx="411480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822960"/>
            <a:ext cx="1097280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팀 구성과 역할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77340" y="1851660"/>
            <a:ext cx="15087600" cy="4828032"/>
            <a:chOff x="0" y="0"/>
            <a:chExt cx="20116800" cy="6437376"/>
          </a:xfrm>
        </p:grpSpPr>
        <p:sp>
          <p:nvSpPr>
            <p:cNvPr name="Freeform 14" id="14" descr="C:\Users\abab9\AppData\Local\Temp\claude\C--Users-abab9-Desktop-Shiftlink\03368683-632b-4bf6-b41d-988cf517f7bf\scratchpad\build\team_crop.png"/>
            <p:cNvSpPr/>
            <p:nvPr/>
          </p:nvSpPr>
          <p:spPr>
            <a:xfrm flipH="false" flipV="false" rot="0">
              <a:off x="0" y="0"/>
              <a:ext cx="20116800" cy="6437376"/>
            </a:xfrm>
            <a:custGeom>
              <a:avLst/>
              <a:gdLst/>
              <a:ahLst/>
              <a:cxnLst/>
              <a:rect r="r" b="b" t="t" l="l"/>
              <a:pathLst>
                <a:path h="643737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37376"/>
                  </a:lnTo>
                  <a:lnTo>
                    <a:pt x="0" y="6437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67815" y="6299835"/>
            <a:ext cx="3790950" cy="2693670"/>
            <a:chOff x="0" y="0"/>
            <a:chExt cx="5054600" cy="3591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54600" cy="3591560"/>
            </a:xfrm>
            <a:custGeom>
              <a:avLst/>
              <a:gdLst/>
              <a:ahLst/>
              <a:cxnLst/>
              <a:rect r="r" b="b" t="t" l="l"/>
              <a:pathLst>
                <a:path h="3591560" w="505460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907280" y="0"/>
                  </a:lnTo>
                  <a:cubicBezTo>
                    <a:pt x="4988687" y="0"/>
                    <a:pt x="5054600" y="65913"/>
                    <a:pt x="5054600" y="147320"/>
                  </a:cubicBezTo>
                  <a:lnTo>
                    <a:pt x="5054600" y="3444240"/>
                  </a:lnTo>
                  <a:cubicBezTo>
                    <a:pt x="5054600" y="3525647"/>
                    <a:pt x="4988687" y="3591560"/>
                    <a:pt x="4907280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77340" y="6464427"/>
            <a:ext cx="3771900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최재영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7340" y="7040499"/>
            <a:ext cx="37719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개발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7340" y="7602855"/>
            <a:ext cx="37719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RAG 검색·답변 엔진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모델 학습·평가 체계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339715" y="6299835"/>
            <a:ext cx="3790950" cy="2693670"/>
            <a:chOff x="0" y="0"/>
            <a:chExt cx="5054600" cy="3591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54600" cy="3591560"/>
            </a:xfrm>
            <a:custGeom>
              <a:avLst/>
              <a:gdLst/>
              <a:ahLst/>
              <a:cxnLst/>
              <a:rect r="r" b="b" t="t" l="l"/>
              <a:pathLst>
                <a:path h="3591560" w="505460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907280" y="0"/>
                  </a:lnTo>
                  <a:cubicBezTo>
                    <a:pt x="4988687" y="0"/>
                    <a:pt x="5054600" y="65913"/>
                    <a:pt x="5054600" y="147320"/>
                  </a:cubicBezTo>
                  <a:lnTo>
                    <a:pt x="5054600" y="3444240"/>
                  </a:lnTo>
                  <a:cubicBezTo>
                    <a:pt x="5054600" y="3525647"/>
                    <a:pt x="4988687" y="3591560"/>
                    <a:pt x="4907280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349240" y="6464427"/>
            <a:ext cx="3771900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유현준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49240" y="7040499"/>
            <a:ext cx="37719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팀장 · 시스템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49240" y="7602855"/>
            <a:ext cx="37719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스키마·에이전트 구조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모의 MES·Unity 가상 공장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11615" y="6299835"/>
            <a:ext cx="3790950" cy="2693670"/>
            <a:chOff x="0" y="0"/>
            <a:chExt cx="5054600" cy="3591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54600" cy="3591560"/>
            </a:xfrm>
            <a:custGeom>
              <a:avLst/>
              <a:gdLst/>
              <a:ahLst/>
              <a:cxnLst/>
              <a:rect r="r" b="b" t="t" l="l"/>
              <a:pathLst>
                <a:path h="3591560" w="505460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907280" y="0"/>
                  </a:lnTo>
                  <a:cubicBezTo>
                    <a:pt x="4988687" y="0"/>
                    <a:pt x="5054600" y="65913"/>
                    <a:pt x="5054600" y="147320"/>
                  </a:cubicBezTo>
                  <a:lnTo>
                    <a:pt x="5054600" y="3444240"/>
                  </a:lnTo>
                  <a:cubicBezTo>
                    <a:pt x="5054600" y="3525647"/>
                    <a:pt x="4988687" y="3591560"/>
                    <a:pt x="4907280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121140" y="6464427"/>
            <a:ext cx="3771900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전혜민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21140" y="7040499"/>
            <a:ext cx="37719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PM · QA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21140" y="7602855"/>
            <a:ext cx="37719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일정·요구사항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품질 검수·평가 시나리오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883515" y="6299835"/>
            <a:ext cx="3790950" cy="2693670"/>
            <a:chOff x="0" y="0"/>
            <a:chExt cx="5054600" cy="3591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54600" cy="3591560"/>
            </a:xfrm>
            <a:custGeom>
              <a:avLst/>
              <a:gdLst/>
              <a:ahLst/>
              <a:cxnLst/>
              <a:rect r="r" b="b" t="t" l="l"/>
              <a:pathLst>
                <a:path h="3591560" w="505460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907280" y="0"/>
                  </a:lnTo>
                  <a:cubicBezTo>
                    <a:pt x="4988687" y="0"/>
                    <a:pt x="5054600" y="65913"/>
                    <a:pt x="5054600" y="147320"/>
                  </a:cubicBezTo>
                  <a:lnTo>
                    <a:pt x="5054600" y="3444240"/>
                  </a:lnTo>
                  <a:cubicBezTo>
                    <a:pt x="5054600" y="3525647"/>
                    <a:pt x="4988687" y="3591560"/>
                    <a:pt x="4907280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893040" y="6464427"/>
            <a:ext cx="3771900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허재원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93040" y="7040499"/>
            <a:ext cx="37719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임베디드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93040" y="7602855"/>
            <a:ext cx="37719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Jetson 실행·추론·저장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PDA 화면·근무일지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9997" y="-9525"/>
            <a:ext cx="8797071" cy="10306050"/>
            <a:chOff x="0" y="0"/>
            <a:chExt cx="11729428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946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1729466">
                  <a:moveTo>
                    <a:pt x="0" y="0"/>
                  </a:moveTo>
                  <a:lnTo>
                    <a:pt x="11729466" y="0"/>
                  </a:lnTo>
                  <a:lnTo>
                    <a:pt x="1172946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09522" y="4937760"/>
            <a:ext cx="8092221" cy="4937760"/>
            <a:chOff x="0" y="0"/>
            <a:chExt cx="10789628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896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789628">
                  <a:moveTo>
                    <a:pt x="0" y="0"/>
                  </a:moveTo>
                  <a:lnTo>
                    <a:pt x="10789628" y="0"/>
                  </a:lnTo>
                  <a:lnTo>
                    <a:pt x="10789628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289" t="0" r="-2828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789628" cy="65932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6000"/>
                </a:lnSpc>
              </a:pPr>
              <a:r>
                <a:rPr lang="en-US" sz="300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4440" y="1518285"/>
            <a:ext cx="6858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ShiftLink 최종 발표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40" y="2047875"/>
            <a:ext cx="7955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프로젝트 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440" y="3154680"/>
            <a:ext cx="7955280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01  숙련자 노하우의 유실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02  현장의 세 가지 문제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03  목표와 제약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29768" y="326517"/>
            <a:ext cx="4672965" cy="718566"/>
            <a:chOff x="0" y="0"/>
            <a:chExt cx="6230620" cy="958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0620" cy="958088"/>
            </a:xfrm>
            <a:custGeom>
              <a:avLst/>
              <a:gdLst/>
              <a:ahLst/>
              <a:cxnLst/>
              <a:rect r="r" b="b" t="t" l="l"/>
              <a:pathLst>
                <a:path h="958088" w="6230620">
                  <a:moveTo>
                    <a:pt x="0" y="479044"/>
                  </a:moveTo>
                  <a:cubicBezTo>
                    <a:pt x="0" y="214503"/>
                    <a:pt x="214503" y="0"/>
                    <a:pt x="479044" y="0"/>
                  </a:cubicBezTo>
                  <a:lnTo>
                    <a:pt x="5751576" y="0"/>
                  </a:lnTo>
                  <a:cubicBezTo>
                    <a:pt x="6016117" y="0"/>
                    <a:pt x="6230620" y="214503"/>
                    <a:pt x="6230620" y="479044"/>
                  </a:cubicBezTo>
                  <a:cubicBezTo>
                    <a:pt x="6230620" y="743585"/>
                    <a:pt x="6016117" y="958088"/>
                    <a:pt x="5751576" y="958088"/>
                  </a:cubicBezTo>
                  <a:lnTo>
                    <a:pt x="479044" y="958088"/>
                  </a:lnTo>
                  <a:cubicBezTo>
                    <a:pt x="214503" y="958088"/>
                    <a:pt x="0" y="743585"/>
                    <a:pt x="0" y="4790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0758" y="475945"/>
            <a:ext cx="1260653" cy="419710"/>
            <a:chOff x="0" y="0"/>
            <a:chExt cx="1680870" cy="559613"/>
          </a:xfrm>
        </p:grpSpPr>
        <p:sp>
          <p:nvSpPr>
            <p:cNvPr name="Freeform 13" id="13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82876" y="569214"/>
            <a:ext cx="891816" cy="233172"/>
            <a:chOff x="0" y="0"/>
            <a:chExt cx="1189088" cy="310896"/>
          </a:xfrm>
        </p:grpSpPr>
        <p:sp>
          <p:nvSpPr>
            <p:cNvPr name="Freeform 15" id="15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266147" y="569214"/>
            <a:ext cx="1335596" cy="233172"/>
            <a:chOff x="0" y="0"/>
            <a:chExt cx="1780794" cy="310896"/>
          </a:xfrm>
        </p:grpSpPr>
        <p:sp>
          <p:nvSpPr>
            <p:cNvPr name="Freeform 17" id="17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프로젝트 개요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배경 – 숙련자 이탈과 함께 사라지는 노하우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판단 기준과 예외 대응이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개인의 기억과 구두 인계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에만 남아 기록으로 축적되지 않음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665095"/>
            <a:ext cx="7425690" cy="5779770"/>
            <a:chOff x="0" y="0"/>
            <a:chExt cx="9900920" cy="7706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00920" cy="7706360"/>
            </a:xfrm>
            <a:custGeom>
              <a:avLst/>
              <a:gdLst/>
              <a:ahLst/>
              <a:cxnLst/>
              <a:rect r="r" b="b" t="t" l="l"/>
              <a:pathLst>
                <a:path h="7706360" w="99009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9754108" y="0"/>
                  </a:lnTo>
                  <a:cubicBezTo>
                    <a:pt x="9835134" y="0"/>
                    <a:pt x="9900920" y="65786"/>
                    <a:pt x="9900920" y="146812"/>
                  </a:cubicBezTo>
                  <a:lnTo>
                    <a:pt x="9900920" y="7559548"/>
                  </a:lnTo>
                  <a:cubicBezTo>
                    <a:pt x="9900920" y="7640574"/>
                    <a:pt x="9835134" y="7706360"/>
                    <a:pt x="9754108" y="7706360"/>
                  </a:cubicBezTo>
                  <a:lnTo>
                    <a:pt x="146812" y="7706360"/>
                  </a:lnTo>
                  <a:cubicBezTo>
                    <a:pt x="65786" y="7706360"/>
                    <a:pt x="0" y="7640574"/>
                    <a:pt x="0" y="755954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2907792"/>
            <a:ext cx="6309360" cy="4479646"/>
            <a:chOff x="0" y="0"/>
            <a:chExt cx="8412480" cy="5972861"/>
          </a:xfrm>
        </p:grpSpPr>
        <p:sp>
          <p:nvSpPr>
            <p:cNvPr name="Freeform 23" id="23" descr="C:\Users\abab9\AppData\Local\Temp\claude\C--Users-abab9-Desktop-Shiftlink\03368683-632b-4bf6-b41d-988cf517f7bf\scratchpad\build\article\article_crop.png"/>
            <p:cNvSpPr/>
            <p:nvPr/>
          </p:nvSpPr>
          <p:spPr>
            <a:xfrm flipH="false" flipV="false" rot="0">
              <a:off x="0" y="0"/>
              <a:ext cx="8412480" cy="5972810"/>
            </a:xfrm>
            <a:custGeom>
              <a:avLst/>
              <a:gdLst/>
              <a:ahLst/>
              <a:cxnLst/>
              <a:rect r="r" b="b" t="t" l="l"/>
              <a:pathLst>
                <a:path h="597281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972810"/>
                  </a:lnTo>
                  <a:lnTo>
                    <a:pt x="0" y="5972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2075" y="2898267"/>
            <a:ext cx="6328410" cy="4498696"/>
            <a:chOff x="0" y="0"/>
            <a:chExt cx="8437880" cy="59982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37880" cy="5998210"/>
            </a:xfrm>
            <a:custGeom>
              <a:avLst/>
              <a:gdLst/>
              <a:ahLst/>
              <a:cxnLst/>
              <a:rect r="r" b="b" t="t" l="l"/>
              <a:pathLst>
                <a:path h="5998210" w="8437880">
                  <a:moveTo>
                    <a:pt x="0" y="0"/>
                  </a:moveTo>
                  <a:lnTo>
                    <a:pt x="8437880" y="0"/>
                  </a:lnTo>
                  <a:lnTo>
                    <a:pt x="8437880" y="5998210"/>
                  </a:lnTo>
                  <a:lnTo>
                    <a:pt x="0" y="59982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207" t="0" r="-41207" b="0"/>
              </a:stretch>
            </a:blip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7502652"/>
            <a:ext cx="7132320" cy="466344"/>
            <a:chOff x="0" y="0"/>
            <a:chExt cx="9509760" cy="621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621792"/>
            </a:xfrm>
            <a:custGeom>
              <a:avLst/>
              <a:gdLst/>
              <a:ahLst/>
              <a:cxnLst/>
              <a:rect r="r" b="b" t="t" l="l"/>
              <a:pathLst>
                <a:path h="6217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006" r="0" b="-2480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5097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“숙련공의 노하우와 암묵지는 문서화되지 못하고 있다.”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0120" y="7955280"/>
            <a:ext cx="7132320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출처: 전자신문 · 2026.05.28 (본문 인용)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15400" y="2752725"/>
            <a:ext cx="82296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기록되지 않는 지식 5가지 유형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905875" y="3488055"/>
            <a:ext cx="842010" cy="704850"/>
            <a:chOff x="0" y="0"/>
            <a:chExt cx="1122680" cy="939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26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22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972312" y="0"/>
                  </a:lnTo>
                  <a:cubicBezTo>
                    <a:pt x="1055370" y="0"/>
                    <a:pt x="1122680" y="67310"/>
                    <a:pt x="1122680" y="150368"/>
                  </a:cubicBezTo>
                  <a:lnTo>
                    <a:pt x="1122680" y="789432"/>
                  </a:lnTo>
                  <a:cubicBezTo>
                    <a:pt x="1122680" y="872490"/>
                    <a:pt x="1055370" y="939800"/>
                    <a:pt x="972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915400" y="3497580"/>
            <a:ext cx="822960" cy="685800"/>
            <a:chOff x="0" y="0"/>
            <a:chExt cx="109728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97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12680" y="3497580"/>
            <a:ext cx="3154680" cy="685800"/>
            <a:chOff x="0" y="0"/>
            <a:chExt cx="420624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감각 기반 이상 판단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167360" y="3497580"/>
            <a:ext cx="4293108" cy="685800"/>
            <a:chOff x="0" y="0"/>
            <a:chExt cx="5724144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24144" cy="914400"/>
            </a:xfrm>
            <a:custGeom>
              <a:avLst/>
              <a:gdLst/>
              <a:ahLst/>
              <a:cxnLst/>
              <a:rect r="r" b="b" t="t" l="l"/>
              <a:pathLst>
                <a:path h="91440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76" r="0" b="-7197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572414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소리·냄새·거품으로 이상 감지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05875" y="4420743"/>
            <a:ext cx="842010" cy="704850"/>
            <a:chOff x="0" y="0"/>
            <a:chExt cx="1122680" cy="939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26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22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972312" y="0"/>
                  </a:lnTo>
                  <a:cubicBezTo>
                    <a:pt x="1055370" y="0"/>
                    <a:pt x="1122680" y="67310"/>
                    <a:pt x="1122680" y="150368"/>
                  </a:cubicBezTo>
                  <a:lnTo>
                    <a:pt x="1122680" y="789432"/>
                  </a:lnTo>
                  <a:cubicBezTo>
                    <a:pt x="1122680" y="872490"/>
                    <a:pt x="1055370" y="939800"/>
                    <a:pt x="972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915400" y="4430268"/>
            <a:ext cx="822960" cy="685800"/>
            <a:chOff x="0" y="0"/>
            <a:chExt cx="109728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97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12680" y="4430268"/>
            <a:ext cx="3154680" cy="685800"/>
            <a:chOff x="0" y="0"/>
            <a:chExt cx="42062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조건부 요령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0" y="4430268"/>
            <a:ext cx="4293108" cy="685800"/>
            <a:chOff x="0" y="0"/>
            <a:chExt cx="5724144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24144" cy="914400"/>
            </a:xfrm>
            <a:custGeom>
              <a:avLst/>
              <a:gdLst/>
              <a:ahLst/>
              <a:cxnLst/>
              <a:rect r="r" b="b" t="t" l="l"/>
              <a:pathLst>
                <a:path h="91440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76" r="0" b="-719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72414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온도·부하에 따라 다른 조치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905875" y="5353431"/>
            <a:ext cx="842010" cy="704850"/>
            <a:chOff x="0" y="0"/>
            <a:chExt cx="1122680" cy="939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26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22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972312" y="0"/>
                  </a:lnTo>
                  <a:cubicBezTo>
                    <a:pt x="1055370" y="0"/>
                    <a:pt x="1122680" y="67310"/>
                    <a:pt x="1122680" y="150368"/>
                  </a:cubicBezTo>
                  <a:lnTo>
                    <a:pt x="1122680" y="789432"/>
                  </a:lnTo>
                  <a:cubicBezTo>
                    <a:pt x="1122680" y="872490"/>
                    <a:pt x="1055370" y="939800"/>
                    <a:pt x="972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915400" y="5362956"/>
            <a:ext cx="822960" cy="685800"/>
            <a:chOff x="0" y="0"/>
            <a:chExt cx="109728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097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12680" y="5362956"/>
            <a:ext cx="3154680" cy="685800"/>
            <a:chOff x="0" y="0"/>
            <a:chExt cx="420624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트러블슈팅 순서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167360" y="5362956"/>
            <a:ext cx="4293108" cy="685800"/>
            <a:chOff x="0" y="0"/>
            <a:chExt cx="5724144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24144" cy="914400"/>
            </a:xfrm>
            <a:custGeom>
              <a:avLst/>
              <a:gdLst/>
              <a:ahLst/>
              <a:cxnLst/>
              <a:rect r="r" b="b" t="t" l="l"/>
              <a:pathLst>
                <a:path h="91440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76" r="0" b="-7197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572414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점검 우선순위와 확인 순서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905875" y="6286119"/>
            <a:ext cx="842010" cy="704850"/>
            <a:chOff x="0" y="0"/>
            <a:chExt cx="1122680" cy="939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26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22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972312" y="0"/>
                  </a:lnTo>
                  <a:cubicBezTo>
                    <a:pt x="1055370" y="0"/>
                    <a:pt x="1122680" y="67310"/>
                    <a:pt x="1122680" y="150368"/>
                  </a:cubicBezTo>
                  <a:lnTo>
                    <a:pt x="1122680" y="789432"/>
                  </a:lnTo>
                  <a:cubicBezTo>
                    <a:pt x="1122680" y="872490"/>
                    <a:pt x="1055370" y="939800"/>
                    <a:pt x="972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915400" y="6295644"/>
            <a:ext cx="822960" cy="685800"/>
            <a:chOff x="0" y="0"/>
            <a:chExt cx="109728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097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12680" y="6295644"/>
            <a:ext cx="3154680" cy="685800"/>
            <a:chOff x="0" y="0"/>
            <a:chExt cx="420624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인수인계 맥락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167360" y="6295644"/>
            <a:ext cx="4293108" cy="685800"/>
            <a:chOff x="0" y="0"/>
            <a:chExt cx="5724144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724144" cy="914400"/>
            </a:xfrm>
            <a:custGeom>
              <a:avLst/>
              <a:gdLst/>
              <a:ahLst/>
              <a:cxnLst/>
              <a:rect r="r" b="b" t="t" l="l"/>
              <a:pathLst>
                <a:path h="91440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76" r="0" b="-7197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572414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앞 교대의 미완료 작업과 사유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905875" y="7218807"/>
            <a:ext cx="842010" cy="704850"/>
            <a:chOff x="0" y="0"/>
            <a:chExt cx="1122680" cy="939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22680" cy="939800"/>
            </a:xfrm>
            <a:custGeom>
              <a:avLst/>
              <a:gdLst/>
              <a:ahLst/>
              <a:cxnLst/>
              <a:rect r="r" b="b" t="t" l="l"/>
              <a:pathLst>
                <a:path h="939800" w="112268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972312" y="0"/>
                  </a:lnTo>
                  <a:cubicBezTo>
                    <a:pt x="1055370" y="0"/>
                    <a:pt x="1122680" y="67310"/>
                    <a:pt x="1122680" y="150368"/>
                  </a:cubicBezTo>
                  <a:lnTo>
                    <a:pt x="1122680" y="789432"/>
                  </a:lnTo>
                  <a:cubicBezTo>
                    <a:pt x="1122680" y="872490"/>
                    <a:pt x="1055370" y="939800"/>
                    <a:pt x="97231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915400" y="7228332"/>
            <a:ext cx="822960" cy="685800"/>
            <a:chOff x="0" y="0"/>
            <a:chExt cx="109728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1097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12680" y="7228332"/>
            <a:ext cx="3154680" cy="685800"/>
            <a:chOff x="0" y="0"/>
            <a:chExt cx="420624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06240" cy="914400"/>
            </a:xfrm>
            <a:custGeom>
              <a:avLst/>
              <a:gdLst/>
              <a:ahLst/>
              <a:cxnLst/>
              <a:rect r="r" b="b" t="t" l="l"/>
              <a:pathLst>
                <a:path h="9144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2062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안전 금기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167360" y="7228332"/>
            <a:ext cx="4293108" cy="685800"/>
            <a:chOff x="0" y="0"/>
            <a:chExt cx="5724144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4144" cy="914400"/>
            </a:xfrm>
            <a:custGeom>
              <a:avLst/>
              <a:gdLst/>
              <a:ahLst/>
              <a:cxnLst/>
              <a:rect r="r" b="b" t="t" l="l"/>
              <a:pathLst>
                <a:path h="91440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76" r="0" b="-7197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5724144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절대 금지 조작과 그 이유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459355" y="8631555"/>
            <a:ext cx="13368833" cy="704850"/>
            <a:chOff x="0" y="0"/>
            <a:chExt cx="17825110" cy="939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825086" cy="939800"/>
            </a:xfrm>
            <a:custGeom>
              <a:avLst/>
              <a:gdLst/>
              <a:ahLst/>
              <a:cxnLst/>
              <a:rect r="r" b="b" t="t" l="l"/>
              <a:pathLst>
                <a:path h="939800" w="17825086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17355186" y="0"/>
                  </a:lnTo>
                  <a:cubicBezTo>
                    <a:pt x="17614647" y="0"/>
                    <a:pt x="17825086" y="210439"/>
                    <a:pt x="17825086" y="469900"/>
                  </a:cubicBezTo>
                  <a:cubicBezTo>
                    <a:pt x="17825086" y="729361"/>
                    <a:pt x="17614647" y="939800"/>
                    <a:pt x="17355186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2468880" y="8641080"/>
            <a:ext cx="13349783" cy="685800"/>
            <a:chOff x="0" y="0"/>
            <a:chExt cx="17799710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799710" cy="914400"/>
            </a:xfrm>
            <a:custGeom>
              <a:avLst/>
              <a:gdLst/>
              <a:ahLst/>
              <a:cxnLst/>
              <a:rect r="r" b="b" t="t" l="l"/>
              <a:pathLst>
                <a:path h="914400" w="17799710">
                  <a:moveTo>
                    <a:pt x="0" y="0"/>
                  </a:moveTo>
                  <a:lnTo>
                    <a:pt x="17799710" y="0"/>
                  </a:lnTo>
                  <a:lnTo>
                    <a:pt x="1779971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95" r="0" b="-32929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1779971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다섯 유형을 ‘근거와 적용 조건이 붙은 지식 카드’로 구조화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프로젝트 개요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현장의 세 가지 문제와 ShiftLink의 대응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신입 작업자가 겪는 문제를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상태 · 지식 · 인계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의 세 영역으로 정리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733675"/>
            <a:ext cx="5299710" cy="2419350"/>
            <a:chOff x="0" y="0"/>
            <a:chExt cx="7066280" cy="322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628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3078353"/>
                  </a:lnTo>
                  <a:cubicBezTo>
                    <a:pt x="7066280" y="3159760"/>
                    <a:pt x="7000239" y="3225800"/>
                    <a:pt x="69188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DECEA"/>
            </a:solidFill>
            <a:ln w="19050" cap="sq">
              <a:solidFill>
                <a:srgbClr val="FDECE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3017520"/>
            <a:ext cx="617220" cy="617220"/>
            <a:chOff x="0" y="0"/>
            <a:chExt cx="822960" cy="82296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57400" y="3017520"/>
            <a:ext cx="3771900" cy="617220"/>
            <a:chOff x="0" y="0"/>
            <a:chExt cx="502920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2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02920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4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설비 상태 판단 곤란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4440" y="3899535"/>
            <a:ext cx="44577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수십 개 MES 값 중 현재 문제 지점 파악 곤란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179445" y="5271135"/>
            <a:ext cx="567690" cy="499110"/>
            <a:chOff x="0" y="0"/>
            <a:chExt cx="756920" cy="665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6920" cy="665480"/>
            </a:xfrm>
            <a:custGeom>
              <a:avLst/>
              <a:gdLst/>
              <a:ahLst/>
              <a:cxnLst/>
              <a:rect r="r" b="b" t="t" l="l"/>
              <a:pathLst>
                <a:path h="665480" w="756920">
                  <a:moveTo>
                    <a:pt x="0" y="332740"/>
                  </a:moveTo>
                  <a:lnTo>
                    <a:pt x="189230" y="332740"/>
                  </a:lnTo>
                  <a:lnTo>
                    <a:pt x="189230" y="0"/>
                  </a:lnTo>
                  <a:lnTo>
                    <a:pt x="567690" y="0"/>
                  </a:lnTo>
                  <a:lnTo>
                    <a:pt x="567690" y="332740"/>
                  </a:lnTo>
                  <a:lnTo>
                    <a:pt x="756920" y="332740"/>
                  </a:lnTo>
                  <a:lnTo>
                    <a:pt x="378460" y="66548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13435" y="5888355"/>
            <a:ext cx="5299710" cy="2213610"/>
            <a:chOff x="0" y="0"/>
            <a:chExt cx="7066280" cy="2951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62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70662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918706" y="0"/>
                  </a:lnTo>
                  <a:cubicBezTo>
                    <a:pt x="7000240" y="0"/>
                    <a:pt x="7066280" y="66040"/>
                    <a:pt x="7066280" y="147574"/>
                  </a:cubicBezTo>
                  <a:lnTo>
                    <a:pt x="7066280" y="2803906"/>
                  </a:lnTo>
                  <a:cubicBezTo>
                    <a:pt x="7066280" y="2885440"/>
                    <a:pt x="7000240" y="2951480"/>
                    <a:pt x="691870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34440" y="6103620"/>
            <a:ext cx="445770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현재 MES 값 우선 표시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440" y="6779895"/>
            <a:ext cx="44577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기준 범위 이탈 값과 경보를 답변 첫 줄에 표시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493916" y="2733675"/>
            <a:ext cx="5299710" cy="2419350"/>
            <a:chOff x="0" y="0"/>
            <a:chExt cx="7066280" cy="3225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6628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3078353"/>
                  </a:lnTo>
                  <a:cubicBezTo>
                    <a:pt x="7066280" y="3159760"/>
                    <a:pt x="7000239" y="3225800"/>
                    <a:pt x="69188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DECEA"/>
            </a:solidFill>
            <a:ln w="19050" cap="sq">
              <a:solidFill>
                <a:srgbClr val="FDECE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914921" y="3017520"/>
            <a:ext cx="617220" cy="617220"/>
            <a:chOff x="0" y="0"/>
            <a:chExt cx="822960" cy="82296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737881" y="3017520"/>
            <a:ext cx="3771900" cy="617220"/>
            <a:chOff x="0" y="0"/>
            <a:chExt cx="502920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2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502920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4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필요 지식 탐색 곤란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914921" y="3899535"/>
            <a:ext cx="44577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매뉴얼 58개 · 2,459쪽, 대부분 영문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859926" y="5271135"/>
            <a:ext cx="567690" cy="499110"/>
            <a:chOff x="0" y="0"/>
            <a:chExt cx="756920" cy="665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6920" cy="665480"/>
            </a:xfrm>
            <a:custGeom>
              <a:avLst/>
              <a:gdLst/>
              <a:ahLst/>
              <a:cxnLst/>
              <a:rect r="r" b="b" t="t" l="l"/>
              <a:pathLst>
                <a:path h="665480" w="756920">
                  <a:moveTo>
                    <a:pt x="0" y="332740"/>
                  </a:moveTo>
                  <a:lnTo>
                    <a:pt x="189230" y="332740"/>
                  </a:lnTo>
                  <a:lnTo>
                    <a:pt x="189230" y="0"/>
                  </a:lnTo>
                  <a:lnTo>
                    <a:pt x="567690" y="0"/>
                  </a:lnTo>
                  <a:lnTo>
                    <a:pt x="567690" y="332740"/>
                  </a:lnTo>
                  <a:lnTo>
                    <a:pt x="756920" y="332740"/>
                  </a:lnTo>
                  <a:lnTo>
                    <a:pt x="378460" y="66548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493916" y="5888355"/>
            <a:ext cx="5299710" cy="2213610"/>
            <a:chOff x="0" y="0"/>
            <a:chExt cx="7066280" cy="2951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662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70662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918706" y="0"/>
                  </a:lnTo>
                  <a:cubicBezTo>
                    <a:pt x="7000240" y="0"/>
                    <a:pt x="7066280" y="66040"/>
                    <a:pt x="7066280" y="147574"/>
                  </a:cubicBezTo>
                  <a:lnTo>
                    <a:pt x="7066280" y="2803906"/>
                  </a:lnTo>
                  <a:cubicBezTo>
                    <a:pt x="7066280" y="2885440"/>
                    <a:pt x="7000240" y="2951480"/>
                    <a:pt x="691870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6914921" y="6103620"/>
            <a:ext cx="445770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근거 인용 답변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914921" y="6779895"/>
            <a:ext cx="44577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카드 · 매뉴얼 · 인계 기록 검색, 쪽수까지 인용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174398" y="2733675"/>
            <a:ext cx="5299710" cy="2419350"/>
            <a:chOff x="0" y="0"/>
            <a:chExt cx="7066280" cy="3225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66280" cy="3225800"/>
            </a:xfrm>
            <a:custGeom>
              <a:avLst/>
              <a:gdLst/>
              <a:ahLst/>
              <a:cxnLst/>
              <a:rect r="r" b="b" t="t" l="l"/>
              <a:pathLst>
                <a:path h="3225800" w="70662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18833" y="0"/>
                  </a:lnTo>
                  <a:cubicBezTo>
                    <a:pt x="7000239" y="0"/>
                    <a:pt x="7066280" y="66040"/>
                    <a:pt x="7066280" y="147447"/>
                  </a:cubicBezTo>
                  <a:lnTo>
                    <a:pt x="7066280" y="3078353"/>
                  </a:lnTo>
                  <a:cubicBezTo>
                    <a:pt x="7066280" y="3159760"/>
                    <a:pt x="7000239" y="3225800"/>
                    <a:pt x="69188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DECEA"/>
            </a:solidFill>
            <a:ln w="19050" cap="sq">
              <a:solidFill>
                <a:srgbClr val="FDECE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595403" y="3017520"/>
            <a:ext cx="617220" cy="617220"/>
            <a:chOff x="0" y="0"/>
            <a:chExt cx="822960" cy="82296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418363" y="3017520"/>
            <a:ext cx="3771900" cy="617220"/>
            <a:chOff x="0" y="0"/>
            <a:chExt cx="502920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29200" cy="822960"/>
            </a:xfrm>
            <a:custGeom>
              <a:avLst/>
              <a:gdLst/>
              <a:ahLst/>
              <a:cxnLst/>
              <a:rect r="r" b="b" t="t" l="l"/>
              <a:pathLst>
                <a:path h="8229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502920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4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교대 시 맥락 단절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595403" y="3899535"/>
            <a:ext cx="44577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‘필터 점검 미해결’ 같은 인계 메모의 의미 파악 곤란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4540408" y="5271135"/>
            <a:ext cx="567690" cy="499110"/>
            <a:chOff x="0" y="0"/>
            <a:chExt cx="756920" cy="665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6920" cy="665480"/>
            </a:xfrm>
            <a:custGeom>
              <a:avLst/>
              <a:gdLst/>
              <a:ahLst/>
              <a:cxnLst/>
              <a:rect r="r" b="b" t="t" l="l"/>
              <a:pathLst>
                <a:path h="665480" w="756920">
                  <a:moveTo>
                    <a:pt x="0" y="332740"/>
                  </a:moveTo>
                  <a:lnTo>
                    <a:pt x="189230" y="332740"/>
                  </a:lnTo>
                  <a:lnTo>
                    <a:pt x="189230" y="0"/>
                  </a:lnTo>
                  <a:lnTo>
                    <a:pt x="567690" y="0"/>
                  </a:lnTo>
                  <a:lnTo>
                    <a:pt x="567690" y="332740"/>
                  </a:lnTo>
                  <a:lnTo>
                    <a:pt x="756920" y="332740"/>
                  </a:lnTo>
                  <a:lnTo>
                    <a:pt x="378460" y="66548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174398" y="5888355"/>
            <a:ext cx="5299710" cy="2213610"/>
            <a:chOff x="0" y="0"/>
            <a:chExt cx="7066280" cy="2951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662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70662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918706" y="0"/>
                  </a:lnTo>
                  <a:cubicBezTo>
                    <a:pt x="7000240" y="0"/>
                    <a:pt x="7066280" y="66040"/>
                    <a:pt x="7066280" y="147574"/>
                  </a:cubicBezTo>
                  <a:lnTo>
                    <a:pt x="7066280" y="2803906"/>
                  </a:lnTo>
                  <a:cubicBezTo>
                    <a:pt x="7066280" y="2885440"/>
                    <a:pt x="7000240" y="2951480"/>
                    <a:pt x="691870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2595403" y="6103620"/>
            <a:ext cx="445770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기록과 인계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595403" y="6779895"/>
            <a:ext cx="44577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질의 당시 상태 · 조치 · 근무일지 동시 기록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프로젝트 개요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목표와 제약 – 오프라인 · 단일 장비 · 근거 기반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외부 API 없이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Jetson Orin Nano 8GB 한 대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에서 검색 · 판정 · 답변 전 과정 처리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822960" y="2743200"/>
          <a:ext cx="16630650" cy="5372100"/>
        </p:xfrm>
        <a:graphic>
          <a:graphicData uri="http://schemas.openxmlformats.org/drawingml/2006/table">
            <a:tbl>
              <a:tblPr/>
              <a:tblGrid>
                <a:gridCol w="3441179"/>
                <a:gridCol w="6436139"/>
                <a:gridCol w="6753332"/>
              </a:tblGrid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문제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어려운 이유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측정 가능한 목표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근거 없는 답(환각)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2~3B 소형 모델은 근거 없이도 그럴듯한 답 생성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모든 답에 근거 인용 · 답 없는 질문 거절 · 중대 안전 오류 0건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장비 자원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메모리 7.6GB를 LLM · 판정 모델 · 임베딩 · MES가 공유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응답 p95 10초 이하 · 여유 메모리 1.0GiB 이상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답변 범위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지식 카드 86장만으로는 매뉴얼 · 인계 질문 대응 불가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카드 + 원문 58개 + 인계 기록 통합 검색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현재 상태 인식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과거 인계 기록을 현재 상태로 오인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MES 현재값 반영 · 상태 모순 0건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평가 신뢰성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동일 문항 반복 튜닝 시 20/20 → 신규 문항 7/11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블라인드 테스트셋 · 기준 사전 등록 · 블라인드 채점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9997" y="-9525"/>
            <a:ext cx="8797071" cy="10306050"/>
            <a:chOff x="0" y="0"/>
            <a:chExt cx="11729428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946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1729466">
                  <a:moveTo>
                    <a:pt x="0" y="0"/>
                  </a:moveTo>
                  <a:lnTo>
                    <a:pt x="11729466" y="0"/>
                  </a:lnTo>
                  <a:lnTo>
                    <a:pt x="1172946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09522" y="4937760"/>
            <a:ext cx="8092221" cy="4937760"/>
            <a:chOff x="0" y="0"/>
            <a:chExt cx="10789628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896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789628">
                  <a:moveTo>
                    <a:pt x="0" y="0"/>
                  </a:moveTo>
                  <a:lnTo>
                    <a:pt x="10789628" y="0"/>
                  </a:lnTo>
                  <a:lnTo>
                    <a:pt x="10789628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289" t="0" r="-2828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789628" cy="65932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6000"/>
                </a:lnSpc>
              </a:pPr>
              <a:r>
                <a:rPr lang="en-US" sz="300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4440" y="1518285"/>
            <a:ext cx="6858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ShiftLink 최종 발표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40" y="2047875"/>
            <a:ext cx="7955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시스템 구성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440" y="3366135"/>
            <a:ext cx="7955280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01  전체 아키텍처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02  질의 처리 흐름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03  작업자 화면과 관리자 화면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04  지식 재사용 루프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05  합성 데이터로 만든 가상 공장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11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3229768" y="326517"/>
            <a:ext cx="4672965" cy="718566"/>
            <a:chOff x="0" y="0"/>
            <a:chExt cx="6230620" cy="958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0620" cy="958088"/>
            </a:xfrm>
            <a:custGeom>
              <a:avLst/>
              <a:gdLst/>
              <a:ahLst/>
              <a:cxnLst/>
              <a:rect r="r" b="b" t="t" l="l"/>
              <a:pathLst>
                <a:path h="958088" w="6230620">
                  <a:moveTo>
                    <a:pt x="0" y="479044"/>
                  </a:moveTo>
                  <a:cubicBezTo>
                    <a:pt x="0" y="214503"/>
                    <a:pt x="214503" y="0"/>
                    <a:pt x="479044" y="0"/>
                  </a:cubicBezTo>
                  <a:lnTo>
                    <a:pt x="5751576" y="0"/>
                  </a:lnTo>
                  <a:cubicBezTo>
                    <a:pt x="6016117" y="0"/>
                    <a:pt x="6230620" y="214503"/>
                    <a:pt x="6230620" y="479044"/>
                  </a:cubicBezTo>
                  <a:cubicBezTo>
                    <a:pt x="6230620" y="743585"/>
                    <a:pt x="6016117" y="958088"/>
                    <a:pt x="5751576" y="958088"/>
                  </a:cubicBezTo>
                  <a:lnTo>
                    <a:pt x="479044" y="958088"/>
                  </a:lnTo>
                  <a:cubicBezTo>
                    <a:pt x="214503" y="958088"/>
                    <a:pt x="0" y="743585"/>
                    <a:pt x="0" y="4790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0758" y="475945"/>
            <a:ext cx="1260653" cy="419710"/>
            <a:chOff x="0" y="0"/>
            <a:chExt cx="1680870" cy="559613"/>
          </a:xfrm>
        </p:grpSpPr>
        <p:sp>
          <p:nvSpPr>
            <p:cNvPr name="Freeform 13" id="13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82876" y="569214"/>
            <a:ext cx="891816" cy="233172"/>
            <a:chOff x="0" y="0"/>
            <a:chExt cx="1189088" cy="310896"/>
          </a:xfrm>
        </p:grpSpPr>
        <p:sp>
          <p:nvSpPr>
            <p:cNvPr name="Freeform 15" id="15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266147" y="569214"/>
            <a:ext cx="1335596" cy="233172"/>
            <a:chOff x="0" y="0"/>
            <a:chExt cx="1780794" cy="310896"/>
          </a:xfrm>
        </p:grpSpPr>
        <p:sp>
          <p:nvSpPr>
            <p:cNvPr name="Freeform 17" id="17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시스템 구성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전체 아키텍처 – 구축 · 현장 추론 · 지식 환류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오프라인에서 만든 색인 · 모델로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현장 장비에서 추론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하고, 현장 기록을 검수해 다시 지식으로 저장</a:t>
              </a:r>
            </a:p>
          </p:txBody>
        </p:sp>
      </p:grpSp>
      <p:pic>
        <p:nvPicPr>
          <p:cNvPr name="Picture 20" id="20" descr="C:\Users\abab9\AppData\Local\Temp\claude\C--Users-abab9-Desktop-Shiftlink\03368683-632b-4bf6-b41d-988cf517f7bf\scratchpad\build\frames\arch.gif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8" t="0" r="8" b="0"/>
          <a:stretch>
            <a:fillRect/>
          </a:stretch>
        </p:blipFill>
        <p:spPr>
          <a:xfrm flipH="false" flipV="false" rot="0">
            <a:off x="822960" y="2468880"/>
            <a:ext cx="16637508" cy="6858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시스템 구성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질의 처리 흐름 – Jetson 한 대에서 완결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현장망이 끊겨도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질의와 기록은 장비 안에서 완결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 – 클라우드는 보관 전용</a:t>
              </a:r>
            </a:p>
          </p:txBody>
        </p:sp>
      </p:grpSp>
      <p:pic>
        <p:nvPicPr>
          <p:cNvPr name="Picture 20" id="20" descr="C:\Users\abab9\AppData\Local\Temp\claude\C--Users-abab9-Desktop-Shiftlink\03368683-632b-4bf6-b41d-988cf517f7bf\scratchpad\build\frames\flow.gif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8" t="0" r="8" b="0"/>
          <a:stretch>
            <a:fillRect/>
          </a:stretch>
        </p:blipFill>
        <p:spPr>
          <a:xfrm flipH="false" flipV="false" rot="0">
            <a:off x="822960" y="2537460"/>
            <a:ext cx="16637508" cy="6515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시스템 구성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작업자 PDA와 관리자 MES 대시보드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작업자는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설비 촬영 → 질문 → 근거 확인 → 조치 기록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, 관리자는 라인 상태와 지식 공백 확인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2743200"/>
            <a:ext cx="8092440" cy="4950666"/>
            <a:chOff x="0" y="0"/>
            <a:chExt cx="10789920" cy="6600888"/>
          </a:xfrm>
        </p:grpSpPr>
        <p:sp>
          <p:nvSpPr>
            <p:cNvPr name="Freeform 21" id="21" descr="C:\Users\abab9\AppData\Local\Temp\claude\C--Users-abab9-Desktop-Shiftlink\03368683-632b-4bf6-b41d-988cf517f7bf\scratchpad\deck\media\image24.png"/>
            <p:cNvSpPr/>
            <p:nvPr/>
          </p:nvSpPr>
          <p:spPr>
            <a:xfrm flipH="false" flipV="false" rot="0">
              <a:off x="0" y="0"/>
              <a:ext cx="10789920" cy="6600952"/>
            </a:xfrm>
            <a:custGeom>
              <a:avLst/>
              <a:gdLst/>
              <a:ahLst/>
              <a:cxnLst/>
              <a:rect r="r" b="b" t="t" l="l"/>
              <a:pathLst>
                <a:path h="660095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600952"/>
                  </a:lnTo>
                  <a:lnTo>
                    <a:pt x="0" y="6600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68028" y="2743200"/>
            <a:ext cx="8092440" cy="4950666"/>
            <a:chOff x="0" y="0"/>
            <a:chExt cx="10789920" cy="6600888"/>
          </a:xfrm>
        </p:grpSpPr>
        <p:sp>
          <p:nvSpPr>
            <p:cNvPr name="Freeform 23" id="23" descr="C:\Users\abab9\AppData\Local\Temp\claude\C--Users-abab9-Desktop-Shiftlink\03368683-632b-4bf6-b41d-988cf517f7bf\scratchpad\deck\media\image25.png"/>
            <p:cNvSpPr/>
            <p:nvPr/>
          </p:nvSpPr>
          <p:spPr>
            <a:xfrm flipH="false" flipV="false" rot="0">
              <a:off x="0" y="0"/>
              <a:ext cx="10789920" cy="6600952"/>
            </a:xfrm>
            <a:custGeom>
              <a:avLst/>
              <a:gdLst/>
              <a:ahLst/>
              <a:cxnLst/>
              <a:rect r="r" b="b" t="t" l="l"/>
              <a:pathLst>
                <a:path h="660095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600952"/>
                  </a:lnTo>
                  <a:lnTo>
                    <a:pt x="0" y="6600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664927" y="5363708"/>
            <a:ext cx="2922822" cy="622030"/>
            <a:chOff x="0" y="0"/>
            <a:chExt cx="3897097" cy="8293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97122" cy="829310"/>
            </a:xfrm>
            <a:custGeom>
              <a:avLst/>
              <a:gdLst/>
              <a:ahLst/>
              <a:cxnLst/>
              <a:rect r="r" b="b" t="t" l="l"/>
              <a:pathLst>
                <a:path h="829310" w="3897122">
                  <a:moveTo>
                    <a:pt x="0" y="0"/>
                  </a:moveTo>
                  <a:lnTo>
                    <a:pt x="3897122" y="0"/>
                  </a:lnTo>
                  <a:lnTo>
                    <a:pt x="3897122" y="829310"/>
                  </a:lnTo>
                  <a:lnTo>
                    <a:pt x="0" y="829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60" r="0" b="-41567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805565" y="3338989"/>
            <a:ext cx="2621471" cy="893255"/>
            <a:chOff x="0" y="0"/>
            <a:chExt cx="3495294" cy="11910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95294" cy="1191006"/>
            </a:xfrm>
            <a:custGeom>
              <a:avLst/>
              <a:gdLst/>
              <a:ahLst/>
              <a:cxnLst/>
              <a:rect r="r" b="b" t="t" l="l"/>
              <a:pathLst>
                <a:path h="1191006" w="3495294">
                  <a:moveTo>
                    <a:pt x="0" y="0"/>
                  </a:moveTo>
                  <a:lnTo>
                    <a:pt x="3495294" y="0"/>
                  </a:lnTo>
                  <a:lnTo>
                    <a:pt x="3495294" y="1191006"/>
                  </a:lnTo>
                  <a:lnTo>
                    <a:pt x="0" y="11910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83" r="0" b="-7183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3435" y="7877175"/>
            <a:ext cx="8111490" cy="1226058"/>
            <a:chOff x="0" y="0"/>
            <a:chExt cx="10815320" cy="16347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5320" cy="1634744"/>
            </a:xfrm>
            <a:custGeom>
              <a:avLst/>
              <a:gdLst/>
              <a:ahLst/>
              <a:cxnLst/>
              <a:rect r="r" b="b" t="t" l="l"/>
              <a:pathLst>
                <a:path h="1634744" w="10815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666730" y="0"/>
                  </a:lnTo>
                  <a:cubicBezTo>
                    <a:pt x="10748773" y="0"/>
                    <a:pt x="10815320" y="66548"/>
                    <a:pt x="10815320" y="148590"/>
                  </a:cubicBezTo>
                  <a:lnTo>
                    <a:pt x="10815320" y="1486154"/>
                  </a:lnTo>
                  <a:cubicBezTo>
                    <a:pt x="10815320" y="1568196"/>
                    <a:pt x="10748773" y="1634744"/>
                    <a:pt x="10666730" y="1634744"/>
                  </a:cubicBezTo>
                  <a:lnTo>
                    <a:pt x="148590" y="1634744"/>
                  </a:lnTo>
                  <a:cubicBezTo>
                    <a:pt x="66548" y="1634744"/>
                    <a:pt x="0" y="1568196"/>
                    <a:pt x="0" y="1486154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97280" y="7982712"/>
            <a:ext cx="7543800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PDA · 현장 작업자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7280" y="8494395"/>
            <a:ext cx="7543800" cy="47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근거가 없으면 ‘해당 지식 없음’ – 추측 답변 차단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58503" y="7877175"/>
            <a:ext cx="8111490" cy="1226058"/>
            <a:chOff x="0" y="0"/>
            <a:chExt cx="10815320" cy="16347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15320" cy="1634744"/>
            </a:xfrm>
            <a:custGeom>
              <a:avLst/>
              <a:gdLst/>
              <a:ahLst/>
              <a:cxnLst/>
              <a:rect r="r" b="b" t="t" l="l"/>
              <a:pathLst>
                <a:path h="1634744" w="10815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666730" y="0"/>
                  </a:lnTo>
                  <a:cubicBezTo>
                    <a:pt x="10748773" y="0"/>
                    <a:pt x="10815320" y="66548"/>
                    <a:pt x="10815320" y="148590"/>
                  </a:cubicBezTo>
                  <a:lnTo>
                    <a:pt x="10815320" y="1486154"/>
                  </a:lnTo>
                  <a:cubicBezTo>
                    <a:pt x="10815320" y="1568196"/>
                    <a:pt x="10748773" y="1634744"/>
                    <a:pt x="10666730" y="1634744"/>
                  </a:cubicBezTo>
                  <a:lnTo>
                    <a:pt x="148590" y="1634744"/>
                  </a:lnTo>
                  <a:cubicBezTo>
                    <a:pt x="66548" y="1634744"/>
                    <a:pt x="0" y="1568196"/>
                    <a:pt x="0" y="1486154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642348" y="7982712"/>
            <a:ext cx="7543800" cy="49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MES 대시보드 · 관제실 · 관리자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42348" y="8494395"/>
            <a:ext cx="7543800" cy="47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정지 손실 · 반복 증상과 함께 ‘지식 공백’ 집계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시스템 구성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지식 재사용 루프 – 현장 해결 기록의 지식 카드화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‘해당 지식 없음’에서 시작한 현장 조치가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관리자 검수를 거쳐 다음 교대의 근거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로 환류</a:t>
              </a:r>
            </a:p>
          </p:txBody>
        </p:sp>
      </p:grpSp>
      <p:pic>
        <p:nvPicPr>
          <p:cNvPr name="Picture 20" id="20" descr="C:\Users\abab9\AppData\Local\Temp\claude\C--Users-abab9-Desktop-Shiftlink\03368683-632b-4bf6-b41d-988cf517f7bf\scratchpad\build\frames\loop.gif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15" r="0" b="15"/>
          <a:stretch>
            <a:fillRect/>
          </a:stretch>
        </p:blipFill>
        <p:spPr>
          <a:xfrm flipH="false" flipV="false" rot="0">
            <a:off x="822960" y="2674620"/>
            <a:ext cx="16637508" cy="6473952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시스템 구성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합성 데이터 – Unity 가상 냉연 라인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가상 공장과 모의 MES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로 기능 우선 검증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2743200"/>
            <a:ext cx="4114800" cy="2194560"/>
            <a:chOff x="0" y="0"/>
            <a:chExt cx="5486400" cy="2926080"/>
          </a:xfrm>
        </p:grpSpPr>
        <p:sp>
          <p:nvSpPr>
            <p:cNvPr name="Freeform 21" id="21" descr="C:\Users\abab9\AppData\Local\Temp\claude\C--Users-abab9-Desktop-Shiftlink\03368683-632b-4bf6-b41d-988cf517f7bf\scratchpad\deck\media\image14.png"/>
            <p:cNvSpPr/>
            <p:nvPr/>
          </p:nvSpPr>
          <p:spPr>
            <a:xfrm flipH="false" flipV="false" rot="0">
              <a:off x="0" y="0"/>
              <a:ext cx="548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926080"/>
                  </a:lnTo>
                  <a:lnTo>
                    <a:pt x="0" y="29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22960" y="4983099"/>
            <a:ext cx="4114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유압 유닛 (HPU)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43500" y="2743200"/>
            <a:ext cx="4114800" cy="2194560"/>
            <a:chOff x="0" y="0"/>
            <a:chExt cx="5486400" cy="2926080"/>
          </a:xfrm>
        </p:grpSpPr>
        <p:sp>
          <p:nvSpPr>
            <p:cNvPr name="Freeform 24" id="24" descr="C:\Users\abab9\AppData\Local\Temp\claude\C--Users-abab9-Desktop-Shiftlink\03368683-632b-4bf6-b41d-988cf517f7bf\scratchpad\deck\media\image15.png"/>
            <p:cNvSpPr/>
            <p:nvPr/>
          </p:nvSpPr>
          <p:spPr>
            <a:xfrm flipH="false" flipV="false" rot="0">
              <a:off x="0" y="0"/>
              <a:ext cx="548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926080"/>
                  </a:lnTo>
                  <a:lnTo>
                    <a:pt x="0" y="29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43500" y="4983099"/>
            <a:ext cx="4114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감속기 (GR)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2960" y="5486400"/>
            <a:ext cx="4114800" cy="2194560"/>
            <a:chOff x="0" y="0"/>
            <a:chExt cx="5486400" cy="2926080"/>
          </a:xfrm>
        </p:grpSpPr>
        <p:sp>
          <p:nvSpPr>
            <p:cNvPr name="Freeform 27" id="27" descr="C:\Users\abab9\AppData\Local\Temp\claude\C--Users-abab9-Desktop-Shiftlink\03368683-632b-4bf6-b41d-988cf517f7bf\scratchpad\deck\media\image16.png"/>
            <p:cNvSpPr/>
            <p:nvPr/>
          </p:nvSpPr>
          <p:spPr>
            <a:xfrm flipH="false" flipV="false" rot="0">
              <a:off x="0" y="0"/>
              <a:ext cx="548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926080"/>
                  </a:lnTo>
                  <a:lnTo>
                    <a:pt x="0" y="29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22960" y="7726299"/>
            <a:ext cx="4114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롤러 테이블 (RT)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143500" y="5486400"/>
            <a:ext cx="4114800" cy="2194560"/>
            <a:chOff x="0" y="0"/>
            <a:chExt cx="5486400" cy="2926080"/>
          </a:xfrm>
        </p:grpSpPr>
        <p:sp>
          <p:nvSpPr>
            <p:cNvPr name="Freeform 30" id="30" descr="C:\Users\abab9\AppData\Local\Temp\claude\C--Users-abab9-Desktop-Shiftlink\03368683-632b-4bf6-b41d-988cf517f7bf\scratchpad\deck\media\image17.png"/>
            <p:cNvSpPr/>
            <p:nvPr/>
          </p:nvSpPr>
          <p:spPr>
            <a:xfrm flipH="false" flipV="false" rot="0">
              <a:off x="0" y="0"/>
              <a:ext cx="5486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926080"/>
                  </a:lnTo>
                  <a:lnTo>
                    <a:pt x="0" y="29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143500" y="7726299"/>
            <a:ext cx="41148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컨베이어 (CV)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65995" y="2733675"/>
            <a:ext cx="7603998" cy="1582674"/>
            <a:chOff x="0" y="0"/>
            <a:chExt cx="10138664" cy="21102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38664" cy="2110232"/>
            </a:xfrm>
            <a:custGeom>
              <a:avLst/>
              <a:gdLst/>
              <a:ahLst/>
              <a:cxnLst/>
              <a:rect r="r" b="b" t="t" l="l"/>
              <a:pathLst>
                <a:path h="2110232" w="1013866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9990582" y="0"/>
                  </a:lnTo>
                  <a:cubicBezTo>
                    <a:pt x="10072370" y="0"/>
                    <a:pt x="10138664" y="66294"/>
                    <a:pt x="10138664" y="148082"/>
                  </a:cubicBezTo>
                  <a:lnTo>
                    <a:pt x="10138664" y="1962150"/>
                  </a:lnTo>
                  <a:cubicBezTo>
                    <a:pt x="10138664" y="2043938"/>
                    <a:pt x="10072370" y="2110232"/>
                    <a:pt x="9990582" y="2110232"/>
                  </a:cubicBezTo>
                  <a:lnTo>
                    <a:pt x="148082" y="2110232"/>
                  </a:lnTo>
                  <a:cubicBezTo>
                    <a:pt x="66294" y="2110232"/>
                    <a:pt x="0" y="2043938"/>
                    <a:pt x="0" y="196215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218420" y="2743200"/>
            <a:ext cx="3017520" cy="1563624"/>
            <a:chOff x="0" y="0"/>
            <a:chExt cx="4023360" cy="20848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2084832"/>
            </a:xfrm>
            <a:custGeom>
              <a:avLst/>
              <a:gdLst/>
              <a:ahLst/>
              <a:cxnLst/>
              <a:rect r="r" b="b" t="t" l="l"/>
              <a:pathLst>
                <a:path h="20848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084832"/>
                  </a:lnTo>
                  <a:lnTo>
                    <a:pt x="0" y="208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84" t="0" r="-1648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023360" cy="208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10대 · 6종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167360" y="2743200"/>
            <a:ext cx="4114800" cy="1563624"/>
            <a:chOff x="0" y="0"/>
            <a:chExt cx="5486400" cy="20848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2084832"/>
            </a:xfrm>
            <a:custGeom>
              <a:avLst/>
              <a:gdLst/>
              <a:ahLst/>
              <a:cxnLst/>
              <a:rect r="r" b="b" t="t" l="l"/>
              <a:pathLst>
                <a:path h="208483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84832"/>
                  </a:lnTo>
                  <a:lnTo>
                    <a:pt x="0" y="208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486400" cy="208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가상 설비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HPU·PDP·CAU·GR·RT·CV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65995" y="4544187"/>
            <a:ext cx="7603998" cy="1582674"/>
            <a:chOff x="0" y="0"/>
            <a:chExt cx="10138664" cy="21102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38664" cy="2110232"/>
            </a:xfrm>
            <a:custGeom>
              <a:avLst/>
              <a:gdLst/>
              <a:ahLst/>
              <a:cxnLst/>
              <a:rect r="r" b="b" t="t" l="l"/>
              <a:pathLst>
                <a:path h="2110232" w="1013866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9990582" y="0"/>
                  </a:lnTo>
                  <a:cubicBezTo>
                    <a:pt x="10072370" y="0"/>
                    <a:pt x="10138664" y="66294"/>
                    <a:pt x="10138664" y="148082"/>
                  </a:cubicBezTo>
                  <a:lnTo>
                    <a:pt x="10138664" y="1962150"/>
                  </a:lnTo>
                  <a:cubicBezTo>
                    <a:pt x="10138664" y="2043938"/>
                    <a:pt x="10072370" y="2110232"/>
                    <a:pt x="9990582" y="2110232"/>
                  </a:cubicBezTo>
                  <a:lnTo>
                    <a:pt x="148082" y="2110232"/>
                  </a:lnTo>
                  <a:cubicBezTo>
                    <a:pt x="66294" y="2110232"/>
                    <a:pt x="0" y="2043938"/>
                    <a:pt x="0" y="196215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218420" y="4553712"/>
            <a:ext cx="3017520" cy="1563624"/>
            <a:chOff x="0" y="0"/>
            <a:chExt cx="4023360" cy="20848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23360" cy="2084832"/>
            </a:xfrm>
            <a:custGeom>
              <a:avLst/>
              <a:gdLst/>
              <a:ahLst/>
              <a:cxnLst/>
              <a:rect r="r" b="b" t="t" l="l"/>
              <a:pathLst>
                <a:path h="20848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084832"/>
                  </a:lnTo>
                  <a:lnTo>
                    <a:pt x="0" y="208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84" t="0" r="-1648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023360" cy="208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69 / 48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167360" y="4553712"/>
            <a:ext cx="4114800" cy="1563624"/>
            <a:chOff x="0" y="0"/>
            <a:chExt cx="5486400" cy="20848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0" cy="2084832"/>
            </a:xfrm>
            <a:custGeom>
              <a:avLst/>
              <a:gdLst/>
              <a:ahLst/>
              <a:cxnLst/>
              <a:rect r="r" b="b" t="t" l="l"/>
              <a:pathLst>
                <a:path h="208483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84832"/>
                  </a:lnTo>
                  <a:lnTo>
                    <a:pt x="0" y="208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486400" cy="208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MES 측정점 / 신호 종류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65995" y="6354699"/>
            <a:ext cx="7603998" cy="1582674"/>
            <a:chOff x="0" y="0"/>
            <a:chExt cx="10138664" cy="21102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38664" cy="2110232"/>
            </a:xfrm>
            <a:custGeom>
              <a:avLst/>
              <a:gdLst/>
              <a:ahLst/>
              <a:cxnLst/>
              <a:rect r="r" b="b" t="t" l="l"/>
              <a:pathLst>
                <a:path h="2110232" w="1013866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9990582" y="0"/>
                  </a:lnTo>
                  <a:cubicBezTo>
                    <a:pt x="10072370" y="0"/>
                    <a:pt x="10138664" y="66294"/>
                    <a:pt x="10138664" y="148082"/>
                  </a:cubicBezTo>
                  <a:lnTo>
                    <a:pt x="10138664" y="1962150"/>
                  </a:lnTo>
                  <a:cubicBezTo>
                    <a:pt x="10138664" y="2043938"/>
                    <a:pt x="10072370" y="2110232"/>
                    <a:pt x="9990582" y="2110232"/>
                  </a:cubicBezTo>
                  <a:lnTo>
                    <a:pt x="148082" y="2110232"/>
                  </a:lnTo>
                  <a:cubicBezTo>
                    <a:pt x="66294" y="2110232"/>
                    <a:pt x="0" y="2043938"/>
                    <a:pt x="0" y="196215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218420" y="6364224"/>
            <a:ext cx="3017520" cy="1563624"/>
            <a:chOff x="0" y="0"/>
            <a:chExt cx="4023360" cy="20848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23360" cy="2084832"/>
            </a:xfrm>
            <a:custGeom>
              <a:avLst/>
              <a:gdLst/>
              <a:ahLst/>
              <a:cxnLst/>
              <a:rect r="r" b="b" t="t" l="l"/>
              <a:pathLst>
                <a:path h="20848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084832"/>
                  </a:lnTo>
                  <a:lnTo>
                    <a:pt x="0" y="208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84" t="0" r="-1648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023360" cy="208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8,951장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67360" y="6364224"/>
            <a:ext cx="4114800" cy="1563624"/>
            <a:chOff x="0" y="0"/>
            <a:chExt cx="5486400" cy="20848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2084832"/>
            </a:xfrm>
            <a:custGeom>
              <a:avLst/>
              <a:gdLst/>
              <a:ahLst/>
              <a:cxnLst/>
              <a:rect r="r" b="b" t="t" l="l"/>
              <a:pathLst>
                <a:path h="208483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84832"/>
                  </a:lnTo>
                  <a:lnTo>
                    <a:pt x="0" y="2084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486400" cy="2084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설비 이미지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학습 7,178 · 검증 893 · 시험 880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9997" y="-9525"/>
            <a:ext cx="8797071" cy="10306050"/>
            <a:chOff x="0" y="0"/>
            <a:chExt cx="11729428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946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1729466">
                  <a:moveTo>
                    <a:pt x="0" y="0"/>
                  </a:moveTo>
                  <a:lnTo>
                    <a:pt x="11729466" y="0"/>
                  </a:lnTo>
                  <a:lnTo>
                    <a:pt x="1172946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09522" y="4937760"/>
            <a:ext cx="8092221" cy="4937760"/>
            <a:chOff x="0" y="0"/>
            <a:chExt cx="10789628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896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789628">
                  <a:moveTo>
                    <a:pt x="0" y="0"/>
                  </a:moveTo>
                  <a:lnTo>
                    <a:pt x="10789628" y="0"/>
                  </a:lnTo>
                  <a:lnTo>
                    <a:pt x="10789628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289" t="0" r="-2828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789628" cy="65932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6000"/>
                </a:lnSpc>
              </a:pPr>
              <a:r>
                <a:rPr lang="en-US" sz="300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4440" y="1518285"/>
            <a:ext cx="6858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ShiftLink 최종 발표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40" y="2047875"/>
            <a:ext cx="7955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모델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440" y="3566160"/>
            <a:ext cx="7955280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01  지식 데이터와 검색 색인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02  기반 모델과 검색 방식 선택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03  판정 라우팅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04  MES 상황 인식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05  코드 규칙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06  최종 배포 구성의 성능 비교</a:t>
            </a:r>
          </a:p>
          <a:p>
            <a:pPr algn="l">
              <a:lnSpc>
                <a:spcPts val="1199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07  설비 분류와 얼굴 확인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29768" y="326517"/>
            <a:ext cx="4672965" cy="718566"/>
            <a:chOff x="0" y="0"/>
            <a:chExt cx="6230620" cy="958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0620" cy="958088"/>
            </a:xfrm>
            <a:custGeom>
              <a:avLst/>
              <a:gdLst/>
              <a:ahLst/>
              <a:cxnLst/>
              <a:rect r="r" b="b" t="t" l="l"/>
              <a:pathLst>
                <a:path h="958088" w="6230620">
                  <a:moveTo>
                    <a:pt x="0" y="479044"/>
                  </a:moveTo>
                  <a:cubicBezTo>
                    <a:pt x="0" y="214503"/>
                    <a:pt x="214503" y="0"/>
                    <a:pt x="479044" y="0"/>
                  </a:cubicBezTo>
                  <a:lnTo>
                    <a:pt x="5751576" y="0"/>
                  </a:lnTo>
                  <a:cubicBezTo>
                    <a:pt x="6016117" y="0"/>
                    <a:pt x="6230620" y="214503"/>
                    <a:pt x="6230620" y="479044"/>
                  </a:cubicBezTo>
                  <a:cubicBezTo>
                    <a:pt x="6230620" y="743585"/>
                    <a:pt x="6016117" y="958088"/>
                    <a:pt x="5751576" y="958088"/>
                  </a:cubicBezTo>
                  <a:lnTo>
                    <a:pt x="479044" y="958088"/>
                  </a:lnTo>
                  <a:cubicBezTo>
                    <a:pt x="214503" y="958088"/>
                    <a:pt x="0" y="743585"/>
                    <a:pt x="0" y="4790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0758" y="475945"/>
            <a:ext cx="1260653" cy="419710"/>
            <a:chOff x="0" y="0"/>
            <a:chExt cx="1680870" cy="559613"/>
          </a:xfrm>
        </p:grpSpPr>
        <p:sp>
          <p:nvSpPr>
            <p:cNvPr name="Freeform 13" id="13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82876" y="569214"/>
            <a:ext cx="891816" cy="233172"/>
            <a:chOff x="0" y="0"/>
            <a:chExt cx="1189088" cy="310896"/>
          </a:xfrm>
        </p:grpSpPr>
        <p:sp>
          <p:nvSpPr>
            <p:cNvPr name="Freeform 15" id="15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266147" y="569214"/>
            <a:ext cx="1335596" cy="233172"/>
            <a:chOff x="0" y="0"/>
            <a:chExt cx="1780794" cy="310896"/>
          </a:xfrm>
        </p:grpSpPr>
        <p:sp>
          <p:nvSpPr>
            <p:cNvPr name="Freeform 17" id="17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지식 데이터 – 원문에서 검색 색인까지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원문 58개 · 2,459쪽, 지식 카드, 인계 기록을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3,950개 조각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으로 분할해 검색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733675"/>
            <a:ext cx="4408170" cy="1363218"/>
            <a:chOff x="0" y="0"/>
            <a:chExt cx="5877560" cy="18176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77560" cy="1817624"/>
            </a:xfrm>
            <a:custGeom>
              <a:avLst/>
              <a:gdLst/>
              <a:ahLst/>
              <a:cxnLst/>
              <a:rect r="r" b="b" t="t" l="l"/>
              <a:pathLst>
                <a:path h="1817624" w="587756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5729224" y="0"/>
                  </a:lnTo>
                  <a:cubicBezTo>
                    <a:pt x="5811139" y="0"/>
                    <a:pt x="5877560" y="66421"/>
                    <a:pt x="5877560" y="148336"/>
                  </a:cubicBezTo>
                  <a:lnTo>
                    <a:pt x="5877560" y="1669288"/>
                  </a:lnTo>
                  <a:cubicBezTo>
                    <a:pt x="5877560" y="1751203"/>
                    <a:pt x="5811139" y="1817624"/>
                    <a:pt x="572922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97280" y="2852928"/>
            <a:ext cx="20574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원문 문서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7280" y="3282315"/>
            <a:ext cx="397764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58개 · 2,459쪽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06040" y="2880360"/>
            <a:ext cx="24688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제조사 매뉴얼 · 안전 지침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3435" y="4269867"/>
            <a:ext cx="4408170" cy="1363218"/>
            <a:chOff x="0" y="0"/>
            <a:chExt cx="5877560" cy="18176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77560" cy="1817624"/>
            </a:xfrm>
            <a:custGeom>
              <a:avLst/>
              <a:gdLst/>
              <a:ahLst/>
              <a:cxnLst/>
              <a:rect r="r" b="b" t="t" l="l"/>
              <a:pathLst>
                <a:path h="1817624" w="587756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5729224" y="0"/>
                  </a:lnTo>
                  <a:cubicBezTo>
                    <a:pt x="5811139" y="0"/>
                    <a:pt x="5877560" y="66421"/>
                    <a:pt x="5877560" y="148336"/>
                  </a:cubicBezTo>
                  <a:lnTo>
                    <a:pt x="5877560" y="1669288"/>
                  </a:lnTo>
                  <a:cubicBezTo>
                    <a:pt x="5877560" y="1751203"/>
                    <a:pt x="5811139" y="1817624"/>
                    <a:pt x="572922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97280" y="4389120"/>
            <a:ext cx="20574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지식 카드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280" y="4818507"/>
            <a:ext cx="397764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86장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06040" y="4416552"/>
            <a:ext cx="24688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증상 · 조치 · 근거 쪽수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13435" y="5806059"/>
            <a:ext cx="4408170" cy="1363218"/>
            <a:chOff x="0" y="0"/>
            <a:chExt cx="5877560" cy="18176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77560" cy="1817624"/>
            </a:xfrm>
            <a:custGeom>
              <a:avLst/>
              <a:gdLst/>
              <a:ahLst/>
              <a:cxnLst/>
              <a:rect r="r" b="b" t="t" l="l"/>
              <a:pathLst>
                <a:path h="1817624" w="587756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5729224" y="0"/>
                  </a:lnTo>
                  <a:cubicBezTo>
                    <a:pt x="5811139" y="0"/>
                    <a:pt x="5877560" y="66421"/>
                    <a:pt x="5877560" y="148336"/>
                  </a:cubicBezTo>
                  <a:lnTo>
                    <a:pt x="5877560" y="1669288"/>
                  </a:lnTo>
                  <a:cubicBezTo>
                    <a:pt x="5877560" y="1751203"/>
                    <a:pt x="5811139" y="1817624"/>
                    <a:pt x="572922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97280" y="5925312"/>
            <a:ext cx="20574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인계 기록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7280" y="6354699"/>
            <a:ext cx="397764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40조각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06040" y="5952744"/>
            <a:ext cx="24688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교대 인계 메모(합성)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751195" y="2733675"/>
            <a:ext cx="2625090" cy="2213610"/>
            <a:chOff x="0" y="0"/>
            <a:chExt cx="3500120" cy="2951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00120" cy="2951480"/>
            </a:xfrm>
            <a:custGeom>
              <a:avLst/>
              <a:gdLst/>
              <a:ahLst/>
              <a:cxnLst/>
              <a:rect r="r" b="b" t="t" l="l"/>
              <a:pathLst>
                <a:path h="2951480" w="35001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352546" y="0"/>
                  </a:lnTo>
                  <a:cubicBezTo>
                    <a:pt x="3434080" y="0"/>
                    <a:pt x="3500120" y="66040"/>
                    <a:pt x="3500120" y="147574"/>
                  </a:cubicBezTo>
                  <a:lnTo>
                    <a:pt x="3500120" y="2803906"/>
                  </a:lnTo>
                  <a:cubicBezTo>
                    <a:pt x="3500120" y="2885440"/>
                    <a:pt x="3434080" y="2951480"/>
                    <a:pt x="335254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6007608" y="288036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07608" y="3264408"/>
            <a:ext cx="21945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파싱 · 정제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007608" y="3877437"/>
            <a:ext cx="226314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쪽별 텍스트 추출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머리말 · 빈 쪽 제거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66760" y="3429000"/>
            <a:ext cx="3429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F6F63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700135" y="2733675"/>
            <a:ext cx="2625090" cy="2213610"/>
            <a:chOff x="0" y="0"/>
            <a:chExt cx="3500120" cy="2951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00120" cy="2951480"/>
            </a:xfrm>
            <a:custGeom>
              <a:avLst/>
              <a:gdLst/>
              <a:ahLst/>
              <a:cxnLst/>
              <a:rect r="r" b="b" t="t" l="l"/>
              <a:pathLst>
                <a:path h="2951480" w="35001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352546" y="0"/>
                  </a:lnTo>
                  <a:cubicBezTo>
                    <a:pt x="3434080" y="0"/>
                    <a:pt x="3500120" y="66040"/>
                    <a:pt x="3500120" y="147574"/>
                  </a:cubicBezTo>
                  <a:lnTo>
                    <a:pt x="3500120" y="2803906"/>
                  </a:lnTo>
                  <a:cubicBezTo>
                    <a:pt x="3500120" y="2885440"/>
                    <a:pt x="3434080" y="2951480"/>
                    <a:pt x="335254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8956548" y="288036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56548" y="3264408"/>
            <a:ext cx="21945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청킹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56548" y="3877437"/>
            <a:ext cx="226314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700토큰 기준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쪽 · 절 경계 보존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15700" y="3429000"/>
            <a:ext cx="3429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F6F63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649075" y="2733675"/>
            <a:ext cx="2625090" cy="2213610"/>
            <a:chOff x="0" y="0"/>
            <a:chExt cx="3500120" cy="2951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00120" cy="2951480"/>
            </a:xfrm>
            <a:custGeom>
              <a:avLst/>
              <a:gdLst/>
              <a:ahLst/>
              <a:cxnLst/>
              <a:rect r="r" b="b" t="t" l="l"/>
              <a:pathLst>
                <a:path h="2951480" w="35001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352546" y="0"/>
                  </a:lnTo>
                  <a:cubicBezTo>
                    <a:pt x="3434080" y="0"/>
                    <a:pt x="3500120" y="66040"/>
                    <a:pt x="3500120" y="147574"/>
                  </a:cubicBezTo>
                  <a:lnTo>
                    <a:pt x="3500120" y="2803906"/>
                  </a:lnTo>
                  <a:cubicBezTo>
                    <a:pt x="3500120" y="2885440"/>
                    <a:pt x="3434080" y="2951480"/>
                    <a:pt x="335254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905488" y="288036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05488" y="3264408"/>
            <a:ext cx="21945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임베딩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905488" y="3877437"/>
            <a:ext cx="226314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embeddinggemma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300M · 768차원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64640" y="3429000"/>
            <a:ext cx="3429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F6F63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4598015" y="2733675"/>
            <a:ext cx="2625090" cy="2213610"/>
            <a:chOff x="0" y="0"/>
            <a:chExt cx="3500120" cy="2951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00120" cy="2951480"/>
            </a:xfrm>
            <a:custGeom>
              <a:avLst/>
              <a:gdLst/>
              <a:ahLst/>
              <a:cxnLst/>
              <a:rect r="r" b="b" t="t" l="l"/>
              <a:pathLst>
                <a:path h="2951480" w="35001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3352546" y="0"/>
                  </a:lnTo>
                  <a:cubicBezTo>
                    <a:pt x="3434080" y="0"/>
                    <a:pt x="3500120" y="66040"/>
                    <a:pt x="3500120" y="147574"/>
                  </a:cubicBezTo>
                  <a:lnTo>
                    <a:pt x="3500120" y="2803906"/>
                  </a:lnTo>
                  <a:cubicBezTo>
                    <a:pt x="3500120" y="2885440"/>
                    <a:pt x="3434080" y="2951480"/>
                    <a:pt x="335254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4854428" y="288036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54428" y="3264408"/>
            <a:ext cx="21945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검색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854428" y="3877437"/>
            <a:ext cx="226314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설비 필터 + 코사인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최대 8조각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751195" y="5339715"/>
            <a:ext cx="11718798" cy="1939290"/>
            <a:chOff x="0" y="0"/>
            <a:chExt cx="15625064" cy="25857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625063" cy="2585720"/>
            </a:xfrm>
            <a:custGeom>
              <a:avLst/>
              <a:gdLst/>
              <a:ahLst/>
              <a:cxnLst/>
              <a:rect r="r" b="b" t="t" l="l"/>
              <a:pathLst>
                <a:path h="2585720" w="15625063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5477362" y="0"/>
                  </a:lnTo>
                  <a:cubicBezTo>
                    <a:pt x="15559024" y="0"/>
                    <a:pt x="15625063" y="66167"/>
                    <a:pt x="15625063" y="147701"/>
                  </a:cubicBezTo>
                  <a:lnTo>
                    <a:pt x="15625063" y="2438019"/>
                  </a:lnTo>
                  <a:cubicBezTo>
                    <a:pt x="15625063" y="2519680"/>
                    <a:pt x="15558897" y="2585720"/>
                    <a:pt x="15477362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6103620" y="5513832"/>
            <a:ext cx="6172200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최종 색인  3,950조각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103620" y="6336792"/>
            <a:ext cx="74066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원문 3,824 · 카드 86 · 인계 기록 40 · 약 336만 자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578840" y="5605653"/>
            <a:ext cx="370332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색인은 PC · GPU에서 구축</a:t>
            </a:r>
          </a:p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Jetson은 완성본만 로드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760720" y="7543800"/>
            <a:ext cx="1165860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학습 · 평가 데이터 중복 차단 (최대 바이그램 유사도 0.27)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모델과 검색 방식 선택 – 동일 문항 비교 기반 선정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Jetson 실측 결과로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EXAONE 3.5 2.4B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와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embeddinggemma 300M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 채택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2743200"/>
            <a:ext cx="79552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기반 모델 · Jetson 20문항 인용 적중 (개)</a:t>
            </a:r>
          </a:p>
        </p:txBody>
      </p:sp>
      <p:sp>
        <p:nvSpPr>
          <p:cNvPr name="AutoShape 21" id="21"/>
          <p:cNvSpPr/>
          <p:nvPr/>
        </p:nvSpPr>
        <p:spPr>
          <a:xfrm rot="5373240">
            <a:off x="2322843" y="4727258"/>
            <a:ext cx="2625166" cy="0"/>
          </a:xfrm>
          <a:prstGeom prst="line">
            <a:avLst/>
          </a:prstGeom>
          <a:ln cap="rnd" w="9525">
            <a:solidFill>
              <a:srgbClr val="D7E0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822960" y="3566160"/>
            <a:ext cx="2606040" cy="850392"/>
            <a:chOff x="0" y="0"/>
            <a:chExt cx="347472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74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EXAONE 3.5 2.4B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634740" y="3621024"/>
            <a:ext cx="2719197" cy="740664"/>
            <a:chOff x="0" y="0"/>
            <a:chExt cx="3625596" cy="9875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25596" cy="987552"/>
            </a:xfrm>
            <a:custGeom>
              <a:avLst/>
              <a:gdLst/>
              <a:ahLst/>
              <a:cxnLst/>
              <a:rect r="r" b="b" t="t" l="l"/>
              <a:pathLst>
                <a:path h="987552" w="3625596">
                  <a:moveTo>
                    <a:pt x="0" y="0"/>
                  </a:moveTo>
                  <a:lnTo>
                    <a:pt x="3625596" y="0"/>
                  </a:lnTo>
                  <a:lnTo>
                    <a:pt x="3625596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1F6F6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91097" y="3566160"/>
            <a:ext cx="960120" cy="850392"/>
            <a:chOff x="0" y="0"/>
            <a:chExt cx="1280160" cy="1133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28016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2949" y="3407569"/>
            <a:ext cx="8135303" cy="1167574"/>
            <a:chOff x="0" y="0"/>
            <a:chExt cx="10847070" cy="15567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47070" cy="1556766"/>
            </a:xfrm>
            <a:custGeom>
              <a:avLst/>
              <a:gdLst/>
              <a:ahLst/>
              <a:cxnLst/>
              <a:rect r="r" b="b" t="t" l="l"/>
              <a:pathLst>
                <a:path h="1556766" w="10847070">
                  <a:moveTo>
                    <a:pt x="0" y="0"/>
                  </a:moveTo>
                  <a:lnTo>
                    <a:pt x="10847070" y="0"/>
                  </a:lnTo>
                  <a:lnTo>
                    <a:pt x="10847070" y="1556766"/>
                  </a:lnTo>
                  <a:lnTo>
                    <a:pt x="0" y="15567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765" r="0" b="-85765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869180"/>
            <a:ext cx="2606040" cy="850392"/>
            <a:chOff x="0" y="0"/>
            <a:chExt cx="3474720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74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Qwen2.5-3B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4740" y="4924044"/>
            <a:ext cx="1882521" cy="740664"/>
            <a:chOff x="0" y="0"/>
            <a:chExt cx="2510028" cy="9875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10028" cy="987552"/>
            </a:xfrm>
            <a:custGeom>
              <a:avLst/>
              <a:gdLst/>
              <a:ahLst/>
              <a:cxnLst/>
              <a:rect r="r" b="b" t="t" l="l"/>
              <a:pathLst>
                <a:path h="987552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A9C2B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654421" y="4869180"/>
            <a:ext cx="960120" cy="850392"/>
            <a:chOff x="0" y="0"/>
            <a:chExt cx="1280160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28016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545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9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505188" y="2743200"/>
            <a:ext cx="79552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검색 임베딩 · 정답 근거 포함 (123문항 중)</a:t>
            </a:r>
          </a:p>
        </p:txBody>
      </p:sp>
      <p:sp>
        <p:nvSpPr>
          <p:cNvPr name="AutoShape 41" id="41"/>
          <p:cNvSpPr/>
          <p:nvPr/>
        </p:nvSpPr>
        <p:spPr>
          <a:xfrm rot="5373240">
            <a:off x="11005071" y="4727258"/>
            <a:ext cx="2625166" cy="0"/>
          </a:xfrm>
          <a:prstGeom prst="line">
            <a:avLst/>
          </a:prstGeom>
          <a:ln cap="rnd" w="9525">
            <a:solidFill>
              <a:srgbClr val="D7E0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505188" y="3566160"/>
            <a:ext cx="2606040" cy="850392"/>
            <a:chOff x="0" y="0"/>
            <a:chExt cx="3474720" cy="1133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4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embeddinggemma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16968" y="3621024"/>
            <a:ext cx="2924966" cy="740664"/>
            <a:chOff x="0" y="0"/>
            <a:chExt cx="3899954" cy="9875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99916" cy="987552"/>
            </a:xfrm>
            <a:custGeom>
              <a:avLst/>
              <a:gdLst/>
              <a:ahLst/>
              <a:cxnLst/>
              <a:rect r="r" b="b" t="t" l="l"/>
              <a:pathLst>
                <a:path h="987552" w="3899916">
                  <a:moveTo>
                    <a:pt x="0" y="0"/>
                  </a:moveTo>
                  <a:lnTo>
                    <a:pt x="3899916" y="0"/>
                  </a:lnTo>
                  <a:lnTo>
                    <a:pt x="3899916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1F6F6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379094" y="3566160"/>
            <a:ext cx="960120" cy="850392"/>
            <a:chOff x="0" y="0"/>
            <a:chExt cx="1280160" cy="11338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128016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86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5177" y="3407569"/>
            <a:ext cx="8135303" cy="1167574"/>
            <a:chOff x="0" y="0"/>
            <a:chExt cx="10847070" cy="155676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47070" cy="1556766"/>
            </a:xfrm>
            <a:custGeom>
              <a:avLst/>
              <a:gdLst/>
              <a:ahLst/>
              <a:cxnLst/>
              <a:rect r="r" b="b" t="t" l="l"/>
              <a:pathLst>
                <a:path h="1556766" w="10847070">
                  <a:moveTo>
                    <a:pt x="0" y="0"/>
                  </a:moveTo>
                  <a:lnTo>
                    <a:pt x="10847070" y="0"/>
                  </a:lnTo>
                  <a:lnTo>
                    <a:pt x="10847070" y="1556766"/>
                  </a:lnTo>
                  <a:lnTo>
                    <a:pt x="0" y="15567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765" r="0" b="-85765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505188" y="4869180"/>
            <a:ext cx="2606040" cy="850392"/>
            <a:chOff x="0" y="0"/>
            <a:chExt cx="3474720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bge-m3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16968" y="4924044"/>
            <a:ext cx="2618861" cy="740664"/>
            <a:chOff x="0" y="0"/>
            <a:chExt cx="3491814" cy="9875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91865" cy="987552"/>
            </a:xfrm>
            <a:custGeom>
              <a:avLst/>
              <a:gdLst/>
              <a:ahLst/>
              <a:cxnLst/>
              <a:rect r="r" b="b" t="t" l="l"/>
              <a:pathLst>
                <a:path h="987552" w="3491865">
                  <a:moveTo>
                    <a:pt x="0" y="0"/>
                  </a:moveTo>
                  <a:lnTo>
                    <a:pt x="3491865" y="0"/>
                  </a:lnTo>
                  <a:lnTo>
                    <a:pt x="3491865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A9C2B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072989" y="4869180"/>
            <a:ext cx="960120" cy="850392"/>
            <a:chOff x="0" y="0"/>
            <a:chExt cx="1280160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1280160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545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77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822960" y="6515100"/>
            <a:ext cx="79552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한국어 질문 · 응답 p50 5.7초 · 외부 API는 ‘네트워크 없이 동작’ 요구로 제외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505188" y="6515100"/>
            <a:ext cx="79552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모델 크기 0.6GB(bge-m3 1.2GB) · 키워드 검색(BM25) 영어 원문 회수율 2.6%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2459355" y="7877175"/>
            <a:ext cx="13368833" cy="704850"/>
            <a:chOff x="0" y="0"/>
            <a:chExt cx="17825110" cy="939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825086" cy="939800"/>
            </a:xfrm>
            <a:custGeom>
              <a:avLst/>
              <a:gdLst/>
              <a:ahLst/>
              <a:cxnLst/>
              <a:rect r="r" b="b" t="t" l="l"/>
              <a:pathLst>
                <a:path h="939800" w="17825086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17355186" y="0"/>
                  </a:lnTo>
                  <a:cubicBezTo>
                    <a:pt x="17614647" y="0"/>
                    <a:pt x="17825086" y="210439"/>
                    <a:pt x="17825086" y="469900"/>
                  </a:cubicBezTo>
                  <a:cubicBezTo>
                    <a:pt x="17825086" y="729361"/>
                    <a:pt x="17614647" y="939800"/>
                    <a:pt x="17355186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2468880" y="7886700"/>
            <a:ext cx="13349783" cy="685800"/>
            <a:chOff x="0" y="0"/>
            <a:chExt cx="1779971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799710" cy="914400"/>
            </a:xfrm>
            <a:custGeom>
              <a:avLst/>
              <a:gdLst/>
              <a:ahLst/>
              <a:cxnLst/>
              <a:rect r="r" b="b" t="t" l="l"/>
              <a:pathLst>
                <a:path h="914400" w="17799710">
                  <a:moveTo>
                    <a:pt x="0" y="0"/>
                  </a:moveTo>
                  <a:lnTo>
                    <a:pt x="17799710" y="0"/>
                  </a:lnTo>
                  <a:lnTo>
                    <a:pt x="1779971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95" r="0" b="-32929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779971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소형 모델의 한계는 판정 모델과 코드 규칙으로 보완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판정 라우팅 – 근거가 약한 답변 차단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SFT 판정 모델이 조각별 관련 확률로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버림 · 답 확정 · 모델 판단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 분기</a:t>
              </a:r>
            </a:p>
          </p:txBody>
        </p:sp>
      </p:grpSp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822960" y="2743200"/>
            <a:ext cx="8503920" cy="4783455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822960" y="7612380"/>
            <a:ext cx="850392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▶ 검색 근거가 답변이 되기까지 (12초)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0" y="2852928"/>
            <a:ext cx="576072" cy="576072"/>
            <a:chOff x="0" y="0"/>
            <a:chExt cx="768096" cy="768096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698480" y="2743200"/>
            <a:ext cx="1920240" cy="795528"/>
            <a:chOff x="0" y="0"/>
            <a:chExt cx="2560320" cy="10607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4" t="0" r="-315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56032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D94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 &lt; 0.3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18720" y="2743200"/>
            <a:ext cx="4869180" cy="795528"/>
            <a:chOff x="0" y="0"/>
            <a:chExt cx="6492240" cy="10607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92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1" r="0" b="-6926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49224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조각 버림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3840480"/>
            <a:ext cx="576072" cy="576072"/>
            <a:chOff x="0" y="0"/>
            <a:chExt cx="768096" cy="76809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698480" y="3730752"/>
            <a:ext cx="1920240" cy="795528"/>
            <a:chOff x="0" y="0"/>
            <a:chExt cx="2560320" cy="10607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4" t="0" r="-315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56032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 ≥ 0.9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18720" y="3730752"/>
            <a:ext cx="4869180" cy="795528"/>
            <a:chOff x="0" y="0"/>
            <a:chExt cx="6492240" cy="10607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92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1" r="0" b="-692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49224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답 확정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4828032"/>
            <a:ext cx="576072" cy="576072"/>
            <a:chOff x="0" y="0"/>
            <a:chExt cx="768096" cy="768096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98480" y="4718304"/>
            <a:ext cx="1920240" cy="795528"/>
            <a:chOff x="0" y="0"/>
            <a:chExt cx="2560320" cy="1060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54" t="0" r="-315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560320" cy="1060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C77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그 사이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18720" y="4718304"/>
            <a:ext cx="4869180" cy="795528"/>
            <a:chOff x="0" y="0"/>
            <a:chExt cx="6492240" cy="1060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92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61" r="0" b="-6926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49224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답변 모델 판단 (거절 임계 0.3528)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65995" y="5956935"/>
            <a:ext cx="7603998" cy="2076450"/>
            <a:chOff x="0" y="0"/>
            <a:chExt cx="10138664" cy="2768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38664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13866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9990963" y="0"/>
                  </a:lnTo>
                  <a:cubicBezTo>
                    <a:pt x="10072497" y="0"/>
                    <a:pt x="10138664" y="66167"/>
                    <a:pt x="10138664" y="147701"/>
                  </a:cubicBezTo>
                  <a:lnTo>
                    <a:pt x="10138664" y="2620899"/>
                  </a:lnTo>
                  <a:cubicBezTo>
                    <a:pt x="10138664" y="2702433"/>
                    <a:pt x="10072497" y="2768600"/>
                    <a:pt x="999096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0149840" y="6094095"/>
            <a:ext cx="38404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홀드아웃 질문 답변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49840" y="6505575"/>
            <a:ext cx="38404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6B78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 → </a:t>
            </a:r>
            <a:r>
              <a:rPr lang="en-US" sz="5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25</a:t>
            </a:r>
            <a:r>
              <a:rPr lang="en-US" sz="5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/ 35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127480" y="6094095"/>
            <a:ext cx="31546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답 없는 질문 거절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127480" y="6524625"/>
            <a:ext cx="315468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  <a:r>
              <a:rPr lang="en-US" sz="24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/ 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MES 상황 인식 – 프롬프트 한계와 학습 기반 개선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프롬프트 개선 4종 모두 기준 미달 →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MES 입력 블록 기반 SFT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로 현재값 해석 학습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733675"/>
            <a:ext cx="5505450" cy="4956810"/>
            <a:chOff x="0" y="0"/>
            <a:chExt cx="7340600" cy="6609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406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73406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193788" y="0"/>
                  </a:lnTo>
                  <a:cubicBezTo>
                    <a:pt x="7274814" y="0"/>
                    <a:pt x="7340600" y="65786"/>
                    <a:pt x="7340600" y="146812"/>
                  </a:cubicBezTo>
                  <a:lnTo>
                    <a:pt x="7340600" y="6462268"/>
                  </a:lnTo>
                  <a:cubicBezTo>
                    <a:pt x="7340600" y="6543421"/>
                    <a:pt x="7274814" y="6609080"/>
                    <a:pt x="7193788" y="6609080"/>
                  </a:cubicBezTo>
                  <a:lnTo>
                    <a:pt x="146812" y="6609080"/>
                  </a:lnTo>
                  <a:cubicBezTo>
                    <a:pt x="65786" y="6609080"/>
                    <a:pt x="0" y="6543294"/>
                    <a:pt x="0" y="6462268"/>
                  </a:cubicBezTo>
                  <a:close/>
                </a:path>
              </a:pathLst>
            </a:custGeom>
            <a:solidFill>
              <a:srgbClr val="FDECEA"/>
            </a:solidFill>
            <a:ln w="19050" cap="sq">
              <a:solidFill>
                <a:srgbClr val="FDECE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3017520"/>
            <a:ext cx="617220" cy="617220"/>
            <a:chOff x="0" y="0"/>
            <a:chExt cx="822960" cy="82296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88820" y="3017520"/>
            <a:ext cx="4114800" cy="617220"/>
            <a:chOff x="0" y="0"/>
            <a:chExt cx="548640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822960"/>
            </a:xfrm>
            <a:custGeom>
              <a:avLst/>
              <a:gdLst/>
              <a:ahLst/>
              <a:cxnLst/>
              <a:rect r="r" b="b" t="t" l="l"/>
              <a:pathLst>
                <a:path h="822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48640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4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프롬프트 개선 시도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34440" y="3918585"/>
            <a:ext cx="480060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39" indent="-21716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해석 블록 추가</a:t>
            </a:r>
          </a:p>
          <a:p>
            <a:pPr algn="l" marL="434339" indent="-21716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답변 앞부분 미리 채우기</a:t>
            </a:r>
          </a:p>
          <a:p>
            <a:pPr algn="l" marL="434339" indent="-21716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질문에 MES 값 삽입</a:t>
            </a:r>
          </a:p>
          <a:p>
            <a:pPr algn="l" marL="434339" indent="-21716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지시문 강화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440" y="6309360"/>
            <a:ext cx="4937760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4종 모두 통과 기준 미달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과거 인계 기록을 현재 상태로 오인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05575" y="4791075"/>
            <a:ext cx="704850" cy="704850"/>
            <a:chOff x="0" y="0"/>
            <a:chExt cx="939800" cy="93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234950"/>
                  </a:moveTo>
                  <a:lnTo>
                    <a:pt x="469900" y="234950"/>
                  </a:lnTo>
                  <a:lnTo>
                    <a:pt x="469900" y="0"/>
                  </a:lnTo>
                  <a:lnTo>
                    <a:pt x="939800" y="469900"/>
                  </a:lnTo>
                  <a:lnTo>
                    <a:pt x="469900" y="939800"/>
                  </a:lnTo>
                  <a:lnTo>
                    <a:pt x="469900" y="7048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465695" y="2733675"/>
            <a:ext cx="3173730" cy="2899410"/>
            <a:chOff x="0" y="0"/>
            <a:chExt cx="4231640" cy="3865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316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423164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084320" y="0"/>
                  </a:lnTo>
                  <a:cubicBezTo>
                    <a:pt x="4165727" y="0"/>
                    <a:pt x="4231640" y="65913"/>
                    <a:pt x="4231640" y="147320"/>
                  </a:cubicBezTo>
                  <a:lnTo>
                    <a:pt x="4231640" y="3718560"/>
                  </a:lnTo>
                  <a:cubicBezTo>
                    <a:pt x="4231640" y="3799967"/>
                    <a:pt x="4165727" y="3865880"/>
                    <a:pt x="408432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612380" y="3154680"/>
            <a:ext cx="288036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 → 42</a:t>
            </a:r>
            <a:r>
              <a:rPr lang="en-US" sz="4500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/42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612380" y="4526280"/>
            <a:ext cx="2880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현재값 표시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826115" y="2733675"/>
            <a:ext cx="3173730" cy="2899410"/>
            <a:chOff x="0" y="0"/>
            <a:chExt cx="4231640" cy="3865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316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423164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084320" y="0"/>
                  </a:lnTo>
                  <a:cubicBezTo>
                    <a:pt x="4165727" y="0"/>
                    <a:pt x="4231640" y="65913"/>
                    <a:pt x="4231640" y="147320"/>
                  </a:cubicBezTo>
                  <a:lnTo>
                    <a:pt x="4231640" y="3718560"/>
                  </a:lnTo>
                  <a:cubicBezTo>
                    <a:pt x="4231640" y="3799967"/>
                    <a:pt x="4165727" y="3865880"/>
                    <a:pt x="408432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0972800" y="3154680"/>
            <a:ext cx="288036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 → 8</a:t>
            </a:r>
            <a:r>
              <a:rPr lang="en-US" sz="4500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72800" y="4526280"/>
            <a:ext cx="2880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경보 구분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4186535" y="2733675"/>
            <a:ext cx="3173730" cy="2899410"/>
            <a:chOff x="0" y="0"/>
            <a:chExt cx="4231640" cy="3865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31640" cy="3865880"/>
            </a:xfrm>
            <a:custGeom>
              <a:avLst/>
              <a:gdLst/>
              <a:ahLst/>
              <a:cxnLst/>
              <a:rect r="r" b="b" t="t" l="l"/>
              <a:pathLst>
                <a:path h="3865880" w="423164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084320" y="0"/>
                  </a:lnTo>
                  <a:cubicBezTo>
                    <a:pt x="4165727" y="0"/>
                    <a:pt x="4231640" y="65913"/>
                    <a:pt x="4231640" y="147320"/>
                  </a:cubicBezTo>
                  <a:lnTo>
                    <a:pt x="4231640" y="3718560"/>
                  </a:lnTo>
                  <a:cubicBezTo>
                    <a:pt x="4231640" y="3799967"/>
                    <a:pt x="4165727" y="3865880"/>
                    <a:pt x="408432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4333220" y="3154680"/>
            <a:ext cx="288036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 → 0</a:t>
            </a:r>
            <a:r>
              <a:rPr lang="en-US" sz="4500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건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33220" y="4526280"/>
            <a:ext cx="288036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상태 모순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465695" y="5888355"/>
            <a:ext cx="10004298" cy="1802130"/>
            <a:chOff x="0" y="0"/>
            <a:chExt cx="13339064" cy="2402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339065" cy="2402840"/>
            </a:xfrm>
            <a:custGeom>
              <a:avLst/>
              <a:gdLst/>
              <a:ahLst/>
              <a:cxnLst/>
              <a:rect r="r" b="b" t="t" l="l"/>
              <a:pathLst>
                <a:path h="2402840" w="1333906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3191237" y="0"/>
                  </a:lnTo>
                  <a:cubicBezTo>
                    <a:pt x="13272898" y="0"/>
                    <a:pt x="13339065" y="66167"/>
                    <a:pt x="13339065" y="147828"/>
                  </a:cubicBezTo>
                  <a:lnTo>
                    <a:pt x="13339065" y="2255012"/>
                  </a:lnTo>
                  <a:cubicBezTo>
                    <a:pt x="13339065" y="2336673"/>
                    <a:pt x="13272898" y="2402840"/>
                    <a:pt x="13191237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749540" y="6103620"/>
            <a:ext cx="548640" cy="548640"/>
            <a:chOff x="0" y="0"/>
            <a:chExt cx="731520" cy="73152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03920" y="6103620"/>
            <a:ext cx="8229600" cy="548640"/>
            <a:chOff x="0" y="0"/>
            <a:chExt cx="109728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9728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C77A1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부작용 측정 및 대응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503920" y="6720840"/>
            <a:ext cx="877824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MES 전용 답변 경로가 지식 질문까지 처리 → 정확도 63% → 44% 하락 → 경로 비활성화, 현재값은 코드가 첫 줄에 표시 → 60% 회복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코드 규칙 – 오류 빈발 출력의 코드 고정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재학습 없이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코드 규칙 5종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으로 반복 오답 유형 차단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733675"/>
            <a:ext cx="16660673" cy="924306"/>
            <a:chOff x="0" y="0"/>
            <a:chExt cx="22214230" cy="12324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14205" cy="1232408"/>
            </a:xfrm>
            <a:custGeom>
              <a:avLst/>
              <a:gdLst/>
              <a:ahLst/>
              <a:cxnLst/>
              <a:rect r="r" b="b" t="t" l="l"/>
              <a:pathLst>
                <a:path h="1232408" w="2221420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22064853" y="0"/>
                  </a:lnTo>
                  <a:cubicBezTo>
                    <a:pt x="22147403" y="0"/>
                    <a:pt x="22214205" y="66929"/>
                    <a:pt x="22214205" y="149352"/>
                  </a:cubicBezTo>
                  <a:lnTo>
                    <a:pt x="22214205" y="1083056"/>
                  </a:lnTo>
                  <a:cubicBezTo>
                    <a:pt x="22214205" y="1165606"/>
                    <a:pt x="22147276" y="1232408"/>
                    <a:pt x="22064853" y="1232408"/>
                  </a:cubicBezTo>
                  <a:lnTo>
                    <a:pt x="149352" y="1232408"/>
                  </a:lnTo>
                  <a:cubicBezTo>
                    <a:pt x="66929" y="1232408"/>
                    <a:pt x="0" y="1165479"/>
                    <a:pt x="0" y="1083056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2921508"/>
            <a:ext cx="548640" cy="548640"/>
            <a:chOff x="0" y="0"/>
            <a:chExt cx="731520" cy="73152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20240" y="2743200"/>
            <a:ext cx="3977640" cy="905256"/>
            <a:chOff x="0" y="0"/>
            <a:chExt cx="5303520" cy="12070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MES 현재값 첫 줄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035040" y="2743200"/>
            <a:ext cx="7132320" cy="905256"/>
            <a:chOff x="0" y="0"/>
            <a:chExt cx="9509760" cy="12070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18" r="0" b="-1035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50976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현재값 · 기준 범위를 코드가 직접 작성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67360" y="2743200"/>
            <a:ext cx="4046220" cy="905256"/>
            <a:chOff x="0" y="0"/>
            <a:chExt cx="5394960" cy="12070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92" r="0" b="-370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39496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현재값 표시 42/42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3435" y="3803523"/>
            <a:ext cx="16660673" cy="924306"/>
            <a:chOff x="0" y="0"/>
            <a:chExt cx="22214230" cy="12324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214205" cy="1232408"/>
            </a:xfrm>
            <a:custGeom>
              <a:avLst/>
              <a:gdLst/>
              <a:ahLst/>
              <a:cxnLst/>
              <a:rect r="r" b="b" t="t" l="l"/>
              <a:pathLst>
                <a:path h="1232408" w="2221420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22064853" y="0"/>
                  </a:lnTo>
                  <a:cubicBezTo>
                    <a:pt x="22147403" y="0"/>
                    <a:pt x="22214205" y="66929"/>
                    <a:pt x="22214205" y="149352"/>
                  </a:cubicBezTo>
                  <a:lnTo>
                    <a:pt x="22214205" y="1083056"/>
                  </a:lnTo>
                  <a:cubicBezTo>
                    <a:pt x="22214205" y="1165606"/>
                    <a:pt x="22147276" y="1232408"/>
                    <a:pt x="22064853" y="1232408"/>
                  </a:cubicBezTo>
                  <a:lnTo>
                    <a:pt x="149352" y="1232408"/>
                  </a:lnTo>
                  <a:cubicBezTo>
                    <a:pt x="66929" y="1232408"/>
                    <a:pt x="0" y="1165479"/>
                    <a:pt x="0" y="108305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3991356"/>
            <a:ext cx="548640" cy="548640"/>
            <a:chOff x="0" y="0"/>
            <a:chExt cx="731520" cy="73152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20240" y="3813048"/>
            <a:ext cx="3977640" cy="905256"/>
            <a:chOff x="0" y="0"/>
            <a:chExt cx="5303520" cy="12070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대상 설비 구분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35040" y="3813048"/>
            <a:ext cx="7132320" cy="905256"/>
            <a:chOff x="0" y="0"/>
            <a:chExt cx="9509760" cy="12070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18" r="0" b="-1035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50976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다른 설비 기록이 섞인 문장 제거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67360" y="3813048"/>
            <a:ext cx="4046220" cy="905256"/>
            <a:chOff x="0" y="0"/>
            <a:chExt cx="5394960" cy="12070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949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92" r="0" b="-370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39496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다른 설비 언급 18 → 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3435" y="4873371"/>
            <a:ext cx="16660673" cy="924306"/>
            <a:chOff x="0" y="0"/>
            <a:chExt cx="22214230" cy="12324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214205" cy="1232408"/>
            </a:xfrm>
            <a:custGeom>
              <a:avLst/>
              <a:gdLst/>
              <a:ahLst/>
              <a:cxnLst/>
              <a:rect r="r" b="b" t="t" l="l"/>
              <a:pathLst>
                <a:path h="1232408" w="2221420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22064853" y="0"/>
                  </a:lnTo>
                  <a:cubicBezTo>
                    <a:pt x="22147403" y="0"/>
                    <a:pt x="22214205" y="66929"/>
                    <a:pt x="22214205" y="149352"/>
                  </a:cubicBezTo>
                  <a:lnTo>
                    <a:pt x="22214205" y="1083056"/>
                  </a:lnTo>
                  <a:cubicBezTo>
                    <a:pt x="22214205" y="1165606"/>
                    <a:pt x="22147276" y="1232408"/>
                    <a:pt x="22064853" y="1232408"/>
                  </a:cubicBezTo>
                  <a:lnTo>
                    <a:pt x="149352" y="1232408"/>
                  </a:lnTo>
                  <a:cubicBezTo>
                    <a:pt x="66929" y="1232408"/>
                    <a:pt x="0" y="1165479"/>
                    <a:pt x="0" y="1083056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" y="5061204"/>
            <a:ext cx="548640" cy="548640"/>
            <a:chOff x="0" y="0"/>
            <a:chExt cx="731520" cy="73152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20240" y="4882896"/>
            <a:ext cx="3977640" cy="905256"/>
            <a:chOff x="0" y="0"/>
            <a:chExt cx="5303520" cy="12070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관측값 없음 표기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35040" y="4882896"/>
            <a:ext cx="7132320" cy="905256"/>
            <a:chOff x="0" y="0"/>
            <a:chExt cx="9509760" cy="12070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097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18" r="0" b="-10351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950976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값이 없으면 ‘정상’ 대신 ‘관측값 없음’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167360" y="4882896"/>
            <a:ext cx="4046220" cy="905256"/>
            <a:chOff x="0" y="0"/>
            <a:chExt cx="5394960" cy="12070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949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92" r="0" b="-3709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39496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없는 값의 ‘정상’ 표기 4 → 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3435" y="5943219"/>
            <a:ext cx="16660673" cy="924306"/>
            <a:chOff x="0" y="0"/>
            <a:chExt cx="22214230" cy="12324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214205" cy="1232408"/>
            </a:xfrm>
            <a:custGeom>
              <a:avLst/>
              <a:gdLst/>
              <a:ahLst/>
              <a:cxnLst/>
              <a:rect r="r" b="b" t="t" l="l"/>
              <a:pathLst>
                <a:path h="1232408" w="2221420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22064853" y="0"/>
                  </a:lnTo>
                  <a:cubicBezTo>
                    <a:pt x="22147403" y="0"/>
                    <a:pt x="22214205" y="66929"/>
                    <a:pt x="22214205" y="149352"/>
                  </a:cubicBezTo>
                  <a:lnTo>
                    <a:pt x="22214205" y="1083056"/>
                  </a:lnTo>
                  <a:cubicBezTo>
                    <a:pt x="22214205" y="1165606"/>
                    <a:pt x="22147276" y="1232408"/>
                    <a:pt x="22064853" y="1232408"/>
                  </a:cubicBezTo>
                  <a:lnTo>
                    <a:pt x="149352" y="1232408"/>
                  </a:lnTo>
                  <a:cubicBezTo>
                    <a:pt x="66929" y="1232408"/>
                    <a:pt x="0" y="1165479"/>
                    <a:pt x="0" y="108305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" y="6131052"/>
            <a:ext cx="548640" cy="548640"/>
            <a:chOff x="0" y="0"/>
            <a:chExt cx="731520" cy="73152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20240" y="5952744"/>
            <a:ext cx="3977640" cy="905256"/>
            <a:chOff x="0" y="0"/>
            <a:chExt cx="5303520" cy="12070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응급조치 청크 분할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035040" y="5952744"/>
            <a:ext cx="7132320" cy="905256"/>
            <a:chOff x="0" y="0"/>
            <a:chExt cx="9509760" cy="12070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5097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18" r="0" b="-10351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950976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여러 방법이 섞인 조각을 제목 단위로 분리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167360" y="5952744"/>
            <a:ext cx="4046220" cy="905256"/>
            <a:chOff x="0" y="0"/>
            <a:chExt cx="5394960" cy="12070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949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92" r="0" b="-3709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39496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CPR 자세 혼합 오답 해소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13435" y="7013067"/>
            <a:ext cx="16660673" cy="924306"/>
            <a:chOff x="0" y="0"/>
            <a:chExt cx="22214230" cy="123240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214205" cy="1232408"/>
            </a:xfrm>
            <a:custGeom>
              <a:avLst/>
              <a:gdLst/>
              <a:ahLst/>
              <a:cxnLst/>
              <a:rect r="r" b="b" t="t" l="l"/>
              <a:pathLst>
                <a:path h="1232408" w="22214205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22064853" y="0"/>
                  </a:lnTo>
                  <a:cubicBezTo>
                    <a:pt x="22147403" y="0"/>
                    <a:pt x="22214205" y="66929"/>
                    <a:pt x="22214205" y="149352"/>
                  </a:cubicBezTo>
                  <a:lnTo>
                    <a:pt x="22214205" y="1083056"/>
                  </a:lnTo>
                  <a:cubicBezTo>
                    <a:pt x="22214205" y="1165606"/>
                    <a:pt x="22147276" y="1232408"/>
                    <a:pt x="22064853" y="1232408"/>
                  </a:cubicBezTo>
                  <a:lnTo>
                    <a:pt x="149352" y="1232408"/>
                  </a:lnTo>
                  <a:cubicBezTo>
                    <a:pt x="66929" y="1232408"/>
                    <a:pt x="0" y="1165479"/>
                    <a:pt x="0" y="1083056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97280" y="7200900"/>
            <a:ext cx="548640" cy="548640"/>
            <a:chOff x="0" y="0"/>
            <a:chExt cx="731520" cy="73152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920240" y="7022592"/>
            <a:ext cx="3977640" cy="905256"/>
            <a:chOff x="0" y="0"/>
            <a:chExt cx="5303520" cy="120700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근거 없는 숫자 보류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035040" y="7022592"/>
            <a:ext cx="7132320" cy="905256"/>
            <a:chOff x="0" y="0"/>
            <a:chExt cx="9509760" cy="12070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5097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18" r="0" b="-10351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950976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인용 근거에 없는 숫자 포함 시 답변 보류 · 검수 대기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167360" y="7022592"/>
            <a:ext cx="4046220" cy="905256"/>
            <a:chOff x="0" y="0"/>
            <a:chExt cx="5394960" cy="12070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949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92" r="0" b="-3709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539496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10/23 Jetson 적용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06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최종 배포 구성의 성능 비교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Jetson 동일 321문항 비교 결과,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현재 상태와 모순된 답변 0건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인 최종 구성 배포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2674620"/>
            <a:ext cx="864108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정답률 (%)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2718" y="5356955"/>
            <a:ext cx="672084" cy="1363885"/>
            <a:chOff x="0" y="0"/>
            <a:chExt cx="896112" cy="18185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6112" cy="1818513"/>
            </a:xfrm>
            <a:custGeom>
              <a:avLst/>
              <a:gdLst/>
              <a:ahLst/>
              <a:cxnLst/>
              <a:rect r="r" b="b" t="t" l="l"/>
              <a:pathLst>
                <a:path h="1818513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1818513"/>
                  </a:lnTo>
                  <a:lnTo>
                    <a:pt x="0" y="1818513"/>
                  </a:lnTo>
                  <a:close/>
                </a:path>
              </a:pathLst>
            </a:custGeom>
            <a:solidFill>
              <a:srgbClr val="C9D3D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25830" y="4955000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37%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927098" y="4767167"/>
            <a:ext cx="672084" cy="1953673"/>
            <a:chOff x="0" y="0"/>
            <a:chExt cx="896112" cy="26048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" cy="2604897"/>
            </a:xfrm>
            <a:custGeom>
              <a:avLst/>
              <a:gdLst/>
              <a:ahLst/>
              <a:cxnLst/>
              <a:rect r="r" b="b" t="t" l="l"/>
              <a:pathLst>
                <a:path h="2604897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604897"/>
                  </a:lnTo>
                  <a:lnTo>
                    <a:pt x="0" y="2604897"/>
                  </a:lnTo>
                  <a:close/>
                </a:path>
              </a:pathLst>
            </a:custGeom>
            <a:solidFill>
              <a:srgbClr val="8FB3A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80210" y="4365212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53%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681478" y="4582858"/>
            <a:ext cx="672084" cy="2137982"/>
            <a:chOff x="0" y="0"/>
            <a:chExt cx="896112" cy="28506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6112" cy="2850642"/>
            </a:xfrm>
            <a:custGeom>
              <a:avLst/>
              <a:gdLst/>
              <a:ahLst/>
              <a:cxnLst/>
              <a:rect r="r" b="b" t="t" l="l"/>
              <a:pathLst>
                <a:path h="2850642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850642"/>
                  </a:lnTo>
                  <a:lnTo>
                    <a:pt x="0" y="2850642"/>
                  </a:lnTo>
                  <a:close/>
                </a:path>
              </a:pathLst>
            </a:custGeom>
            <a:solidFill>
              <a:srgbClr val="1F6F6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434590" y="4180903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58%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6840093"/>
            <a:ext cx="288036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블라인드 테스트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내용 정답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53078" y="5062061"/>
            <a:ext cx="672084" cy="1658779"/>
            <a:chOff x="0" y="0"/>
            <a:chExt cx="896112" cy="22117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6112" cy="2211705"/>
            </a:xfrm>
            <a:custGeom>
              <a:avLst/>
              <a:gdLst/>
              <a:ahLst/>
              <a:cxnLst/>
              <a:rect r="r" b="b" t="t" l="l"/>
              <a:pathLst>
                <a:path h="2211705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211705"/>
                  </a:lnTo>
                  <a:lnTo>
                    <a:pt x="0" y="2211705"/>
                  </a:lnTo>
                  <a:close/>
                </a:path>
              </a:pathLst>
            </a:custGeom>
            <a:solidFill>
              <a:srgbClr val="C9D3D1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3806190" y="4660106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45%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807458" y="4877753"/>
            <a:ext cx="672084" cy="1843088"/>
            <a:chOff x="0" y="0"/>
            <a:chExt cx="896112" cy="24574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112" cy="2457450"/>
            </a:xfrm>
            <a:custGeom>
              <a:avLst/>
              <a:gdLst/>
              <a:ahLst/>
              <a:cxnLst/>
              <a:rect r="r" b="b" t="t" l="l"/>
              <a:pathLst>
                <a:path h="2457450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457450"/>
                  </a:lnTo>
                  <a:lnTo>
                    <a:pt x="0" y="2457450"/>
                  </a:lnTo>
                  <a:close/>
                </a:path>
              </a:pathLst>
            </a:custGeom>
            <a:solidFill>
              <a:srgbClr val="8FB3AA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4560570" y="4475797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50%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561838" y="4951476"/>
            <a:ext cx="672084" cy="1769364"/>
            <a:chOff x="0" y="0"/>
            <a:chExt cx="896112" cy="2359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6112" cy="2359152"/>
            </a:xfrm>
            <a:custGeom>
              <a:avLst/>
              <a:gdLst/>
              <a:ahLst/>
              <a:cxnLst/>
              <a:rect r="r" b="b" t="t" l="l"/>
              <a:pathLst>
                <a:path h="2359152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359152"/>
                  </a:lnTo>
                  <a:lnTo>
                    <a:pt x="0" y="2359152"/>
                  </a:lnTo>
                  <a:close/>
                </a:path>
              </a:pathLst>
            </a:custGeom>
            <a:solidFill>
              <a:srgbClr val="1F6F63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5314950" y="4549521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48%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03320" y="6840093"/>
            <a:ext cx="288036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블라인드 테스트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올바른 대응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933438" y="4472273"/>
            <a:ext cx="672084" cy="2248567"/>
            <a:chOff x="0" y="0"/>
            <a:chExt cx="896112" cy="29980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96112" cy="2998089"/>
            </a:xfrm>
            <a:custGeom>
              <a:avLst/>
              <a:gdLst/>
              <a:ahLst/>
              <a:cxnLst/>
              <a:rect r="r" b="b" t="t" l="l"/>
              <a:pathLst>
                <a:path h="2998089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998089"/>
                  </a:lnTo>
                  <a:lnTo>
                    <a:pt x="0" y="2998089"/>
                  </a:lnTo>
                  <a:close/>
                </a:path>
              </a:pathLst>
            </a:custGeom>
            <a:solidFill>
              <a:srgbClr val="C9D3D1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6686550" y="4070318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61%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687818" y="4398550"/>
            <a:ext cx="672084" cy="2322290"/>
            <a:chOff x="0" y="0"/>
            <a:chExt cx="896112" cy="309638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96112" cy="3096387"/>
            </a:xfrm>
            <a:custGeom>
              <a:avLst/>
              <a:gdLst/>
              <a:ahLst/>
              <a:cxnLst/>
              <a:rect r="r" b="b" t="t" l="l"/>
              <a:pathLst>
                <a:path h="3096387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3096387"/>
                  </a:lnTo>
                  <a:lnTo>
                    <a:pt x="0" y="3096387"/>
                  </a:lnTo>
                  <a:close/>
                </a:path>
              </a:pathLst>
            </a:custGeom>
            <a:solidFill>
              <a:srgbClr val="8FB3AA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7440930" y="3996595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63%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442198" y="4509135"/>
            <a:ext cx="672084" cy="2211705"/>
            <a:chOff x="0" y="0"/>
            <a:chExt cx="896112" cy="2948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6112" cy="2948940"/>
            </a:xfrm>
            <a:custGeom>
              <a:avLst/>
              <a:gdLst/>
              <a:ahLst/>
              <a:cxnLst/>
              <a:rect r="r" b="b" t="t" l="l"/>
              <a:pathLst>
                <a:path h="2948940" w="896112">
                  <a:moveTo>
                    <a:pt x="0" y="0"/>
                  </a:moveTo>
                  <a:lnTo>
                    <a:pt x="896112" y="0"/>
                  </a:lnTo>
                  <a:lnTo>
                    <a:pt x="896112" y="2948940"/>
                  </a:lnTo>
                  <a:lnTo>
                    <a:pt x="0" y="2948940"/>
                  </a:lnTo>
                  <a:close/>
                </a:path>
              </a:pathLst>
            </a:custGeom>
            <a:solidFill>
              <a:srgbClr val="1F6F63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195310" y="4107180"/>
            <a:ext cx="116586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60%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583680" y="6840093"/>
            <a:ext cx="288036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개발셋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올바른 대응</a:t>
            </a:r>
          </a:p>
        </p:txBody>
      </p:sp>
      <p:sp>
        <p:nvSpPr>
          <p:cNvPr name="AutoShape 51" id="51"/>
          <p:cNvSpPr/>
          <p:nvPr/>
        </p:nvSpPr>
        <p:spPr>
          <a:xfrm rot="8100">
            <a:off x="813425" y="6716763"/>
            <a:ext cx="8660159" cy="0"/>
          </a:xfrm>
          <a:prstGeom prst="line">
            <a:avLst/>
          </a:prstGeom>
          <a:ln cap="rnd" w="9525">
            <a:solidFill>
              <a:srgbClr val="D7E0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097280" y="7680960"/>
            <a:ext cx="274320" cy="274320"/>
            <a:chOff x="0" y="0"/>
            <a:chExt cx="365760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C9D3D1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81328" y="7598664"/>
            <a:ext cx="2606040" cy="411480"/>
            <a:chOff x="0" y="0"/>
            <a:chExt cx="34747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34747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비교 기준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909060" y="7680960"/>
            <a:ext cx="274320" cy="274320"/>
            <a:chOff x="0" y="0"/>
            <a:chExt cx="365760" cy="365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8FB3A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293108" y="7598664"/>
            <a:ext cx="2606040" cy="411480"/>
            <a:chOff x="0" y="0"/>
            <a:chExt cx="34747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34747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근거 판정 · 답변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20840" y="7680960"/>
            <a:ext cx="274320" cy="274320"/>
            <a:chOff x="0" y="0"/>
            <a:chExt cx="365760" cy="365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F6F6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104888" y="7598664"/>
            <a:ext cx="2606040" cy="411480"/>
            <a:chOff x="0" y="0"/>
            <a:chExt cx="347472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347472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MES 반영 · 규칙 보완</a:t>
              </a:r>
            </a:p>
          </p:txBody>
        </p:sp>
      </p:grpSp>
      <p:graphicFrame>
        <p:nvGraphicFramePr>
          <p:cNvPr name="Table 67" id="67"/>
          <p:cNvGraphicFramePr>
            <a:graphicFrameLocks noGrp="true"/>
          </p:cNvGraphicFramePr>
          <p:nvPr/>
        </p:nvGraphicFramePr>
        <p:xfrm>
          <a:off x="9875520" y="2674620"/>
          <a:ext cx="7543800" cy="4400550"/>
        </p:xfrm>
        <a:graphic>
          <a:graphicData uri="http://schemas.openxmlformats.org/drawingml/2006/table">
            <a:tbl>
              <a:tblPr/>
              <a:tblGrid>
                <a:gridCol w="2979184"/>
                <a:gridCol w="1441301"/>
                <a:gridCol w="1508166"/>
                <a:gridCol w="1615149"/>
              </a:tblGrid>
              <a:tr h="9716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지표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비교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기준</a:t>
                      </a:r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근거 판정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· 답변</a:t>
                      </a:r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MES 반영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· 규칙 보완</a:t>
                      </a:r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</a:tr>
              <a:tr h="6857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현재 MES 값 표시 /42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42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경보 구분 /8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현재 상태와 모순 (건)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응답 시간 p95 (초)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7.4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9.0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10.5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여유 메모리 (MiB)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1,299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1,163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1,035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8" id="68"/>
          <p:cNvGrpSpPr/>
          <p:nvPr/>
        </p:nvGrpSpPr>
        <p:grpSpPr>
          <a:xfrm rot="0">
            <a:off x="15793117" y="3613309"/>
            <a:ext cx="1716214" cy="3526726"/>
            <a:chOff x="0" y="0"/>
            <a:chExt cx="2288286" cy="470230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88286" cy="4702302"/>
            </a:xfrm>
            <a:custGeom>
              <a:avLst/>
              <a:gdLst/>
              <a:ahLst/>
              <a:cxnLst/>
              <a:rect r="r" b="b" t="t" l="l"/>
              <a:pathLst>
                <a:path h="4702302" w="2288286">
                  <a:moveTo>
                    <a:pt x="0" y="0"/>
                  </a:moveTo>
                  <a:lnTo>
                    <a:pt x="2288286" y="0"/>
                  </a:lnTo>
                  <a:lnTo>
                    <a:pt x="2288286" y="4702302"/>
                  </a:lnTo>
                  <a:lnTo>
                    <a:pt x="0" y="47023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3656" t="0" r="-213656" b="0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9875520" y="7279005"/>
            <a:ext cx="7584948" cy="84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943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제약: 응답 시간 p95 10.5초로 목표 10초 초과 · 여유 메모리 1GiB 경계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943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p95: 전체 응답의 95%가 이 시간 이내 완료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822960" y="9189720"/>
            <a:ext cx="16641623" cy="411480"/>
            <a:chOff x="0" y="0"/>
            <a:chExt cx="2218883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2218883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평가 구성: 블라인드 테스트 60 · 개발 201 · MES 상황 60문항 · 최종 구성의 내용 정답 58–60%는 답변이 동일한 직전 구성의 채점값 · 올바른 대응 = 근거 인용 답변 + 근거 없는 질문 거절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AI 모델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07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설비 분류와 얼굴 확인 – 라즈베리파이 실시간 처리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설비 촬영으로 질문 대상 선택,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얼굴 인식으로 작업자 확인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733675"/>
            <a:ext cx="8111490" cy="5368290"/>
            <a:chOff x="0" y="0"/>
            <a:chExt cx="10815320" cy="7157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153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8153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668508" y="0"/>
                  </a:lnTo>
                  <a:cubicBezTo>
                    <a:pt x="10749534" y="0"/>
                    <a:pt x="10815320" y="65786"/>
                    <a:pt x="10815320" y="146812"/>
                  </a:cubicBezTo>
                  <a:lnTo>
                    <a:pt x="10815320" y="7010908"/>
                  </a:lnTo>
                  <a:cubicBezTo>
                    <a:pt x="10815320" y="7091934"/>
                    <a:pt x="10749534" y="7157720"/>
                    <a:pt x="1066850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3017520"/>
            <a:ext cx="617220" cy="617220"/>
            <a:chOff x="0" y="0"/>
            <a:chExt cx="822960" cy="82296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57400" y="3017520"/>
            <a:ext cx="6583680" cy="617220"/>
            <a:chOff x="0" y="0"/>
            <a:chExt cx="877824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822960"/>
            </a:xfrm>
            <a:custGeom>
              <a:avLst/>
              <a:gdLst/>
              <a:ahLst/>
              <a:cxnLst/>
              <a:rect r="r" b="b" t="t" l="l"/>
              <a:pathLst>
                <a:path h="822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877824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설비 분류 · MobileNetV3-Small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97280" y="4046220"/>
            <a:ext cx="37033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99.4%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280" y="5133975"/>
            <a:ext cx="3703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시험 정확도 (875/880)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37760" y="4046220"/>
            <a:ext cx="37033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41~63ms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37760" y="5133975"/>
            <a:ext cx="3703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Pi 4 추론 시간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440" y="6240780"/>
            <a:ext cx="740664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INT8 양자화 시 정확도 14%로 하락 → FP32 유지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같은 설비의 다른 촬영 묶음으로 평가 · 학습/시험 이미지 중복 0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58503" y="2733675"/>
            <a:ext cx="8111490" cy="5368290"/>
            <a:chOff x="0" y="0"/>
            <a:chExt cx="10815320" cy="7157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153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81532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668508" y="0"/>
                  </a:lnTo>
                  <a:cubicBezTo>
                    <a:pt x="10749534" y="0"/>
                    <a:pt x="10815320" y="65786"/>
                    <a:pt x="10815320" y="146812"/>
                  </a:cubicBezTo>
                  <a:lnTo>
                    <a:pt x="10815320" y="7010908"/>
                  </a:lnTo>
                  <a:cubicBezTo>
                    <a:pt x="10815320" y="7091934"/>
                    <a:pt x="10749534" y="7157720"/>
                    <a:pt x="1066850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779508" y="3017520"/>
            <a:ext cx="617220" cy="617220"/>
            <a:chOff x="0" y="0"/>
            <a:chExt cx="822960" cy="82296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602468" y="3017520"/>
            <a:ext cx="6583680" cy="617220"/>
            <a:chOff x="0" y="0"/>
            <a:chExt cx="8778240" cy="82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0" cy="822960"/>
            </a:xfrm>
            <a:custGeom>
              <a:avLst/>
              <a:gdLst/>
              <a:ahLst/>
              <a:cxnLst/>
              <a:rect r="r" b="b" t="t" l="l"/>
              <a:pathLst>
                <a:path h="822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8778240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얼굴 확인 · YuNet + SFace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42348" y="4046220"/>
            <a:ext cx="37033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0.61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42348" y="5133975"/>
            <a:ext cx="3703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본인 최저 점수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482828" y="4046220"/>
            <a:ext cx="37033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45545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0.23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82828" y="5133975"/>
            <a:ext cx="37033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타인 최고 점수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79508" y="6240780"/>
            <a:ext cx="740664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임계값 0.363 · 5프레임 중 3프레임 통과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본인 – 타인 점수 간 여유 확보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9189720"/>
            <a:ext cx="16641623" cy="411480"/>
            <a:chOff x="0" y="0"/>
            <a:chExt cx="2218883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8883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039" r="0" b="-7380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218883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Unity 합성 이미지 기준 · 실제 공장 · 신규 설비 성능은 미검증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9997" y="-9525"/>
            <a:ext cx="8797071" cy="10306050"/>
            <a:chOff x="0" y="0"/>
            <a:chExt cx="11729428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946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1729466">
                  <a:moveTo>
                    <a:pt x="0" y="0"/>
                  </a:moveTo>
                  <a:lnTo>
                    <a:pt x="11729466" y="0"/>
                  </a:lnTo>
                  <a:lnTo>
                    <a:pt x="1172946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09522" y="4937760"/>
            <a:ext cx="8092221" cy="4937760"/>
            <a:chOff x="0" y="0"/>
            <a:chExt cx="10789628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896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789628">
                  <a:moveTo>
                    <a:pt x="0" y="0"/>
                  </a:moveTo>
                  <a:lnTo>
                    <a:pt x="10789628" y="0"/>
                  </a:lnTo>
                  <a:lnTo>
                    <a:pt x="10789628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289" t="0" r="-2828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789628" cy="65932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6000"/>
                </a:lnSpc>
              </a:pPr>
              <a:r>
                <a:rPr lang="en-US" sz="300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4440" y="1518285"/>
            <a:ext cx="6858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ShiftLink 최종 발표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40" y="2047875"/>
            <a:ext cx="7955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440" y="2935362"/>
            <a:ext cx="7955280" cy="173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2999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01  설비 확인부터 교대 인계까지</a:t>
            </a:r>
          </a:p>
          <a:p>
            <a:pPr algn="l">
              <a:lnSpc>
                <a:spcPts val="4709"/>
              </a:lnSpc>
            </a:pPr>
            <a:r>
              <a:rPr lang="en-US" sz="2999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02  실측 사례 – 유압 압력 저하</a:t>
            </a:r>
          </a:p>
          <a:p>
            <a:pPr algn="l">
              <a:lnSpc>
                <a:spcPts val="4709"/>
              </a:lnSpc>
            </a:pPr>
            <a:r>
              <a:rPr lang="en-US" sz="2999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03  예외 상황 처리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29768" y="326517"/>
            <a:ext cx="4672965" cy="718566"/>
            <a:chOff x="0" y="0"/>
            <a:chExt cx="6230620" cy="958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0620" cy="958088"/>
            </a:xfrm>
            <a:custGeom>
              <a:avLst/>
              <a:gdLst/>
              <a:ahLst/>
              <a:cxnLst/>
              <a:rect r="r" b="b" t="t" l="l"/>
              <a:pathLst>
                <a:path h="958088" w="6230620">
                  <a:moveTo>
                    <a:pt x="0" y="479044"/>
                  </a:moveTo>
                  <a:cubicBezTo>
                    <a:pt x="0" y="214503"/>
                    <a:pt x="214503" y="0"/>
                    <a:pt x="479044" y="0"/>
                  </a:cubicBezTo>
                  <a:lnTo>
                    <a:pt x="5751576" y="0"/>
                  </a:lnTo>
                  <a:cubicBezTo>
                    <a:pt x="6016117" y="0"/>
                    <a:pt x="6230620" y="214503"/>
                    <a:pt x="6230620" y="479044"/>
                  </a:cubicBezTo>
                  <a:cubicBezTo>
                    <a:pt x="6230620" y="743585"/>
                    <a:pt x="6016117" y="958088"/>
                    <a:pt x="5751576" y="958088"/>
                  </a:cubicBezTo>
                  <a:lnTo>
                    <a:pt x="479044" y="958088"/>
                  </a:lnTo>
                  <a:cubicBezTo>
                    <a:pt x="214503" y="958088"/>
                    <a:pt x="0" y="743585"/>
                    <a:pt x="0" y="4790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0758" y="475945"/>
            <a:ext cx="1260653" cy="419710"/>
            <a:chOff x="0" y="0"/>
            <a:chExt cx="1680870" cy="559613"/>
          </a:xfrm>
        </p:grpSpPr>
        <p:sp>
          <p:nvSpPr>
            <p:cNvPr name="Freeform 13" id="13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82876" y="569214"/>
            <a:ext cx="891816" cy="233172"/>
            <a:chOff x="0" y="0"/>
            <a:chExt cx="1189088" cy="310896"/>
          </a:xfrm>
        </p:grpSpPr>
        <p:sp>
          <p:nvSpPr>
            <p:cNvPr name="Freeform 15" id="15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266147" y="569214"/>
            <a:ext cx="1335596" cy="233172"/>
            <a:chOff x="0" y="0"/>
            <a:chExt cx="1780794" cy="310896"/>
          </a:xfrm>
        </p:grpSpPr>
        <p:sp>
          <p:nvSpPr>
            <p:cNvPr name="Freeform 17" id="17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  시연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시연 흐름 – 설비 확인부터 교대 인계까지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작업자 1명의 교대 근무를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5단계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로 시연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665095"/>
            <a:ext cx="704850" cy="704850"/>
            <a:chOff x="0" y="0"/>
            <a:chExt cx="93980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267462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2578608"/>
            <a:ext cx="2468880" cy="905256"/>
            <a:chOff x="0" y="0"/>
            <a:chExt cx="3291840" cy="12070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29184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얼굴 확인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설비 촬영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73855" y="2665095"/>
            <a:ext cx="704850" cy="704850"/>
            <a:chOff x="0" y="0"/>
            <a:chExt cx="939800" cy="939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183380" y="267462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06340" y="2578608"/>
            <a:ext cx="2468880" cy="905256"/>
            <a:chOff x="0" y="0"/>
            <a:chExt cx="3291840" cy="12070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29184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MES 상태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증상 질의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34275" y="2665095"/>
            <a:ext cx="704850" cy="704850"/>
            <a:chOff x="0" y="0"/>
            <a:chExt cx="939800" cy="939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543800" y="267462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366760" y="2578608"/>
            <a:ext cx="2468880" cy="905256"/>
            <a:chOff x="0" y="0"/>
            <a:chExt cx="3291840" cy="12070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918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329184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답변 근거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안전 고지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894695" y="2665095"/>
            <a:ext cx="704850" cy="704850"/>
            <a:chOff x="0" y="0"/>
            <a:chExt cx="939800" cy="939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904220" y="2674620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727180" y="2578608"/>
            <a:ext cx="2468880" cy="905256"/>
            <a:chOff x="0" y="0"/>
            <a:chExt cx="3291840" cy="12070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18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29184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조치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근무일지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255115" y="2665095"/>
            <a:ext cx="704850" cy="704850"/>
            <a:chOff x="0" y="0"/>
            <a:chExt cx="939800" cy="939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F6F63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264640" y="267462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087600" y="2578608"/>
            <a:ext cx="2468880" cy="905256"/>
            <a:chOff x="0" y="0"/>
            <a:chExt cx="3291840" cy="12070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918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291840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교대 인계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확인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221992" y="3840480"/>
            <a:ext cx="3706625" cy="4937760"/>
            <a:chOff x="0" y="0"/>
            <a:chExt cx="4942167" cy="6583680"/>
          </a:xfrm>
        </p:grpSpPr>
        <p:sp>
          <p:nvSpPr>
            <p:cNvPr name="Freeform 61" id="61" descr="C:\Users\abab9\AppData\Local\Temp\claude\C--Users-abab9-Desktop-Shiftlink\03368683-632b-4bf6-b41d-988cf517f7bf\scratchpad\deck\media\image37.png"/>
            <p:cNvSpPr/>
            <p:nvPr/>
          </p:nvSpPr>
          <p:spPr>
            <a:xfrm flipH="false" flipV="false" rot="0">
              <a:off x="0" y="0"/>
              <a:ext cx="4942205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42205">
                  <a:moveTo>
                    <a:pt x="0" y="0"/>
                  </a:moveTo>
                  <a:lnTo>
                    <a:pt x="4942205" y="0"/>
                  </a:lnTo>
                  <a:lnTo>
                    <a:pt x="4942205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59752" y="3840480"/>
            <a:ext cx="3706625" cy="4937760"/>
            <a:chOff x="0" y="0"/>
            <a:chExt cx="4942167" cy="6583680"/>
          </a:xfrm>
        </p:grpSpPr>
        <p:sp>
          <p:nvSpPr>
            <p:cNvPr name="Freeform 63" id="63" descr="C:\Users\abab9\AppData\Local\Temp\claude\C--Users-abab9-Desktop-Shiftlink\03368683-632b-4bf6-b41d-988cf517f7bf\scratchpad\deck\media\image38.png"/>
            <p:cNvSpPr/>
            <p:nvPr/>
          </p:nvSpPr>
          <p:spPr>
            <a:xfrm flipH="false" flipV="false" rot="0">
              <a:off x="0" y="0"/>
              <a:ext cx="4942205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42205">
                  <a:moveTo>
                    <a:pt x="0" y="0"/>
                  </a:moveTo>
                  <a:lnTo>
                    <a:pt x="4942205" y="0"/>
                  </a:lnTo>
                  <a:lnTo>
                    <a:pt x="4942205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097512" y="3840480"/>
            <a:ext cx="3706625" cy="4937760"/>
            <a:chOff x="0" y="0"/>
            <a:chExt cx="4942167" cy="6583680"/>
          </a:xfrm>
        </p:grpSpPr>
        <p:sp>
          <p:nvSpPr>
            <p:cNvPr name="Freeform 65" id="65" descr="C:\Users\abab9\AppData\Local\Temp\claude\C--Users-abab9-Desktop-Shiftlink\03368683-632b-4bf6-b41d-988cf517f7bf\scratchpad\deck\media\image39.png"/>
            <p:cNvSpPr/>
            <p:nvPr/>
          </p:nvSpPr>
          <p:spPr>
            <a:xfrm flipH="false" flipV="false" rot="0">
              <a:off x="0" y="0"/>
              <a:ext cx="4942205" cy="6583680"/>
            </a:xfrm>
            <a:custGeom>
              <a:avLst/>
              <a:gdLst/>
              <a:ahLst/>
              <a:cxnLst/>
              <a:rect r="r" b="b" t="t" l="l"/>
              <a:pathLst>
                <a:path h="6583680" w="4942205">
                  <a:moveTo>
                    <a:pt x="0" y="0"/>
                  </a:moveTo>
                  <a:lnTo>
                    <a:pt x="4942205" y="0"/>
                  </a:lnTo>
                  <a:lnTo>
                    <a:pt x="4942205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2194560" y="8887968"/>
            <a:ext cx="377190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설비 확인 · 상태 조회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132320" y="8887968"/>
            <a:ext cx="377190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조치 · 근무일지 작성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070080" y="8887968"/>
            <a:ext cx="3771900" cy="43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교대 인계 확인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  시연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실측 사례 – 유압 압력 저하 상황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모의 MES 압력 저하 상황에서 Jetson 최종 구성에 질의 –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근거가 있으면 인용, 없으면 답변 보류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2733675"/>
            <a:ext cx="8229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73555" y="2733675"/>
            <a:ext cx="7151370" cy="869442"/>
            <a:chOff x="0" y="0"/>
            <a:chExt cx="9535160" cy="11592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35161" cy="1159256"/>
            </a:xfrm>
            <a:custGeom>
              <a:avLst/>
              <a:gdLst/>
              <a:ahLst/>
              <a:cxnLst/>
              <a:rect r="r" b="b" t="t" l="l"/>
              <a:pathLst>
                <a:path h="1159256" w="9535161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385554" y="0"/>
                  </a:lnTo>
                  <a:cubicBezTo>
                    <a:pt x="9468104" y="0"/>
                    <a:pt x="9535161" y="66929"/>
                    <a:pt x="9535161" y="149606"/>
                  </a:cubicBezTo>
                  <a:lnTo>
                    <a:pt x="9535161" y="1009650"/>
                  </a:lnTo>
                  <a:cubicBezTo>
                    <a:pt x="9535161" y="1092200"/>
                    <a:pt x="9468231" y="1159256"/>
                    <a:pt x="938555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057400" y="2743200"/>
            <a:ext cx="6720840" cy="850392"/>
            <a:chOff x="0" y="0"/>
            <a:chExt cx="8961120" cy="1133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611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96112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펌프 소리가 커지고 탱크에 우유빛 거품이 보여. 뭐부터 봐야 해?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73555" y="3830955"/>
            <a:ext cx="7151370" cy="3790950"/>
            <a:chOff x="0" y="0"/>
            <a:chExt cx="9535160" cy="5054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35160" cy="5054600"/>
            </a:xfrm>
            <a:custGeom>
              <a:avLst/>
              <a:gdLst/>
              <a:ahLst/>
              <a:cxnLst/>
              <a:rect r="r" b="b" t="t" l="l"/>
              <a:pathLst>
                <a:path h="5054600" w="953516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9388094" y="0"/>
                  </a:lnTo>
                  <a:cubicBezTo>
                    <a:pt x="9469247" y="0"/>
                    <a:pt x="9535160" y="65786"/>
                    <a:pt x="9535160" y="147066"/>
                  </a:cubicBezTo>
                  <a:lnTo>
                    <a:pt x="9535160" y="4907534"/>
                  </a:lnTo>
                  <a:cubicBezTo>
                    <a:pt x="9535160" y="4988687"/>
                    <a:pt x="9469374" y="5054600"/>
                    <a:pt x="9388094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6F63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2057400" y="4046220"/>
            <a:ext cx="6583680" cy="26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현재 MES(HPU-01): 유압 공급 압력 116 bar 낮음</a:t>
            </a:r>
          </a:p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(기준 145–165)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소음과 우유빛 거품이 함께 보이면 에어레이션을 의심하고, 흡입관 밀봉·축 씰·리턴 라인 위치를 확인합니다. 거품만으로는 수분 오염과 공기 혼입을 구분할 수 없습니다.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043112" y="6733984"/>
            <a:ext cx="3183255" cy="604647"/>
            <a:chOff x="0" y="0"/>
            <a:chExt cx="4244340" cy="8061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44340" cy="806196"/>
            </a:xfrm>
            <a:custGeom>
              <a:avLst/>
              <a:gdLst/>
              <a:ahLst/>
              <a:cxnLst/>
              <a:rect r="r" b="b" t="t" l="l"/>
              <a:pathLst>
                <a:path h="806196" w="424434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4090797" y="0"/>
                  </a:lnTo>
                  <a:cubicBezTo>
                    <a:pt x="4175633" y="0"/>
                    <a:pt x="4244340" y="68707"/>
                    <a:pt x="4244340" y="153543"/>
                  </a:cubicBezTo>
                  <a:lnTo>
                    <a:pt x="4244340" y="652653"/>
                  </a:lnTo>
                  <a:cubicBezTo>
                    <a:pt x="4244340" y="737489"/>
                    <a:pt x="4175633" y="806196"/>
                    <a:pt x="4090797" y="806196"/>
                  </a:cubicBezTo>
                  <a:lnTo>
                    <a:pt x="153543" y="806196"/>
                  </a:lnTo>
                  <a:cubicBezTo>
                    <a:pt x="68707" y="806196"/>
                    <a:pt x="0" y="737489"/>
                    <a:pt x="0" y="652653"/>
                  </a:cubicBezTo>
                  <a:close/>
                </a:path>
              </a:pathLst>
            </a:custGeom>
            <a:solidFill>
              <a:srgbClr val="E9F4F0"/>
            </a:solidFill>
            <a:ln w="28575" cap="sq">
              <a:solidFill>
                <a:srgbClr val="1F6F63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057400" y="6748272"/>
            <a:ext cx="3154680" cy="576072"/>
            <a:chOff x="0" y="0"/>
            <a:chExt cx="4206240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06240" cy="768096"/>
            </a:xfrm>
            <a:custGeom>
              <a:avLst/>
              <a:gdLst/>
              <a:ahLst/>
              <a:cxnLst/>
              <a:rect r="r" b="b" t="t" l="l"/>
              <a:pathLst>
                <a:path h="76809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3" r="0" b="-567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2062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근거: K-1004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505188" y="2733675"/>
            <a:ext cx="8229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Q2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455783" y="2733675"/>
            <a:ext cx="7014210" cy="869442"/>
            <a:chOff x="0" y="0"/>
            <a:chExt cx="9352280" cy="11592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522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93522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9202674" y="0"/>
                  </a:lnTo>
                  <a:cubicBezTo>
                    <a:pt x="9285224" y="0"/>
                    <a:pt x="9352280" y="66929"/>
                    <a:pt x="9352280" y="149606"/>
                  </a:cubicBezTo>
                  <a:lnTo>
                    <a:pt x="9352280" y="1009650"/>
                  </a:lnTo>
                  <a:cubicBezTo>
                    <a:pt x="9352280" y="1092200"/>
                    <a:pt x="9285351" y="1159256"/>
                    <a:pt x="92026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739628" y="2743200"/>
            <a:ext cx="6583680" cy="850392"/>
            <a:chOff x="0" y="0"/>
            <a:chExt cx="8778240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782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851" r="0" b="-1008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7782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B2E"/>
                  </a:solidFill>
                  <a:latin typeface="Noto Sans"/>
                  <a:ea typeface="Noto Sans"/>
                  <a:cs typeface="Noto Sans"/>
                  <a:sym typeface="Noto Sans"/>
                </a:rPr>
                <a:t>예비 필터는 어디에 보관돼 있어?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55783" y="3830955"/>
            <a:ext cx="7014210" cy="3790950"/>
            <a:chOff x="0" y="0"/>
            <a:chExt cx="9352280" cy="5054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52280" cy="5054600"/>
            </a:xfrm>
            <a:custGeom>
              <a:avLst/>
              <a:gdLst/>
              <a:ahLst/>
              <a:cxnLst/>
              <a:rect r="r" b="b" t="t" l="l"/>
              <a:pathLst>
                <a:path h="5054600" w="93522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9205214" y="0"/>
                  </a:lnTo>
                  <a:cubicBezTo>
                    <a:pt x="9286367" y="0"/>
                    <a:pt x="9352280" y="65786"/>
                    <a:pt x="9352280" y="147066"/>
                  </a:cubicBezTo>
                  <a:lnTo>
                    <a:pt x="9352280" y="4907534"/>
                  </a:lnTo>
                  <a:cubicBezTo>
                    <a:pt x="9352280" y="4988687"/>
                    <a:pt x="9286494" y="5054600"/>
                    <a:pt x="9205214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739628" y="4046220"/>
            <a:ext cx="6446520" cy="26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현재 MES(HPU-01): 유압 공급 압력 116 bar 낮음</a:t>
            </a:r>
          </a:p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(기준 145–165)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근거 자료에서 이 상황의 조치를 찾지 못했습니다. 조치는 정비 담당 확인이 필요합니다.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720578" y="6729222"/>
            <a:ext cx="4975860" cy="614172"/>
            <a:chOff x="0" y="0"/>
            <a:chExt cx="6634480" cy="818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34480" cy="818896"/>
            </a:xfrm>
            <a:custGeom>
              <a:avLst/>
              <a:gdLst/>
              <a:ahLst/>
              <a:cxnLst/>
              <a:rect r="r" b="b" t="t" l="l"/>
              <a:pathLst>
                <a:path h="818896" w="6634480">
                  <a:moveTo>
                    <a:pt x="0" y="155956"/>
                  </a:moveTo>
                  <a:cubicBezTo>
                    <a:pt x="0" y="69850"/>
                    <a:pt x="69850" y="0"/>
                    <a:pt x="155956" y="0"/>
                  </a:cubicBezTo>
                  <a:lnTo>
                    <a:pt x="6478524" y="0"/>
                  </a:lnTo>
                  <a:cubicBezTo>
                    <a:pt x="6564630" y="0"/>
                    <a:pt x="6634480" y="69850"/>
                    <a:pt x="6634480" y="155956"/>
                  </a:cubicBezTo>
                  <a:lnTo>
                    <a:pt x="6634480" y="662940"/>
                  </a:lnTo>
                  <a:cubicBezTo>
                    <a:pt x="6634480" y="749046"/>
                    <a:pt x="6564630" y="818896"/>
                    <a:pt x="6478524" y="818896"/>
                  </a:cubicBezTo>
                  <a:lnTo>
                    <a:pt x="155956" y="818896"/>
                  </a:lnTo>
                  <a:cubicBezTo>
                    <a:pt x="69850" y="818896"/>
                    <a:pt x="0" y="749046"/>
                    <a:pt x="0" y="662940"/>
                  </a:cubicBezTo>
                  <a:close/>
                </a:path>
              </a:pathLst>
            </a:custGeom>
            <a:solidFill>
              <a:srgbClr val="FDECEA"/>
            </a:solidFill>
            <a:ln w="38100" cap="sq">
              <a:solidFill>
                <a:srgbClr val="D9433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739628" y="6748272"/>
            <a:ext cx="4937760" cy="576072"/>
            <a:chOff x="0" y="0"/>
            <a:chExt cx="6583680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768096"/>
            </a:xfrm>
            <a:custGeom>
              <a:avLst/>
              <a:gdLst/>
              <a:ahLst/>
              <a:cxnLst/>
              <a:rect r="r" b="b" t="t" l="l"/>
              <a:pathLst>
                <a:path h="76809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58368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D94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위치 추측 없음 · 정비 담당 확인 안내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  시연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예외 상황 처리 – 오답 대신 답변 보류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답이 없거나, 값이 없거나, 네트워크가 끊겨도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추측 답변 없이, 기록 손실 없이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 동작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733675"/>
            <a:ext cx="3928110" cy="5093970"/>
            <a:chOff x="0" y="0"/>
            <a:chExt cx="5237480" cy="6791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7480" cy="6791960"/>
            </a:xfrm>
            <a:custGeom>
              <a:avLst/>
              <a:gdLst/>
              <a:ahLst/>
              <a:cxnLst/>
              <a:rect r="r" b="b" t="t" l="l"/>
              <a:pathLst>
                <a:path h="6791960" w="52374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65786"/>
                    <a:pt x="5237480" y="147066"/>
                  </a:cubicBezTo>
                  <a:lnTo>
                    <a:pt x="5237480" y="6644894"/>
                  </a:lnTo>
                  <a:cubicBezTo>
                    <a:pt x="5237480" y="6726047"/>
                    <a:pt x="5171694" y="6791960"/>
                    <a:pt x="5090414" y="6791960"/>
                  </a:cubicBezTo>
                  <a:lnTo>
                    <a:pt x="147066" y="6791960"/>
                  </a:lnTo>
                  <a:cubicBezTo>
                    <a:pt x="65786" y="6791960"/>
                    <a:pt x="0" y="6726174"/>
                    <a:pt x="0" y="66448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150745" y="3076575"/>
            <a:ext cx="1253490" cy="1253490"/>
            <a:chOff x="0" y="0"/>
            <a:chExt cx="1671320" cy="1671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434590" y="3360420"/>
            <a:ext cx="685800" cy="685800"/>
            <a:chOff x="0" y="0"/>
            <a:chExt cx="914400" cy="9144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4535805"/>
            <a:ext cx="349758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답 없는 질문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7280" y="5202555"/>
            <a:ext cx="336042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근거가 약하면 ‘해당 지식 없음’ 응답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515100"/>
            <a:ext cx="34975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홀드아웃 거절 7/8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057623" y="2733675"/>
            <a:ext cx="3928110" cy="5093970"/>
            <a:chOff x="0" y="0"/>
            <a:chExt cx="5237480" cy="6791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37480" cy="6791960"/>
            </a:xfrm>
            <a:custGeom>
              <a:avLst/>
              <a:gdLst/>
              <a:ahLst/>
              <a:cxnLst/>
              <a:rect r="r" b="b" t="t" l="l"/>
              <a:pathLst>
                <a:path h="6791960" w="52374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65786"/>
                    <a:pt x="5237480" y="147066"/>
                  </a:cubicBezTo>
                  <a:lnTo>
                    <a:pt x="5237480" y="6644894"/>
                  </a:lnTo>
                  <a:cubicBezTo>
                    <a:pt x="5237480" y="6726047"/>
                    <a:pt x="5171694" y="6791960"/>
                    <a:pt x="5090414" y="6791960"/>
                  </a:cubicBezTo>
                  <a:lnTo>
                    <a:pt x="147066" y="6791960"/>
                  </a:lnTo>
                  <a:cubicBezTo>
                    <a:pt x="65786" y="6791960"/>
                    <a:pt x="0" y="6726174"/>
                    <a:pt x="0" y="66448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394933" y="3076575"/>
            <a:ext cx="1253490" cy="1253490"/>
            <a:chOff x="0" y="0"/>
            <a:chExt cx="1671320" cy="1671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678778" y="3360420"/>
            <a:ext cx="685800" cy="685800"/>
            <a:chOff x="0" y="0"/>
            <a:chExt cx="914400" cy="9144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272888" y="4535805"/>
            <a:ext cx="349758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관측값 부재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41468" y="5202555"/>
            <a:ext cx="336042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‘정상’ 대신 ‘관측값 없음’ 표기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72888" y="6515100"/>
            <a:ext cx="34975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4건 → 0건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01810" y="2733675"/>
            <a:ext cx="3928110" cy="5093970"/>
            <a:chOff x="0" y="0"/>
            <a:chExt cx="5237480" cy="6791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37480" cy="6791960"/>
            </a:xfrm>
            <a:custGeom>
              <a:avLst/>
              <a:gdLst/>
              <a:ahLst/>
              <a:cxnLst/>
              <a:rect r="r" b="b" t="t" l="l"/>
              <a:pathLst>
                <a:path h="6791960" w="52374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65786"/>
                    <a:pt x="5237480" y="147066"/>
                  </a:cubicBezTo>
                  <a:lnTo>
                    <a:pt x="5237480" y="6644894"/>
                  </a:lnTo>
                  <a:cubicBezTo>
                    <a:pt x="5237480" y="6726047"/>
                    <a:pt x="5171694" y="6791960"/>
                    <a:pt x="5090414" y="6791960"/>
                  </a:cubicBezTo>
                  <a:lnTo>
                    <a:pt x="147066" y="6791960"/>
                  </a:lnTo>
                  <a:cubicBezTo>
                    <a:pt x="65786" y="6791960"/>
                    <a:pt x="0" y="6726174"/>
                    <a:pt x="0" y="66448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639120" y="3076575"/>
            <a:ext cx="1253490" cy="1253490"/>
            <a:chOff x="0" y="0"/>
            <a:chExt cx="1671320" cy="1671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22965" y="3360420"/>
            <a:ext cx="685800" cy="685800"/>
            <a:chOff x="0" y="0"/>
            <a:chExt cx="914400" cy="9144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517075" y="4535805"/>
            <a:ext cx="349758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타 설비 기록 혼입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5655" y="5202555"/>
            <a:ext cx="33604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질문 대상이 아닌 설비의 문장 </a:t>
            </a:r>
          </a:p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제거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17075" y="6515100"/>
            <a:ext cx="34975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18건 → 0건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545998" y="2733675"/>
            <a:ext cx="3928110" cy="5093970"/>
            <a:chOff x="0" y="0"/>
            <a:chExt cx="5237480" cy="6791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37480" cy="6791960"/>
            </a:xfrm>
            <a:custGeom>
              <a:avLst/>
              <a:gdLst/>
              <a:ahLst/>
              <a:cxnLst/>
              <a:rect r="r" b="b" t="t" l="l"/>
              <a:pathLst>
                <a:path h="6791960" w="523748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65786"/>
                    <a:pt x="5237480" y="147066"/>
                  </a:cubicBezTo>
                  <a:lnTo>
                    <a:pt x="5237480" y="6644894"/>
                  </a:lnTo>
                  <a:cubicBezTo>
                    <a:pt x="5237480" y="6726047"/>
                    <a:pt x="5171694" y="6791960"/>
                    <a:pt x="5090414" y="6791960"/>
                  </a:cubicBezTo>
                  <a:lnTo>
                    <a:pt x="147066" y="6791960"/>
                  </a:lnTo>
                  <a:cubicBezTo>
                    <a:pt x="65786" y="6791960"/>
                    <a:pt x="0" y="6726174"/>
                    <a:pt x="0" y="66448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4883308" y="3076575"/>
            <a:ext cx="1253490" cy="1253490"/>
            <a:chOff x="0" y="0"/>
            <a:chExt cx="1671320" cy="1671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5167153" y="3360420"/>
            <a:ext cx="685800" cy="685800"/>
            <a:chOff x="0" y="0"/>
            <a:chExt cx="914400" cy="91440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3761263" y="4535805"/>
            <a:ext cx="349758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네트워크 단절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829843" y="5202555"/>
            <a:ext cx="336042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SQLite 우선 저장, 복구 후 자동 전송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761263" y="6515100"/>
            <a:ext cx="349758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18분 38초 단절 → 손실 0 · 중복 0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459355" y="8466963"/>
            <a:ext cx="13368833" cy="704850"/>
            <a:chOff x="0" y="0"/>
            <a:chExt cx="17825110" cy="939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825086" cy="939800"/>
            </a:xfrm>
            <a:custGeom>
              <a:avLst/>
              <a:gdLst/>
              <a:ahLst/>
              <a:cxnLst/>
              <a:rect r="r" b="b" t="t" l="l"/>
              <a:pathLst>
                <a:path h="939800" w="17825086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17355186" y="0"/>
                  </a:lnTo>
                  <a:cubicBezTo>
                    <a:pt x="17614647" y="0"/>
                    <a:pt x="17825086" y="210439"/>
                    <a:pt x="17825086" y="469900"/>
                  </a:cubicBezTo>
                  <a:cubicBezTo>
                    <a:pt x="17825086" y="729361"/>
                    <a:pt x="17614647" y="939800"/>
                    <a:pt x="17355186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2468880" y="8476488"/>
            <a:ext cx="13349783" cy="685800"/>
            <a:chOff x="0" y="0"/>
            <a:chExt cx="1779971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799710" cy="914400"/>
            </a:xfrm>
            <a:custGeom>
              <a:avLst/>
              <a:gdLst/>
              <a:ahLst/>
              <a:cxnLst/>
              <a:rect r="r" b="b" t="t" l="l"/>
              <a:pathLst>
                <a:path h="914400" w="17799710">
                  <a:moveTo>
                    <a:pt x="0" y="0"/>
                  </a:moveTo>
                  <a:lnTo>
                    <a:pt x="17799710" y="0"/>
                  </a:lnTo>
                  <a:lnTo>
                    <a:pt x="1779971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95" r="0" b="-32929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779971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현장의 잘못된 지시는 사고로 직결 – ‘답변 보류’도 안전 기능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9997" y="-9525"/>
            <a:ext cx="8797071" cy="10306050"/>
            <a:chOff x="0" y="0"/>
            <a:chExt cx="11729428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946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1729466">
                  <a:moveTo>
                    <a:pt x="0" y="0"/>
                  </a:moveTo>
                  <a:lnTo>
                    <a:pt x="11729466" y="0"/>
                  </a:lnTo>
                  <a:lnTo>
                    <a:pt x="1172946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509522" y="4937760"/>
            <a:ext cx="8092221" cy="4937760"/>
            <a:chOff x="0" y="0"/>
            <a:chExt cx="10789628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89628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789628">
                  <a:moveTo>
                    <a:pt x="0" y="0"/>
                  </a:moveTo>
                  <a:lnTo>
                    <a:pt x="10789628" y="0"/>
                  </a:lnTo>
                  <a:lnTo>
                    <a:pt x="10789628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289" t="0" r="-2828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789628" cy="65932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6000"/>
                </a:lnSpc>
              </a:pPr>
              <a:r>
                <a:rPr lang="en-US" sz="300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4440" y="1518285"/>
            <a:ext cx="6858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ShiftLink 최종 발표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40" y="2047875"/>
            <a:ext cx="79552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성과와 회고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4440" y="3489960"/>
            <a:ext cx="7955280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01  요구사항 검증 결과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02  기대 효과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03  한계점과 향후 계획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29768" y="326517"/>
            <a:ext cx="4672965" cy="718566"/>
            <a:chOff x="0" y="0"/>
            <a:chExt cx="6230620" cy="9580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30620" cy="958088"/>
            </a:xfrm>
            <a:custGeom>
              <a:avLst/>
              <a:gdLst/>
              <a:ahLst/>
              <a:cxnLst/>
              <a:rect r="r" b="b" t="t" l="l"/>
              <a:pathLst>
                <a:path h="958088" w="6230620">
                  <a:moveTo>
                    <a:pt x="0" y="479044"/>
                  </a:moveTo>
                  <a:cubicBezTo>
                    <a:pt x="0" y="214503"/>
                    <a:pt x="214503" y="0"/>
                    <a:pt x="479044" y="0"/>
                  </a:cubicBezTo>
                  <a:lnTo>
                    <a:pt x="5751576" y="0"/>
                  </a:lnTo>
                  <a:cubicBezTo>
                    <a:pt x="6016117" y="0"/>
                    <a:pt x="6230620" y="214503"/>
                    <a:pt x="6230620" y="479044"/>
                  </a:cubicBezTo>
                  <a:cubicBezTo>
                    <a:pt x="6230620" y="743585"/>
                    <a:pt x="6016117" y="958088"/>
                    <a:pt x="5751576" y="958088"/>
                  </a:cubicBezTo>
                  <a:lnTo>
                    <a:pt x="479044" y="958088"/>
                  </a:lnTo>
                  <a:cubicBezTo>
                    <a:pt x="214503" y="958088"/>
                    <a:pt x="0" y="743585"/>
                    <a:pt x="0" y="4790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0758" y="475945"/>
            <a:ext cx="1260653" cy="419710"/>
            <a:chOff x="0" y="0"/>
            <a:chExt cx="1680870" cy="559613"/>
          </a:xfrm>
        </p:grpSpPr>
        <p:sp>
          <p:nvSpPr>
            <p:cNvPr name="Freeform 13" id="13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82876" y="569214"/>
            <a:ext cx="891816" cy="233172"/>
            <a:chOff x="0" y="0"/>
            <a:chExt cx="1189088" cy="310896"/>
          </a:xfrm>
        </p:grpSpPr>
        <p:sp>
          <p:nvSpPr>
            <p:cNvPr name="Freeform 15" id="15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266147" y="569214"/>
            <a:ext cx="1335596" cy="233172"/>
            <a:chOff x="0" y="0"/>
            <a:chExt cx="1780794" cy="310896"/>
          </a:xfrm>
        </p:grpSpPr>
        <p:sp>
          <p:nvSpPr>
            <p:cNvPr name="Freeform 17" id="17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  성과와 회고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요구사항 검증 – 9개 중 7개 충족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822960" y="2125980"/>
          <a:ext cx="16592550" cy="6477000"/>
        </p:xfrm>
        <a:graphic>
          <a:graphicData uri="http://schemas.openxmlformats.org/drawingml/2006/table">
            <a:tbl>
              <a:tblPr/>
              <a:tblGrid>
                <a:gridCol w="1122034"/>
                <a:gridCol w="5866205"/>
                <a:gridCol w="7668990"/>
                <a:gridCol w="1935321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요구사항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결과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판정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답변마다 근거 인용, 수치 날조 금지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근거 밖 숫자 0~1건 · 답변 충실도(RAGAS) 0.76 → 0.86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답 없는 질문 거절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홀드아웃 7/8 · 추가 테스트 17/19 거절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중대 안전 오류 0건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추적 대상 4유형 모두 0건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응답 p95 10초 이하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최종 구성 10.5초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D9433A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미충족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여유 메모리 1.0GiB 이상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최저 1,035MiB · 메모리 부족 종료 0건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카드 밖 질문 대응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홀드아웃 답변 25/35 (초기 구성 6/35)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현재 상태 반영, 모순 0건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현재값 표시 42/42 · 경보 구분 7/8 · 모순 0건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지식 질문 정확도 유지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개발셋 60% (MES 전용 경로 44%에서 회복)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F6F63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충족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1B2B2E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R9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블라인드 테스트 1회 측정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B2E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블라인드 테스트셋 올바른 대응 48%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D9433A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과제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801529" y="4738021"/>
            <a:ext cx="16684485" cy="701230"/>
            <a:chOff x="0" y="0"/>
            <a:chExt cx="22245980" cy="9349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45955" cy="934974"/>
            </a:xfrm>
            <a:custGeom>
              <a:avLst/>
              <a:gdLst/>
              <a:ahLst/>
              <a:cxnLst/>
              <a:rect r="r" b="b" t="t" l="l"/>
              <a:pathLst>
                <a:path h="934974" w="22245955">
                  <a:moveTo>
                    <a:pt x="0" y="0"/>
                  </a:moveTo>
                  <a:lnTo>
                    <a:pt x="22245955" y="0"/>
                  </a:lnTo>
                  <a:lnTo>
                    <a:pt x="22245955" y="934974"/>
                  </a:lnTo>
                  <a:lnTo>
                    <a:pt x="0" y="9349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610" r="0" b="-413610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01529" y="7953661"/>
            <a:ext cx="16684485" cy="701230"/>
            <a:chOff x="0" y="0"/>
            <a:chExt cx="22245980" cy="9349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45955" cy="934974"/>
            </a:xfrm>
            <a:custGeom>
              <a:avLst/>
              <a:gdLst/>
              <a:ahLst/>
              <a:cxnLst/>
              <a:rect r="r" b="b" t="t" l="l"/>
              <a:pathLst>
                <a:path h="934974" w="22245955">
                  <a:moveTo>
                    <a:pt x="0" y="0"/>
                  </a:moveTo>
                  <a:lnTo>
                    <a:pt x="22245955" y="0"/>
                  </a:lnTo>
                  <a:lnTo>
                    <a:pt x="22245955" y="934974"/>
                  </a:lnTo>
                  <a:lnTo>
                    <a:pt x="0" y="9349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610" r="0" b="-413610"/>
              </a:stretch>
            </a:blipFill>
            <a:ln w="42862" cap="sq">
              <a:solidFill>
                <a:srgbClr val="D9433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  성과와 회고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기대 효과 – 작업자 · 관리자 · 회사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숙련자의 경험을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근거가 붙은 지식</a:t>
              </a: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으로 축적해 다음 교대로 전달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435" y="2665095"/>
            <a:ext cx="5299710" cy="5436870"/>
            <a:chOff x="0" y="0"/>
            <a:chExt cx="7066280" cy="7249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66280" cy="7249160"/>
            </a:xfrm>
            <a:custGeom>
              <a:avLst/>
              <a:gdLst/>
              <a:ahLst/>
              <a:cxnLst/>
              <a:rect r="r" b="b" t="t" l="l"/>
              <a:pathLst>
                <a:path h="72491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7102348"/>
                  </a:lnTo>
                  <a:cubicBezTo>
                    <a:pt x="7066280" y="7183501"/>
                    <a:pt x="7000494" y="7249160"/>
                    <a:pt x="6919468" y="7249160"/>
                  </a:cubicBezTo>
                  <a:lnTo>
                    <a:pt x="146812" y="7249160"/>
                  </a:lnTo>
                  <a:cubicBezTo>
                    <a:pt x="65786" y="7249160"/>
                    <a:pt x="0" y="7183374"/>
                    <a:pt x="0" y="710234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87755" y="2898267"/>
            <a:ext cx="924306" cy="924306"/>
            <a:chOff x="0" y="0"/>
            <a:chExt cx="1232408" cy="12324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75588" y="3086100"/>
            <a:ext cx="548640" cy="548640"/>
            <a:chOff x="0" y="0"/>
            <a:chExt cx="731520" cy="7315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94560" y="2907792"/>
            <a:ext cx="3771900" cy="905256"/>
            <a:chOff x="0" y="0"/>
            <a:chExt cx="5029200" cy="12070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92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02920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작업자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97280" y="4095750"/>
            <a:ext cx="4732020" cy="238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증상 질문 시 근거 문서와 설비 현재 상태를 한 화면에서 확인</a:t>
            </a:r>
          </a:p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근거 없는 질문은 추측 대신 ‘해당 지식 없음’과 확인 경로 안내 – 잘못된 조치 예방</a:t>
            </a:r>
          </a:p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이전 교대의 미해결 사항을 설비 별로 확인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493916" y="2665095"/>
            <a:ext cx="5299710" cy="5436870"/>
            <a:chOff x="0" y="0"/>
            <a:chExt cx="7066280" cy="7249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6280" cy="7249160"/>
            </a:xfrm>
            <a:custGeom>
              <a:avLst/>
              <a:gdLst/>
              <a:ahLst/>
              <a:cxnLst/>
              <a:rect r="r" b="b" t="t" l="l"/>
              <a:pathLst>
                <a:path h="72491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7102348"/>
                  </a:lnTo>
                  <a:cubicBezTo>
                    <a:pt x="7066280" y="7183501"/>
                    <a:pt x="7000494" y="7249160"/>
                    <a:pt x="6919468" y="7249160"/>
                  </a:cubicBezTo>
                  <a:lnTo>
                    <a:pt x="146812" y="7249160"/>
                  </a:lnTo>
                  <a:cubicBezTo>
                    <a:pt x="65786" y="7249160"/>
                    <a:pt x="0" y="7183374"/>
                    <a:pt x="0" y="710234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768236" y="2898267"/>
            <a:ext cx="924306" cy="924306"/>
            <a:chOff x="0" y="0"/>
            <a:chExt cx="1232408" cy="12324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956069" y="3086100"/>
            <a:ext cx="548640" cy="548640"/>
            <a:chOff x="0" y="0"/>
            <a:chExt cx="731520" cy="73152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875041" y="2907792"/>
            <a:ext cx="3771900" cy="905256"/>
            <a:chOff x="0" y="0"/>
            <a:chExt cx="5029200" cy="12070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292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02920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교대 조장 · 관리자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777761" y="4095750"/>
            <a:ext cx="4732020" cy="204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질의 · 조치 · 근무일지를 당시 MES 상태와 함께 기록 – 사후 원인 추적</a:t>
            </a:r>
          </a:p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반복 증상 · 지식 공백 집계로 설비 상태에 맞게 정비 지식 보완</a:t>
            </a:r>
          </a:p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현장 해결 기록을 검수해 새 지식 카드로 게시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174398" y="2665095"/>
            <a:ext cx="5299710" cy="5436870"/>
            <a:chOff x="0" y="0"/>
            <a:chExt cx="7066280" cy="7249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66280" cy="7249160"/>
            </a:xfrm>
            <a:custGeom>
              <a:avLst/>
              <a:gdLst/>
              <a:ahLst/>
              <a:cxnLst/>
              <a:rect r="r" b="b" t="t" l="l"/>
              <a:pathLst>
                <a:path h="7249160" w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7102348"/>
                  </a:lnTo>
                  <a:cubicBezTo>
                    <a:pt x="7066280" y="7183501"/>
                    <a:pt x="7000494" y="7249160"/>
                    <a:pt x="6919468" y="7249160"/>
                  </a:cubicBezTo>
                  <a:lnTo>
                    <a:pt x="146812" y="7249160"/>
                  </a:lnTo>
                  <a:cubicBezTo>
                    <a:pt x="65786" y="7249160"/>
                    <a:pt x="0" y="7183374"/>
                    <a:pt x="0" y="7102348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448718" y="2898267"/>
            <a:ext cx="924306" cy="924306"/>
            <a:chOff x="0" y="0"/>
            <a:chExt cx="1232408" cy="12324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32408" cy="1232408"/>
            </a:xfrm>
            <a:custGeom>
              <a:avLst/>
              <a:gdLst/>
              <a:ahLst/>
              <a:cxnLst/>
              <a:rect r="r" b="b" t="t" l="l"/>
              <a:pathLst>
                <a:path h="1232408" w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36551" y="3086100"/>
            <a:ext cx="548640" cy="548640"/>
            <a:chOff x="0" y="0"/>
            <a:chExt cx="731520" cy="73152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555523" y="2907792"/>
            <a:ext cx="3771900" cy="905256"/>
            <a:chOff x="0" y="0"/>
            <a:chExt cx="5029200" cy="12070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292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502920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회사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458243" y="4095750"/>
            <a:ext cx="4732020" cy="238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숙련자 노하우를 적용 조건이 붙은 지식 카드로 축적 – 퇴직 · 이동에 따른 지식 손실 완화</a:t>
            </a:r>
          </a:p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외부망 없는 단일 장비 구동 – 망분리 · 보안 환경에 적용 가능</a:t>
            </a:r>
          </a:p>
          <a:p>
            <a:pPr algn="l" marL="380048" indent="-190024" lvl="1">
              <a:lnSpc>
                <a:spcPts val="2772"/>
              </a:lnSpc>
              <a:buFont typeface="Arial"/>
              <a:buChar char="•"/>
            </a:pPr>
            <a:r>
              <a:rPr lang="en-US" sz="21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공식 MES · 설비 제어와 분리된 읽기 전용 – 기존 시스템 영향 없이 도입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2459355" y="8384667"/>
            <a:ext cx="13368833" cy="704850"/>
            <a:chOff x="0" y="0"/>
            <a:chExt cx="17825110" cy="939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825086" cy="939800"/>
            </a:xfrm>
            <a:custGeom>
              <a:avLst/>
              <a:gdLst/>
              <a:ahLst/>
              <a:cxnLst/>
              <a:rect r="r" b="b" t="t" l="l"/>
              <a:pathLst>
                <a:path h="939800" w="17825086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17355186" y="0"/>
                  </a:lnTo>
                  <a:cubicBezTo>
                    <a:pt x="17614647" y="0"/>
                    <a:pt x="17825086" y="210439"/>
                    <a:pt x="17825086" y="469900"/>
                  </a:cubicBezTo>
                  <a:cubicBezTo>
                    <a:pt x="17825086" y="729361"/>
                    <a:pt x="17614647" y="939800"/>
                    <a:pt x="17355186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E3B38"/>
            </a:solidFill>
            <a:ln w="19050" cap="sq">
              <a:solidFill>
                <a:srgbClr val="0E3B3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2468880" y="8394192"/>
            <a:ext cx="13349783" cy="685800"/>
            <a:chOff x="0" y="0"/>
            <a:chExt cx="1779971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799710" cy="914400"/>
            </a:xfrm>
            <a:custGeom>
              <a:avLst/>
              <a:gdLst/>
              <a:ahLst/>
              <a:cxnLst/>
              <a:rect r="r" b="b" t="t" l="l"/>
              <a:pathLst>
                <a:path h="914400" w="17799710">
                  <a:moveTo>
                    <a:pt x="0" y="0"/>
                  </a:moveTo>
                  <a:lnTo>
                    <a:pt x="17799710" y="0"/>
                  </a:lnTo>
                  <a:lnTo>
                    <a:pt x="1779971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295" r="0" b="-3292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779971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숙련자가 사라져도 노하우가 남는 시스템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  성과와 회고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한계점과 향후 계획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755648"/>
            <a:ext cx="16641623" cy="576072"/>
            <a:chOff x="0" y="0"/>
            <a:chExt cx="2218883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8830" cy="768096"/>
            </a:xfrm>
            <a:custGeom>
              <a:avLst/>
              <a:gdLst/>
              <a:ahLst/>
              <a:cxnLst/>
              <a:rect r="r" b="b" t="t" l="l"/>
              <a:pathLst>
                <a:path h="76809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885" r="0" b="-5128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188830" cy="758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45A"/>
                  </a:solidFill>
                  <a:latin typeface="Noto Sans"/>
                  <a:ea typeface="Noto Sans"/>
                  <a:cs typeface="Noto Sans"/>
                  <a:sym typeface="Noto Sans"/>
                </a:rPr>
                <a:t>가장 큰 한계는 검색 – 블라인드 테스트 오답 30건 중 </a:t>
              </a:r>
              <a:r>
                <a:rPr lang="en-US" sz="24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17건이 검색 누락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2960" y="3154680"/>
            <a:ext cx="130302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D943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한계점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960" y="5966460"/>
            <a:ext cx="130302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향후 계획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253615" y="2665095"/>
            <a:ext cx="3790950" cy="2419350"/>
            <a:chOff x="0" y="0"/>
            <a:chExt cx="5054600" cy="3225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37460" y="2880360"/>
            <a:ext cx="548640" cy="548640"/>
            <a:chOff x="0" y="0"/>
            <a:chExt cx="731520" cy="7315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223260" y="2880360"/>
            <a:ext cx="2606040" cy="548640"/>
            <a:chOff x="0" y="0"/>
            <a:chExt cx="34747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74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검색 누락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537460" y="3634740"/>
            <a:ext cx="322326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블라인드 테스트 오답 17/30이 검색 단계 실패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253615" y="5476875"/>
            <a:ext cx="3790950" cy="2419350"/>
            <a:chOff x="0" y="0"/>
            <a:chExt cx="5054600" cy="3225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2537460" y="5692140"/>
            <a:ext cx="32232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카드 우선 검색 + 인계 기록 전용 경로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37460" y="6789420"/>
            <a:ext cx="32232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시뮬레이션 104 → 113/128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3933825" y="5092827"/>
            <a:ext cx="430530" cy="361950"/>
            <a:chOff x="0" y="0"/>
            <a:chExt cx="574040" cy="482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4040" cy="482600"/>
            </a:xfrm>
            <a:custGeom>
              <a:avLst/>
              <a:gdLst/>
              <a:ahLst/>
              <a:cxnLst/>
              <a:rect r="r" b="b" t="t" l="l"/>
              <a:pathLst>
                <a:path h="482600" w="574040">
                  <a:moveTo>
                    <a:pt x="0" y="241300"/>
                  </a:moveTo>
                  <a:lnTo>
                    <a:pt x="143510" y="241300"/>
                  </a:lnTo>
                  <a:lnTo>
                    <a:pt x="143510" y="0"/>
                  </a:lnTo>
                  <a:lnTo>
                    <a:pt x="430530" y="0"/>
                  </a:lnTo>
                  <a:lnTo>
                    <a:pt x="430530" y="241300"/>
                  </a:lnTo>
                  <a:lnTo>
                    <a:pt x="574040" y="241300"/>
                  </a:lnTo>
                  <a:lnTo>
                    <a:pt x="287020" y="48260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63463" y="2665095"/>
            <a:ext cx="3790950" cy="2419350"/>
            <a:chOff x="0" y="0"/>
            <a:chExt cx="5054600" cy="3225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347308" y="2880360"/>
            <a:ext cx="548640" cy="548640"/>
            <a:chOff x="0" y="0"/>
            <a:chExt cx="731520" cy="73152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033108" y="2880360"/>
            <a:ext cx="2606040" cy="548640"/>
            <a:chOff x="0" y="0"/>
            <a:chExt cx="34747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474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장비 자원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347308" y="3634740"/>
            <a:ext cx="322326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p95 10.5초 · 여유 메모리 1,035MiB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063463" y="5476875"/>
            <a:ext cx="3790950" cy="2419350"/>
            <a:chOff x="0" y="0"/>
            <a:chExt cx="5054600" cy="3225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6347308" y="5692140"/>
            <a:ext cx="32232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판정 호출 축소 · 모델 통합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47308" y="6789420"/>
            <a:ext cx="32232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응답 10초 이내 목표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743673" y="5092827"/>
            <a:ext cx="430530" cy="361950"/>
            <a:chOff x="0" y="0"/>
            <a:chExt cx="574040" cy="482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4040" cy="482600"/>
            </a:xfrm>
            <a:custGeom>
              <a:avLst/>
              <a:gdLst/>
              <a:ahLst/>
              <a:cxnLst/>
              <a:rect r="r" b="b" t="t" l="l"/>
              <a:pathLst>
                <a:path h="482600" w="574040">
                  <a:moveTo>
                    <a:pt x="0" y="241300"/>
                  </a:moveTo>
                  <a:lnTo>
                    <a:pt x="143510" y="241300"/>
                  </a:lnTo>
                  <a:lnTo>
                    <a:pt x="143510" y="0"/>
                  </a:lnTo>
                  <a:lnTo>
                    <a:pt x="430530" y="0"/>
                  </a:lnTo>
                  <a:lnTo>
                    <a:pt x="430530" y="241300"/>
                  </a:lnTo>
                  <a:lnTo>
                    <a:pt x="574040" y="241300"/>
                  </a:lnTo>
                  <a:lnTo>
                    <a:pt x="287020" y="48260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73310" y="2665095"/>
            <a:ext cx="3790950" cy="2419350"/>
            <a:chOff x="0" y="0"/>
            <a:chExt cx="5054600" cy="3225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157155" y="2880360"/>
            <a:ext cx="548640" cy="548640"/>
            <a:chOff x="0" y="0"/>
            <a:chExt cx="731520" cy="73152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842955" y="2880360"/>
            <a:ext cx="2606040" cy="548640"/>
            <a:chOff x="0" y="0"/>
            <a:chExt cx="34747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474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합성 데이터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157155" y="3634740"/>
            <a:ext cx="322326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전문가 평가 부재 · 생성과 평가 데이터의 순환 위험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873310" y="5476875"/>
            <a:ext cx="3790950" cy="2419350"/>
            <a:chOff x="0" y="0"/>
            <a:chExt cx="5054600" cy="3225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0157155" y="5692140"/>
            <a:ext cx="32232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현장 전문가 독립 정답셋 구축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157155" y="6789420"/>
            <a:ext cx="32232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실제 설비 검증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553520" y="5092827"/>
            <a:ext cx="430530" cy="361950"/>
            <a:chOff x="0" y="0"/>
            <a:chExt cx="574040" cy="482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4040" cy="482600"/>
            </a:xfrm>
            <a:custGeom>
              <a:avLst/>
              <a:gdLst/>
              <a:ahLst/>
              <a:cxnLst/>
              <a:rect r="r" b="b" t="t" l="l"/>
              <a:pathLst>
                <a:path h="482600" w="574040">
                  <a:moveTo>
                    <a:pt x="0" y="241300"/>
                  </a:moveTo>
                  <a:lnTo>
                    <a:pt x="143510" y="241300"/>
                  </a:lnTo>
                  <a:lnTo>
                    <a:pt x="143510" y="0"/>
                  </a:lnTo>
                  <a:lnTo>
                    <a:pt x="430530" y="0"/>
                  </a:lnTo>
                  <a:lnTo>
                    <a:pt x="430530" y="241300"/>
                  </a:lnTo>
                  <a:lnTo>
                    <a:pt x="574040" y="241300"/>
                  </a:lnTo>
                  <a:lnTo>
                    <a:pt x="287020" y="48260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683158" y="2665095"/>
            <a:ext cx="3790950" cy="2419350"/>
            <a:chOff x="0" y="0"/>
            <a:chExt cx="5054600" cy="3225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0D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967003" y="2880360"/>
            <a:ext cx="548640" cy="548640"/>
            <a:chOff x="0" y="0"/>
            <a:chExt cx="731520" cy="73152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652803" y="2880360"/>
            <a:ext cx="2606040" cy="548640"/>
            <a:chOff x="0" y="0"/>
            <a:chExt cx="34747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474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지식 공백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967003" y="3634740"/>
            <a:ext cx="3223260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45545A"/>
                </a:solidFill>
                <a:latin typeface="Noto Sans"/>
                <a:ea typeface="Noto Sans"/>
                <a:cs typeface="Noto Sans"/>
                <a:sym typeface="Noto Sans"/>
              </a:rPr>
              <a:t>카드에 없는 상황은 답변 불가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3683158" y="5476875"/>
            <a:ext cx="3790950" cy="2419350"/>
            <a:chOff x="0" y="0"/>
            <a:chExt cx="5054600" cy="3225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54600" cy="3225800"/>
            </a:xfrm>
            <a:custGeom>
              <a:avLst/>
              <a:gdLst/>
              <a:ahLst/>
              <a:cxnLst/>
              <a:rect r="r" b="b" t="t" l="l"/>
              <a:pathLst>
                <a:path h="322580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078353"/>
                  </a:lnTo>
                  <a:cubicBezTo>
                    <a:pt x="5054600" y="3159760"/>
                    <a:pt x="4988560" y="3225800"/>
                    <a:pt x="490715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E9F4F0"/>
            </a:solidFill>
            <a:ln w="19050" cap="sq">
              <a:solidFill>
                <a:srgbClr val="E9F4F0"/>
              </a:solidFill>
              <a:prstDash val="solid"/>
              <a:miter/>
            </a:ln>
          </p:spPr>
        </p:sp>
      </p:grpSp>
      <p:sp>
        <p:nvSpPr>
          <p:cNvPr name="TextBox 74" id="74"/>
          <p:cNvSpPr txBox="true"/>
          <p:nvPr/>
        </p:nvSpPr>
        <p:spPr>
          <a:xfrm rot="0">
            <a:off x="13967003" y="5692140"/>
            <a:ext cx="32232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지식 재사용 루프 실운영 검증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967003" y="6789420"/>
            <a:ext cx="32232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MES 신호 → 상황 → 카드 연결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5363368" y="5092827"/>
            <a:ext cx="430530" cy="361950"/>
            <a:chOff x="0" y="0"/>
            <a:chExt cx="574040" cy="482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74040" cy="482600"/>
            </a:xfrm>
            <a:custGeom>
              <a:avLst/>
              <a:gdLst/>
              <a:ahLst/>
              <a:cxnLst/>
              <a:rect r="r" b="b" t="t" l="l"/>
              <a:pathLst>
                <a:path h="482600" w="574040">
                  <a:moveTo>
                    <a:pt x="0" y="241300"/>
                  </a:moveTo>
                  <a:lnTo>
                    <a:pt x="143510" y="241300"/>
                  </a:lnTo>
                  <a:lnTo>
                    <a:pt x="143510" y="0"/>
                  </a:lnTo>
                  <a:lnTo>
                    <a:pt x="430530" y="0"/>
                  </a:lnTo>
                  <a:lnTo>
                    <a:pt x="430530" y="241300"/>
                  </a:lnTo>
                  <a:lnTo>
                    <a:pt x="574040" y="241300"/>
                  </a:lnTo>
                  <a:lnTo>
                    <a:pt x="287020" y="482600"/>
                  </a:lnTo>
                  <a:close/>
                </a:path>
              </a:pathLst>
            </a:custGeom>
            <a:solidFill>
              <a:srgbClr val="CFE7DF"/>
            </a:solidFill>
            <a:ln w="19050" cap="sq">
              <a:solidFill>
                <a:srgbClr val="CFE7DF"/>
              </a:solidFill>
              <a:prstDash val="solid"/>
              <a:miter/>
            </a:ln>
          </p:spPr>
        </p:sp>
      </p:grpSp>
      <p:sp>
        <p:nvSpPr>
          <p:cNvPr name="TextBox 78" id="78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710928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87A"/>
                  </a:solidFill>
                  <a:latin typeface="Noto Sans"/>
                  <a:ea typeface="Noto Sans"/>
                  <a:cs typeface="Noto Sans"/>
                  <a:sym typeface="Noto Sans"/>
                </a:rPr>
                <a:t>ShiftLink  |  현장 지식과 설비 상태를 잇는 온디바이스 AI 에이전트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93598" y="366217"/>
            <a:ext cx="1260653" cy="419710"/>
            <a:chOff x="0" y="0"/>
            <a:chExt cx="1680870" cy="559613"/>
          </a:xfrm>
        </p:grpSpPr>
        <p:sp>
          <p:nvSpPr>
            <p:cNvPr name="Freeform 6" id="6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5716" y="459486"/>
            <a:ext cx="891816" cy="233172"/>
            <a:chOff x="0" y="0"/>
            <a:chExt cx="1189088" cy="310896"/>
          </a:xfrm>
        </p:grpSpPr>
        <p:sp>
          <p:nvSpPr>
            <p:cNvPr name="Freeform 8" id="8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987" y="459486"/>
            <a:ext cx="1335596" cy="233172"/>
            <a:chOff x="0" y="0"/>
            <a:chExt cx="1780794" cy="310896"/>
          </a:xfrm>
        </p:grpSpPr>
        <p:sp>
          <p:nvSpPr>
            <p:cNvPr name="Freeform 10" id="10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438912"/>
            <a:ext cx="4114800" cy="384048"/>
            <a:chOff x="0" y="0"/>
            <a:chExt cx="54864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  성과와 회고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822960"/>
            <a:ext cx="16641623" cy="850392"/>
            <a:chOff x="0" y="0"/>
            <a:chExt cx="2218883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883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309" r="0" b="-3313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218883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F6F6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  </a:t>
              </a:r>
              <a:r>
                <a:rPr lang="en-US" sz="3900" b="true">
                  <a:solidFill>
                    <a:srgbClr val="1B2B2E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팀원 소감 – 프로젝트를 마치며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7340" y="1783080"/>
            <a:ext cx="15087600" cy="3419856"/>
            <a:chOff x="0" y="0"/>
            <a:chExt cx="20116800" cy="4559808"/>
          </a:xfrm>
        </p:grpSpPr>
        <p:sp>
          <p:nvSpPr>
            <p:cNvPr name="Freeform 18" id="18" descr="C:\Users\abab9\AppData\Local\Temp\claude\C--Users-abab9-Desktop-Shiftlink\03368683-632b-4bf6-b41d-988cf517f7bf\scratchpad\build\team_head.png"/>
            <p:cNvSpPr/>
            <p:nvPr/>
          </p:nvSpPr>
          <p:spPr>
            <a:xfrm flipH="false" flipV="false" rot="0">
              <a:off x="0" y="0"/>
              <a:ext cx="20116800" cy="4559808"/>
            </a:xfrm>
            <a:custGeom>
              <a:avLst/>
              <a:gdLst/>
              <a:ahLst/>
              <a:cxnLst/>
              <a:rect r="r" b="b" t="t" l="l"/>
              <a:pathLst>
                <a:path h="4559808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4559808"/>
                  </a:lnTo>
                  <a:lnTo>
                    <a:pt x="0" y="4559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67815" y="5193411"/>
            <a:ext cx="3790950" cy="4252722"/>
            <a:chOff x="0" y="0"/>
            <a:chExt cx="5054600" cy="56702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54600" cy="5670296"/>
            </a:xfrm>
            <a:custGeom>
              <a:avLst/>
              <a:gdLst/>
              <a:ahLst/>
              <a:cxnLst/>
              <a:rect r="r" b="b" t="t" l="l"/>
              <a:pathLst>
                <a:path h="5670296" w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07534" y="0"/>
                  </a:lnTo>
                  <a:cubicBezTo>
                    <a:pt x="4988814" y="0"/>
                    <a:pt x="5054600" y="65786"/>
                    <a:pt x="5054600" y="147066"/>
                  </a:cubicBezTo>
                  <a:lnTo>
                    <a:pt x="5054600" y="5523230"/>
                  </a:lnTo>
                  <a:cubicBezTo>
                    <a:pt x="5054600" y="5604383"/>
                    <a:pt x="4988814" y="5670296"/>
                    <a:pt x="4907534" y="5670296"/>
                  </a:cubicBezTo>
                  <a:lnTo>
                    <a:pt x="147066" y="5670296"/>
                  </a:lnTo>
                  <a:cubicBezTo>
                    <a:pt x="65786" y="5670296"/>
                    <a:pt x="0" y="5604510"/>
                    <a:pt x="0" y="552323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77340" y="5340096"/>
            <a:ext cx="37719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최재영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7340" y="5870829"/>
            <a:ext cx="377190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 개발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1660" y="6409944"/>
            <a:ext cx="3223260" cy="291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모델 성능을 높이는 것만큼, 신뢰할 수 있는 데이터를 만들고 답변을 검증하는 과정이 중요하다는 것을 배웠습니다. 기대와 다른 결과가 나올 때마다 원인을 추적하고 개선하면서, AI를 실제로 쓸 수 있는 시스템으로 만드는 어려움과 보람을 느꼈습니다.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339715" y="5193411"/>
            <a:ext cx="3790950" cy="4252722"/>
            <a:chOff x="0" y="0"/>
            <a:chExt cx="5054600" cy="56702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54600" cy="5670296"/>
            </a:xfrm>
            <a:custGeom>
              <a:avLst/>
              <a:gdLst/>
              <a:ahLst/>
              <a:cxnLst/>
              <a:rect r="r" b="b" t="t" l="l"/>
              <a:pathLst>
                <a:path h="5670296" w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07534" y="0"/>
                  </a:lnTo>
                  <a:cubicBezTo>
                    <a:pt x="4988814" y="0"/>
                    <a:pt x="5054600" y="65786"/>
                    <a:pt x="5054600" y="147066"/>
                  </a:cubicBezTo>
                  <a:lnTo>
                    <a:pt x="5054600" y="5523230"/>
                  </a:lnTo>
                  <a:cubicBezTo>
                    <a:pt x="5054600" y="5604383"/>
                    <a:pt x="4988814" y="5670296"/>
                    <a:pt x="4907534" y="5670296"/>
                  </a:cubicBezTo>
                  <a:lnTo>
                    <a:pt x="147066" y="5670296"/>
                  </a:lnTo>
                  <a:cubicBezTo>
                    <a:pt x="65786" y="5670296"/>
                    <a:pt x="0" y="5604510"/>
                    <a:pt x="0" y="552323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5349240" y="5340096"/>
            <a:ext cx="37719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유현준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49240" y="5870829"/>
            <a:ext cx="377190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팀장 · 시스템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23560" y="6409944"/>
            <a:ext cx="3223260" cy="291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현장의 노하우 전달과 교대 인계를 주제로 선정하고 개발하면서, 모델 성능뿐 아니라 자원 제약과 실제 사용 환경을 함께 고려하는 것이 중요하다는 점을 배웠습니다.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11615" y="5193411"/>
            <a:ext cx="3790950" cy="4252722"/>
            <a:chOff x="0" y="0"/>
            <a:chExt cx="5054600" cy="5670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54600" cy="5670296"/>
            </a:xfrm>
            <a:custGeom>
              <a:avLst/>
              <a:gdLst/>
              <a:ahLst/>
              <a:cxnLst/>
              <a:rect r="r" b="b" t="t" l="l"/>
              <a:pathLst>
                <a:path h="5670296" w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07534" y="0"/>
                  </a:lnTo>
                  <a:cubicBezTo>
                    <a:pt x="4988814" y="0"/>
                    <a:pt x="5054600" y="65786"/>
                    <a:pt x="5054600" y="147066"/>
                  </a:cubicBezTo>
                  <a:lnTo>
                    <a:pt x="5054600" y="5523230"/>
                  </a:lnTo>
                  <a:cubicBezTo>
                    <a:pt x="5054600" y="5604383"/>
                    <a:pt x="4988814" y="5670296"/>
                    <a:pt x="4907534" y="5670296"/>
                  </a:cubicBezTo>
                  <a:lnTo>
                    <a:pt x="147066" y="5670296"/>
                  </a:lnTo>
                  <a:cubicBezTo>
                    <a:pt x="65786" y="5670296"/>
                    <a:pt x="0" y="5604510"/>
                    <a:pt x="0" y="552323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121140" y="5340096"/>
            <a:ext cx="37719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전혜민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21140" y="5870829"/>
            <a:ext cx="377190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PM · QA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95460" y="6409944"/>
            <a:ext cx="3223260" cy="291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일정 관리와 시연 준비를 맡으면서 팀원들이 만든 기능을 직접 확인하고 발표 흐름을 정리했습니다. 각자 만든 기능도 막상 연결하면 예상과 다른 부분이 있어서, 함께 맞춰 보고 확인하는 과정이 생각보다 중요했습니다.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883515" y="5193411"/>
            <a:ext cx="3790950" cy="4252722"/>
            <a:chOff x="0" y="0"/>
            <a:chExt cx="5054600" cy="56702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54600" cy="5670296"/>
            </a:xfrm>
            <a:custGeom>
              <a:avLst/>
              <a:gdLst/>
              <a:ahLst/>
              <a:cxnLst/>
              <a:rect r="r" b="b" t="t" l="l"/>
              <a:pathLst>
                <a:path h="5670296" w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907534" y="0"/>
                  </a:lnTo>
                  <a:cubicBezTo>
                    <a:pt x="4988814" y="0"/>
                    <a:pt x="5054600" y="65786"/>
                    <a:pt x="5054600" y="147066"/>
                  </a:cubicBezTo>
                  <a:lnTo>
                    <a:pt x="5054600" y="5523230"/>
                  </a:lnTo>
                  <a:cubicBezTo>
                    <a:pt x="5054600" y="5604383"/>
                    <a:pt x="4988814" y="5670296"/>
                    <a:pt x="4907534" y="5670296"/>
                  </a:cubicBezTo>
                  <a:lnTo>
                    <a:pt x="147066" y="5670296"/>
                  </a:lnTo>
                  <a:cubicBezTo>
                    <a:pt x="65786" y="5670296"/>
                    <a:pt x="0" y="5604510"/>
                    <a:pt x="0" y="5523230"/>
                  </a:cubicBezTo>
                  <a:close/>
                </a:path>
              </a:pathLst>
            </a:custGeom>
            <a:solidFill>
              <a:srgbClr val="F6F8F7"/>
            </a:solidFill>
            <a:ln w="19050" cap="sq">
              <a:solidFill>
                <a:srgbClr val="F6F8F7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893040" y="5340096"/>
            <a:ext cx="37719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B2B2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허재원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93040" y="5870829"/>
            <a:ext cx="377190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6F6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임베디드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67360" y="6409944"/>
            <a:ext cx="3223260" cy="2916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1B2B2E"/>
                </a:solidFill>
                <a:latin typeface="Noto Sans"/>
                <a:ea typeface="Noto Sans"/>
                <a:cs typeface="Noto Sans"/>
                <a:sym typeface="Noto Sans"/>
              </a:rPr>
              <a:t>AI를 활용해 프로젝트를 진행하면서 어떤 기준으로 검증하고 판단해야 신뢰할 수 있는 결과물이 나오는지 고민하고, 이를 실제 공장 현장에 대입해 신뢰도를 높이는 작업이 인상깊었습니다.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33063" y="9747123"/>
            <a:ext cx="640080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6B787A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C:\Users\abab9\AppData\Local\Temp\claude\C--Users-abab9-Desktop-Shiftlink\03368683-632b-4bf6-b41d-988cf517f7bf\scratchpad\deck\media\image2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4440" y="2478405"/>
            <a:ext cx="15773400" cy="259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떠나는 노하우는 남는 지식으로,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오늘의 조치는 다음 교대의 근거로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4440" y="5760720"/>
            <a:ext cx="82296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E27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감사합니다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440" y="6995160"/>
            <a:ext cx="8229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FE7DF"/>
                </a:solidFill>
                <a:latin typeface="Noto Sans"/>
                <a:ea typeface="Noto Sans"/>
                <a:cs typeface="Noto Sans"/>
                <a:sym typeface="Noto Sans"/>
              </a:rPr>
              <a:t>Q &amp; 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4440" y="8768715"/>
            <a:ext cx="82296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CFE7DF"/>
                </a:solidFill>
                <a:latin typeface="Noto Sans"/>
                <a:ea typeface="Noto Sans"/>
                <a:cs typeface="Noto Sans"/>
                <a:sym typeface="Noto Sans"/>
              </a:rPr>
              <a:t>github.com/hyjuy/ShiftLink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229768" y="326517"/>
            <a:ext cx="4672965" cy="718566"/>
            <a:chOff x="0" y="0"/>
            <a:chExt cx="6230620" cy="958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30620" cy="958088"/>
            </a:xfrm>
            <a:custGeom>
              <a:avLst/>
              <a:gdLst/>
              <a:ahLst/>
              <a:cxnLst/>
              <a:rect r="r" b="b" t="t" l="l"/>
              <a:pathLst>
                <a:path h="958088" w="6230620">
                  <a:moveTo>
                    <a:pt x="0" y="479044"/>
                  </a:moveTo>
                  <a:cubicBezTo>
                    <a:pt x="0" y="214503"/>
                    <a:pt x="214503" y="0"/>
                    <a:pt x="479044" y="0"/>
                  </a:cubicBezTo>
                  <a:lnTo>
                    <a:pt x="5751576" y="0"/>
                  </a:lnTo>
                  <a:cubicBezTo>
                    <a:pt x="6016117" y="0"/>
                    <a:pt x="6230620" y="214503"/>
                    <a:pt x="6230620" y="479044"/>
                  </a:cubicBezTo>
                  <a:cubicBezTo>
                    <a:pt x="6230620" y="743585"/>
                    <a:pt x="6016117" y="958088"/>
                    <a:pt x="5751576" y="958088"/>
                  </a:cubicBezTo>
                  <a:lnTo>
                    <a:pt x="479044" y="958088"/>
                  </a:lnTo>
                  <a:cubicBezTo>
                    <a:pt x="214503" y="958088"/>
                    <a:pt x="0" y="743585"/>
                    <a:pt x="0" y="47904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530758" y="475945"/>
            <a:ext cx="1260653" cy="419710"/>
            <a:chOff x="0" y="0"/>
            <a:chExt cx="1680870" cy="559613"/>
          </a:xfrm>
        </p:grpSpPr>
        <p:sp>
          <p:nvSpPr>
            <p:cNvPr name="Freeform 11" id="11" descr="C:\Users\abab9\AppData\Local\Temp\claude\C--Users-abab9-Desktop-Shiftlink\03368683-632b-4bf6-b41d-988cf517f7bf\scratchpad\build\logos\knda.png"/>
            <p:cNvSpPr/>
            <p:nvPr/>
          </p:nvSpPr>
          <p:spPr>
            <a:xfrm flipH="false" flipV="false" rot="0">
              <a:off x="0" y="0"/>
              <a:ext cx="1680845" cy="559562"/>
            </a:xfrm>
            <a:custGeom>
              <a:avLst/>
              <a:gdLst/>
              <a:ahLst/>
              <a:cxnLst/>
              <a:rect r="r" b="b" t="t" l="l"/>
              <a:pathLst>
                <a:path h="559562" w="1680845">
                  <a:moveTo>
                    <a:pt x="0" y="0"/>
                  </a:moveTo>
                  <a:lnTo>
                    <a:pt x="1680845" y="0"/>
                  </a:lnTo>
                  <a:lnTo>
                    <a:pt x="1680845" y="559562"/>
                  </a:lnTo>
                  <a:lnTo>
                    <a:pt x="0" y="559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2876" y="569214"/>
            <a:ext cx="891816" cy="233172"/>
            <a:chOff x="0" y="0"/>
            <a:chExt cx="1189088" cy="310896"/>
          </a:xfrm>
        </p:grpSpPr>
        <p:sp>
          <p:nvSpPr>
            <p:cNvPr name="Freeform 13" id="13" descr="C:\Users\abab9\AppData\Local\Temp\claude\C--Users-abab9-Desktop-Shiftlink\03368683-632b-4bf6-b41d-988cf517f7bf\scratchpad\build\logos\posco.png"/>
            <p:cNvSpPr/>
            <p:nvPr/>
          </p:nvSpPr>
          <p:spPr>
            <a:xfrm flipH="false" flipV="false" rot="0">
              <a:off x="0" y="0"/>
              <a:ext cx="1189101" cy="310896"/>
            </a:xfrm>
            <a:custGeom>
              <a:avLst/>
              <a:gdLst/>
              <a:ahLst/>
              <a:cxnLst/>
              <a:rect r="r" b="b" t="t" l="l"/>
              <a:pathLst>
                <a:path h="310896" w="1189101">
                  <a:moveTo>
                    <a:pt x="0" y="0"/>
                  </a:moveTo>
                  <a:lnTo>
                    <a:pt x="1189101" y="0"/>
                  </a:lnTo>
                  <a:lnTo>
                    <a:pt x="1189101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266147" y="569214"/>
            <a:ext cx="1335596" cy="233172"/>
            <a:chOff x="0" y="0"/>
            <a:chExt cx="1780794" cy="310896"/>
          </a:xfrm>
        </p:grpSpPr>
        <p:sp>
          <p:nvSpPr>
            <p:cNvPr name="Freeform 15" id="15" descr="C:\Users\abab9\AppData\Local\Temp\claude\C--Users-abab9-Desktop-Shiftlink\03368683-632b-4bf6-b41d-988cf517f7bf\scratchpad\build\logos\nextsurfer.png"/>
            <p:cNvSpPr/>
            <p:nvPr/>
          </p:nvSpPr>
          <p:spPr>
            <a:xfrm flipH="false" flipV="false" rot="0">
              <a:off x="0" y="0"/>
              <a:ext cx="1780794" cy="310896"/>
            </a:xfrm>
            <a:custGeom>
              <a:avLst/>
              <a:gdLst/>
              <a:ahLst/>
              <a:cxnLst/>
              <a:rect r="r" b="b" t="t" l="l"/>
              <a:pathLst>
                <a:path h="310896" w="1780794">
                  <a:moveTo>
                    <a:pt x="0" y="0"/>
                  </a:moveTo>
                  <a:lnTo>
                    <a:pt x="1780794" y="0"/>
                  </a:lnTo>
                  <a:lnTo>
                    <a:pt x="1780794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DAHY0L61PQU</dc:identifier>
  <dcterms:modified xsi:type="dcterms:W3CDTF">2011-08-01T06:04:30Z</dcterms:modified>
  <cp:revision>1</cp:revision>
  <dc:title>ShiftLink_발표_새버전_v4.pptx</dc:title>
</cp:coreProperties>
</file>